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e3e9ec89db84a1b" /><Relationship Type="http://schemas.openxmlformats.org/officeDocument/2006/relationships/extended-properties" Target="/docProps/app.xml" Id="Rb5c1c29f66264203" /><Relationship Type="http://schemas.openxmlformats.org/officeDocument/2006/relationships/officeDocument" Target="/ppt/presentation.xml" Id="Rded0faf69078401f" /></Relationships>
</file>

<file path=ppt/presentation.xml><?xml version="1.0" encoding="utf-8"?>
<p:presentation xmlns:p="http://schemas.openxmlformats.org/presentationml/2006/main">
  <p:sldMasterIdLst>
    <p:sldMasterId xmlns:r="http://schemas.openxmlformats.org/officeDocument/2006/relationships" id="2147483648" r:id="R94bd95358b424c21"/>
  </p:sldMasterIdLst>
  <p:notesMasterIdLst>
    <p:notesMasterId xmlns:r="http://schemas.openxmlformats.org/officeDocument/2006/relationships" r:id="Rbd90fed0f5e045c0"/>
  </p:notesMasterIdLst>
  <p:sldIdLst>
    <p:sldId xmlns:r="http://schemas.openxmlformats.org/officeDocument/2006/relationships" id="256" r:id="R3c9160a636b642e3"/>
    <p:sldId xmlns:r="http://schemas.openxmlformats.org/officeDocument/2006/relationships" id="257" r:id="R9d3856cf2e814281"/>
    <p:sldId xmlns:r="http://schemas.openxmlformats.org/officeDocument/2006/relationships" id="258" r:id="R9de7a5af35904ab4"/>
    <p:sldId xmlns:r="http://schemas.openxmlformats.org/officeDocument/2006/relationships" id="259" r:id="R12179dc1ea344daf"/>
    <p:sldId xmlns:r="http://schemas.openxmlformats.org/officeDocument/2006/relationships" id="260" r:id="Rd16777a66d884a71"/>
    <p:sldId xmlns:r="http://schemas.openxmlformats.org/officeDocument/2006/relationships" id="261" r:id="Re6b4ebfe2c684240"/>
    <p:sldId xmlns:r="http://schemas.openxmlformats.org/officeDocument/2006/relationships" id="262" r:id="Rd99b8d2c4ea34c67"/>
    <p:sldId xmlns:r="http://schemas.openxmlformats.org/officeDocument/2006/relationships" id="263" r:id="R4f3dd0f0f7e247ae"/>
    <p:sldId xmlns:r="http://schemas.openxmlformats.org/officeDocument/2006/relationships" id="264" r:id="R620ed819b7e249d2"/>
    <p:sldId xmlns:r="http://schemas.openxmlformats.org/officeDocument/2006/relationships" id="265" r:id="Rcb6857ff6f7b4984"/>
    <p:sldId xmlns:r="http://schemas.openxmlformats.org/officeDocument/2006/relationships" id="266" r:id="Rd375136261634efb"/>
    <p:sldId xmlns:r="http://schemas.openxmlformats.org/officeDocument/2006/relationships" id="267" r:id="R8a7f81f833ba41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963f472d3e47c1" /><Relationship Type="http://schemas.openxmlformats.org/officeDocument/2006/relationships/slideMaster" Target="/ppt/slideMasters/slideMaster1.xml" Id="R94bd95358b424c21" /><Relationship Type="http://schemas.openxmlformats.org/officeDocument/2006/relationships/notesMaster" Target="/ppt/notesMasters/notesMaster1.xml" Id="Rbd90fed0f5e045c0" /><Relationship Type="http://schemas.openxmlformats.org/officeDocument/2006/relationships/presProps" Target="/ppt/presProps.xml" Id="Rd336ce708ac94e24" /><Relationship Type="http://schemas.openxmlformats.org/officeDocument/2006/relationships/tableStyles" Target="/ppt/tableStyles.xml" Id="Rb6e4ee48782e48d6" /><Relationship Type="http://schemas.openxmlformats.org/officeDocument/2006/relationships/slide" Target="/ppt/slides/slide1.xml" Id="R3c9160a636b642e3" /><Relationship Type="http://schemas.openxmlformats.org/officeDocument/2006/relationships/slide" Target="/ppt/slides/slide2.xml" Id="R9d3856cf2e814281" /><Relationship Type="http://schemas.openxmlformats.org/officeDocument/2006/relationships/slide" Target="/ppt/slides/slide3.xml" Id="R9de7a5af35904ab4" /><Relationship Type="http://schemas.openxmlformats.org/officeDocument/2006/relationships/slide" Target="/ppt/slides/slide4.xml" Id="R12179dc1ea344daf" /><Relationship Type="http://schemas.openxmlformats.org/officeDocument/2006/relationships/slide" Target="/ppt/slides/slide5.xml" Id="Rd16777a66d884a71" /><Relationship Type="http://schemas.openxmlformats.org/officeDocument/2006/relationships/slide" Target="/ppt/slides/slide6.xml" Id="Re6b4ebfe2c684240" /><Relationship Type="http://schemas.openxmlformats.org/officeDocument/2006/relationships/slide" Target="/ppt/slides/slide7.xml" Id="Rd99b8d2c4ea34c67" /><Relationship Type="http://schemas.openxmlformats.org/officeDocument/2006/relationships/slide" Target="/ppt/slides/slide8.xml" Id="R4f3dd0f0f7e247ae" /><Relationship Type="http://schemas.openxmlformats.org/officeDocument/2006/relationships/slide" Target="/ppt/slides/slide9.xml" Id="R620ed819b7e249d2" /><Relationship Type="http://schemas.openxmlformats.org/officeDocument/2006/relationships/slide" Target="/ppt/slides/slide10.xml" Id="Rcb6857ff6f7b4984" /><Relationship Type="http://schemas.openxmlformats.org/officeDocument/2006/relationships/slide" Target="/ppt/slides/slide11.xml" Id="Rd375136261634efb" /><Relationship Type="http://schemas.openxmlformats.org/officeDocument/2006/relationships/slide" Target="/ppt/slides/slide12.xml" Id="R8a7f81f833ba41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fda81ee87a40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d5b6324c8e4b9d" /><Relationship Type="http://schemas.openxmlformats.org/officeDocument/2006/relationships/notesMaster" Target="/ppt/notesMasters/notesMaster1.xml" Id="R5f6298f0eff443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489e8d277b410e" /><Relationship Type="http://schemas.openxmlformats.org/officeDocument/2006/relationships/notesMaster" Target="/ppt/notesMasters/notesMaster1.xml" Id="R85632aa3a3d645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0fe285a6cf4bb2" /><Relationship Type="http://schemas.openxmlformats.org/officeDocument/2006/relationships/notesMaster" Target="/ppt/notesMasters/notesMaster1.xml" Id="R32aaf5a4f09f4b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ae6a028dd34090" /><Relationship Type="http://schemas.openxmlformats.org/officeDocument/2006/relationships/notesMaster" Target="/ppt/notesMasters/notesMaster1.xml" Id="R05691d02d8cb4a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b340dc921a4737" /><Relationship Type="http://schemas.openxmlformats.org/officeDocument/2006/relationships/notesMaster" Target="/ppt/notesMasters/notesMaster1.xml" Id="R7fa4330b99e646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a544479d394d5e" /><Relationship Type="http://schemas.openxmlformats.org/officeDocument/2006/relationships/notesMaster" Target="/ppt/notesMasters/notesMaster1.xml" Id="R3cc697a67e5746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73b360448e4053" /><Relationship Type="http://schemas.openxmlformats.org/officeDocument/2006/relationships/notesMaster" Target="/ppt/notesMasters/notesMaster1.xml" Id="R4e4c3940bf544d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dbd52c4d4a4878" /><Relationship Type="http://schemas.openxmlformats.org/officeDocument/2006/relationships/notesMaster" Target="/ppt/notesMasters/notesMaster1.xml" Id="R224a66f0fdc24297"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a92131990c4a95" /><Relationship Type="http://schemas.openxmlformats.org/officeDocument/2006/relationships/notesMaster" Target="/ppt/notesMasters/notesMaster1.xml" Id="Rf62cdfb0feb449a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76928d6d0414b0f" /><Relationship Type="http://schemas.openxmlformats.org/officeDocument/2006/relationships/notesMaster" Target="/ppt/notesMasters/notesMaster1.xml" Id="R4eb159a93ef74c2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b8731ee3e7240d5" /><Relationship Type="http://schemas.openxmlformats.org/officeDocument/2006/relationships/notesMaster" Target="/ppt/notesMasters/notesMaster1.xml" Id="R6610276c3b4a418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492fdd7d004b23" /><Relationship Type="http://schemas.openxmlformats.org/officeDocument/2006/relationships/notesMaster" Target="/ppt/notesMasters/notesMaster1.xml" Id="R599928d0cef84a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"The tested workflows can be derived from the proposal". Authority: proposal commit 4120379fa12473b54a8f8e11999a1cefa5443614.</a:t>
            </a:r>
          </a:p>
          <a:p xmlns:a="http://schemas.openxmlformats.org/drawingml/2006/main">
            <a:r>
              <a:t/>
            </a:r>
          </a:p>
          <a:p xmlns:a="http://schemas.openxmlformats.org/drawingml/2006/main">
            <a:r>
              <a:t>Two newly written placement readers pass 19 contract groups against the unchanged proposal. Its existing rules were sufficient to correct the implementation defects found during the run. No new blocking specification gap was found in these workflows, and no undocumented geospatial fields were needed. This is bounded evidence, not proof of exhaustive conformance. Evidence. Contract results, requirement trace and reverse audit, and fresh-generation provenance. Original inputs were reused; previous geospatial implementations, fixture logic and generated expectations were not. The same agent wrote both readers, and both use PROJ. This is not an independent-team or independent-engine certification.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"Store inputs; compute results". Authority: proposal commit 4120379fa12473b54a8f8e11999a1cefa5443614.</a:t>
            </a:r>
          </a:p>
          <a:p xmlns:a="http://schemas.openxmlformats.org/drawingml/2006/main">
            <a:r>
              <a:t/>
            </a:r>
          </a:p>
          <a:p xmlns:a="http://schemas.openxmlformats.org/drawingml/2006/main">
            <a:r>
              <a:t>A coordinate reference system (CRS) gives numbers their location, axes, units and height reference. USD stores that definition as well-known text (WKT), alongside the author's placement decisions. Projection effects and resolved positions are computed results; they do not become extra source USD properties. | Authored input | Meaning | |---|---| | crs:wkt | One complete CRS definition, shared through composition | | crs:position | Absolute model origin in that definition's components and units | | crs:orientation | Physical heading, pitch and roll against geodetic east/north/up | | Ordinary xformOps | Model-local descendants; project adjustments on the anchor | | External-data association | Asset, format, selected field and coordinate domain | Evidence. The codeless schema resources contain the proposed input fields. There is no crs:scale, coordinate-epoch property, output-orientation property or private “already resolved” flag. WKT string normalization preserves quoted text and exact decimal information; semantic equivalence is tested separately from serialized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"Placement has an explicit order". Authority: proposal commit 4120379fa12473b54a8f8e11999a1cefa5443614.</a:t>
            </a:r>
          </a:p>
          <a:p xmlns:a="http://schemas.openxmlformats.org/drawingml/2006/main">
            <a:r>
              <a:t/>
            </a:r>
          </a:p>
          <a:p xmlns:a="http://schemas.openxmlformats.org/drawingml/2006/main">
            <a:r>
              <a:t>Child transforms first produce model-local geometry. Source position and physical attitude place it on the Earth. The anchor's ordinary scale, rotation and translation then act in a fixed working chart. Changing the requested output CRS preserves that adjustment instead of interpreting the same numbers along different axes. | Stage of evaluation | What it preserves | |---|---| | Child transforms and asset conformance | Ordinary reusable model-local meaning | | Source position and geodetic attitude | Physical origin, direction and local lengths | | Conversion into the working chart | A fixed context for the anchor's adjustments | | Anchor's complete ordinary stack | Authored scales, pivots, rotations and translations | | Requested coordinate/scene output | Adjusted physical placement in the requested representation | Evidence. Reset stacks, independently bound children, reference offsets, inherits, value clips and native instance proxies are exercised. Bound point-instancer prototypes retain their independent position, with the per-instance adjustment transported once. Identity adjustments avoid unnecessary intermediate conversions. Geographic queries return angles, while ordinary scene geometry uses the associated geocentric Cartesian chart.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"Provider examples check the coordinate interpretation". Authority: proposal commit 4120379fa12473b54a8f8e11999a1cefa5443614.</a:t>
            </a:r>
          </a:p>
          <a:p xmlns:a="http://schemas.openxmlformats.org/drawingml/2006/main">
            <a:r>
              <a:t/>
            </a:r>
          </a:p>
          <a:p xmlns:a="http://schemas.openxmlformats.org/drawingml/2006/main">
            <a:r>
              <a:t>Across 123 comparison rows, both readers use equivalent realized operations and agree with the supplied provider tables within the predeclared 2 mm distance. The largest provider residual is 0.100 mm. These distances test interpretation and implementation agreement; they do not establish survey accuracy. | Conversion | Rows | Largest provider residual | |---|---:|---:| | France: geographic to geocentric | 59 | 0.100 mm | | France: CC49 to Lambert-93 | 59 | 0.061 mm | | Colorado: State Plane to calibrated site | 5 | 0.034 mm | Caption: Provider tables also use PROJ; these checks do not establish independent geodetic or survey accuracy. Evidence. France geocentric, France projected, Colorado calibration. Actual operation pipelines were compared after removing serialization-only plus prefixes; the same local resource files were used. Cartesian residuals include unit conversion to metres, including US survey feet. Provider tables were themselves generated using PROJ, so these are useful external workflow references rather than an independent geodetic engine oracle.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"The same Eiffel geometry reaches ordinary USD consumers". Authority: proposal commit 4120379fa12473b54a8f8e11999a1cefa5443614.</a:t>
            </a:r>
          </a:p>
          <a:p xmlns:a="http://schemas.openxmlformats.org/drawingml/2006/main">
            <a:r>
              <a:t/>
            </a:r>
          </a:p>
          <a:p xmlns:a="http://schemas.openxmlformats.org/drawingml/2006/main">
            <a:r>
              <a:t>The two readers resolve all 163,416 original Eiffel vertices, with a maximum difference of 0.016 mm between their ordinary bakes. A fresh reader reconstructs the Python bake within 0.011 mm. Native Hydra/Storm renders the derived geometry, and a real Omniverse stage reads the Python result back without a geospatial resolver. !Authored tower location, before/after ordinary USD adjustment, and measured Python/C++ agreement Caption: Authored placement, then USD adjustment. Tower: SDC PERFORMANCE, CC BY 4.0 (modified). Both readers use PROJ. Evidence. Placement figure inputs and measured shift, full-data comparison, fresh-bake precision, actual Hydra/Storm render, actual Omniverse readback. There are two placement readers, Python and native C++. Omniverse is a consumer of Python results, not a third implementation or an integration with an additional geospatial runtime. Both readers share PROJ; the native reader reads the composed USD inputs itself. Neutral export formatting is shared. The original artist asset receives explicit cm/Y-up conformance and an illustrative resize to 300 m before the shown project scale. The figure uses the authored location and heading, then shows the actual footprint before and after the anchor's scale, rotation and translation. Its project-grid origin moves 120 m east and 60 m south, matching the authored adjustment. The coordinate comparison reads every vertex from the two recorded ordinary USD bakes. This is an illustrative placement, not surveyed Paris context. Tower geometry: (FREE) La tour Eiffel, by SDC PERFORMANCE, CC BY 4.0. Asset conformance, size, placement and display are modified in this example; the original archive retains its embedded attribution.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"The original railway remains useful as data". Authority: proposal commit 4120379fa12473b54a8f8e11999a1cefa5443614.</a:t>
            </a:r>
          </a:p>
          <a:p xmlns:a="http://schemas.openxmlformats.org/drawingml/2006/main">
            <a:r>
              <a:t/>
            </a:r>
          </a:p>
          <a:p xmlns:a="http://schemas.openxmlformats.org/drawingml/2006/main">
            <a:r>
              <a:t>Both readers resolve the same 15,822 railway positions and retain feature/geometry indices. The visualization uses those positions and preserves separate line sequences. A consumer can obtain coordinates and feature values without constructing renderable geometry, then ask for another supported output CRS. !Original railway line sequences, projected into a local view and colored by the selected height interpretation Caption: The selected RFC 7946 association defines height interpretation; the legacy source labels horizontal WGS 84. Evidence. Railway coordinates and associations. The source has a legacy EPSG:4326 horizontal label. The explicitly authored GeoJSON association selects the proposal's RFC 7946 profile, including its ellipsoidal third-coordinate meaning; it does not infer a datum from the numeric heights. A legacy declaration naming another CRS is rejected. This demonstration does not independently verify the producer's surveying accuracy or height provenance. Original file bytes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"Site calibration survives the data exchange". Authority: proposal commit 4120379fa12473b54a8f8e11999a1cefa5443614.</a:t>
            </a:r>
          </a:p>
          <a:p xmlns:a="http://schemas.openxmlformats.org/drawingml/2006/main">
            <a:r>
              <a:t/>
            </a:r>
          </a:p>
          <a:p xmlns:a="http://schemas.openxmlformats.org/drawingml/2006/main">
            <a:r>
              <a:t>The original Westminster data contributes 14,359 polyline positions, including 13,899 breakline points. Both readers retain the calibrated site's full WKT and US survey feet while converting the same records to the State Plane context. Horizontal and vertical calibration remain CRS meaning, separate from object placement. !Original Westminster polylines in the calibrated site grid, with height coloring and metric display axes Caption: A query client supplies LandXML records and companion WKT; no standard LandXML USD association is claimed. Evidence. Full-data results. There are 710 original polyline sequences; original ordering and associations are retained and no triangulation is invented. A coordinate-query client explicitly supplies the LandXML records with the provider's companion WKT. LandXML is not one of the proposal's native USD association profiles, and this run does not claim it is. The plot converts declared US survey feet into metres for display. Both readers agree to the recorded floating-point precision; that is not a statement of measurement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"Global analysis does not require a renderer". Authority: proposal commit 4120379fa12473b54a8f8e11999a1cefa5443614.</a:t>
            </a:r>
          </a:p>
          <a:p xmlns:a="http://schemas.openxmlformats.org/drawingml/2006/main">
            <a:r>
              <a:t/>
            </a:r>
          </a:p>
          <a:p xmlns:a="http://schemas.openxmlformats.org/drawingml/2006/main">
            <a:r>
              <a:t>The climate example pairs 2,664 original measurement values with explicit coordinates and two illustrative observation times, yielding 5,328 sample records. Both readers agree on their global geocentric locations. Changing a measurement time keeps its location association intact; the globe and heatmap are optional views of the same data. !The same climate samples shown in geocentric space and as a geographic heatmap Caption: Added example inputs: Kelvin, zero ellipsoidal height, chosen observation times and a second field at +1 K. Evidence. Climate comparison and time association. The original download lacks the necessary CF roles, unit declaration, absolute height and observation-time metadata. The illustrative derived wrapper explicitly adds those facts: Kelvin as the example unit, zero ellipsoidal height, chosen example times and a second field equal to the first plus 1 K. These are demonstration inputs, not recovered weather observations. A separate CF permutation case proves coordinates align by named dimensions rather than independent flattened indices. GeoTIFF PixelIsArea and PixelIsPoint samples are also distinguished. CF metadata and WKT must agree; surface-relative height is not silently treated as absolute ellipsoidal height.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"A height fallback is visible and queryable". Authority: proposal commit 4120379fa12473b54a8f8e11999a1cefa5443614.</a:t>
            </a:r>
          </a:p>
          <a:p xmlns:a="http://schemas.openxmlformats.org/drawingml/2006/main">
            <a:r>
              <a:t/>
            </a:r>
          </a:p>
          <a:p xmlns:a="http://schemas.openxmlformats.org/drawingml/2006/main">
            <a:r>
              <a:t>When a model placement lacks a vertical CRS, the specified fallback is EGM2008 gravity-related height, with a warning. At the illustrative Eiffel coordinate, 35 m in that reference resolves to about 79.639 m ellipsoidal height. The reader reports the source interpretation and whether it was declared or assumed; it authors no computed height properties. | Source definition | Computed height report | |---|---| | Geographic 3D with ellipsoidal height | Ellipsoidal; declared | | Geocentric X, Y, Z | No height axis; declared | | Horizontal geographic CRS used for model placement | EGM2008 height in metres; assumed and warned | | Horizontal projected CRS used for model placement | EGM2008 height in the horizontal linear unit; assumed and warned | Caption: Required grids are actually used. A missing grid fails visibly instead of substituting another height reference. Evidence. Height and failure cases, isolated missing-grid failure. The EGM2008 grid was actually used. Removing it makes the request fail visibly; neither zero nor ellipsoidal height substitutes for it. A genuinely 2D measurement domain stays 2D and does not receive this model-placement fallback. Coordinate-epoch-dependent operations and wrappers remain outside initial scope, including when PROJ could perform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"Profiles lets a consumer detect the dependency early". Authority: proposal commit 4120379fa12473b54a8f8e11999a1cefa5443614.</a:t>
            </a:r>
          </a:p>
          <a:p xmlns:a="http://schemas.openxmlformats.org/drawingml/2006/main">
            <a:r>
              <a:t/>
            </a:r>
          </a:p>
          <a:p xmlns:a="http://schemas.openxmlformats.org/drawingml/2006/main">
            <a:r>
              <a:t>Authors use the geospatial input schemas. Publishers maintain a conservative summary at advertised entrypoints, above payloads and across retained variants. Consumers read that summary before loading content: hard dependency, qualified known-none, or unknown. This helps adoption by making unsupported placement detectable instead of silently wrong. | Participant | Observable contract | |---|---| | Author | Binding and measurement schemas imply the proposed capability | | Publisher | ClaimsAPI records a complete, conservative publication summary | | Consumer | Reads the summary without traversing or loading payloads | | Ordinary geometry bake | May claim known-none after every retained dependency is removed | Caption: Native ClaimsAPI reads the declaration with zero payloads loaded. The capability names remain proposed. Evidence. The existing native UsdProfilesClaimsAPI reads the hard usage and publishing profile with zero payloads loaded. A stale summary is rejected; a hidden geospatial variant cannot justify known-none. Complete geometry bakes publish qualified known-none. The local capability registration uses existing Profiles metadata, not a new geospatial carrier. The proposed identities are usd.geospatial.crsResolution.v1 and usd.geospatial.publication.v1; namespace stewardship and standards approval remain adoption questions. The dependency declaration is a publisher claim, not proof inferred by a consumer traversal.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"Sampling and coverage claims have practical limits". Authority: proposal commit 4120379fa12473b54a8f8e11999a1cefa5443614.</a:t>
            </a:r>
          </a:p>
          <a:p xmlns:a="http://schemas.openxmlformats.org/drawingml/2006/main">
            <a:r>
              <a:t/>
            </a:r>
          </a:p>
          <a:p xmlns:a="http://schemas.openxmlformats.org/drawingml/2006/main">
            <a:r>
              <a:t>A two-endpoint ECEF bake does not preserve the source trajectory between those endpoints. The equatorial test exposes a 971.421 m midpoint difference. Exported sample keys and time-code scale record what was written; they do not claim an untested path or certify the continuous image of a face, curve or subdivision surface. !Measured source-interpolation versus two-endpoint bake counterexample Caption: The sampled bake claims its actual sample instants; it makes no between-sample trajectory guarantee. Evidence. Sampled export case. Ordinary double-precision transforms carry large motion while float points remain local at each exported sample. A fresh native reader reads the bake without a private resolved flag. The source remains unchanged. Finite-point and resulting straight-polygon bounds are distinct from continuous-domain certification; unsupported certification fails visibly.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"Separate proposal quality from prototype coverage". Authority: proposal commit 4120379fa12473b54a8f8e11999a1cefa5443614.</a:t>
            </a:r>
          </a:p>
          <a:p xmlns:a="http://schemas.openxmlformats.org/drawingml/2006/main">
            <a:r>
              <a:t/>
            </a:r>
          </a:p>
          <a:p xmlns:a="http://schemas.openxmlformats.org/drawingml/2006/main">
            <a:r>
              <a:t>The fresh run found implementation defects and repaired them against existing requirements. It found no new blocking model or runtime ambiguity in the exercised contracts. Remaining review/adoption questions, explicit roadmap deferrals and prototype coverage limits are different claims and must remain visible when assessing readiness. | Category | Current assessment | |---|---| | Missing meaning in tested contracts | No new blocking gap found; bounded evidence | | Review and adoption | Detailed candidate conventions and Profiles identity ownership still require standards review | | Explicit deferrals | Coordinate epochs and scene-authored operation/resource pinning | | Prototype limits | General continuous-domain certification, custom GeoTIFF decoding and point-instancer bake expansion are visibly unsupported | | Independence of evidence | Same author and PROJ family; provider tables also use PROJ | Evidence. Reverse audit. The audit caught implicit epoch handling, a float-frame precision defect, incorrect CF assumptions and an unnecessary working-CRS conversion. Their repairs required no extra USD source attributes. Semantic normal primvar transport is exercised; full combinations of indexed, animated and non-mesh export are not certified. Review claims are intentionally narrower than “all possible implementations will agree.” ### Reproduce and inspect See REPRODUCE.md. The Python reader, native reader, new fixture generator, native-format adapters, ordinary exporter and acceptance cases were generated for this run. The build made no source proposal edits. Its source and recorded evidence are published here as a draft companion; the original freeze records describe the run before publication. The two readers use PROJ 9.5.1 and 9.4.1 respectively. The installed native USD SDK is 26.11; Python's USD is 26.5. The native Profiles API supplies declaration authoring/readback where the older Python bindings lack it. These version differences are recorded implementation context, not geospatial source fields. Original input hashes, code/resource provenance and the final assessment are in audit. Source and derived inputs have different provenance. Provider files and the original artist asset retain their supplied licenses and credits; this run does not infer redistribution rights or dependency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40489c4ff149c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19d1774e8d74c1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d3d50ff5b3e412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33ae04001c9494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85f98271a774f2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d444454b6974b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8BFA1D-2320-49FF-958C-1A491B913D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1B774E4-EDAE-4E25-B7B7-ABCFB101767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897672C-2B66-4A62-9763-A1380F48F76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A28E2E-CEF8-4218-9F23-06282B04B2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2EEFE63-497B-44D0-AB4C-B0142EE5C3E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7AA3571-C2CD-449F-83BF-7EE8517A7AF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1CF9A0-C58A-4374-A76A-1D912541DF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591B2C1-AE4F-496B-B69A-9E37873BCDC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C855A4-7B46-48E0-BA15-12D1E10B0F3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9F0110-654A-415F-B9AF-5FE7F93647C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d5bc7ad4894aa4" /><Relationship Type="http://schemas.openxmlformats.org/officeDocument/2006/relationships/slideLayout" Target="/ppt/slideLayouts/slideLayout1.xml" Id="Re06be7015cac48b2" /><Relationship Type="http://schemas.openxmlformats.org/officeDocument/2006/relationships/slideLayout" Target="/ppt/slideLayouts/slideLayout2.xml" Id="R949dd98485924d1e" /><Relationship Type="http://schemas.openxmlformats.org/officeDocument/2006/relationships/slideLayout" Target="/ppt/slideLayouts/slideLayout3.xml" Id="Rbe95201c25014101" /><Relationship Type="http://schemas.openxmlformats.org/officeDocument/2006/relationships/slideLayout" Target="/ppt/slideLayouts/slideLayout4.xml" Id="R96e0f48ca2ca4ac3" /><Relationship Type="http://schemas.openxmlformats.org/officeDocument/2006/relationships/slideLayout" Target="/ppt/slideLayouts/slideLayout5.xml" Id="Rd83707fa1bbb4ebe" /><Relationship Type="http://schemas.openxmlformats.org/officeDocument/2006/relationships/slideLayout" Target="/ppt/slideLayouts/slideLayout6.xml" Id="R17a72c36b2c244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6be7015cac48b2"/>
    <p:sldLayoutId xmlns:r="http://schemas.openxmlformats.org/officeDocument/2006/relationships" id="2147483650" r:id="R949dd98485924d1e"/>
    <p:sldLayoutId xmlns:r="http://schemas.openxmlformats.org/officeDocument/2006/relationships" id="2147483651" r:id="Rbe95201c25014101"/>
    <p:sldLayoutId xmlns:r="http://schemas.openxmlformats.org/officeDocument/2006/relationships" id="2147483652" r:id="R96e0f48ca2ca4ac3"/>
    <p:sldLayoutId xmlns:r="http://schemas.openxmlformats.org/officeDocument/2006/relationships" id="2147483653" r:id="Rd83707fa1bbb4ebe"/>
    <p:sldLayoutId xmlns:r="http://schemas.openxmlformats.org/officeDocument/2006/relationships" id="2147483654" r:id="R17a72c36b2c244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c5f8ddefb954eb6" /><Relationship Type="http://schemas.openxmlformats.org/officeDocument/2006/relationships/notesSlide" Target="/ppt/notesSlides/notesSlide1.xml" Id="R77d4e212c88645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49f226283d1446d" /><Relationship Type="http://schemas.openxmlformats.org/officeDocument/2006/relationships/notesSlide" Target="/ppt/notesSlides/notesSlide2.xml" Id="Rc8396dc5baaf47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b56719e841746c0" /><Relationship Type="http://schemas.openxmlformats.org/officeDocument/2006/relationships/notesSlide" Target="/ppt/notesSlides/notesSlide3.xml" Id="Rb6ffdb320a1649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0f4530e4b7f4e60" /><Relationship Type="http://schemas.openxmlformats.org/officeDocument/2006/relationships/notesSlide" Target="/ppt/notesSlides/notesSlide4.xml" Id="R34b61dd39ed444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3d00c636e784ccb" /><Relationship Type="http://schemas.openxmlformats.org/officeDocument/2006/relationships/image" Target="/ppt/media/image.png" Id="R6af42d70e8c84ec5" /><Relationship Type="http://schemas.openxmlformats.org/officeDocument/2006/relationships/notesSlide" Target="/ppt/notesSlides/notesSlide5.xml" Id="R97b6f2db4d8144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a7380c7ca0a4d78" /><Relationship Type="http://schemas.openxmlformats.org/officeDocument/2006/relationships/image" Target="/ppt/media/image2.png" Id="R70ead8d0aee64f31" /><Relationship Type="http://schemas.openxmlformats.org/officeDocument/2006/relationships/notesSlide" Target="/ppt/notesSlides/notesSlide6.xml" Id="R884202c660b240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b0fe8ffba0d476d" /><Relationship Type="http://schemas.openxmlformats.org/officeDocument/2006/relationships/image" Target="/ppt/media/image3.png" Id="R5a5c47299f5d4fe5" /><Relationship Type="http://schemas.openxmlformats.org/officeDocument/2006/relationships/notesSlide" Target="/ppt/notesSlides/notesSlide7.xml" Id="Rc6756109f34248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08a03f1a8844d3c" /><Relationship Type="http://schemas.openxmlformats.org/officeDocument/2006/relationships/image" Target="/ppt/media/image4.png" Id="R0c93dbf42417410a" /><Relationship Type="http://schemas.openxmlformats.org/officeDocument/2006/relationships/notesSlide" Target="/ppt/notesSlides/notesSlide8.xml" Id="Raf7826c959d24f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1a7ebfb34384b95" /><Relationship Type="http://schemas.openxmlformats.org/officeDocument/2006/relationships/notesSlide" Target="/ppt/notesSlides/notesSlide9.xml" Id="Ra88a903808ea44a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1326ca76afa49ce" /><Relationship Type="http://schemas.openxmlformats.org/officeDocument/2006/relationships/notesSlide" Target="/ppt/notesSlides/notesSlide10.xml" Id="R4309e2030bad4f6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15de3162a9d4c73" /><Relationship Type="http://schemas.openxmlformats.org/officeDocument/2006/relationships/image" Target="/ppt/media/image5.png" Id="Ra4e32172916f451f" /><Relationship Type="http://schemas.openxmlformats.org/officeDocument/2006/relationships/notesSlide" Target="/ppt/notesSlides/notesSlide11.xml" Id="R16839e0745164fd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47e5b605e0d4bd7" /><Relationship Type="http://schemas.openxmlformats.org/officeDocument/2006/relationships/notesSlide" Target="/ppt/notesSlides/notesSlide12.xml" Id="R4a5c3e26049e4a7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FD55C80-0AA7-4854-BDDB-C125C0E77A63}"/>
              </a:ext>
            </a:extLst>
          </p:cNvPr>
          <p:cNvSpPr>
            <a:spLocks xmlns:a="http://schemas.openxmlformats.org/drawingml/2006/main" noGrp="1"/>
          </p:cNvSpPr>
          <p:nvPr/>
        </p:nvSpPr>
        <p:spPr>
          <a:xfrm xmlns:a="http://schemas.openxmlformats.org/drawingml/2006/main">
            <a:off x="609600" y="609600"/>
            <a:ext cx="108204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213F4C"/>
                </a:solidFill>
                <a:latin typeface="Arial"/>
                <a:ea typeface="Arial"/>
                <a:cs typeface="Arial"/>
              </a:defRPr>
            </a:defPPr>
            <a:lvl1pPr>
              <a:defRPr sz="3600" b="1">
                <a:solidFill>
                  <a:srgbClr val="213F4C"/>
                </a:solidFill>
                <a:latin typeface="Arial"/>
                <a:ea typeface="Arial"/>
                <a:cs typeface="Arial"/>
              </a:defRPr>
            </a:lvl1pPr>
            <a:lvl2pPr>
              <a:defRPr sz="3600" b="1">
                <a:solidFill>
                  <a:srgbClr val="213F4C"/>
                </a:solidFill>
                <a:latin typeface="Arial"/>
                <a:ea typeface="Arial"/>
                <a:cs typeface="Arial"/>
              </a:defRPr>
            </a:lvl2pPr>
            <a:lvl3pPr>
              <a:defRPr sz="3600" b="1">
                <a:solidFill>
                  <a:srgbClr val="213F4C"/>
                </a:solidFill>
                <a:latin typeface="Arial"/>
                <a:ea typeface="Arial"/>
                <a:cs typeface="Arial"/>
              </a:defRPr>
            </a:lvl3pPr>
            <a:lvl4pPr>
              <a:defRPr sz="3600" b="1">
                <a:solidFill>
                  <a:srgbClr val="213F4C"/>
                </a:solidFill>
                <a:latin typeface="Arial"/>
                <a:ea typeface="Arial"/>
                <a:cs typeface="Arial"/>
              </a:defRPr>
            </a:lvl4pPr>
            <a:lvl5pPr>
              <a:defRPr sz="3600" b="1">
                <a:solidFill>
                  <a:srgbClr val="213F4C"/>
                </a:solidFill>
                <a:latin typeface="Arial"/>
                <a:ea typeface="Arial"/>
                <a:cs typeface="Arial"/>
              </a:defRPr>
            </a:lvl5pPr>
            <a:lvl6pPr>
              <a:defRPr sz="3600" b="1">
                <a:solidFill>
                  <a:srgbClr val="213F4C"/>
                </a:solidFill>
                <a:latin typeface="Arial"/>
                <a:ea typeface="Arial"/>
                <a:cs typeface="Arial"/>
              </a:defRPr>
            </a:lvl6pPr>
            <a:lvl7pPr>
              <a:defRPr sz="3600" b="1">
                <a:solidFill>
                  <a:srgbClr val="213F4C"/>
                </a:solidFill>
                <a:latin typeface="Arial"/>
                <a:ea typeface="Arial"/>
                <a:cs typeface="Arial"/>
              </a:defRPr>
            </a:lvl7pPr>
            <a:lvl8pPr>
              <a:defRPr sz="3600" b="1">
                <a:solidFill>
                  <a:srgbClr val="213F4C"/>
                </a:solidFill>
                <a:latin typeface="Arial"/>
                <a:ea typeface="Arial"/>
                <a:cs typeface="Arial"/>
              </a:defRPr>
            </a:lvl8pPr>
            <a:lvl9pPr>
              <a:defRPr sz="3600" b="1">
                <a:solidFill>
                  <a:srgbClr val="213F4C"/>
                </a:solidFill>
                <a:latin typeface="Arial"/>
                <a:ea typeface="Arial"/>
                <a:cs typeface="Arial"/>
              </a:defRPr>
            </a:lvl9pPr>
          </a:lstStyle>
          <a:p xmlns:a="http://schemas.openxmlformats.org/drawingml/2006/main">
            <a:pPr>
              <a:defRPr sz="3600" b="1">
                <a:solidFill>
                  <a:srgbClr val="213F4C"/>
                </a:solidFill>
                <a:latin typeface="Arial"/>
                <a:ea typeface="Arial"/>
                <a:cs typeface="Arial"/>
              </a:defRPr>
            </a:pPr>
            <a:r>
              <a:rPr sz="3600" b="1">
                <a:solidFill>
                  <a:srgbClr val="213F4C"/>
                </a:solidFill>
                <a:latin typeface="Arial"/>
                <a:ea typeface="Arial"/>
                <a:cs typeface="Arial"/>
              </a:rPr>
              <a:t>Geospatial USD: proposal quality and working evidence</a:t>
            </a:r>
          </a:p>
        </p:txBody>
      </p:sp>
      <p:sp>
        <p:nvSpPr>
          <p:cNvPr id="2" name="">
            <a:extLst xmlns:a="http://schemas.openxmlformats.org/drawingml/2006/main">
              <a:ext uri="{FF2B5EF4-FFF2-40B4-BE49-F238E27FC236}">
                <a16:creationId xmlns:a16="http://schemas.microsoft.com/office/drawing/2014/main" id="{506FD4B2-4E72-4015-ACA0-BE1B082E404F}"/>
              </a:ext>
            </a:extLst>
          </p:cNvPr>
          <p:cNvSpPr>
            <a:spLocks xmlns:a="http://schemas.openxmlformats.org/drawingml/2006/main" noGrp="1"/>
          </p:cNvSpPr>
          <p:nvPr/>
        </p:nvSpPr>
        <p:spPr>
          <a:xfrm xmlns:a="http://schemas.openxmlformats.org/drawingml/2006/main">
            <a:off x="609600" y="2505075"/>
            <a:ext cx="108204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213F4C"/>
                </a:solidFill>
                <a:latin typeface="Arial"/>
                <a:ea typeface="Arial"/>
                <a:cs typeface="Arial"/>
              </a:defRPr>
            </a:defPPr>
            <a:lvl1pPr>
              <a:defRPr sz="2550" b="1">
                <a:solidFill>
                  <a:srgbClr val="213F4C"/>
                </a:solidFill>
                <a:latin typeface="Arial"/>
                <a:ea typeface="Arial"/>
                <a:cs typeface="Arial"/>
              </a:defRPr>
            </a:lvl1pPr>
            <a:lvl2pPr>
              <a:defRPr sz="2550" b="1">
                <a:solidFill>
                  <a:srgbClr val="213F4C"/>
                </a:solidFill>
                <a:latin typeface="Arial"/>
                <a:ea typeface="Arial"/>
                <a:cs typeface="Arial"/>
              </a:defRPr>
            </a:lvl2pPr>
            <a:lvl3pPr>
              <a:defRPr sz="2550" b="1">
                <a:solidFill>
                  <a:srgbClr val="213F4C"/>
                </a:solidFill>
                <a:latin typeface="Arial"/>
                <a:ea typeface="Arial"/>
                <a:cs typeface="Arial"/>
              </a:defRPr>
            </a:lvl3pPr>
            <a:lvl4pPr>
              <a:defRPr sz="2550" b="1">
                <a:solidFill>
                  <a:srgbClr val="213F4C"/>
                </a:solidFill>
                <a:latin typeface="Arial"/>
                <a:ea typeface="Arial"/>
                <a:cs typeface="Arial"/>
              </a:defRPr>
            </a:lvl4pPr>
            <a:lvl5pPr>
              <a:defRPr sz="2550" b="1">
                <a:solidFill>
                  <a:srgbClr val="213F4C"/>
                </a:solidFill>
                <a:latin typeface="Arial"/>
                <a:ea typeface="Arial"/>
                <a:cs typeface="Arial"/>
              </a:defRPr>
            </a:lvl5pPr>
            <a:lvl6pPr>
              <a:defRPr sz="2550" b="1">
                <a:solidFill>
                  <a:srgbClr val="213F4C"/>
                </a:solidFill>
                <a:latin typeface="Arial"/>
                <a:ea typeface="Arial"/>
                <a:cs typeface="Arial"/>
              </a:defRPr>
            </a:lvl6pPr>
            <a:lvl7pPr>
              <a:defRPr sz="2550" b="1">
                <a:solidFill>
                  <a:srgbClr val="213F4C"/>
                </a:solidFill>
                <a:latin typeface="Arial"/>
                <a:ea typeface="Arial"/>
                <a:cs typeface="Arial"/>
              </a:defRPr>
            </a:lvl7pPr>
            <a:lvl8pPr>
              <a:defRPr sz="2550" b="1">
                <a:solidFill>
                  <a:srgbClr val="213F4C"/>
                </a:solidFill>
                <a:latin typeface="Arial"/>
                <a:ea typeface="Arial"/>
                <a:cs typeface="Arial"/>
              </a:defRPr>
            </a:lvl8pPr>
            <a:lvl9pPr>
              <a:defRPr sz="2550" b="1">
                <a:solidFill>
                  <a:srgbClr val="213F4C"/>
                </a:solidFill>
                <a:latin typeface="Arial"/>
                <a:ea typeface="Arial"/>
                <a:cs typeface="Arial"/>
              </a:defRPr>
            </a:lvl9pPr>
          </a:lstStyle>
          <a:p xmlns:a="http://schemas.openxmlformats.org/drawingml/2006/main">
            <a:pPr>
              <a:defRPr sz="2550" b="1">
                <a:solidFill>
                  <a:srgbClr val="213F4C"/>
                </a:solidFill>
                <a:latin typeface="Arial"/>
                <a:ea typeface="Arial"/>
                <a:cs typeface="Arial"/>
              </a:defRPr>
            </a:pPr>
            <a:r>
              <a:rPr sz="2550" b="1">
                <a:solidFill>
                  <a:srgbClr val="213F4C"/>
                </a:solidFill>
                <a:latin typeface="Arial"/>
                <a:ea typeface="Arial"/>
                <a:cs typeface="Arial"/>
              </a:rPr>
              <a:t>Two newly written placement readers pass 19 contract groups against the unchanged proposal.</a:t>
            </a:r>
          </a:p>
        </p:txBody>
      </p:sp>
      <p:sp>
        <p:nvSpPr>
          <p:cNvPr id="3" name="">
            <a:extLst xmlns:a="http://schemas.openxmlformats.org/drawingml/2006/main">
              <a:ext uri="{FF2B5EF4-FFF2-40B4-BE49-F238E27FC236}">
                <a16:creationId xmlns:a16="http://schemas.microsoft.com/office/drawing/2014/main" id="{AA2B1EB1-E7AC-4F6E-AA8D-69EEE2DB7762}"/>
              </a:ext>
            </a:extLst>
          </p:cNvPr>
          <p:cNvSpPr>
            <a:spLocks xmlns:a="http://schemas.openxmlformats.org/drawingml/2006/main" noGrp="1"/>
          </p:cNvSpPr>
          <p:nvPr/>
        </p:nvSpPr>
        <p:spPr>
          <a:xfrm xmlns:a="http://schemas.openxmlformats.org/drawingml/2006/main">
            <a:off x="609600" y="4114800"/>
            <a:ext cx="10572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C75"/>
                </a:solidFill>
                <a:latin typeface="Arial"/>
                <a:ea typeface="Arial"/>
                <a:cs typeface="Arial"/>
              </a:defRPr>
            </a:defPPr>
            <a:lvl1pPr>
              <a:defRPr sz="2100" b="0">
                <a:solidFill>
                  <a:srgbClr val="526C75"/>
                </a:solidFill>
                <a:latin typeface="Arial"/>
                <a:ea typeface="Arial"/>
                <a:cs typeface="Arial"/>
              </a:defRPr>
            </a:lvl1pPr>
            <a:lvl2pPr>
              <a:defRPr sz="2100" b="0">
                <a:solidFill>
                  <a:srgbClr val="526C75"/>
                </a:solidFill>
                <a:latin typeface="Arial"/>
                <a:ea typeface="Arial"/>
                <a:cs typeface="Arial"/>
              </a:defRPr>
            </a:lvl2pPr>
            <a:lvl3pPr>
              <a:defRPr sz="2100" b="0">
                <a:solidFill>
                  <a:srgbClr val="526C75"/>
                </a:solidFill>
                <a:latin typeface="Arial"/>
                <a:ea typeface="Arial"/>
                <a:cs typeface="Arial"/>
              </a:defRPr>
            </a:lvl3pPr>
            <a:lvl4pPr>
              <a:defRPr sz="2100" b="0">
                <a:solidFill>
                  <a:srgbClr val="526C75"/>
                </a:solidFill>
                <a:latin typeface="Arial"/>
                <a:ea typeface="Arial"/>
                <a:cs typeface="Arial"/>
              </a:defRPr>
            </a:lvl4pPr>
            <a:lvl5pPr>
              <a:defRPr sz="2100" b="0">
                <a:solidFill>
                  <a:srgbClr val="526C75"/>
                </a:solidFill>
                <a:latin typeface="Arial"/>
                <a:ea typeface="Arial"/>
                <a:cs typeface="Arial"/>
              </a:defRPr>
            </a:lvl5pPr>
            <a:lvl6pPr>
              <a:defRPr sz="2100" b="0">
                <a:solidFill>
                  <a:srgbClr val="526C75"/>
                </a:solidFill>
                <a:latin typeface="Arial"/>
                <a:ea typeface="Arial"/>
                <a:cs typeface="Arial"/>
              </a:defRPr>
            </a:lvl6pPr>
            <a:lvl7pPr>
              <a:defRPr sz="2100" b="0">
                <a:solidFill>
                  <a:srgbClr val="526C75"/>
                </a:solidFill>
                <a:latin typeface="Arial"/>
                <a:ea typeface="Arial"/>
                <a:cs typeface="Arial"/>
              </a:defRPr>
            </a:lvl7pPr>
            <a:lvl8pPr>
              <a:defRPr sz="2100" b="0">
                <a:solidFill>
                  <a:srgbClr val="526C75"/>
                </a:solidFill>
                <a:latin typeface="Arial"/>
                <a:ea typeface="Arial"/>
                <a:cs typeface="Arial"/>
              </a:defRPr>
            </a:lvl8pPr>
            <a:lvl9pPr>
              <a:defRPr sz="2100" b="0">
                <a:solidFill>
                  <a:srgbClr val="526C75"/>
                </a:solidFill>
                <a:latin typeface="Arial"/>
                <a:ea typeface="Arial"/>
                <a:cs typeface="Arial"/>
              </a:defRPr>
            </a:lvl9pPr>
          </a:lstStyle>
          <a:p xmlns:a="http://schemas.openxmlformats.org/drawingml/2006/main">
            <a:pPr>
              <a:defRPr sz="2100" b="0">
                <a:solidFill>
                  <a:srgbClr val="526C75"/>
                </a:solidFill>
                <a:latin typeface="Arial"/>
                <a:ea typeface="Arial"/>
                <a:cs typeface="Arial"/>
              </a:defRPr>
            </a:pPr>
            <a:r>
              <a:rPr sz="2100" b="0">
                <a:solidFill>
                  <a:srgbClr val="526C75"/>
                </a:solidFill>
                <a:latin typeface="Arial"/>
                <a:ea typeface="Arial"/>
                <a:cs typeface="Arial"/>
              </a:rPr>
              <a:t>Its existing rules were sufficient to correct the implementation defects found during the run. No new blocking specification gap was found in these workflows, and no undocumented geospatial fields were needed. This is bounded evidence, not proof of exhaustive conformance.</a:t>
            </a:r>
          </a:p>
        </p:txBody>
      </p:sp>
      <p:sp>
        <p:nvSpPr>
          <p:cNvPr id="4" name="">
            <a:extLst xmlns:a="http://schemas.openxmlformats.org/drawingml/2006/main">
              <a:ext uri="{FF2B5EF4-FFF2-40B4-BE49-F238E27FC236}">
                <a16:creationId xmlns:a16="http://schemas.microsoft.com/office/drawing/2014/main" id="{B813C238-B552-4871-AA61-DA474ED69801}"/>
              </a:ext>
            </a:extLst>
          </p:cNvPr>
          <p:cNvSpPr>
            <a:spLocks xmlns:a="http://schemas.openxmlformats.org/drawingml/2006/main" noGrp="1"/>
          </p:cNvSpPr>
          <p:nvPr/>
        </p:nvSpPr>
        <p:spPr>
          <a:xfrm xmlns:a="http://schemas.openxmlformats.org/drawingml/2006/main">
            <a:off x="609600" y="62198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C75"/>
                </a:solidFill>
                <a:latin typeface="Arial"/>
                <a:ea typeface="Arial"/>
                <a:cs typeface="Arial"/>
              </a:defRPr>
            </a:defPPr>
            <a:lvl1pPr>
              <a:defRPr sz="1350" b="0">
                <a:solidFill>
                  <a:srgbClr val="526C75"/>
                </a:solidFill>
                <a:latin typeface="Arial"/>
                <a:ea typeface="Arial"/>
                <a:cs typeface="Arial"/>
              </a:defRPr>
            </a:lvl1pPr>
            <a:lvl2pPr>
              <a:defRPr sz="1350" b="0">
                <a:solidFill>
                  <a:srgbClr val="526C75"/>
                </a:solidFill>
                <a:latin typeface="Arial"/>
                <a:ea typeface="Arial"/>
                <a:cs typeface="Arial"/>
              </a:defRPr>
            </a:lvl2pPr>
            <a:lvl3pPr>
              <a:defRPr sz="1350" b="0">
                <a:solidFill>
                  <a:srgbClr val="526C75"/>
                </a:solidFill>
                <a:latin typeface="Arial"/>
                <a:ea typeface="Arial"/>
                <a:cs typeface="Arial"/>
              </a:defRPr>
            </a:lvl3pPr>
            <a:lvl4pPr>
              <a:defRPr sz="1350" b="0">
                <a:solidFill>
                  <a:srgbClr val="526C75"/>
                </a:solidFill>
                <a:latin typeface="Arial"/>
                <a:ea typeface="Arial"/>
                <a:cs typeface="Arial"/>
              </a:defRPr>
            </a:lvl4pPr>
            <a:lvl5pPr>
              <a:defRPr sz="1350" b="0">
                <a:solidFill>
                  <a:srgbClr val="526C75"/>
                </a:solidFill>
                <a:latin typeface="Arial"/>
                <a:ea typeface="Arial"/>
                <a:cs typeface="Arial"/>
              </a:defRPr>
            </a:lvl5pPr>
            <a:lvl6pPr>
              <a:defRPr sz="1350" b="0">
                <a:solidFill>
                  <a:srgbClr val="526C75"/>
                </a:solidFill>
                <a:latin typeface="Arial"/>
                <a:ea typeface="Arial"/>
                <a:cs typeface="Arial"/>
              </a:defRPr>
            </a:lvl6pPr>
            <a:lvl7pPr>
              <a:defRPr sz="1350" b="0">
                <a:solidFill>
                  <a:srgbClr val="526C75"/>
                </a:solidFill>
                <a:latin typeface="Arial"/>
                <a:ea typeface="Arial"/>
                <a:cs typeface="Arial"/>
              </a:defRPr>
            </a:lvl7pPr>
            <a:lvl8pPr>
              <a:defRPr sz="1350" b="0">
                <a:solidFill>
                  <a:srgbClr val="526C75"/>
                </a:solidFill>
                <a:latin typeface="Arial"/>
                <a:ea typeface="Arial"/>
                <a:cs typeface="Arial"/>
              </a:defRPr>
            </a:lvl8pPr>
            <a:lvl9pPr>
              <a:defRPr sz="1350" b="0">
                <a:solidFill>
                  <a:srgbClr val="526C75"/>
                </a:solidFill>
                <a:latin typeface="Arial"/>
                <a:ea typeface="Arial"/>
                <a:cs typeface="Arial"/>
              </a:defRPr>
            </a:lvl9pPr>
          </a:lstStyle>
          <a:p xmlns:a="http://schemas.openxmlformats.org/drawingml/2006/main">
            <a:pPr>
              <a:defRPr sz="1350" b="0">
                <a:solidFill>
                  <a:srgbClr val="526C75"/>
                </a:solidFill>
                <a:latin typeface="Arial"/>
                <a:ea typeface="Arial"/>
                <a:cs typeface="Arial"/>
              </a:defRPr>
            </a:pPr>
            <a:r>
              <a:rPr sz="1350" b="0">
                <a:solidFill>
                  <a:srgbClr val="526C75"/>
                </a:solidFill>
                <a:latin typeface="Arial"/>
                <a:ea typeface="Arial"/>
                <a:cs typeface="Arial"/>
              </a:rPr>
              <a:t>Frozen proposal 4120379 · Fresh derivation · 23 October 2026</a:t>
            </a:r>
          </a:p>
        </p:txBody>
      </p:sp>
    </p:spTree>
    <p:extLst>
      <p:ext uri="{BB962C8B-B14F-4D97-AF65-F5344CB8AC3E}">
        <p14:creationId xmlns:p14="http://schemas.microsoft.com/office/powerpoint/2010/main" val="2537853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85C007-AACE-452F-A443-8FAA75544E58}"/>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13F4C"/>
                </a:solidFill>
                <a:latin typeface="Arial"/>
                <a:ea typeface="Arial"/>
                <a:cs typeface="Arial"/>
              </a:defRPr>
            </a:defPPr>
            <a:lvl1pPr>
              <a:defRPr sz="2850" b="1">
                <a:solidFill>
                  <a:srgbClr val="213F4C"/>
                </a:solidFill>
                <a:latin typeface="Arial"/>
                <a:ea typeface="Arial"/>
                <a:cs typeface="Arial"/>
              </a:defRPr>
            </a:lvl1pPr>
            <a:lvl2pPr>
              <a:defRPr sz="2850" b="1">
                <a:solidFill>
                  <a:srgbClr val="213F4C"/>
                </a:solidFill>
                <a:latin typeface="Arial"/>
                <a:ea typeface="Arial"/>
                <a:cs typeface="Arial"/>
              </a:defRPr>
            </a:lvl2pPr>
            <a:lvl3pPr>
              <a:defRPr sz="2850" b="1">
                <a:solidFill>
                  <a:srgbClr val="213F4C"/>
                </a:solidFill>
                <a:latin typeface="Arial"/>
                <a:ea typeface="Arial"/>
                <a:cs typeface="Arial"/>
              </a:defRPr>
            </a:lvl3pPr>
            <a:lvl4pPr>
              <a:defRPr sz="2850" b="1">
                <a:solidFill>
                  <a:srgbClr val="213F4C"/>
                </a:solidFill>
                <a:latin typeface="Arial"/>
                <a:ea typeface="Arial"/>
                <a:cs typeface="Arial"/>
              </a:defRPr>
            </a:lvl4pPr>
            <a:lvl5pPr>
              <a:defRPr sz="2850" b="1">
                <a:solidFill>
                  <a:srgbClr val="213F4C"/>
                </a:solidFill>
                <a:latin typeface="Arial"/>
                <a:ea typeface="Arial"/>
                <a:cs typeface="Arial"/>
              </a:defRPr>
            </a:lvl5pPr>
            <a:lvl6pPr>
              <a:defRPr sz="2850" b="1">
                <a:solidFill>
                  <a:srgbClr val="213F4C"/>
                </a:solidFill>
                <a:latin typeface="Arial"/>
                <a:ea typeface="Arial"/>
                <a:cs typeface="Arial"/>
              </a:defRPr>
            </a:lvl6pPr>
            <a:lvl7pPr>
              <a:defRPr sz="2850" b="1">
                <a:solidFill>
                  <a:srgbClr val="213F4C"/>
                </a:solidFill>
                <a:latin typeface="Arial"/>
                <a:ea typeface="Arial"/>
                <a:cs typeface="Arial"/>
              </a:defRPr>
            </a:lvl7pPr>
            <a:lvl8pPr>
              <a:defRPr sz="2850" b="1">
                <a:solidFill>
                  <a:srgbClr val="213F4C"/>
                </a:solidFill>
                <a:latin typeface="Arial"/>
                <a:ea typeface="Arial"/>
                <a:cs typeface="Arial"/>
              </a:defRPr>
            </a:lvl8pPr>
            <a:lvl9pPr>
              <a:defRPr sz="2850" b="1">
                <a:solidFill>
                  <a:srgbClr val="213F4C"/>
                </a:solidFill>
                <a:latin typeface="Arial"/>
                <a:ea typeface="Arial"/>
                <a:cs typeface="Arial"/>
              </a:defRPr>
            </a:lvl9pPr>
          </a:lstStyle>
          <a:p xmlns:a="http://schemas.openxmlformats.org/drawingml/2006/main">
            <a:pPr>
              <a:defRPr sz="2850" b="1">
                <a:solidFill>
                  <a:srgbClr val="213F4C"/>
                </a:solidFill>
                <a:latin typeface="Arial"/>
                <a:ea typeface="Arial"/>
                <a:cs typeface="Arial"/>
              </a:defRPr>
            </a:pPr>
            <a:r>
              <a:rPr sz="2850" b="1">
                <a:solidFill>
                  <a:srgbClr val="213F4C"/>
                </a:solidFill>
                <a:latin typeface="Arial"/>
                <a:ea typeface="Arial"/>
                <a:cs typeface="Arial"/>
              </a:rPr>
              <a:t>Store inputs; compute results</a:t>
            </a:r>
          </a:p>
        </p:txBody>
      </p:sp>
      <p:sp>
        <p:nvSpPr>
          <p:cNvPr id="2" name="">
            <a:extLst xmlns:a="http://schemas.openxmlformats.org/drawingml/2006/main">
              <a:ext uri="{FF2B5EF4-FFF2-40B4-BE49-F238E27FC236}">
                <a16:creationId xmlns:a16="http://schemas.microsoft.com/office/drawing/2014/main" id="{457ECE9B-4DEF-49FB-AFA6-6A6437DBD72C}"/>
              </a:ext>
            </a:extLst>
          </p:cNvPr>
          <p:cNvSpPr>
            <a:spLocks xmlns:a="http://schemas.openxmlformats.org/drawingml/2006/main" noGrp="1"/>
          </p:cNvSpPr>
          <p:nvPr/>
        </p:nvSpPr>
        <p:spPr>
          <a:xfrm xmlns:a="http://schemas.openxmlformats.org/drawingml/2006/main">
            <a:off x="609600" y="135255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84653"/>
                </a:solidFill>
                <a:latin typeface="Arial"/>
                <a:ea typeface="Arial"/>
                <a:cs typeface="Arial"/>
              </a:defRPr>
            </a:defPPr>
            <a:lvl1pPr>
              <a:defRPr sz="1875" b="0">
                <a:solidFill>
                  <a:srgbClr val="284653"/>
                </a:solidFill>
                <a:latin typeface="Arial"/>
                <a:ea typeface="Arial"/>
                <a:cs typeface="Arial"/>
              </a:defRPr>
            </a:lvl1pPr>
            <a:lvl2pPr>
              <a:defRPr sz="1875" b="0">
                <a:solidFill>
                  <a:srgbClr val="284653"/>
                </a:solidFill>
                <a:latin typeface="Arial"/>
                <a:ea typeface="Arial"/>
                <a:cs typeface="Arial"/>
              </a:defRPr>
            </a:lvl2pPr>
            <a:lvl3pPr>
              <a:defRPr sz="1875" b="0">
                <a:solidFill>
                  <a:srgbClr val="284653"/>
                </a:solidFill>
                <a:latin typeface="Arial"/>
                <a:ea typeface="Arial"/>
                <a:cs typeface="Arial"/>
              </a:defRPr>
            </a:lvl3pPr>
            <a:lvl4pPr>
              <a:defRPr sz="1875" b="0">
                <a:solidFill>
                  <a:srgbClr val="284653"/>
                </a:solidFill>
                <a:latin typeface="Arial"/>
                <a:ea typeface="Arial"/>
                <a:cs typeface="Arial"/>
              </a:defRPr>
            </a:lvl4pPr>
            <a:lvl5pPr>
              <a:defRPr sz="1875" b="0">
                <a:solidFill>
                  <a:srgbClr val="284653"/>
                </a:solidFill>
                <a:latin typeface="Arial"/>
                <a:ea typeface="Arial"/>
                <a:cs typeface="Arial"/>
              </a:defRPr>
            </a:lvl5pPr>
            <a:lvl6pPr>
              <a:defRPr sz="1875" b="0">
                <a:solidFill>
                  <a:srgbClr val="284653"/>
                </a:solidFill>
                <a:latin typeface="Arial"/>
                <a:ea typeface="Arial"/>
                <a:cs typeface="Arial"/>
              </a:defRPr>
            </a:lvl6pPr>
            <a:lvl7pPr>
              <a:defRPr sz="1875" b="0">
                <a:solidFill>
                  <a:srgbClr val="284653"/>
                </a:solidFill>
                <a:latin typeface="Arial"/>
                <a:ea typeface="Arial"/>
                <a:cs typeface="Arial"/>
              </a:defRPr>
            </a:lvl7pPr>
            <a:lvl8pPr>
              <a:defRPr sz="1875" b="0">
                <a:solidFill>
                  <a:srgbClr val="284653"/>
                </a:solidFill>
                <a:latin typeface="Arial"/>
                <a:ea typeface="Arial"/>
                <a:cs typeface="Arial"/>
              </a:defRPr>
            </a:lvl8pPr>
            <a:lvl9pPr>
              <a:defRPr sz="1875" b="0">
                <a:solidFill>
                  <a:srgbClr val="284653"/>
                </a:solidFill>
                <a:latin typeface="Arial"/>
                <a:ea typeface="Arial"/>
                <a:cs typeface="Arial"/>
              </a:defRPr>
            </a:lvl9pPr>
          </a:lstStyle>
          <a:p xmlns:a="http://schemas.openxmlformats.org/drawingml/2006/main">
            <a:pPr>
              <a:defRPr sz="1875" b="0">
                <a:solidFill>
                  <a:srgbClr val="284653"/>
                </a:solidFill>
                <a:latin typeface="Arial"/>
                <a:ea typeface="Arial"/>
                <a:cs typeface="Arial"/>
              </a:defRPr>
            </a:pPr>
            <a:r>
              <a:rPr sz="1875" b="0">
                <a:solidFill>
                  <a:srgbClr val="284653"/>
                </a:solidFill>
                <a:latin typeface="Arial"/>
                <a:ea typeface="Arial"/>
                <a:cs typeface="Arial"/>
              </a:rPr>
              <a:t>A coordinate reference system (CRS) gives numbers their location, axes, units and height reference. USD stores that definition as well-known text (WKT), alongside the author's placement decisions. Projection effects and resolved positions are computed results; they do not become extra source USD properties.</a:t>
            </a:r>
          </a:p>
        </p:txBody>
      </p:sp>
      <p:graphicFrame>
        <p:nvGraphicFramePr>
          <p:cNvPr id="3" name="">
            <a:extLst xmlns:a="http://schemas.openxmlformats.org/drawingml/2006/main">
              <a:ext uri="{FF2B5EF4-FFF2-40B4-BE49-F238E27FC236}">
                <a16:creationId xmlns:a16="http://schemas.microsoft.com/office/drawing/2014/main" id="{900ED014-09D7-4B99-9726-5EC2A0690667}"/>
              </a:ext>
            </a:extLst>
          </p:cNvPr>
          <p:cNvGraphicFramePr/>
          <p:nvPr/>
        </p:nvGraphicFramePr>
        <p:xfrm>
          <a:off xmlns:a="http://schemas.openxmlformats.org/drawingml/2006/main" x="609600" y="2686050"/>
          <a:ext xmlns:a="http://schemas.openxmlformats.org/drawingml/2006/main" cx="10972800" cy="3219450"/>
        </p:xfrm>
        <a:graphic xmlns:a="http://schemas.openxmlformats.org/drawingml/2006/main">
          <a:graphicData uri="http://schemas.openxmlformats.org/drawingml/2006/table">
            <a:tbl>
              <a:tblPr/>
              <a:tblGrid>
                <a:gridCol w="3714750"/>
                <a:gridCol w="7258050"/>
              </a:tblGrid>
              <a:tr h="536575">
                <a:tc>
                  <a:txBody>
                    <a:bodyPr wrap="square" lIns="95250" tIns="95250" rIns="95250" bIns="95250">
                      <a:noAutofit/>
                    </a:bodyPr>
                    <a:lstStyle/>
                    <a:p>
                      <a:r>
                        <a:rPr sz="1800" b="1">
                          <a:solidFill>
                            <a:srgbClr val="FFFFFF"/>
                          </a:solidFill>
                          <a:latin typeface="Arial"/>
                          <a:ea typeface="Arial"/>
                          <a:cs typeface="Arial"/>
                        </a:rPr>
                        <a:t>Authored input</a:t>
                      </a:r>
                    </a:p>
                  </a:txBody>
                  <a:tcPr marL="91440" marR="91440" marT="45720" marB="45720" anchor="ctr">
                    <a:lnL w="7144">
                      <a:solidFill>
                        <a:srgbClr val="BCC9CC"/>
                      </a:solidFill>
                      <a:prstDash val="solid"/>
                    </a:lnL>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c>
                  <a:txBody>
                    <a:bodyPr wrap="square" lIns="95250" tIns="95250" rIns="95250" bIns="95250">
                      <a:noAutofit/>
                    </a:bodyPr>
                    <a:lstStyle/>
                    <a:p>
                      <a:r>
                        <a:rPr sz="1800" b="1">
                          <a:solidFill>
                            <a:srgbClr val="FFFFFF"/>
                          </a:solidFill>
                          <a:latin typeface="Arial"/>
                          <a:ea typeface="Arial"/>
                          <a:cs typeface="Arial"/>
                        </a:rPr>
                        <a:t>Meaning</a:t>
                      </a:r>
                    </a:p>
                  </a:txBody>
                  <a:tcPr marL="91440" marR="91440" marT="45720" marB="45720" anchor="ctr">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r>
              <a:tr h="536575">
                <a:tc>
                  <a:txBody>
                    <a:bodyPr wrap="square" lIns="95250" tIns="95250" rIns="95250" bIns="95250">
                      <a:noAutofit/>
                    </a:bodyPr>
                    <a:lstStyle/>
                    <a:p>
                      <a:r>
                        <a:rPr sz="1725" b="0">
                          <a:solidFill>
                            <a:srgbClr val="284653"/>
                          </a:solidFill>
                          <a:latin typeface="Arial"/>
                          <a:ea typeface="Arial"/>
                          <a:cs typeface="Arial"/>
                        </a:rPr>
                        <a:t>crs:wkt</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One complete CRS definition, shared through composition</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r h="536575">
                <a:tc>
                  <a:txBody>
                    <a:bodyPr wrap="square" lIns="95250" tIns="95250" rIns="95250" bIns="95250">
                      <a:noAutofit/>
                    </a:bodyPr>
                    <a:lstStyle/>
                    <a:p>
                      <a:r>
                        <a:rPr sz="1725" b="0">
                          <a:solidFill>
                            <a:srgbClr val="284653"/>
                          </a:solidFill>
                          <a:latin typeface="Arial"/>
                          <a:ea typeface="Arial"/>
                          <a:cs typeface="Arial"/>
                        </a:rPr>
                        <a:t>crs:position</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Absolute model origin in that definition's components and units</a:t>
                      </a:r>
                    </a:p>
                  </a:txBody>
                  <a:tcPr marL="91440" marR="91440" marT="45720" marB="45720" anchor="ctr">
                    <a:lnR w="7144">
                      <a:solidFill>
                        <a:srgbClr val="BCC9CC"/>
                      </a:solidFill>
                      <a:prstDash val="solid"/>
                    </a:lnR>
                    <a:lnB w="7144">
                      <a:solidFill>
                        <a:srgbClr val="BCC9CC"/>
                      </a:solidFill>
                      <a:prstDash val="solid"/>
                    </a:lnB>
                    <a:solidFill>
                      <a:srgbClr val="F3F6F5"/>
                    </a:solidFill>
                  </a:tcPr>
                </a:tc>
              </a:tr>
              <a:tr h="536575">
                <a:tc>
                  <a:txBody>
                    <a:bodyPr wrap="square" lIns="95250" tIns="95250" rIns="95250" bIns="95250">
                      <a:noAutofit/>
                    </a:bodyPr>
                    <a:lstStyle/>
                    <a:p>
                      <a:r>
                        <a:rPr sz="1725" b="0">
                          <a:solidFill>
                            <a:srgbClr val="284653"/>
                          </a:solidFill>
                          <a:latin typeface="Arial"/>
                          <a:ea typeface="Arial"/>
                          <a:cs typeface="Arial"/>
                        </a:rPr>
                        <a:t>crs:orientation</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Physical heading, pitch and roll against geodetic east/north/up</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r h="536575">
                <a:tc>
                  <a:txBody>
                    <a:bodyPr wrap="square" lIns="95250" tIns="95250" rIns="95250" bIns="95250">
                      <a:noAutofit/>
                    </a:bodyPr>
                    <a:lstStyle/>
                    <a:p>
                      <a:r>
                        <a:rPr sz="1725" b="0">
                          <a:solidFill>
                            <a:srgbClr val="284653"/>
                          </a:solidFill>
                          <a:latin typeface="Arial"/>
                          <a:ea typeface="Arial"/>
                          <a:cs typeface="Arial"/>
                        </a:rPr>
                        <a:t>Ordinary xformOps</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Model-local descendants; project adjustments on the anchor</a:t>
                      </a:r>
                    </a:p>
                  </a:txBody>
                  <a:tcPr marL="91440" marR="91440" marT="45720" marB="45720" anchor="ctr">
                    <a:lnR w="7144">
                      <a:solidFill>
                        <a:srgbClr val="BCC9CC"/>
                      </a:solidFill>
                      <a:prstDash val="solid"/>
                    </a:lnR>
                    <a:lnB w="7144">
                      <a:solidFill>
                        <a:srgbClr val="BCC9CC"/>
                      </a:solidFill>
                      <a:prstDash val="solid"/>
                    </a:lnB>
                    <a:solidFill>
                      <a:srgbClr val="F3F6F5"/>
                    </a:solidFill>
                  </a:tcPr>
                </a:tc>
              </a:tr>
              <a:tr h="536575">
                <a:tc>
                  <a:txBody>
                    <a:bodyPr wrap="square" lIns="95250" tIns="95250" rIns="95250" bIns="95250">
                      <a:noAutofit/>
                    </a:bodyPr>
                    <a:lstStyle/>
                    <a:p>
                      <a:r>
                        <a:rPr sz="1725" b="0">
                          <a:solidFill>
                            <a:srgbClr val="284653"/>
                          </a:solidFill>
                          <a:latin typeface="Arial"/>
                          <a:ea typeface="Arial"/>
                          <a:cs typeface="Arial"/>
                        </a:rPr>
                        <a:t>External-data association</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Asset, format, selected field and coordinate domain</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67B27C0-F507-4821-BA8F-FFF6B0EADE84}"/>
              </a:ext>
            </a:extLst>
          </p:cNvPr>
          <p:cNvSpPr>
            <a:spLocks xmlns:a="http://schemas.openxmlformats.org/drawingml/2006/main" noGrp="1"/>
          </p:cNvSpPr>
          <p:nvPr/>
        </p:nvSpPr>
        <p:spPr>
          <a:xfrm xmlns:a="http://schemas.openxmlformats.org/drawingml/2006/main">
            <a:off x="609600" y="62293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C75"/>
                </a:solidFill>
                <a:latin typeface="Arial"/>
                <a:ea typeface="Arial"/>
                <a:cs typeface="Arial"/>
              </a:defRPr>
            </a:defPPr>
            <a:lvl1pPr>
              <a:defRPr sz="1275" b="0">
                <a:solidFill>
                  <a:srgbClr val="526C75"/>
                </a:solidFill>
                <a:latin typeface="Arial"/>
                <a:ea typeface="Arial"/>
                <a:cs typeface="Arial"/>
              </a:defRPr>
            </a:lvl1pPr>
            <a:lvl2pPr>
              <a:defRPr sz="1275" b="0">
                <a:solidFill>
                  <a:srgbClr val="526C75"/>
                </a:solidFill>
                <a:latin typeface="Arial"/>
                <a:ea typeface="Arial"/>
                <a:cs typeface="Arial"/>
              </a:defRPr>
            </a:lvl2pPr>
            <a:lvl3pPr>
              <a:defRPr sz="1275" b="0">
                <a:solidFill>
                  <a:srgbClr val="526C75"/>
                </a:solidFill>
                <a:latin typeface="Arial"/>
                <a:ea typeface="Arial"/>
                <a:cs typeface="Arial"/>
              </a:defRPr>
            </a:lvl3pPr>
            <a:lvl4pPr>
              <a:defRPr sz="1275" b="0">
                <a:solidFill>
                  <a:srgbClr val="526C75"/>
                </a:solidFill>
                <a:latin typeface="Arial"/>
                <a:ea typeface="Arial"/>
                <a:cs typeface="Arial"/>
              </a:defRPr>
            </a:lvl4pPr>
            <a:lvl5pPr>
              <a:defRPr sz="1275" b="0">
                <a:solidFill>
                  <a:srgbClr val="526C75"/>
                </a:solidFill>
                <a:latin typeface="Arial"/>
                <a:ea typeface="Arial"/>
                <a:cs typeface="Arial"/>
              </a:defRPr>
            </a:lvl5pPr>
            <a:lvl6pPr>
              <a:defRPr sz="1275" b="0">
                <a:solidFill>
                  <a:srgbClr val="526C75"/>
                </a:solidFill>
                <a:latin typeface="Arial"/>
                <a:ea typeface="Arial"/>
                <a:cs typeface="Arial"/>
              </a:defRPr>
            </a:lvl6pPr>
            <a:lvl7pPr>
              <a:defRPr sz="1275" b="0">
                <a:solidFill>
                  <a:srgbClr val="526C75"/>
                </a:solidFill>
                <a:latin typeface="Arial"/>
                <a:ea typeface="Arial"/>
                <a:cs typeface="Arial"/>
              </a:defRPr>
            </a:lvl7pPr>
            <a:lvl8pPr>
              <a:defRPr sz="1275" b="0">
                <a:solidFill>
                  <a:srgbClr val="526C75"/>
                </a:solidFill>
                <a:latin typeface="Arial"/>
                <a:ea typeface="Arial"/>
                <a:cs typeface="Arial"/>
              </a:defRPr>
            </a:lvl8pPr>
            <a:lvl9pPr>
              <a:defRPr sz="1275" b="0">
                <a:solidFill>
                  <a:srgbClr val="526C75"/>
                </a:solidFill>
                <a:latin typeface="Arial"/>
                <a:ea typeface="Arial"/>
                <a:cs typeface="Arial"/>
              </a:defRPr>
            </a:lvl9pPr>
          </a:lstStyle>
          <a:p xmlns:a="http://schemas.openxmlformats.org/drawingml/2006/main">
            <a:pPr>
              <a:defRPr sz="1275" b="0">
                <a:solidFill>
                  <a:srgbClr val="526C75"/>
                </a:solidFill>
                <a:latin typeface="Arial"/>
                <a:ea typeface="Arial"/>
                <a:cs typeface="Arial"/>
              </a:defRPr>
            </a:pPr>
            <a:r>
              <a:rPr sz="1275" b="0">
                <a:solidFill>
                  <a:srgbClr val="526C75"/>
                </a:solidFill>
                <a:latin typeface="Arial"/>
                <a:ea typeface="Arial"/>
                <a:cs typeface="Arial"/>
              </a:rPr>
              <a:t>The codeless schema resources contain the proposed input fields.</a:t>
            </a:r>
          </a:p>
        </p:txBody>
      </p:sp>
      <p:sp>
        <p:nvSpPr>
          <p:cNvPr id="5" name="">
            <a:extLst xmlns:a="http://schemas.openxmlformats.org/drawingml/2006/main">
              <a:ext uri="{FF2B5EF4-FFF2-40B4-BE49-F238E27FC236}">
                <a16:creationId xmlns:a16="http://schemas.microsoft.com/office/drawing/2014/main" id="{5AAFD988-6E50-493E-A617-263253ED21AC}"/>
              </a:ext>
            </a:extLst>
          </p:cNvPr>
          <p:cNvSpPr>
            <a:spLocks xmlns:a="http://schemas.openxmlformats.org/drawingml/2006/main" noGrp="1"/>
          </p:cNvSpPr>
          <p:nvPr/>
        </p:nvSpPr>
        <p:spPr>
          <a:xfrm xmlns:a="http://schemas.openxmlformats.org/drawingml/2006/main">
            <a:off x="11353800" y="6324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C75"/>
                </a:solidFill>
                <a:latin typeface="Arial"/>
                <a:ea typeface="Arial"/>
                <a:cs typeface="Arial"/>
              </a:defRPr>
            </a:defPPr>
            <a:lvl1pPr>
              <a:defRPr sz="1200" b="0">
                <a:solidFill>
                  <a:srgbClr val="526C75"/>
                </a:solidFill>
                <a:latin typeface="Arial"/>
                <a:ea typeface="Arial"/>
                <a:cs typeface="Arial"/>
              </a:defRPr>
            </a:lvl1pPr>
            <a:lvl2pPr>
              <a:defRPr sz="1200" b="0">
                <a:solidFill>
                  <a:srgbClr val="526C75"/>
                </a:solidFill>
                <a:latin typeface="Arial"/>
                <a:ea typeface="Arial"/>
                <a:cs typeface="Arial"/>
              </a:defRPr>
            </a:lvl2pPr>
            <a:lvl3pPr>
              <a:defRPr sz="1200" b="0">
                <a:solidFill>
                  <a:srgbClr val="526C75"/>
                </a:solidFill>
                <a:latin typeface="Arial"/>
                <a:ea typeface="Arial"/>
                <a:cs typeface="Arial"/>
              </a:defRPr>
            </a:lvl3pPr>
            <a:lvl4pPr>
              <a:defRPr sz="1200" b="0">
                <a:solidFill>
                  <a:srgbClr val="526C75"/>
                </a:solidFill>
                <a:latin typeface="Arial"/>
                <a:ea typeface="Arial"/>
                <a:cs typeface="Arial"/>
              </a:defRPr>
            </a:lvl4pPr>
            <a:lvl5pPr>
              <a:defRPr sz="1200" b="0">
                <a:solidFill>
                  <a:srgbClr val="526C75"/>
                </a:solidFill>
                <a:latin typeface="Arial"/>
                <a:ea typeface="Arial"/>
                <a:cs typeface="Arial"/>
              </a:defRPr>
            </a:lvl5pPr>
            <a:lvl6pPr>
              <a:defRPr sz="1200" b="0">
                <a:solidFill>
                  <a:srgbClr val="526C75"/>
                </a:solidFill>
                <a:latin typeface="Arial"/>
                <a:ea typeface="Arial"/>
                <a:cs typeface="Arial"/>
              </a:defRPr>
            </a:lvl6pPr>
            <a:lvl7pPr>
              <a:defRPr sz="1200" b="0">
                <a:solidFill>
                  <a:srgbClr val="526C75"/>
                </a:solidFill>
                <a:latin typeface="Arial"/>
                <a:ea typeface="Arial"/>
                <a:cs typeface="Arial"/>
              </a:defRPr>
            </a:lvl7pPr>
            <a:lvl8pPr>
              <a:defRPr sz="1200" b="0">
                <a:solidFill>
                  <a:srgbClr val="526C75"/>
                </a:solidFill>
                <a:latin typeface="Arial"/>
                <a:ea typeface="Arial"/>
                <a:cs typeface="Arial"/>
              </a:defRPr>
            </a:lvl8pPr>
            <a:lvl9pPr>
              <a:defRPr sz="1200" b="0">
                <a:solidFill>
                  <a:srgbClr val="526C75"/>
                </a:solidFill>
                <a:latin typeface="Arial"/>
                <a:ea typeface="Arial"/>
                <a:cs typeface="Arial"/>
              </a:defRPr>
            </a:lvl9pPr>
          </a:lstStyle>
          <a:p xmlns:a="http://schemas.openxmlformats.org/drawingml/2006/main">
            <a:pPr>
              <a:defRPr sz="1200" b="0">
                <a:solidFill>
                  <a:srgbClr val="526C75"/>
                </a:solidFill>
                <a:latin typeface="Arial"/>
                <a:ea typeface="Arial"/>
                <a:cs typeface="Arial"/>
              </a:defRPr>
            </a:pPr>
            <a:r>
              <a:rPr sz="1200" b="0">
                <a:solidFill>
                  <a:srgbClr val="526C75"/>
                </a:solidFill>
                <a:latin typeface="Arial"/>
                <a:ea typeface="Arial"/>
                <a:cs typeface="Arial"/>
              </a:rPr>
              <a:t>2</a:t>
            </a:r>
          </a:p>
        </p:txBody>
      </p:sp>
    </p:spTree>
    <p:extLst>
      <p:ext uri="{BB962C8B-B14F-4D97-AF65-F5344CB8AC3E}">
        <p14:creationId xmlns:p14="http://schemas.microsoft.com/office/powerpoint/2010/main" val="92274351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9C754B-5764-48DB-A50F-CD4B74C1E703}"/>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13F4C"/>
                </a:solidFill>
                <a:latin typeface="Arial"/>
                <a:ea typeface="Arial"/>
                <a:cs typeface="Arial"/>
              </a:defRPr>
            </a:defPPr>
            <a:lvl1pPr>
              <a:defRPr sz="2850" b="1">
                <a:solidFill>
                  <a:srgbClr val="213F4C"/>
                </a:solidFill>
                <a:latin typeface="Arial"/>
                <a:ea typeface="Arial"/>
                <a:cs typeface="Arial"/>
              </a:defRPr>
            </a:lvl1pPr>
            <a:lvl2pPr>
              <a:defRPr sz="2850" b="1">
                <a:solidFill>
                  <a:srgbClr val="213F4C"/>
                </a:solidFill>
                <a:latin typeface="Arial"/>
                <a:ea typeface="Arial"/>
                <a:cs typeface="Arial"/>
              </a:defRPr>
            </a:lvl2pPr>
            <a:lvl3pPr>
              <a:defRPr sz="2850" b="1">
                <a:solidFill>
                  <a:srgbClr val="213F4C"/>
                </a:solidFill>
                <a:latin typeface="Arial"/>
                <a:ea typeface="Arial"/>
                <a:cs typeface="Arial"/>
              </a:defRPr>
            </a:lvl3pPr>
            <a:lvl4pPr>
              <a:defRPr sz="2850" b="1">
                <a:solidFill>
                  <a:srgbClr val="213F4C"/>
                </a:solidFill>
                <a:latin typeface="Arial"/>
                <a:ea typeface="Arial"/>
                <a:cs typeface="Arial"/>
              </a:defRPr>
            </a:lvl4pPr>
            <a:lvl5pPr>
              <a:defRPr sz="2850" b="1">
                <a:solidFill>
                  <a:srgbClr val="213F4C"/>
                </a:solidFill>
                <a:latin typeface="Arial"/>
                <a:ea typeface="Arial"/>
                <a:cs typeface="Arial"/>
              </a:defRPr>
            </a:lvl5pPr>
            <a:lvl6pPr>
              <a:defRPr sz="2850" b="1">
                <a:solidFill>
                  <a:srgbClr val="213F4C"/>
                </a:solidFill>
                <a:latin typeface="Arial"/>
                <a:ea typeface="Arial"/>
                <a:cs typeface="Arial"/>
              </a:defRPr>
            </a:lvl6pPr>
            <a:lvl7pPr>
              <a:defRPr sz="2850" b="1">
                <a:solidFill>
                  <a:srgbClr val="213F4C"/>
                </a:solidFill>
                <a:latin typeface="Arial"/>
                <a:ea typeface="Arial"/>
                <a:cs typeface="Arial"/>
              </a:defRPr>
            </a:lvl7pPr>
            <a:lvl8pPr>
              <a:defRPr sz="2850" b="1">
                <a:solidFill>
                  <a:srgbClr val="213F4C"/>
                </a:solidFill>
                <a:latin typeface="Arial"/>
                <a:ea typeface="Arial"/>
                <a:cs typeface="Arial"/>
              </a:defRPr>
            </a:lvl8pPr>
            <a:lvl9pPr>
              <a:defRPr sz="2850" b="1">
                <a:solidFill>
                  <a:srgbClr val="213F4C"/>
                </a:solidFill>
                <a:latin typeface="Arial"/>
                <a:ea typeface="Arial"/>
                <a:cs typeface="Arial"/>
              </a:defRPr>
            </a:lvl9pPr>
          </a:lstStyle>
          <a:p xmlns:a="http://schemas.openxmlformats.org/drawingml/2006/main">
            <a:pPr>
              <a:defRPr sz="2850" b="1">
                <a:solidFill>
                  <a:srgbClr val="213F4C"/>
                </a:solidFill>
                <a:latin typeface="Arial"/>
                <a:ea typeface="Arial"/>
                <a:cs typeface="Arial"/>
              </a:defRPr>
            </a:pPr>
            <a:r>
              <a:rPr sz="2850" b="1">
                <a:solidFill>
                  <a:srgbClr val="213F4C"/>
                </a:solidFill>
                <a:latin typeface="Arial"/>
                <a:ea typeface="Arial"/>
                <a:cs typeface="Arial"/>
              </a:rPr>
              <a:t>Placement has an explicit order</a:t>
            </a:r>
          </a:p>
        </p:txBody>
      </p:sp>
      <p:sp>
        <p:nvSpPr>
          <p:cNvPr id="2" name="">
            <a:extLst xmlns:a="http://schemas.openxmlformats.org/drawingml/2006/main">
              <a:ext uri="{FF2B5EF4-FFF2-40B4-BE49-F238E27FC236}">
                <a16:creationId xmlns:a16="http://schemas.microsoft.com/office/drawing/2014/main" id="{DB3A6075-659F-4517-B314-21626C27809C}"/>
              </a:ext>
            </a:extLst>
          </p:cNvPr>
          <p:cNvSpPr>
            <a:spLocks xmlns:a="http://schemas.openxmlformats.org/drawingml/2006/main" noGrp="1"/>
          </p:cNvSpPr>
          <p:nvPr/>
        </p:nvSpPr>
        <p:spPr>
          <a:xfrm xmlns:a="http://schemas.openxmlformats.org/drawingml/2006/main">
            <a:off x="609600" y="135255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84653"/>
                </a:solidFill>
                <a:latin typeface="Arial"/>
                <a:ea typeface="Arial"/>
                <a:cs typeface="Arial"/>
              </a:defRPr>
            </a:defPPr>
            <a:lvl1pPr>
              <a:defRPr sz="1875" b="0">
                <a:solidFill>
                  <a:srgbClr val="284653"/>
                </a:solidFill>
                <a:latin typeface="Arial"/>
                <a:ea typeface="Arial"/>
                <a:cs typeface="Arial"/>
              </a:defRPr>
            </a:lvl1pPr>
            <a:lvl2pPr>
              <a:defRPr sz="1875" b="0">
                <a:solidFill>
                  <a:srgbClr val="284653"/>
                </a:solidFill>
                <a:latin typeface="Arial"/>
                <a:ea typeface="Arial"/>
                <a:cs typeface="Arial"/>
              </a:defRPr>
            </a:lvl2pPr>
            <a:lvl3pPr>
              <a:defRPr sz="1875" b="0">
                <a:solidFill>
                  <a:srgbClr val="284653"/>
                </a:solidFill>
                <a:latin typeface="Arial"/>
                <a:ea typeface="Arial"/>
                <a:cs typeface="Arial"/>
              </a:defRPr>
            </a:lvl3pPr>
            <a:lvl4pPr>
              <a:defRPr sz="1875" b="0">
                <a:solidFill>
                  <a:srgbClr val="284653"/>
                </a:solidFill>
                <a:latin typeface="Arial"/>
                <a:ea typeface="Arial"/>
                <a:cs typeface="Arial"/>
              </a:defRPr>
            </a:lvl4pPr>
            <a:lvl5pPr>
              <a:defRPr sz="1875" b="0">
                <a:solidFill>
                  <a:srgbClr val="284653"/>
                </a:solidFill>
                <a:latin typeface="Arial"/>
                <a:ea typeface="Arial"/>
                <a:cs typeface="Arial"/>
              </a:defRPr>
            </a:lvl5pPr>
            <a:lvl6pPr>
              <a:defRPr sz="1875" b="0">
                <a:solidFill>
                  <a:srgbClr val="284653"/>
                </a:solidFill>
                <a:latin typeface="Arial"/>
                <a:ea typeface="Arial"/>
                <a:cs typeface="Arial"/>
              </a:defRPr>
            </a:lvl6pPr>
            <a:lvl7pPr>
              <a:defRPr sz="1875" b="0">
                <a:solidFill>
                  <a:srgbClr val="284653"/>
                </a:solidFill>
                <a:latin typeface="Arial"/>
                <a:ea typeface="Arial"/>
                <a:cs typeface="Arial"/>
              </a:defRPr>
            </a:lvl7pPr>
            <a:lvl8pPr>
              <a:defRPr sz="1875" b="0">
                <a:solidFill>
                  <a:srgbClr val="284653"/>
                </a:solidFill>
                <a:latin typeface="Arial"/>
                <a:ea typeface="Arial"/>
                <a:cs typeface="Arial"/>
              </a:defRPr>
            </a:lvl8pPr>
            <a:lvl9pPr>
              <a:defRPr sz="1875" b="0">
                <a:solidFill>
                  <a:srgbClr val="284653"/>
                </a:solidFill>
                <a:latin typeface="Arial"/>
                <a:ea typeface="Arial"/>
                <a:cs typeface="Arial"/>
              </a:defRPr>
            </a:lvl9pPr>
          </a:lstStyle>
          <a:p xmlns:a="http://schemas.openxmlformats.org/drawingml/2006/main">
            <a:pPr>
              <a:defRPr sz="1875" b="0">
                <a:solidFill>
                  <a:srgbClr val="284653"/>
                </a:solidFill>
                <a:latin typeface="Arial"/>
                <a:ea typeface="Arial"/>
                <a:cs typeface="Arial"/>
              </a:defRPr>
            </a:pPr>
            <a:r>
              <a:rPr sz="1875" b="0">
                <a:solidFill>
                  <a:srgbClr val="284653"/>
                </a:solidFill>
                <a:latin typeface="Arial"/>
                <a:ea typeface="Arial"/>
                <a:cs typeface="Arial"/>
              </a:rPr>
              <a:t>Child transforms first produce model-local geometry. Source position and physical attitude place it on the Earth. The anchor's ordinary scale, rotation and translation then act in a fixed working chart. Changing the requested output CRS preserves that adjustment instead of interpreting the same numbers along different axes.</a:t>
            </a:r>
          </a:p>
        </p:txBody>
      </p:sp>
      <p:graphicFrame>
        <p:nvGraphicFramePr>
          <p:cNvPr id="3" name="">
            <a:extLst xmlns:a="http://schemas.openxmlformats.org/drawingml/2006/main">
              <a:ext uri="{FF2B5EF4-FFF2-40B4-BE49-F238E27FC236}">
                <a16:creationId xmlns:a16="http://schemas.microsoft.com/office/drawing/2014/main" id="{CD9B3D1B-ADE1-42AD-AB85-470AA948AD77}"/>
              </a:ext>
            </a:extLst>
          </p:cNvPr>
          <p:cNvGraphicFramePr/>
          <p:nvPr/>
        </p:nvGraphicFramePr>
        <p:xfrm>
          <a:off xmlns:a="http://schemas.openxmlformats.org/drawingml/2006/main" x="609600" y="2686050"/>
          <a:ext xmlns:a="http://schemas.openxmlformats.org/drawingml/2006/main" cx="10972800" cy="3219450"/>
        </p:xfrm>
        <a:graphic xmlns:a="http://schemas.openxmlformats.org/drawingml/2006/main">
          <a:graphicData uri="http://schemas.openxmlformats.org/drawingml/2006/table">
            <a:tbl>
              <a:tblPr/>
              <a:tblGrid>
                <a:gridCol w="3714750"/>
                <a:gridCol w="7258050"/>
              </a:tblGrid>
              <a:tr h="536575">
                <a:tc>
                  <a:txBody>
                    <a:bodyPr wrap="square" lIns="95250" tIns="95250" rIns="95250" bIns="95250">
                      <a:noAutofit/>
                    </a:bodyPr>
                    <a:lstStyle/>
                    <a:p>
                      <a:r>
                        <a:rPr sz="1800" b="1">
                          <a:solidFill>
                            <a:srgbClr val="FFFFFF"/>
                          </a:solidFill>
                          <a:latin typeface="Arial"/>
                          <a:ea typeface="Arial"/>
                          <a:cs typeface="Arial"/>
                        </a:rPr>
                        <a:t>Stage of evaluation</a:t>
                      </a:r>
                    </a:p>
                  </a:txBody>
                  <a:tcPr marL="91440" marR="91440" marT="45720" marB="45720" anchor="ctr">
                    <a:lnL w="7144">
                      <a:solidFill>
                        <a:srgbClr val="BCC9CC"/>
                      </a:solidFill>
                      <a:prstDash val="solid"/>
                    </a:lnL>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c>
                  <a:txBody>
                    <a:bodyPr wrap="square" lIns="95250" tIns="95250" rIns="95250" bIns="95250">
                      <a:noAutofit/>
                    </a:bodyPr>
                    <a:lstStyle/>
                    <a:p>
                      <a:r>
                        <a:rPr sz="1800" b="1">
                          <a:solidFill>
                            <a:srgbClr val="FFFFFF"/>
                          </a:solidFill>
                          <a:latin typeface="Arial"/>
                          <a:ea typeface="Arial"/>
                          <a:cs typeface="Arial"/>
                        </a:rPr>
                        <a:t>What it preserves</a:t>
                      </a:r>
                    </a:p>
                  </a:txBody>
                  <a:tcPr marL="91440" marR="91440" marT="45720" marB="45720" anchor="ctr">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r>
              <a:tr h="536575">
                <a:tc>
                  <a:txBody>
                    <a:bodyPr wrap="square" lIns="95250" tIns="95250" rIns="95250" bIns="95250">
                      <a:noAutofit/>
                    </a:bodyPr>
                    <a:lstStyle/>
                    <a:p>
                      <a:r>
                        <a:rPr sz="1725" b="0">
                          <a:solidFill>
                            <a:srgbClr val="284653"/>
                          </a:solidFill>
                          <a:latin typeface="Arial"/>
                          <a:ea typeface="Arial"/>
                          <a:cs typeface="Arial"/>
                        </a:rPr>
                        <a:t>Child transforms and asset conformance</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Ordinary reusable model-local meaning</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r h="536575">
                <a:tc>
                  <a:txBody>
                    <a:bodyPr wrap="square" lIns="95250" tIns="95250" rIns="95250" bIns="95250">
                      <a:noAutofit/>
                    </a:bodyPr>
                    <a:lstStyle/>
                    <a:p>
                      <a:r>
                        <a:rPr sz="1725" b="0">
                          <a:solidFill>
                            <a:srgbClr val="284653"/>
                          </a:solidFill>
                          <a:latin typeface="Arial"/>
                          <a:ea typeface="Arial"/>
                          <a:cs typeface="Arial"/>
                        </a:rPr>
                        <a:t>Source position and geodetic attitude</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Physical origin, direction and local lengths</a:t>
                      </a:r>
                    </a:p>
                  </a:txBody>
                  <a:tcPr marL="91440" marR="91440" marT="45720" marB="45720" anchor="ctr">
                    <a:lnR w="7144">
                      <a:solidFill>
                        <a:srgbClr val="BCC9CC"/>
                      </a:solidFill>
                      <a:prstDash val="solid"/>
                    </a:lnR>
                    <a:lnB w="7144">
                      <a:solidFill>
                        <a:srgbClr val="BCC9CC"/>
                      </a:solidFill>
                      <a:prstDash val="solid"/>
                    </a:lnB>
                    <a:solidFill>
                      <a:srgbClr val="F3F6F5"/>
                    </a:solidFill>
                  </a:tcPr>
                </a:tc>
              </a:tr>
              <a:tr h="536575">
                <a:tc>
                  <a:txBody>
                    <a:bodyPr wrap="square" lIns="95250" tIns="95250" rIns="95250" bIns="95250">
                      <a:noAutofit/>
                    </a:bodyPr>
                    <a:lstStyle/>
                    <a:p>
                      <a:r>
                        <a:rPr sz="1725" b="0">
                          <a:solidFill>
                            <a:srgbClr val="284653"/>
                          </a:solidFill>
                          <a:latin typeface="Arial"/>
                          <a:ea typeface="Arial"/>
                          <a:cs typeface="Arial"/>
                        </a:rPr>
                        <a:t>Conversion into the working chart</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A fixed context for the anchor's adjustments</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r h="536575">
                <a:tc>
                  <a:txBody>
                    <a:bodyPr wrap="square" lIns="95250" tIns="95250" rIns="95250" bIns="95250">
                      <a:noAutofit/>
                    </a:bodyPr>
                    <a:lstStyle/>
                    <a:p>
                      <a:r>
                        <a:rPr sz="1725" b="0">
                          <a:solidFill>
                            <a:srgbClr val="284653"/>
                          </a:solidFill>
                          <a:latin typeface="Arial"/>
                          <a:ea typeface="Arial"/>
                          <a:cs typeface="Arial"/>
                        </a:rPr>
                        <a:t>Anchor's complete ordinary stack</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Authored scales, pivots, rotations and translations</a:t>
                      </a:r>
                    </a:p>
                  </a:txBody>
                  <a:tcPr marL="91440" marR="91440" marT="45720" marB="45720" anchor="ctr">
                    <a:lnR w="7144">
                      <a:solidFill>
                        <a:srgbClr val="BCC9CC"/>
                      </a:solidFill>
                      <a:prstDash val="solid"/>
                    </a:lnR>
                    <a:lnB w="7144">
                      <a:solidFill>
                        <a:srgbClr val="BCC9CC"/>
                      </a:solidFill>
                      <a:prstDash val="solid"/>
                    </a:lnB>
                    <a:solidFill>
                      <a:srgbClr val="F3F6F5"/>
                    </a:solidFill>
                  </a:tcPr>
                </a:tc>
              </a:tr>
              <a:tr h="536575">
                <a:tc>
                  <a:txBody>
                    <a:bodyPr wrap="square" lIns="95250" tIns="95250" rIns="95250" bIns="95250">
                      <a:noAutofit/>
                    </a:bodyPr>
                    <a:lstStyle/>
                    <a:p>
                      <a:r>
                        <a:rPr sz="1725" b="0">
                          <a:solidFill>
                            <a:srgbClr val="284653"/>
                          </a:solidFill>
                          <a:latin typeface="Arial"/>
                          <a:ea typeface="Arial"/>
                          <a:cs typeface="Arial"/>
                        </a:rPr>
                        <a:t>Requested coordinate/scene output</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Adjusted physical placement in the requested representation</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45CC065-27BF-43E1-BC3C-B4271BB85926}"/>
              </a:ext>
            </a:extLst>
          </p:cNvPr>
          <p:cNvSpPr>
            <a:spLocks xmlns:a="http://schemas.openxmlformats.org/drawingml/2006/main" noGrp="1"/>
          </p:cNvSpPr>
          <p:nvPr/>
        </p:nvSpPr>
        <p:spPr>
          <a:xfrm xmlns:a="http://schemas.openxmlformats.org/drawingml/2006/main">
            <a:off x="609600" y="62293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C75"/>
                </a:solidFill>
                <a:latin typeface="Arial"/>
                <a:ea typeface="Arial"/>
                <a:cs typeface="Arial"/>
              </a:defRPr>
            </a:defPPr>
            <a:lvl1pPr>
              <a:defRPr sz="1275" b="0">
                <a:solidFill>
                  <a:srgbClr val="526C75"/>
                </a:solidFill>
                <a:latin typeface="Arial"/>
                <a:ea typeface="Arial"/>
                <a:cs typeface="Arial"/>
              </a:defRPr>
            </a:lvl1pPr>
            <a:lvl2pPr>
              <a:defRPr sz="1275" b="0">
                <a:solidFill>
                  <a:srgbClr val="526C75"/>
                </a:solidFill>
                <a:latin typeface="Arial"/>
                <a:ea typeface="Arial"/>
                <a:cs typeface="Arial"/>
              </a:defRPr>
            </a:lvl2pPr>
            <a:lvl3pPr>
              <a:defRPr sz="1275" b="0">
                <a:solidFill>
                  <a:srgbClr val="526C75"/>
                </a:solidFill>
                <a:latin typeface="Arial"/>
                <a:ea typeface="Arial"/>
                <a:cs typeface="Arial"/>
              </a:defRPr>
            </a:lvl3pPr>
            <a:lvl4pPr>
              <a:defRPr sz="1275" b="0">
                <a:solidFill>
                  <a:srgbClr val="526C75"/>
                </a:solidFill>
                <a:latin typeface="Arial"/>
                <a:ea typeface="Arial"/>
                <a:cs typeface="Arial"/>
              </a:defRPr>
            </a:lvl4pPr>
            <a:lvl5pPr>
              <a:defRPr sz="1275" b="0">
                <a:solidFill>
                  <a:srgbClr val="526C75"/>
                </a:solidFill>
                <a:latin typeface="Arial"/>
                <a:ea typeface="Arial"/>
                <a:cs typeface="Arial"/>
              </a:defRPr>
            </a:lvl5pPr>
            <a:lvl6pPr>
              <a:defRPr sz="1275" b="0">
                <a:solidFill>
                  <a:srgbClr val="526C75"/>
                </a:solidFill>
                <a:latin typeface="Arial"/>
                <a:ea typeface="Arial"/>
                <a:cs typeface="Arial"/>
              </a:defRPr>
            </a:lvl6pPr>
            <a:lvl7pPr>
              <a:defRPr sz="1275" b="0">
                <a:solidFill>
                  <a:srgbClr val="526C75"/>
                </a:solidFill>
                <a:latin typeface="Arial"/>
                <a:ea typeface="Arial"/>
                <a:cs typeface="Arial"/>
              </a:defRPr>
            </a:lvl7pPr>
            <a:lvl8pPr>
              <a:defRPr sz="1275" b="0">
                <a:solidFill>
                  <a:srgbClr val="526C75"/>
                </a:solidFill>
                <a:latin typeface="Arial"/>
                <a:ea typeface="Arial"/>
                <a:cs typeface="Arial"/>
              </a:defRPr>
            </a:lvl8pPr>
            <a:lvl9pPr>
              <a:defRPr sz="1275" b="0">
                <a:solidFill>
                  <a:srgbClr val="526C75"/>
                </a:solidFill>
                <a:latin typeface="Arial"/>
                <a:ea typeface="Arial"/>
                <a:cs typeface="Arial"/>
              </a:defRPr>
            </a:lvl9pPr>
          </a:lstStyle>
          <a:p xmlns:a="http://schemas.openxmlformats.org/drawingml/2006/main">
            <a:pPr>
              <a:defRPr sz="1275" b="0">
                <a:solidFill>
                  <a:srgbClr val="526C75"/>
                </a:solidFill>
                <a:latin typeface="Arial"/>
                <a:ea typeface="Arial"/>
                <a:cs typeface="Arial"/>
              </a:defRPr>
            </a:pPr>
            <a:r>
              <a:rPr sz="1275" b="0">
                <a:solidFill>
                  <a:srgbClr val="526C75"/>
                </a:solidFill>
                <a:latin typeface="Arial"/>
                <a:ea typeface="Arial"/>
                <a:cs typeface="Arial"/>
              </a:rPr>
              <a:t>Reset stacks, independently bound children, reference offsets, inherits, value clips and native instance proxies are exercised.</a:t>
            </a:r>
          </a:p>
        </p:txBody>
      </p:sp>
      <p:sp>
        <p:nvSpPr>
          <p:cNvPr id="5" name="">
            <a:extLst xmlns:a="http://schemas.openxmlformats.org/drawingml/2006/main">
              <a:ext uri="{FF2B5EF4-FFF2-40B4-BE49-F238E27FC236}">
                <a16:creationId xmlns:a16="http://schemas.microsoft.com/office/drawing/2014/main" id="{ADE74867-4891-4D15-8092-A19449042D70}"/>
              </a:ext>
            </a:extLst>
          </p:cNvPr>
          <p:cNvSpPr>
            <a:spLocks xmlns:a="http://schemas.openxmlformats.org/drawingml/2006/main" noGrp="1"/>
          </p:cNvSpPr>
          <p:nvPr/>
        </p:nvSpPr>
        <p:spPr>
          <a:xfrm xmlns:a="http://schemas.openxmlformats.org/drawingml/2006/main">
            <a:off x="11353800" y="6324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C75"/>
                </a:solidFill>
                <a:latin typeface="Arial"/>
                <a:ea typeface="Arial"/>
                <a:cs typeface="Arial"/>
              </a:defRPr>
            </a:defPPr>
            <a:lvl1pPr>
              <a:defRPr sz="1200" b="0">
                <a:solidFill>
                  <a:srgbClr val="526C75"/>
                </a:solidFill>
                <a:latin typeface="Arial"/>
                <a:ea typeface="Arial"/>
                <a:cs typeface="Arial"/>
              </a:defRPr>
            </a:lvl1pPr>
            <a:lvl2pPr>
              <a:defRPr sz="1200" b="0">
                <a:solidFill>
                  <a:srgbClr val="526C75"/>
                </a:solidFill>
                <a:latin typeface="Arial"/>
                <a:ea typeface="Arial"/>
                <a:cs typeface="Arial"/>
              </a:defRPr>
            </a:lvl2pPr>
            <a:lvl3pPr>
              <a:defRPr sz="1200" b="0">
                <a:solidFill>
                  <a:srgbClr val="526C75"/>
                </a:solidFill>
                <a:latin typeface="Arial"/>
                <a:ea typeface="Arial"/>
                <a:cs typeface="Arial"/>
              </a:defRPr>
            </a:lvl3pPr>
            <a:lvl4pPr>
              <a:defRPr sz="1200" b="0">
                <a:solidFill>
                  <a:srgbClr val="526C75"/>
                </a:solidFill>
                <a:latin typeface="Arial"/>
                <a:ea typeface="Arial"/>
                <a:cs typeface="Arial"/>
              </a:defRPr>
            </a:lvl4pPr>
            <a:lvl5pPr>
              <a:defRPr sz="1200" b="0">
                <a:solidFill>
                  <a:srgbClr val="526C75"/>
                </a:solidFill>
                <a:latin typeface="Arial"/>
                <a:ea typeface="Arial"/>
                <a:cs typeface="Arial"/>
              </a:defRPr>
            </a:lvl5pPr>
            <a:lvl6pPr>
              <a:defRPr sz="1200" b="0">
                <a:solidFill>
                  <a:srgbClr val="526C75"/>
                </a:solidFill>
                <a:latin typeface="Arial"/>
                <a:ea typeface="Arial"/>
                <a:cs typeface="Arial"/>
              </a:defRPr>
            </a:lvl6pPr>
            <a:lvl7pPr>
              <a:defRPr sz="1200" b="0">
                <a:solidFill>
                  <a:srgbClr val="526C75"/>
                </a:solidFill>
                <a:latin typeface="Arial"/>
                <a:ea typeface="Arial"/>
                <a:cs typeface="Arial"/>
              </a:defRPr>
            </a:lvl7pPr>
            <a:lvl8pPr>
              <a:defRPr sz="1200" b="0">
                <a:solidFill>
                  <a:srgbClr val="526C75"/>
                </a:solidFill>
                <a:latin typeface="Arial"/>
                <a:ea typeface="Arial"/>
                <a:cs typeface="Arial"/>
              </a:defRPr>
            </a:lvl8pPr>
            <a:lvl9pPr>
              <a:defRPr sz="1200" b="0">
                <a:solidFill>
                  <a:srgbClr val="526C75"/>
                </a:solidFill>
                <a:latin typeface="Arial"/>
                <a:ea typeface="Arial"/>
                <a:cs typeface="Arial"/>
              </a:defRPr>
            </a:lvl9pPr>
          </a:lstStyle>
          <a:p xmlns:a="http://schemas.openxmlformats.org/drawingml/2006/main">
            <a:pPr>
              <a:defRPr sz="1200" b="0">
                <a:solidFill>
                  <a:srgbClr val="526C75"/>
                </a:solidFill>
                <a:latin typeface="Arial"/>
                <a:ea typeface="Arial"/>
                <a:cs typeface="Arial"/>
              </a:defRPr>
            </a:pPr>
            <a:r>
              <a:rPr sz="1200" b="0">
                <a:solidFill>
                  <a:srgbClr val="526C75"/>
                </a:solidFill>
                <a:latin typeface="Arial"/>
                <a:ea typeface="Arial"/>
                <a:cs typeface="Arial"/>
              </a:rPr>
              <a:t>3</a:t>
            </a:r>
          </a:p>
        </p:txBody>
      </p:sp>
    </p:spTree>
    <p:extLst>
      <p:ext uri="{BB962C8B-B14F-4D97-AF65-F5344CB8AC3E}">
        <p14:creationId xmlns:p14="http://schemas.microsoft.com/office/powerpoint/2010/main" val="8075276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986CFB1-B6C3-4D20-8C71-D8A32FB5C31E}"/>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13F4C"/>
                </a:solidFill>
                <a:latin typeface="Arial"/>
                <a:ea typeface="Arial"/>
                <a:cs typeface="Arial"/>
              </a:defRPr>
            </a:defPPr>
            <a:lvl1pPr>
              <a:defRPr sz="2850" b="1">
                <a:solidFill>
                  <a:srgbClr val="213F4C"/>
                </a:solidFill>
                <a:latin typeface="Arial"/>
                <a:ea typeface="Arial"/>
                <a:cs typeface="Arial"/>
              </a:defRPr>
            </a:lvl1pPr>
            <a:lvl2pPr>
              <a:defRPr sz="2850" b="1">
                <a:solidFill>
                  <a:srgbClr val="213F4C"/>
                </a:solidFill>
                <a:latin typeface="Arial"/>
                <a:ea typeface="Arial"/>
                <a:cs typeface="Arial"/>
              </a:defRPr>
            </a:lvl2pPr>
            <a:lvl3pPr>
              <a:defRPr sz="2850" b="1">
                <a:solidFill>
                  <a:srgbClr val="213F4C"/>
                </a:solidFill>
                <a:latin typeface="Arial"/>
                <a:ea typeface="Arial"/>
                <a:cs typeface="Arial"/>
              </a:defRPr>
            </a:lvl3pPr>
            <a:lvl4pPr>
              <a:defRPr sz="2850" b="1">
                <a:solidFill>
                  <a:srgbClr val="213F4C"/>
                </a:solidFill>
                <a:latin typeface="Arial"/>
                <a:ea typeface="Arial"/>
                <a:cs typeface="Arial"/>
              </a:defRPr>
            </a:lvl4pPr>
            <a:lvl5pPr>
              <a:defRPr sz="2850" b="1">
                <a:solidFill>
                  <a:srgbClr val="213F4C"/>
                </a:solidFill>
                <a:latin typeface="Arial"/>
                <a:ea typeface="Arial"/>
                <a:cs typeface="Arial"/>
              </a:defRPr>
            </a:lvl5pPr>
            <a:lvl6pPr>
              <a:defRPr sz="2850" b="1">
                <a:solidFill>
                  <a:srgbClr val="213F4C"/>
                </a:solidFill>
                <a:latin typeface="Arial"/>
                <a:ea typeface="Arial"/>
                <a:cs typeface="Arial"/>
              </a:defRPr>
            </a:lvl6pPr>
            <a:lvl7pPr>
              <a:defRPr sz="2850" b="1">
                <a:solidFill>
                  <a:srgbClr val="213F4C"/>
                </a:solidFill>
                <a:latin typeface="Arial"/>
                <a:ea typeface="Arial"/>
                <a:cs typeface="Arial"/>
              </a:defRPr>
            </a:lvl7pPr>
            <a:lvl8pPr>
              <a:defRPr sz="2850" b="1">
                <a:solidFill>
                  <a:srgbClr val="213F4C"/>
                </a:solidFill>
                <a:latin typeface="Arial"/>
                <a:ea typeface="Arial"/>
                <a:cs typeface="Arial"/>
              </a:defRPr>
            </a:lvl8pPr>
            <a:lvl9pPr>
              <a:defRPr sz="2850" b="1">
                <a:solidFill>
                  <a:srgbClr val="213F4C"/>
                </a:solidFill>
                <a:latin typeface="Arial"/>
                <a:ea typeface="Arial"/>
                <a:cs typeface="Arial"/>
              </a:defRPr>
            </a:lvl9pPr>
          </a:lstStyle>
          <a:p xmlns:a="http://schemas.openxmlformats.org/drawingml/2006/main">
            <a:pPr>
              <a:defRPr sz="2850" b="1">
                <a:solidFill>
                  <a:srgbClr val="213F4C"/>
                </a:solidFill>
                <a:latin typeface="Arial"/>
                <a:ea typeface="Arial"/>
                <a:cs typeface="Arial"/>
              </a:defRPr>
            </a:pPr>
            <a:r>
              <a:rPr sz="2850" b="1">
                <a:solidFill>
                  <a:srgbClr val="213F4C"/>
                </a:solidFill>
                <a:latin typeface="Arial"/>
                <a:ea typeface="Arial"/>
                <a:cs typeface="Arial"/>
              </a:rPr>
              <a:t>Provider examples check the coordinate interpretation</a:t>
            </a:r>
          </a:p>
        </p:txBody>
      </p:sp>
      <p:sp>
        <p:nvSpPr>
          <p:cNvPr id="2" name="">
            <a:extLst xmlns:a="http://schemas.openxmlformats.org/drawingml/2006/main">
              <a:ext uri="{FF2B5EF4-FFF2-40B4-BE49-F238E27FC236}">
                <a16:creationId xmlns:a16="http://schemas.microsoft.com/office/drawing/2014/main" id="{9AEBF790-83B7-4AC3-80C3-2BEC85CA9E13}"/>
              </a:ext>
            </a:extLst>
          </p:cNvPr>
          <p:cNvSpPr>
            <a:spLocks xmlns:a="http://schemas.openxmlformats.org/drawingml/2006/main" noGrp="1"/>
          </p:cNvSpPr>
          <p:nvPr/>
        </p:nvSpPr>
        <p:spPr>
          <a:xfrm xmlns:a="http://schemas.openxmlformats.org/drawingml/2006/main">
            <a:off x="609600" y="135255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84653"/>
                </a:solidFill>
                <a:latin typeface="Arial"/>
                <a:ea typeface="Arial"/>
                <a:cs typeface="Arial"/>
              </a:defRPr>
            </a:defPPr>
            <a:lvl1pPr>
              <a:defRPr sz="1875" b="0">
                <a:solidFill>
                  <a:srgbClr val="284653"/>
                </a:solidFill>
                <a:latin typeface="Arial"/>
                <a:ea typeface="Arial"/>
                <a:cs typeface="Arial"/>
              </a:defRPr>
            </a:lvl1pPr>
            <a:lvl2pPr>
              <a:defRPr sz="1875" b="0">
                <a:solidFill>
                  <a:srgbClr val="284653"/>
                </a:solidFill>
                <a:latin typeface="Arial"/>
                <a:ea typeface="Arial"/>
                <a:cs typeface="Arial"/>
              </a:defRPr>
            </a:lvl2pPr>
            <a:lvl3pPr>
              <a:defRPr sz="1875" b="0">
                <a:solidFill>
                  <a:srgbClr val="284653"/>
                </a:solidFill>
                <a:latin typeface="Arial"/>
                <a:ea typeface="Arial"/>
                <a:cs typeface="Arial"/>
              </a:defRPr>
            </a:lvl3pPr>
            <a:lvl4pPr>
              <a:defRPr sz="1875" b="0">
                <a:solidFill>
                  <a:srgbClr val="284653"/>
                </a:solidFill>
                <a:latin typeface="Arial"/>
                <a:ea typeface="Arial"/>
                <a:cs typeface="Arial"/>
              </a:defRPr>
            </a:lvl4pPr>
            <a:lvl5pPr>
              <a:defRPr sz="1875" b="0">
                <a:solidFill>
                  <a:srgbClr val="284653"/>
                </a:solidFill>
                <a:latin typeface="Arial"/>
                <a:ea typeface="Arial"/>
                <a:cs typeface="Arial"/>
              </a:defRPr>
            </a:lvl5pPr>
            <a:lvl6pPr>
              <a:defRPr sz="1875" b="0">
                <a:solidFill>
                  <a:srgbClr val="284653"/>
                </a:solidFill>
                <a:latin typeface="Arial"/>
                <a:ea typeface="Arial"/>
                <a:cs typeface="Arial"/>
              </a:defRPr>
            </a:lvl6pPr>
            <a:lvl7pPr>
              <a:defRPr sz="1875" b="0">
                <a:solidFill>
                  <a:srgbClr val="284653"/>
                </a:solidFill>
                <a:latin typeface="Arial"/>
                <a:ea typeface="Arial"/>
                <a:cs typeface="Arial"/>
              </a:defRPr>
            </a:lvl7pPr>
            <a:lvl8pPr>
              <a:defRPr sz="1875" b="0">
                <a:solidFill>
                  <a:srgbClr val="284653"/>
                </a:solidFill>
                <a:latin typeface="Arial"/>
                <a:ea typeface="Arial"/>
                <a:cs typeface="Arial"/>
              </a:defRPr>
            </a:lvl8pPr>
            <a:lvl9pPr>
              <a:defRPr sz="1875" b="0">
                <a:solidFill>
                  <a:srgbClr val="284653"/>
                </a:solidFill>
                <a:latin typeface="Arial"/>
                <a:ea typeface="Arial"/>
                <a:cs typeface="Arial"/>
              </a:defRPr>
            </a:lvl9pPr>
          </a:lstStyle>
          <a:p xmlns:a="http://schemas.openxmlformats.org/drawingml/2006/main">
            <a:pPr>
              <a:defRPr sz="1875" b="0">
                <a:solidFill>
                  <a:srgbClr val="284653"/>
                </a:solidFill>
                <a:latin typeface="Arial"/>
                <a:ea typeface="Arial"/>
                <a:cs typeface="Arial"/>
              </a:defRPr>
            </a:pPr>
            <a:r>
              <a:rPr sz="1875" b="0">
                <a:solidFill>
                  <a:srgbClr val="284653"/>
                </a:solidFill>
                <a:latin typeface="Arial"/>
                <a:ea typeface="Arial"/>
                <a:cs typeface="Arial"/>
              </a:rPr>
              <a:t>Across 123 comparison rows, both readers use equivalent realized operations and agree with the supplied provider tables within the predeclared 2 mm distance. The largest provider residual is 0.100 mm. These distances test interpretation and implementation agreement; they do not establish survey accuracy.</a:t>
            </a:r>
          </a:p>
        </p:txBody>
      </p:sp>
      <p:graphicFrame>
        <p:nvGraphicFramePr>
          <p:cNvPr id="3" name="">
            <a:extLst xmlns:a="http://schemas.openxmlformats.org/drawingml/2006/main">
              <a:ext uri="{FF2B5EF4-FFF2-40B4-BE49-F238E27FC236}">
                <a16:creationId xmlns:a16="http://schemas.microsoft.com/office/drawing/2014/main" id="{765D9247-574D-4930-AB0C-85E8D92669D4}"/>
              </a:ext>
            </a:extLst>
          </p:cNvPr>
          <p:cNvGraphicFramePr/>
          <p:nvPr/>
        </p:nvGraphicFramePr>
        <p:xfrm>
          <a:off xmlns:a="http://schemas.openxmlformats.org/drawingml/2006/main" x="609600" y="2686050"/>
          <a:ext xmlns:a="http://schemas.openxmlformats.org/drawingml/2006/main" cx="10972800" cy="3219450"/>
        </p:xfrm>
        <a:graphic xmlns:a="http://schemas.openxmlformats.org/drawingml/2006/main">
          <a:graphicData uri="http://schemas.openxmlformats.org/drawingml/2006/table">
            <a:tbl>
              <a:tblPr/>
              <a:tblGrid>
                <a:gridCol w="7048500"/>
                <a:gridCol w="1047750"/>
                <a:gridCol w="2876550"/>
              </a:tblGrid>
              <a:tr h="804863">
                <a:tc>
                  <a:txBody>
                    <a:bodyPr wrap="square" lIns="95250" tIns="95250" rIns="95250" bIns="95250">
                      <a:noAutofit/>
                    </a:bodyPr>
                    <a:lstStyle/>
                    <a:p>
                      <a:r>
                        <a:rPr sz="1800" b="1">
                          <a:solidFill>
                            <a:srgbClr val="FFFFFF"/>
                          </a:solidFill>
                          <a:latin typeface="Arial"/>
                          <a:ea typeface="Arial"/>
                          <a:cs typeface="Arial"/>
                        </a:rPr>
                        <a:t>Conversion</a:t>
                      </a:r>
                    </a:p>
                  </a:txBody>
                  <a:tcPr marL="91440" marR="91440" marT="45720" marB="45720" anchor="ctr">
                    <a:lnL w="7144">
                      <a:solidFill>
                        <a:srgbClr val="BCC9CC"/>
                      </a:solidFill>
                      <a:prstDash val="solid"/>
                    </a:lnL>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c>
                  <a:txBody>
                    <a:bodyPr wrap="square" lIns="95250" tIns="95250" rIns="95250" bIns="95250">
                      <a:noAutofit/>
                    </a:bodyPr>
                    <a:lstStyle/>
                    <a:p>
                      <a:r>
                        <a:rPr sz="1800" b="1">
                          <a:solidFill>
                            <a:srgbClr val="FFFFFF"/>
                          </a:solidFill>
                          <a:latin typeface="Arial"/>
                          <a:ea typeface="Arial"/>
                          <a:cs typeface="Arial"/>
                        </a:rPr>
                        <a:t>Rows</a:t>
                      </a:r>
                    </a:p>
                  </a:txBody>
                  <a:tcPr marL="91440" marR="91440" marT="45720" marB="45720" anchor="ctr">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c>
                  <a:txBody>
                    <a:bodyPr wrap="square" lIns="95250" tIns="95250" rIns="95250" bIns="95250">
                      <a:noAutofit/>
                    </a:bodyPr>
                    <a:lstStyle/>
                    <a:p>
                      <a:r>
                        <a:rPr sz="1800" b="1">
                          <a:solidFill>
                            <a:srgbClr val="FFFFFF"/>
                          </a:solidFill>
                          <a:latin typeface="Arial"/>
                          <a:ea typeface="Arial"/>
                          <a:cs typeface="Arial"/>
                        </a:rPr>
                        <a:t>Largest provider residual</a:t>
                      </a:r>
                    </a:p>
                  </a:txBody>
                  <a:tcPr marL="91440" marR="91440" marT="45720" marB="45720" anchor="ctr">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r>
              <a:tr h="804863">
                <a:tc>
                  <a:txBody>
                    <a:bodyPr wrap="square" lIns="95250" tIns="95250" rIns="95250" bIns="95250">
                      <a:noAutofit/>
                    </a:bodyPr>
                    <a:lstStyle/>
                    <a:p>
                      <a:r>
                        <a:rPr sz="1725" b="0">
                          <a:solidFill>
                            <a:srgbClr val="284653"/>
                          </a:solidFill>
                          <a:latin typeface="Arial"/>
                          <a:ea typeface="Arial"/>
                          <a:cs typeface="Arial"/>
                        </a:rPr>
                        <a:t>France: geographic to geocentric</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59</a:t>
                      </a:r>
                    </a:p>
                  </a:txBody>
                  <a:tcPr marL="91440" marR="91440" marT="45720" marB="45720" anchor="ctr">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0.100 mm</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r h="804863">
                <a:tc>
                  <a:txBody>
                    <a:bodyPr wrap="square" lIns="95250" tIns="95250" rIns="95250" bIns="95250">
                      <a:noAutofit/>
                    </a:bodyPr>
                    <a:lstStyle/>
                    <a:p>
                      <a:r>
                        <a:rPr sz="1725" b="0">
                          <a:solidFill>
                            <a:srgbClr val="284653"/>
                          </a:solidFill>
                          <a:latin typeface="Arial"/>
                          <a:ea typeface="Arial"/>
                          <a:cs typeface="Arial"/>
                        </a:rPr>
                        <a:t>France: CC49 to Lambert-93</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59</a:t>
                      </a:r>
                    </a:p>
                  </a:txBody>
                  <a:tcPr marL="91440" marR="91440" marT="45720" marB="45720" anchor="ctr">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0.061 mm</a:t>
                      </a:r>
                    </a:p>
                  </a:txBody>
                  <a:tcPr marL="91440" marR="91440" marT="45720" marB="45720" anchor="ctr">
                    <a:lnR w="7144">
                      <a:solidFill>
                        <a:srgbClr val="BCC9CC"/>
                      </a:solidFill>
                      <a:prstDash val="solid"/>
                    </a:lnR>
                    <a:lnB w="7144">
                      <a:solidFill>
                        <a:srgbClr val="BCC9CC"/>
                      </a:solidFill>
                      <a:prstDash val="solid"/>
                    </a:lnB>
                    <a:solidFill>
                      <a:srgbClr val="F3F6F5"/>
                    </a:solidFill>
                  </a:tcPr>
                </a:tc>
              </a:tr>
              <a:tr h="804863">
                <a:tc>
                  <a:txBody>
                    <a:bodyPr wrap="square" lIns="95250" tIns="95250" rIns="95250" bIns="95250">
                      <a:noAutofit/>
                    </a:bodyPr>
                    <a:lstStyle/>
                    <a:p>
                      <a:r>
                        <a:rPr sz="1725" b="0">
                          <a:solidFill>
                            <a:srgbClr val="284653"/>
                          </a:solidFill>
                          <a:latin typeface="Arial"/>
                          <a:ea typeface="Arial"/>
                          <a:cs typeface="Arial"/>
                        </a:rPr>
                        <a:t>Colorado: State Plane to calibrated site</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5</a:t>
                      </a:r>
                    </a:p>
                  </a:txBody>
                  <a:tcPr marL="91440" marR="91440" marT="45720" marB="45720" anchor="ctr">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0.034 mm</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7D6E070-CF23-4C8F-B162-74F35A1B8547}"/>
              </a:ext>
            </a:extLst>
          </p:cNvPr>
          <p:cNvSpPr>
            <a:spLocks xmlns:a="http://schemas.openxmlformats.org/drawingml/2006/main" noGrp="1"/>
          </p:cNvSpPr>
          <p:nvPr/>
        </p:nvSpPr>
        <p:spPr>
          <a:xfrm xmlns:a="http://schemas.openxmlformats.org/drawingml/2006/main">
            <a:off x="609600" y="62293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C75"/>
                </a:solidFill>
                <a:latin typeface="Arial"/>
                <a:ea typeface="Arial"/>
                <a:cs typeface="Arial"/>
              </a:defRPr>
            </a:defPPr>
            <a:lvl1pPr>
              <a:defRPr sz="1275" b="0">
                <a:solidFill>
                  <a:srgbClr val="526C75"/>
                </a:solidFill>
                <a:latin typeface="Arial"/>
                <a:ea typeface="Arial"/>
                <a:cs typeface="Arial"/>
              </a:defRPr>
            </a:lvl1pPr>
            <a:lvl2pPr>
              <a:defRPr sz="1275" b="0">
                <a:solidFill>
                  <a:srgbClr val="526C75"/>
                </a:solidFill>
                <a:latin typeface="Arial"/>
                <a:ea typeface="Arial"/>
                <a:cs typeface="Arial"/>
              </a:defRPr>
            </a:lvl2pPr>
            <a:lvl3pPr>
              <a:defRPr sz="1275" b="0">
                <a:solidFill>
                  <a:srgbClr val="526C75"/>
                </a:solidFill>
                <a:latin typeface="Arial"/>
                <a:ea typeface="Arial"/>
                <a:cs typeface="Arial"/>
              </a:defRPr>
            </a:lvl3pPr>
            <a:lvl4pPr>
              <a:defRPr sz="1275" b="0">
                <a:solidFill>
                  <a:srgbClr val="526C75"/>
                </a:solidFill>
                <a:latin typeface="Arial"/>
                <a:ea typeface="Arial"/>
                <a:cs typeface="Arial"/>
              </a:defRPr>
            </a:lvl4pPr>
            <a:lvl5pPr>
              <a:defRPr sz="1275" b="0">
                <a:solidFill>
                  <a:srgbClr val="526C75"/>
                </a:solidFill>
                <a:latin typeface="Arial"/>
                <a:ea typeface="Arial"/>
                <a:cs typeface="Arial"/>
              </a:defRPr>
            </a:lvl5pPr>
            <a:lvl6pPr>
              <a:defRPr sz="1275" b="0">
                <a:solidFill>
                  <a:srgbClr val="526C75"/>
                </a:solidFill>
                <a:latin typeface="Arial"/>
                <a:ea typeface="Arial"/>
                <a:cs typeface="Arial"/>
              </a:defRPr>
            </a:lvl6pPr>
            <a:lvl7pPr>
              <a:defRPr sz="1275" b="0">
                <a:solidFill>
                  <a:srgbClr val="526C75"/>
                </a:solidFill>
                <a:latin typeface="Arial"/>
                <a:ea typeface="Arial"/>
                <a:cs typeface="Arial"/>
              </a:defRPr>
            </a:lvl7pPr>
            <a:lvl8pPr>
              <a:defRPr sz="1275" b="0">
                <a:solidFill>
                  <a:srgbClr val="526C75"/>
                </a:solidFill>
                <a:latin typeface="Arial"/>
                <a:ea typeface="Arial"/>
                <a:cs typeface="Arial"/>
              </a:defRPr>
            </a:lvl8pPr>
            <a:lvl9pPr>
              <a:defRPr sz="1275" b="0">
                <a:solidFill>
                  <a:srgbClr val="526C75"/>
                </a:solidFill>
                <a:latin typeface="Arial"/>
                <a:ea typeface="Arial"/>
                <a:cs typeface="Arial"/>
              </a:defRPr>
            </a:lvl9pPr>
          </a:lstStyle>
          <a:p xmlns:a="http://schemas.openxmlformats.org/drawingml/2006/main">
            <a:pPr>
              <a:defRPr sz="1275" b="0">
                <a:solidFill>
                  <a:srgbClr val="526C75"/>
                </a:solidFill>
                <a:latin typeface="Arial"/>
                <a:ea typeface="Arial"/>
                <a:cs typeface="Arial"/>
              </a:defRPr>
            </a:pPr>
            <a:r>
              <a:rPr sz="1275" b="0">
                <a:solidFill>
                  <a:srgbClr val="526C75"/>
                </a:solidFill>
                <a:latin typeface="Arial"/>
                <a:ea typeface="Arial"/>
                <a:cs typeface="Arial"/>
              </a:rPr>
              <a:t>Provider tables also use PROJ; these checks do not establish independent geodetic or survey accuracy.</a:t>
            </a:r>
          </a:p>
        </p:txBody>
      </p:sp>
      <p:sp>
        <p:nvSpPr>
          <p:cNvPr id="5" name="">
            <a:extLst xmlns:a="http://schemas.openxmlformats.org/drawingml/2006/main">
              <a:ext uri="{FF2B5EF4-FFF2-40B4-BE49-F238E27FC236}">
                <a16:creationId xmlns:a16="http://schemas.microsoft.com/office/drawing/2014/main" id="{B178B284-4A8A-4B3B-9DD9-02C68584E23D}"/>
              </a:ext>
            </a:extLst>
          </p:cNvPr>
          <p:cNvSpPr>
            <a:spLocks xmlns:a="http://schemas.openxmlformats.org/drawingml/2006/main" noGrp="1"/>
          </p:cNvSpPr>
          <p:nvPr/>
        </p:nvSpPr>
        <p:spPr>
          <a:xfrm xmlns:a="http://schemas.openxmlformats.org/drawingml/2006/main">
            <a:off x="11353800" y="6324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C75"/>
                </a:solidFill>
                <a:latin typeface="Arial"/>
                <a:ea typeface="Arial"/>
                <a:cs typeface="Arial"/>
              </a:defRPr>
            </a:defPPr>
            <a:lvl1pPr>
              <a:defRPr sz="1200" b="0">
                <a:solidFill>
                  <a:srgbClr val="526C75"/>
                </a:solidFill>
                <a:latin typeface="Arial"/>
                <a:ea typeface="Arial"/>
                <a:cs typeface="Arial"/>
              </a:defRPr>
            </a:lvl1pPr>
            <a:lvl2pPr>
              <a:defRPr sz="1200" b="0">
                <a:solidFill>
                  <a:srgbClr val="526C75"/>
                </a:solidFill>
                <a:latin typeface="Arial"/>
                <a:ea typeface="Arial"/>
                <a:cs typeface="Arial"/>
              </a:defRPr>
            </a:lvl2pPr>
            <a:lvl3pPr>
              <a:defRPr sz="1200" b="0">
                <a:solidFill>
                  <a:srgbClr val="526C75"/>
                </a:solidFill>
                <a:latin typeface="Arial"/>
                <a:ea typeface="Arial"/>
                <a:cs typeface="Arial"/>
              </a:defRPr>
            </a:lvl3pPr>
            <a:lvl4pPr>
              <a:defRPr sz="1200" b="0">
                <a:solidFill>
                  <a:srgbClr val="526C75"/>
                </a:solidFill>
                <a:latin typeface="Arial"/>
                <a:ea typeface="Arial"/>
                <a:cs typeface="Arial"/>
              </a:defRPr>
            </a:lvl4pPr>
            <a:lvl5pPr>
              <a:defRPr sz="1200" b="0">
                <a:solidFill>
                  <a:srgbClr val="526C75"/>
                </a:solidFill>
                <a:latin typeface="Arial"/>
                <a:ea typeface="Arial"/>
                <a:cs typeface="Arial"/>
              </a:defRPr>
            </a:lvl5pPr>
            <a:lvl6pPr>
              <a:defRPr sz="1200" b="0">
                <a:solidFill>
                  <a:srgbClr val="526C75"/>
                </a:solidFill>
                <a:latin typeface="Arial"/>
                <a:ea typeface="Arial"/>
                <a:cs typeface="Arial"/>
              </a:defRPr>
            </a:lvl6pPr>
            <a:lvl7pPr>
              <a:defRPr sz="1200" b="0">
                <a:solidFill>
                  <a:srgbClr val="526C75"/>
                </a:solidFill>
                <a:latin typeface="Arial"/>
                <a:ea typeface="Arial"/>
                <a:cs typeface="Arial"/>
              </a:defRPr>
            </a:lvl7pPr>
            <a:lvl8pPr>
              <a:defRPr sz="1200" b="0">
                <a:solidFill>
                  <a:srgbClr val="526C75"/>
                </a:solidFill>
                <a:latin typeface="Arial"/>
                <a:ea typeface="Arial"/>
                <a:cs typeface="Arial"/>
              </a:defRPr>
            </a:lvl8pPr>
            <a:lvl9pPr>
              <a:defRPr sz="1200" b="0">
                <a:solidFill>
                  <a:srgbClr val="526C75"/>
                </a:solidFill>
                <a:latin typeface="Arial"/>
                <a:ea typeface="Arial"/>
                <a:cs typeface="Arial"/>
              </a:defRPr>
            </a:lvl9pPr>
          </a:lstStyle>
          <a:p xmlns:a="http://schemas.openxmlformats.org/drawingml/2006/main">
            <a:pPr>
              <a:defRPr sz="1200" b="0">
                <a:solidFill>
                  <a:srgbClr val="526C75"/>
                </a:solidFill>
                <a:latin typeface="Arial"/>
                <a:ea typeface="Arial"/>
                <a:cs typeface="Arial"/>
              </a:defRPr>
            </a:pPr>
            <a:r>
              <a:rPr sz="1200" b="0">
                <a:solidFill>
                  <a:srgbClr val="526C75"/>
                </a:solidFill>
                <a:latin typeface="Arial"/>
                <a:ea typeface="Arial"/>
                <a:cs typeface="Arial"/>
              </a:rPr>
              <a:t>4</a:t>
            </a:r>
          </a:p>
        </p:txBody>
      </p:sp>
    </p:spTree>
    <p:extLst>
      <p:ext uri="{BB962C8B-B14F-4D97-AF65-F5344CB8AC3E}">
        <p14:creationId xmlns:p14="http://schemas.microsoft.com/office/powerpoint/2010/main" val="19973124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E04D28E-6D58-4C23-AF0F-B9299DA008DB}"/>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13F4C"/>
                </a:solidFill>
                <a:latin typeface="Arial"/>
                <a:ea typeface="Arial"/>
                <a:cs typeface="Arial"/>
              </a:defRPr>
            </a:defPPr>
            <a:lvl1pPr>
              <a:defRPr sz="2850" b="1">
                <a:solidFill>
                  <a:srgbClr val="213F4C"/>
                </a:solidFill>
                <a:latin typeface="Arial"/>
                <a:ea typeface="Arial"/>
                <a:cs typeface="Arial"/>
              </a:defRPr>
            </a:lvl1pPr>
            <a:lvl2pPr>
              <a:defRPr sz="2850" b="1">
                <a:solidFill>
                  <a:srgbClr val="213F4C"/>
                </a:solidFill>
                <a:latin typeface="Arial"/>
                <a:ea typeface="Arial"/>
                <a:cs typeface="Arial"/>
              </a:defRPr>
            </a:lvl2pPr>
            <a:lvl3pPr>
              <a:defRPr sz="2850" b="1">
                <a:solidFill>
                  <a:srgbClr val="213F4C"/>
                </a:solidFill>
                <a:latin typeface="Arial"/>
                <a:ea typeface="Arial"/>
                <a:cs typeface="Arial"/>
              </a:defRPr>
            </a:lvl3pPr>
            <a:lvl4pPr>
              <a:defRPr sz="2850" b="1">
                <a:solidFill>
                  <a:srgbClr val="213F4C"/>
                </a:solidFill>
                <a:latin typeface="Arial"/>
                <a:ea typeface="Arial"/>
                <a:cs typeface="Arial"/>
              </a:defRPr>
            </a:lvl4pPr>
            <a:lvl5pPr>
              <a:defRPr sz="2850" b="1">
                <a:solidFill>
                  <a:srgbClr val="213F4C"/>
                </a:solidFill>
                <a:latin typeface="Arial"/>
                <a:ea typeface="Arial"/>
                <a:cs typeface="Arial"/>
              </a:defRPr>
            </a:lvl5pPr>
            <a:lvl6pPr>
              <a:defRPr sz="2850" b="1">
                <a:solidFill>
                  <a:srgbClr val="213F4C"/>
                </a:solidFill>
                <a:latin typeface="Arial"/>
                <a:ea typeface="Arial"/>
                <a:cs typeface="Arial"/>
              </a:defRPr>
            </a:lvl6pPr>
            <a:lvl7pPr>
              <a:defRPr sz="2850" b="1">
                <a:solidFill>
                  <a:srgbClr val="213F4C"/>
                </a:solidFill>
                <a:latin typeface="Arial"/>
                <a:ea typeface="Arial"/>
                <a:cs typeface="Arial"/>
              </a:defRPr>
            </a:lvl7pPr>
            <a:lvl8pPr>
              <a:defRPr sz="2850" b="1">
                <a:solidFill>
                  <a:srgbClr val="213F4C"/>
                </a:solidFill>
                <a:latin typeface="Arial"/>
                <a:ea typeface="Arial"/>
                <a:cs typeface="Arial"/>
              </a:defRPr>
            </a:lvl8pPr>
            <a:lvl9pPr>
              <a:defRPr sz="2850" b="1">
                <a:solidFill>
                  <a:srgbClr val="213F4C"/>
                </a:solidFill>
                <a:latin typeface="Arial"/>
                <a:ea typeface="Arial"/>
                <a:cs typeface="Arial"/>
              </a:defRPr>
            </a:lvl9pPr>
          </a:lstStyle>
          <a:p xmlns:a="http://schemas.openxmlformats.org/drawingml/2006/main">
            <a:pPr>
              <a:defRPr sz="2850" b="1">
                <a:solidFill>
                  <a:srgbClr val="213F4C"/>
                </a:solidFill>
                <a:latin typeface="Arial"/>
                <a:ea typeface="Arial"/>
                <a:cs typeface="Arial"/>
              </a:defRPr>
            </a:pPr>
            <a:r>
              <a:rPr sz="2850" b="1">
                <a:solidFill>
                  <a:srgbClr val="213F4C"/>
                </a:solidFill>
                <a:latin typeface="Arial"/>
                <a:ea typeface="Arial"/>
                <a:cs typeface="Arial"/>
              </a:rPr>
              <a:t>The same Eiffel geometry reaches ordinary USD consumers</a:t>
            </a:r>
          </a:p>
        </p:txBody>
      </p:sp>
      <p:pic>
        <p:nvPicPr>
          <p:cNvPr id="2" name="">
            <a:extLst xmlns:a="http://schemas.openxmlformats.org/drawingml/2006/main">
              <a:ext uri="{FF2B5EF4-FFF2-40B4-BE49-F238E27FC236}">
                <a16:creationId xmlns:a16="http://schemas.microsoft.com/office/drawing/2014/main" id="{CD3F5056-0625-44C2-8F8C-29CFE13C7036}"/>
              </a:ext>
            </a:extLst>
          </p:cNvPr>
          <p:cNvPicPr>
            <a:picLocks xmlns:a="http://schemas.openxmlformats.org/drawingml/2006/main" noChangeAspect="1"/>
          </p:cNvPicPr>
          <p:nvPr/>
        </p:nvPicPr>
        <p:blipFill>
          <a:blip xmlns:r="http://schemas.openxmlformats.org/officeDocument/2006/relationships" xmlns:a="http://schemas.openxmlformats.org/drawingml/2006/main" r:embed="R6af42d70e8c84ec5"/>
          <a:stretch xmlns:a="http://schemas.openxmlformats.org/drawingml/2006/main"/>
        </p:blipFill>
        <p:spPr>
          <a:xfrm xmlns:a="http://schemas.openxmlformats.org/drawingml/2006/main">
            <a:off x="609600" y="1441132"/>
            <a:ext cx="10972800" cy="45948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ED5630B-0625-4021-9CB7-2908882FE8B0}"/>
              </a:ext>
            </a:extLst>
          </p:cNvPr>
          <p:cNvSpPr>
            <a:spLocks xmlns:a="http://schemas.openxmlformats.org/drawingml/2006/main" noGrp="1"/>
          </p:cNvSpPr>
          <p:nvPr/>
        </p:nvSpPr>
        <p:spPr>
          <a:xfrm xmlns:a="http://schemas.openxmlformats.org/drawingml/2006/main">
            <a:off x="609600" y="62293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C75"/>
                </a:solidFill>
                <a:latin typeface="Arial"/>
                <a:ea typeface="Arial"/>
                <a:cs typeface="Arial"/>
              </a:defRPr>
            </a:defPPr>
            <a:lvl1pPr>
              <a:defRPr sz="1275" b="0">
                <a:solidFill>
                  <a:srgbClr val="526C75"/>
                </a:solidFill>
                <a:latin typeface="Arial"/>
                <a:ea typeface="Arial"/>
                <a:cs typeface="Arial"/>
              </a:defRPr>
            </a:lvl1pPr>
            <a:lvl2pPr>
              <a:defRPr sz="1275" b="0">
                <a:solidFill>
                  <a:srgbClr val="526C75"/>
                </a:solidFill>
                <a:latin typeface="Arial"/>
                <a:ea typeface="Arial"/>
                <a:cs typeface="Arial"/>
              </a:defRPr>
            </a:lvl2pPr>
            <a:lvl3pPr>
              <a:defRPr sz="1275" b="0">
                <a:solidFill>
                  <a:srgbClr val="526C75"/>
                </a:solidFill>
                <a:latin typeface="Arial"/>
                <a:ea typeface="Arial"/>
                <a:cs typeface="Arial"/>
              </a:defRPr>
            </a:lvl3pPr>
            <a:lvl4pPr>
              <a:defRPr sz="1275" b="0">
                <a:solidFill>
                  <a:srgbClr val="526C75"/>
                </a:solidFill>
                <a:latin typeface="Arial"/>
                <a:ea typeface="Arial"/>
                <a:cs typeface="Arial"/>
              </a:defRPr>
            </a:lvl4pPr>
            <a:lvl5pPr>
              <a:defRPr sz="1275" b="0">
                <a:solidFill>
                  <a:srgbClr val="526C75"/>
                </a:solidFill>
                <a:latin typeface="Arial"/>
                <a:ea typeface="Arial"/>
                <a:cs typeface="Arial"/>
              </a:defRPr>
            </a:lvl5pPr>
            <a:lvl6pPr>
              <a:defRPr sz="1275" b="0">
                <a:solidFill>
                  <a:srgbClr val="526C75"/>
                </a:solidFill>
                <a:latin typeface="Arial"/>
                <a:ea typeface="Arial"/>
                <a:cs typeface="Arial"/>
              </a:defRPr>
            </a:lvl6pPr>
            <a:lvl7pPr>
              <a:defRPr sz="1275" b="0">
                <a:solidFill>
                  <a:srgbClr val="526C75"/>
                </a:solidFill>
                <a:latin typeface="Arial"/>
                <a:ea typeface="Arial"/>
                <a:cs typeface="Arial"/>
              </a:defRPr>
            </a:lvl7pPr>
            <a:lvl8pPr>
              <a:defRPr sz="1275" b="0">
                <a:solidFill>
                  <a:srgbClr val="526C75"/>
                </a:solidFill>
                <a:latin typeface="Arial"/>
                <a:ea typeface="Arial"/>
                <a:cs typeface="Arial"/>
              </a:defRPr>
            </a:lvl8pPr>
            <a:lvl9pPr>
              <a:defRPr sz="1275" b="0">
                <a:solidFill>
                  <a:srgbClr val="526C75"/>
                </a:solidFill>
                <a:latin typeface="Arial"/>
                <a:ea typeface="Arial"/>
                <a:cs typeface="Arial"/>
              </a:defRPr>
            </a:lvl9pPr>
          </a:lstStyle>
          <a:p xmlns:a="http://schemas.openxmlformats.org/drawingml/2006/main">
            <a:pPr>
              <a:defRPr sz="1275" b="0">
                <a:solidFill>
                  <a:srgbClr val="526C75"/>
                </a:solidFill>
                <a:latin typeface="Arial"/>
                <a:ea typeface="Arial"/>
                <a:cs typeface="Arial"/>
              </a:defRPr>
            </a:pPr>
            <a:r>
              <a:rPr sz="1275" b="0">
                <a:solidFill>
                  <a:srgbClr val="526C75"/>
                </a:solidFill>
                <a:latin typeface="Arial"/>
                <a:ea typeface="Arial"/>
                <a:cs typeface="Arial"/>
              </a:rPr>
              <a:t>Authored placement, then USD adjustment. Tower: SDC PERFORMANCE, CC BY 4.0 (modified). Both readers use PROJ.</a:t>
            </a:r>
          </a:p>
        </p:txBody>
      </p:sp>
      <p:sp>
        <p:nvSpPr>
          <p:cNvPr id="4" name="">
            <a:extLst xmlns:a="http://schemas.openxmlformats.org/drawingml/2006/main">
              <a:ext uri="{FF2B5EF4-FFF2-40B4-BE49-F238E27FC236}">
                <a16:creationId xmlns:a16="http://schemas.microsoft.com/office/drawing/2014/main" id="{12EF8F2F-2F0F-4229-BDB8-3D0CA0B467F6}"/>
              </a:ext>
            </a:extLst>
          </p:cNvPr>
          <p:cNvSpPr>
            <a:spLocks xmlns:a="http://schemas.openxmlformats.org/drawingml/2006/main" noGrp="1"/>
          </p:cNvSpPr>
          <p:nvPr/>
        </p:nvSpPr>
        <p:spPr>
          <a:xfrm xmlns:a="http://schemas.openxmlformats.org/drawingml/2006/main">
            <a:off x="11353800" y="6324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C75"/>
                </a:solidFill>
                <a:latin typeface="Arial"/>
                <a:ea typeface="Arial"/>
                <a:cs typeface="Arial"/>
              </a:defRPr>
            </a:defPPr>
            <a:lvl1pPr>
              <a:defRPr sz="1200" b="0">
                <a:solidFill>
                  <a:srgbClr val="526C75"/>
                </a:solidFill>
                <a:latin typeface="Arial"/>
                <a:ea typeface="Arial"/>
                <a:cs typeface="Arial"/>
              </a:defRPr>
            </a:lvl1pPr>
            <a:lvl2pPr>
              <a:defRPr sz="1200" b="0">
                <a:solidFill>
                  <a:srgbClr val="526C75"/>
                </a:solidFill>
                <a:latin typeface="Arial"/>
                <a:ea typeface="Arial"/>
                <a:cs typeface="Arial"/>
              </a:defRPr>
            </a:lvl2pPr>
            <a:lvl3pPr>
              <a:defRPr sz="1200" b="0">
                <a:solidFill>
                  <a:srgbClr val="526C75"/>
                </a:solidFill>
                <a:latin typeface="Arial"/>
                <a:ea typeface="Arial"/>
                <a:cs typeface="Arial"/>
              </a:defRPr>
            </a:lvl3pPr>
            <a:lvl4pPr>
              <a:defRPr sz="1200" b="0">
                <a:solidFill>
                  <a:srgbClr val="526C75"/>
                </a:solidFill>
                <a:latin typeface="Arial"/>
                <a:ea typeface="Arial"/>
                <a:cs typeface="Arial"/>
              </a:defRPr>
            </a:lvl4pPr>
            <a:lvl5pPr>
              <a:defRPr sz="1200" b="0">
                <a:solidFill>
                  <a:srgbClr val="526C75"/>
                </a:solidFill>
                <a:latin typeface="Arial"/>
                <a:ea typeface="Arial"/>
                <a:cs typeface="Arial"/>
              </a:defRPr>
            </a:lvl5pPr>
            <a:lvl6pPr>
              <a:defRPr sz="1200" b="0">
                <a:solidFill>
                  <a:srgbClr val="526C75"/>
                </a:solidFill>
                <a:latin typeface="Arial"/>
                <a:ea typeface="Arial"/>
                <a:cs typeface="Arial"/>
              </a:defRPr>
            </a:lvl6pPr>
            <a:lvl7pPr>
              <a:defRPr sz="1200" b="0">
                <a:solidFill>
                  <a:srgbClr val="526C75"/>
                </a:solidFill>
                <a:latin typeface="Arial"/>
                <a:ea typeface="Arial"/>
                <a:cs typeface="Arial"/>
              </a:defRPr>
            </a:lvl7pPr>
            <a:lvl8pPr>
              <a:defRPr sz="1200" b="0">
                <a:solidFill>
                  <a:srgbClr val="526C75"/>
                </a:solidFill>
                <a:latin typeface="Arial"/>
                <a:ea typeface="Arial"/>
                <a:cs typeface="Arial"/>
              </a:defRPr>
            </a:lvl8pPr>
            <a:lvl9pPr>
              <a:defRPr sz="1200" b="0">
                <a:solidFill>
                  <a:srgbClr val="526C75"/>
                </a:solidFill>
                <a:latin typeface="Arial"/>
                <a:ea typeface="Arial"/>
                <a:cs typeface="Arial"/>
              </a:defRPr>
            </a:lvl9pPr>
          </a:lstStyle>
          <a:p xmlns:a="http://schemas.openxmlformats.org/drawingml/2006/main">
            <a:pPr>
              <a:defRPr sz="1200" b="0">
                <a:solidFill>
                  <a:srgbClr val="526C75"/>
                </a:solidFill>
                <a:latin typeface="Arial"/>
                <a:ea typeface="Arial"/>
                <a:cs typeface="Arial"/>
              </a:defRPr>
            </a:pPr>
            <a:r>
              <a:rPr sz="1200" b="0">
                <a:solidFill>
                  <a:srgbClr val="526C75"/>
                </a:solidFill>
                <a:latin typeface="Arial"/>
                <a:ea typeface="Arial"/>
                <a:cs typeface="Arial"/>
              </a:rPr>
              <a:t>5</a:t>
            </a:r>
          </a:p>
        </p:txBody>
      </p:sp>
    </p:spTree>
    <p:extLst>
      <p:ext uri="{BB962C8B-B14F-4D97-AF65-F5344CB8AC3E}">
        <p14:creationId xmlns:p14="http://schemas.microsoft.com/office/powerpoint/2010/main" val="9943452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2EE2845-DF1A-4021-AB46-4E195C08A81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13F4C"/>
                </a:solidFill>
                <a:latin typeface="Arial"/>
                <a:ea typeface="Arial"/>
                <a:cs typeface="Arial"/>
              </a:defRPr>
            </a:defPPr>
            <a:lvl1pPr>
              <a:defRPr sz="2850" b="1">
                <a:solidFill>
                  <a:srgbClr val="213F4C"/>
                </a:solidFill>
                <a:latin typeface="Arial"/>
                <a:ea typeface="Arial"/>
                <a:cs typeface="Arial"/>
              </a:defRPr>
            </a:lvl1pPr>
            <a:lvl2pPr>
              <a:defRPr sz="2850" b="1">
                <a:solidFill>
                  <a:srgbClr val="213F4C"/>
                </a:solidFill>
                <a:latin typeface="Arial"/>
                <a:ea typeface="Arial"/>
                <a:cs typeface="Arial"/>
              </a:defRPr>
            </a:lvl2pPr>
            <a:lvl3pPr>
              <a:defRPr sz="2850" b="1">
                <a:solidFill>
                  <a:srgbClr val="213F4C"/>
                </a:solidFill>
                <a:latin typeface="Arial"/>
                <a:ea typeface="Arial"/>
                <a:cs typeface="Arial"/>
              </a:defRPr>
            </a:lvl3pPr>
            <a:lvl4pPr>
              <a:defRPr sz="2850" b="1">
                <a:solidFill>
                  <a:srgbClr val="213F4C"/>
                </a:solidFill>
                <a:latin typeface="Arial"/>
                <a:ea typeface="Arial"/>
                <a:cs typeface="Arial"/>
              </a:defRPr>
            </a:lvl4pPr>
            <a:lvl5pPr>
              <a:defRPr sz="2850" b="1">
                <a:solidFill>
                  <a:srgbClr val="213F4C"/>
                </a:solidFill>
                <a:latin typeface="Arial"/>
                <a:ea typeface="Arial"/>
                <a:cs typeface="Arial"/>
              </a:defRPr>
            </a:lvl5pPr>
            <a:lvl6pPr>
              <a:defRPr sz="2850" b="1">
                <a:solidFill>
                  <a:srgbClr val="213F4C"/>
                </a:solidFill>
                <a:latin typeface="Arial"/>
                <a:ea typeface="Arial"/>
                <a:cs typeface="Arial"/>
              </a:defRPr>
            </a:lvl6pPr>
            <a:lvl7pPr>
              <a:defRPr sz="2850" b="1">
                <a:solidFill>
                  <a:srgbClr val="213F4C"/>
                </a:solidFill>
                <a:latin typeface="Arial"/>
                <a:ea typeface="Arial"/>
                <a:cs typeface="Arial"/>
              </a:defRPr>
            </a:lvl7pPr>
            <a:lvl8pPr>
              <a:defRPr sz="2850" b="1">
                <a:solidFill>
                  <a:srgbClr val="213F4C"/>
                </a:solidFill>
                <a:latin typeface="Arial"/>
                <a:ea typeface="Arial"/>
                <a:cs typeface="Arial"/>
              </a:defRPr>
            </a:lvl8pPr>
            <a:lvl9pPr>
              <a:defRPr sz="2850" b="1">
                <a:solidFill>
                  <a:srgbClr val="213F4C"/>
                </a:solidFill>
                <a:latin typeface="Arial"/>
                <a:ea typeface="Arial"/>
                <a:cs typeface="Arial"/>
              </a:defRPr>
            </a:lvl9pPr>
          </a:lstStyle>
          <a:p xmlns:a="http://schemas.openxmlformats.org/drawingml/2006/main">
            <a:pPr>
              <a:defRPr sz="2850" b="1">
                <a:solidFill>
                  <a:srgbClr val="213F4C"/>
                </a:solidFill>
                <a:latin typeface="Arial"/>
                <a:ea typeface="Arial"/>
                <a:cs typeface="Arial"/>
              </a:defRPr>
            </a:pPr>
            <a:r>
              <a:rPr sz="2850" b="1">
                <a:solidFill>
                  <a:srgbClr val="213F4C"/>
                </a:solidFill>
                <a:latin typeface="Arial"/>
                <a:ea typeface="Arial"/>
                <a:cs typeface="Arial"/>
              </a:rPr>
              <a:t>The original railway remains useful as data</a:t>
            </a:r>
          </a:p>
        </p:txBody>
      </p:sp>
      <p:sp>
        <p:nvSpPr>
          <p:cNvPr id="2" name="">
            <a:extLst xmlns:a="http://schemas.openxmlformats.org/drawingml/2006/main">
              <a:ext uri="{FF2B5EF4-FFF2-40B4-BE49-F238E27FC236}">
                <a16:creationId xmlns:a16="http://schemas.microsoft.com/office/drawing/2014/main" id="{A400D430-30DE-4D67-9CA5-82F9F2BD64DF}"/>
              </a:ext>
            </a:extLst>
          </p:cNvPr>
          <p:cNvSpPr>
            <a:spLocks xmlns:a="http://schemas.openxmlformats.org/drawingml/2006/main" noGrp="1"/>
          </p:cNvSpPr>
          <p:nvPr/>
        </p:nvSpPr>
        <p:spPr>
          <a:xfrm xmlns:a="http://schemas.openxmlformats.org/drawingml/2006/main">
            <a:off x="609600" y="135255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84653"/>
                </a:solidFill>
                <a:latin typeface="Arial"/>
                <a:ea typeface="Arial"/>
                <a:cs typeface="Arial"/>
              </a:defRPr>
            </a:defPPr>
            <a:lvl1pPr>
              <a:defRPr sz="1875" b="0">
                <a:solidFill>
                  <a:srgbClr val="284653"/>
                </a:solidFill>
                <a:latin typeface="Arial"/>
                <a:ea typeface="Arial"/>
                <a:cs typeface="Arial"/>
              </a:defRPr>
            </a:lvl1pPr>
            <a:lvl2pPr>
              <a:defRPr sz="1875" b="0">
                <a:solidFill>
                  <a:srgbClr val="284653"/>
                </a:solidFill>
                <a:latin typeface="Arial"/>
                <a:ea typeface="Arial"/>
                <a:cs typeface="Arial"/>
              </a:defRPr>
            </a:lvl2pPr>
            <a:lvl3pPr>
              <a:defRPr sz="1875" b="0">
                <a:solidFill>
                  <a:srgbClr val="284653"/>
                </a:solidFill>
                <a:latin typeface="Arial"/>
                <a:ea typeface="Arial"/>
                <a:cs typeface="Arial"/>
              </a:defRPr>
            </a:lvl3pPr>
            <a:lvl4pPr>
              <a:defRPr sz="1875" b="0">
                <a:solidFill>
                  <a:srgbClr val="284653"/>
                </a:solidFill>
                <a:latin typeface="Arial"/>
                <a:ea typeface="Arial"/>
                <a:cs typeface="Arial"/>
              </a:defRPr>
            </a:lvl4pPr>
            <a:lvl5pPr>
              <a:defRPr sz="1875" b="0">
                <a:solidFill>
                  <a:srgbClr val="284653"/>
                </a:solidFill>
                <a:latin typeface="Arial"/>
                <a:ea typeface="Arial"/>
                <a:cs typeface="Arial"/>
              </a:defRPr>
            </a:lvl5pPr>
            <a:lvl6pPr>
              <a:defRPr sz="1875" b="0">
                <a:solidFill>
                  <a:srgbClr val="284653"/>
                </a:solidFill>
                <a:latin typeface="Arial"/>
                <a:ea typeface="Arial"/>
                <a:cs typeface="Arial"/>
              </a:defRPr>
            </a:lvl6pPr>
            <a:lvl7pPr>
              <a:defRPr sz="1875" b="0">
                <a:solidFill>
                  <a:srgbClr val="284653"/>
                </a:solidFill>
                <a:latin typeface="Arial"/>
                <a:ea typeface="Arial"/>
                <a:cs typeface="Arial"/>
              </a:defRPr>
            </a:lvl7pPr>
            <a:lvl8pPr>
              <a:defRPr sz="1875" b="0">
                <a:solidFill>
                  <a:srgbClr val="284653"/>
                </a:solidFill>
                <a:latin typeface="Arial"/>
                <a:ea typeface="Arial"/>
                <a:cs typeface="Arial"/>
              </a:defRPr>
            </a:lvl8pPr>
            <a:lvl9pPr>
              <a:defRPr sz="1875" b="0">
                <a:solidFill>
                  <a:srgbClr val="284653"/>
                </a:solidFill>
                <a:latin typeface="Arial"/>
                <a:ea typeface="Arial"/>
                <a:cs typeface="Arial"/>
              </a:defRPr>
            </a:lvl9pPr>
          </a:lstStyle>
          <a:p xmlns:a="http://schemas.openxmlformats.org/drawingml/2006/main">
            <a:pPr>
              <a:defRPr sz="1875" b="0">
                <a:solidFill>
                  <a:srgbClr val="284653"/>
                </a:solidFill>
                <a:latin typeface="Arial"/>
                <a:ea typeface="Arial"/>
                <a:cs typeface="Arial"/>
              </a:defRPr>
            </a:pPr>
            <a:r>
              <a:rPr sz="1875" b="0">
                <a:solidFill>
                  <a:srgbClr val="284653"/>
                </a:solidFill>
                <a:latin typeface="Arial"/>
                <a:ea typeface="Arial"/>
                <a:cs typeface="Arial"/>
              </a:rPr>
              <a:t>Both readers resolve the same 15,822 railway positions and retain feature/geometry indices. The visualization uses those positions and preserves separate line sequences. A consumer can obtain coordinates and feature values without constructing renderable geometry, then ask for another supported output CRS.</a:t>
            </a:r>
          </a:p>
        </p:txBody>
      </p:sp>
      <p:pic>
        <p:nvPicPr>
          <p:cNvPr id="3" name="">
            <a:extLst xmlns:a="http://schemas.openxmlformats.org/drawingml/2006/main">
              <a:ext uri="{FF2B5EF4-FFF2-40B4-BE49-F238E27FC236}">
                <a16:creationId xmlns:a16="http://schemas.microsoft.com/office/drawing/2014/main" id="{2804C4C9-393E-495F-813A-91C1CF6EA809}"/>
              </a:ext>
            </a:extLst>
          </p:cNvPr>
          <p:cNvPicPr>
            <a:picLocks xmlns:a="http://schemas.openxmlformats.org/drawingml/2006/main" noChangeAspect="1"/>
          </p:cNvPicPr>
          <p:nvPr/>
        </p:nvPicPr>
        <p:blipFill>
          <a:blip xmlns:r="http://schemas.openxmlformats.org/officeDocument/2006/relationships" xmlns:a="http://schemas.openxmlformats.org/drawingml/2006/main" r:embed="R70ead8d0aee64f31"/>
          <a:stretch xmlns:a="http://schemas.openxmlformats.org/drawingml/2006/main"/>
        </p:blipFill>
        <p:spPr>
          <a:xfrm xmlns:a="http://schemas.openxmlformats.org/drawingml/2006/main">
            <a:off x="2899172" y="2571750"/>
            <a:ext cx="6393656" cy="3409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132BA59-FDE3-4EC7-902E-0E459CBBE0CE}"/>
              </a:ext>
            </a:extLst>
          </p:cNvPr>
          <p:cNvSpPr>
            <a:spLocks xmlns:a="http://schemas.openxmlformats.org/drawingml/2006/main" noGrp="1"/>
          </p:cNvSpPr>
          <p:nvPr/>
        </p:nvSpPr>
        <p:spPr>
          <a:xfrm xmlns:a="http://schemas.openxmlformats.org/drawingml/2006/main">
            <a:off x="609600" y="62293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C75"/>
                </a:solidFill>
                <a:latin typeface="Arial"/>
                <a:ea typeface="Arial"/>
                <a:cs typeface="Arial"/>
              </a:defRPr>
            </a:defPPr>
            <a:lvl1pPr>
              <a:defRPr sz="1275" b="0">
                <a:solidFill>
                  <a:srgbClr val="526C75"/>
                </a:solidFill>
                <a:latin typeface="Arial"/>
                <a:ea typeface="Arial"/>
                <a:cs typeface="Arial"/>
              </a:defRPr>
            </a:lvl1pPr>
            <a:lvl2pPr>
              <a:defRPr sz="1275" b="0">
                <a:solidFill>
                  <a:srgbClr val="526C75"/>
                </a:solidFill>
                <a:latin typeface="Arial"/>
                <a:ea typeface="Arial"/>
                <a:cs typeface="Arial"/>
              </a:defRPr>
            </a:lvl2pPr>
            <a:lvl3pPr>
              <a:defRPr sz="1275" b="0">
                <a:solidFill>
                  <a:srgbClr val="526C75"/>
                </a:solidFill>
                <a:latin typeface="Arial"/>
                <a:ea typeface="Arial"/>
                <a:cs typeface="Arial"/>
              </a:defRPr>
            </a:lvl3pPr>
            <a:lvl4pPr>
              <a:defRPr sz="1275" b="0">
                <a:solidFill>
                  <a:srgbClr val="526C75"/>
                </a:solidFill>
                <a:latin typeface="Arial"/>
                <a:ea typeface="Arial"/>
                <a:cs typeface="Arial"/>
              </a:defRPr>
            </a:lvl4pPr>
            <a:lvl5pPr>
              <a:defRPr sz="1275" b="0">
                <a:solidFill>
                  <a:srgbClr val="526C75"/>
                </a:solidFill>
                <a:latin typeface="Arial"/>
                <a:ea typeface="Arial"/>
                <a:cs typeface="Arial"/>
              </a:defRPr>
            </a:lvl5pPr>
            <a:lvl6pPr>
              <a:defRPr sz="1275" b="0">
                <a:solidFill>
                  <a:srgbClr val="526C75"/>
                </a:solidFill>
                <a:latin typeface="Arial"/>
                <a:ea typeface="Arial"/>
                <a:cs typeface="Arial"/>
              </a:defRPr>
            </a:lvl6pPr>
            <a:lvl7pPr>
              <a:defRPr sz="1275" b="0">
                <a:solidFill>
                  <a:srgbClr val="526C75"/>
                </a:solidFill>
                <a:latin typeface="Arial"/>
                <a:ea typeface="Arial"/>
                <a:cs typeface="Arial"/>
              </a:defRPr>
            </a:lvl7pPr>
            <a:lvl8pPr>
              <a:defRPr sz="1275" b="0">
                <a:solidFill>
                  <a:srgbClr val="526C75"/>
                </a:solidFill>
                <a:latin typeface="Arial"/>
                <a:ea typeface="Arial"/>
                <a:cs typeface="Arial"/>
              </a:defRPr>
            </a:lvl8pPr>
            <a:lvl9pPr>
              <a:defRPr sz="1275" b="0">
                <a:solidFill>
                  <a:srgbClr val="526C75"/>
                </a:solidFill>
                <a:latin typeface="Arial"/>
                <a:ea typeface="Arial"/>
                <a:cs typeface="Arial"/>
              </a:defRPr>
            </a:lvl9pPr>
          </a:lstStyle>
          <a:p xmlns:a="http://schemas.openxmlformats.org/drawingml/2006/main">
            <a:pPr>
              <a:defRPr sz="1275" b="0">
                <a:solidFill>
                  <a:srgbClr val="526C75"/>
                </a:solidFill>
                <a:latin typeface="Arial"/>
                <a:ea typeface="Arial"/>
                <a:cs typeface="Arial"/>
              </a:defRPr>
            </a:pPr>
            <a:r>
              <a:rPr sz="1275" b="0">
                <a:solidFill>
                  <a:srgbClr val="526C75"/>
                </a:solidFill>
                <a:latin typeface="Arial"/>
                <a:ea typeface="Arial"/>
                <a:cs typeface="Arial"/>
              </a:rPr>
              <a:t>The selected RFC 7946 association defines height interpretation; the legacy source labels horizontal WGS 84.</a:t>
            </a:r>
          </a:p>
        </p:txBody>
      </p:sp>
      <p:sp>
        <p:nvSpPr>
          <p:cNvPr id="5" name="">
            <a:extLst xmlns:a="http://schemas.openxmlformats.org/drawingml/2006/main">
              <a:ext uri="{FF2B5EF4-FFF2-40B4-BE49-F238E27FC236}">
                <a16:creationId xmlns:a16="http://schemas.microsoft.com/office/drawing/2014/main" id="{17C658E1-6BA0-4031-9B11-61FF40139C9C}"/>
              </a:ext>
            </a:extLst>
          </p:cNvPr>
          <p:cNvSpPr>
            <a:spLocks xmlns:a="http://schemas.openxmlformats.org/drawingml/2006/main" noGrp="1"/>
          </p:cNvSpPr>
          <p:nvPr/>
        </p:nvSpPr>
        <p:spPr>
          <a:xfrm xmlns:a="http://schemas.openxmlformats.org/drawingml/2006/main">
            <a:off x="11353800" y="6324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C75"/>
                </a:solidFill>
                <a:latin typeface="Arial"/>
                <a:ea typeface="Arial"/>
                <a:cs typeface="Arial"/>
              </a:defRPr>
            </a:defPPr>
            <a:lvl1pPr>
              <a:defRPr sz="1200" b="0">
                <a:solidFill>
                  <a:srgbClr val="526C75"/>
                </a:solidFill>
                <a:latin typeface="Arial"/>
                <a:ea typeface="Arial"/>
                <a:cs typeface="Arial"/>
              </a:defRPr>
            </a:lvl1pPr>
            <a:lvl2pPr>
              <a:defRPr sz="1200" b="0">
                <a:solidFill>
                  <a:srgbClr val="526C75"/>
                </a:solidFill>
                <a:latin typeface="Arial"/>
                <a:ea typeface="Arial"/>
                <a:cs typeface="Arial"/>
              </a:defRPr>
            </a:lvl2pPr>
            <a:lvl3pPr>
              <a:defRPr sz="1200" b="0">
                <a:solidFill>
                  <a:srgbClr val="526C75"/>
                </a:solidFill>
                <a:latin typeface="Arial"/>
                <a:ea typeface="Arial"/>
                <a:cs typeface="Arial"/>
              </a:defRPr>
            </a:lvl3pPr>
            <a:lvl4pPr>
              <a:defRPr sz="1200" b="0">
                <a:solidFill>
                  <a:srgbClr val="526C75"/>
                </a:solidFill>
                <a:latin typeface="Arial"/>
                <a:ea typeface="Arial"/>
                <a:cs typeface="Arial"/>
              </a:defRPr>
            </a:lvl4pPr>
            <a:lvl5pPr>
              <a:defRPr sz="1200" b="0">
                <a:solidFill>
                  <a:srgbClr val="526C75"/>
                </a:solidFill>
                <a:latin typeface="Arial"/>
                <a:ea typeface="Arial"/>
                <a:cs typeface="Arial"/>
              </a:defRPr>
            </a:lvl5pPr>
            <a:lvl6pPr>
              <a:defRPr sz="1200" b="0">
                <a:solidFill>
                  <a:srgbClr val="526C75"/>
                </a:solidFill>
                <a:latin typeface="Arial"/>
                <a:ea typeface="Arial"/>
                <a:cs typeface="Arial"/>
              </a:defRPr>
            </a:lvl6pPr>
            <a:lvl7pPr>
              <a:defRPr sz="1200" b="0">
                <a:solidFill>
                  <a:srgbClr val="526C75"/>
                </a:solidFill>
                <a:latin typeface="Arial"/>
                <a:ea typeface="Arial"/>
                <a:cs typeface="Arial"/>
              </a:defRPr>
            </a:lvl7pPr>
            <a:lvl8pPr>
              <a:defRPr sz="1200" b="0">
                <a:solidFill>
                  <a:srgbClr val="526C75"/>
                </a:solidFill>
                <a:latin typeface="Arial"/>
                <a:ea typeface="Arial"/>
                <a:cs typeface="Arial"/>
              </a:defRPr>
            </a:lvl8pPr>
            <a:lvl9pPr>
              <a:defRPr sz="1200" b="0">
                <a:solidFill>
                  <a:srgbClr val="526C75"/>
                </a:solidFill>
                <a:latin typeface="Arial"/>
                <a:ea typeface="Arial"/>
                <a:cs typeface="Arial"/>
              </a:defRPr>
            </a:lvl9pPr>
          </a:lstStyle>
          <a:p xmlns:a="http://schemas.openxmlformats.org/drawingml/2006/main">
            <a:pPr>
              <a:defRPr sz="1200" b="0">
                <a:solidFill>
                  <a:srgbClr val="526C75"/>
                </a:solidFill>
                <a:latin typeface="Arial"/>
                <a:ea typeface="Arial"/>
                <a:cs typeface="Arial"/>
              </a:defRPr>
            </a:pPr>
            <a:r>
              <a:rPr sz="1200" b="0">
                <a:solidFill>
                  <a:srgbClr val="526C75"/>
                </a:solidFill>
                <a:latin typeface="Arial"/>
                <a:ea typeface="Arial"/>
                <a:cs typeface="Arial"/>
              </a:rPr>
              <a:t>6</a:t>
            </a:r>
          </a:p>
        </p:txBody>
      </p:sp>
    </p:spTree>
    <p:extLst>
      <p:ext uri="{BB962C8B-B14F-4D97-AF65-F5344CB8AC3E}">
        <p14:creationId xmlns:p14="http://schemas.microsoft.com/office/powerpoint/2010/main" val="15942285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5B42AE-DADE-407B-BB1A-4BB6B129568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13F4C"/>
                </a:solidFill>
                <a:latin typeface="Arial"/>
                <a:ea typeface="Arial"/>
                <a:cs typeface="Arial"/>
              </a:defRPr>
            </a:defPPr>
            <a:lvl1pPr>
              <a:defRPr sz="2850" b="1">
                <a:solidFill>
                  <a:srgbClr val="213F4C"/>
                </a:solidFill>
                <a:latin typeface="Arial"/>
                <a:ea typeface="Arial"/>
                <a:cs typeface="Arial"/>
              </a:defRPr>
            </a:lvl1pPr>
            <a:lvl2pPr>
              <a:defRPr sz="2850" b="1">
                <a:solidFill>
                  <a:srgbClr val="213F4C"/>
                </a:solidFill>
                <a:latin typeface="Arial"/>
                <a:ea typeface="Arial"/>
                <a:cs typeface="Arial"/>
              </a:defRPr>
            </a:lvl2pPr>
            <a:lvl3pPr>
              <a:defRPr sz="2850" b="1">
                <a:solidFill>
                  <a:srgbClr val="213F4C"/>
                </a:solidFill>
                <a:latin typeface="Arial"/>
                <a:ea typeface="Arial"/>
                <a:cs typeface="Arial"/>
              </a:defRPr>
            </a:lvl3pPr>
            <a:lvl4pPr>
              <a:defRPr sz="2850" b="1">
                <a:solidFill>
                  <a:srgbClr val="213F4C"/>
                </a:solidFill>
                <a:latin typeface="Arial"/>
                <a:ea typeface="Arial"/>
                <a:cs typeface="Arial"/>
              </a:defRPr>
            </a:lvl4pPr>
            <a:lvl5pPr>
              <a:defRPr sz="2850" b="1">
                <a:solidFill>
                  <a:srgbClr val="213F4C"/>
                </a:solidFill>
                <a:latin typeface="Arial"/>
                <a:ea typeface="Arial"/>
                <a:cs typeface="Arial"/>
              </a:defRPr>
            </a:lvl5pPr>
            <a:lvl6pPr>
              <a:defRPr sz="2850" b="1">
                <a:solidFill>
                  <a:srgbClr val="213F4C"/>
                </a:solidFill>
                <a:latin typeface="Arial"/>
                <a:ea typeface="Arial"/>
                <a:cs typeface="Arial"/>
              </a:defRPr>
            </a:lvl6pPr>
            <a:lvl7pPr>
              <a:defRPr sz="2850" b="1">
                <a:solidFill>
                  <a:srgbClr val="213F4C"/>
                </a:solidFill>
                <a:latin typeface="Arial"/>
                <a:ea typeface="Arial"/>
                <a:cs typeface="Arial"/>
              </a:defRPr>
            </a:lvl7pPr>
            <a:lvl8pPr>
              <a:defRPr sz="2850" b="1">
                <a:solidFill>
                  <a:srgbClr val="213F4C"/>
                </a:solidFill>
                <a:latin typeface="Arial"/>
                <a:ea typeface="Arial"/>
                <a:cs typeface="Arial"/>
              </a:defRPr>
            </a:lvl8pPr>
            <a:lvl9pPr>
              <a:defRPr sz="2850" b="1">
                <a:solidFill>
                  <a:srgbClr val="213F4C"/>
                </a:solidFill>
                <a:latin typeface="Arial"/>
                <a:ea typeface="Arial"/>
                <a:cs typeface="Arial"/>
              </a:defRPr>
            </a:lvl9pPr>
          </a:lstStyle>
          <a:p xmlns:a="http://schemas.openxmlformats.org/drawingml/2006/main">
            <a:pPr>
              <a:defRPr sz="2850" b="1">
                <a:solidFill>
                  <a:srgbClr val="213F4C"/>
                </a:solidFill>
                <a:latin typeface="Arial"/>
                <a:ea typeface="Arial"/>
                <a:cs typeface="Arial"/>
              </a:defRPr>
            </a:pPr>
            <a:r>
              <a:rPr sz="2850" b="1">
                <a:solidFill>
                  <a:srgbClr val="213F4C"/>
                </a:solidFill>
                <a:latin typeface="Arial"/>
                <a:ea typeface="Arial"/>
                <a:cs typeface="Arial"/>
              </a:rPr>
              <a:t>Site calibration survives the data exchange</a:t>
            </a:r>
          </a:p>
        </p:txBody>
      </p:sp>
      <p:pic>
        <p:nvPicPr>
          <p:cNvPr id="2" name="">
            <a:extLst xmlns:a="http://schemas.openxmlformats.org/drawingml/2006/main">
              <a:ext uri="{FF2B5EF4-FFF2-40B4-BE49-F238E27FC236}">
                <a16:creationId xmlns:a16="http://schemas.microsoft.com/office/drawing/2014/main" id="{ACE0F8C7-6133-4859-838B-465535C0CB77}"/>
              </a:ext>
            </a:extLst>
          </p:cNvPr>
          <p:cNvPicPr>
            <a:picLocks xmlns:a="http://schemas.openxmlformats.org/drawingml/2006/main" noChangeAspect="1"/>
          </p:cNvPicPr>
          <p:nvPr/>
        </p:nvPicPr>
        <p:blipFill>
          <a:blip xmlns:r="http://schemas.openxmlformats.org/officeDocument/2006/relationships" xmlns:a="http://schemas.openxmlformats.org/drawingml/2006/main" r:embed="R5a5c47299f5d4fe5"/>
          <a:stretch xmlns:a="http://schemas.openxmlformats.org/drawingml/2006/main"/>
        </p:blipFill>
        <p:spPr>
          <a:xfrm xmlns:a="http://schemas.openxmlformats.org/drawingml/2006/main">
            <a:off x="880297" y="1524000"/>
            <a:ext cx="4602106" cy="44291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971DAD4-DD59-4145-8030-C8678DC3D46B}"/>
              </a:ext>
            </a:extLst>
          </p:cNvPr>
          <p:cNvSpPr>
            <a:spLocks xmlns:a="http://schemas.openxmlformats.org/drawingml/2006/main" noGrp="1"/>
          </p:cNvSpPr>
          <p:nvPr/>
        </p:nvSpPr>
        <p:spPr>
          <a:xfrm xmlns:a="http://schemas.openxmlformats.org/drawingml/2006/main">
            <a:off x="6286500" y="1733550"/>
            <a:ext cx="5295900" cy="396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84653"/>
                </a:solidFill>
                <a:latin typeface="Arial"/>
                <a:ea typeface="Arial"/>
                <a:cs typeface="Arial"/>
              </a:defRPr>
            </a:defPPr>
            <a:lvl1pPr>
              <a:defRPr sz="2100" b="0">
                <a:solidFill>
                  <a:srgbClr val="284653"/>
                </a:solidFill>
                <a:latin typeface="Arial"/>
                <a:ea typeface="Arial"/>
                <a:cs typeface="Arial"/>
              </a:defRPr>
            </a:lvl1pPr>
            <a:lvl2pPr>
              <a:defRPr sz="2100" b="0">
                <a:solidFill>
                  <a:srgbClr val="284653"/>
                </a:solidFill>
                <a:latin typeface="Arial"/>
                <a:ea typeface="Arial"/>
                <a:cs typeface="Arial"/>
              </a:defRPr>
            </a:lvl2pPr>
            <a:lvl3pPr>
              <a:defRPr sz="2100" b="0">
                <a:solidFill>
                  <a:srgbClr val="284653"/>
                </a:solidFill>
                <a:latin typeface="Arial"/>
                <a:ea typeface="Arial"/>
                <a:cs typeface="Arial"/>
              </a:defRPr>
            </a:lvl3pPr>
            <a:lvl4pPr>
              <a:defRPr sz="2100" b="0">
                <a:solidFill>
                  <a:srgbClr val="284653"/>
                </a:solidFill>
                <a:latin typeface="Arial"/>
                <a:ea typeface="Arial"/>
                <a:cs typeface="Arial"/>
              </a:defRPr>
            </a:lvl4pPr>
            <a:lvl5pPr>
              <a:defRPr sz="2100" b="0">
                <a:solidFill>
                  <a:srgbClr val="284653"/>
                </a:solidFill>
                <a:latin typeface="Arial"/>
                <a:ea typeface="Arial"/>
                <a:cs typeface="Arial"/>
              </a:defRPr>
            </a:lvl5pPr>
            <a:lvl6pPr>
              <a:defRPr sz="2100" b="0">
                <a:solidFill>
                  <a:srgbClr val="284653"/>
                </a:solidFill>
                <a:latin typeface="Arial"/>
                <a:ea typeface="Arial"/>
                <a:cs typeface="Arial"/>
              </a:defRPr>
            </a:lvl6pPr>
            <a:lvl7pPr>
              <a:defRPr sz="2100" b="0">
                <a:solidFill>
                  <a:srgbClr val="284653"/>
                </a:solidFill>
                <a:latin typeface="Arial"/>
                <a:ea typeface="Arial"/>
                <a:cs typeface="Arial"/>
              </a:defRPr>
            </a:lvl7pPr>
            <a:lvl8pPr>
              <a:defRPr sz="2100" b="0">
                <a:solidFill>
                  <a:srgbClr val="284653"/>
                </a:solidFill>
                <a:latin typeface="Arial"/>
                <a:ea typeface="Arial"/>
                <a:cs typeface="Arial"/>
              </a:defRPr>
            </a:lvl8pPr>
            <a:lvl9pPr>
              <a:defRPr sz="2100" b="0">
                <a:solidFill>
                  <a:srgbClr val="284653"/>
                </a:solidFill>
                <a:latin typeface="Arial"/>
                <a:ea typeface="Arial"/>
                <a:cs typeface="Arial"/>
              </a:defRPr>
            </a:lvl9pPr>
          </a:lstStyle>
          <a:p xmlns:a="http://schemas.openxmlformats.org/drawingml/2006/main">
            <a:pPr>
              <a:defRPr sz="2100" b="0">
                <a:solidFill>
                  <a:srgbClr val="284653"/>
                </a:solidFill>
                <a:latin typeface="Arial"/>
                <a:ea typeface="Arial"/>
                <a:cs typeface="Arial"/>
              </a:defRPr>
            </a:pPr>
            <a:r>
              <a:rPr sz="2100" b="0">
                <a:solidFill>
                  <a:srgbClr val="284653"/>
                </a:solidFill>
                <a:latin typeface="Arial"/>
                <a:ea typeface="Arial"/>
                <a:cs typeface="Arial"/>
              </a:rPr>
              <a:t>The original Westminster data contributes 14,359 polyline positions, including 13,899 breakline points. Both readers retain the calibrated site's full WKT and US survey feet while converting the same records to the State Plane context. Horizontal and vertical calibration remain CRS meaning, separate from object placement.</a:t>
            </a:r>
          </a:p>
        </p:txBody>
      </p:sp>
      <p:sp>
        <p:nvSpPr>
          <p:cNvPr id="4" name="">
            <a:extLst xmlns:a="http://schemas.openxmlformats.org/drawingml/2006/main">
              <a:ext uri="{FF2B5EF4-FFF2-40B4-BE49-F238E27FC236}">
                <a16:creationId xmlns:a16="http://schemas.microsoft.com/office/drawing/2014/main" id="{EA6A8F96-15B2-460F-8409-D26389211AFE}"/>
              </a:ext>
            </a:extLst>
          </p:cNvPr>
          <p:cNvSpPr>
            <a:spLocks xmlns:a="http://schemas.openxmlformats.org/drawingml/2006/main" noGrp="1"/>
          </p:cNvSpPr>
          <p:nvPr/>
        </p:nvSpPr>
        <p:spPr>
          <a:xfrm xmlns:a="http://schemas.openxmlformats.org/drawingml/2006/main">
            <a:off x="609600" y="62293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C75"/>
                </a:solidFill>
                <a:latin typeface="Arial"/>
                <a:ea typeface="Arial"/>
                <a:cs typeface="Arial"/>
              </a:defRPr>
            </a:defPPr>
            <a:lvl1pPr>
              <a:defRPr sz="1275" b="0">
                <a:solidFill>
                  <a:srgbClr val="526C75"/>
                </a:solidFill>
                <a:latin typeface="Arial"/>
                <a:ea typeface="Arial"/>
                <a:cs typeface="Arial"/>
              </a:defRPr>
            </a:lvl1pPr>
            <a:lvl2pPr>
              <a:defRPr sz="1275" b="0">
                <a:solidFill>
                  <a:srgbClr val="526C75"/>
                </a:solidFill>
                <a:latin typeface="Arial"/>
                <a:ea typeface="Arial"/>
                <a:cs typeface="Arial"/>
              </a:defRPr>
            </a:lvl2pPr>
            <a:lvl3pPr>
              <a:defRPr sz="1275" b="0">
                <a:solidFill>
                  <a:srgbClr val="526C75"/>
                </a:solidFill>
                <a:latin typeface="Arial"/>
                <a:ea typeface="Arial"/>
                <a:cs typeface="Arial"/>
              </a:defRPr>
            </a:lvl3pPr>
            <a:lvl4pPr>
              <a:defRPr sz="1275" b="0">
                <a:solidFill>
                  <a:srgbClr val="526C75"/>
                </a:solidFill>
                <a:latin typeface="Arial"/>
                <a:ea typeface="Arial"/>
                <a:cs typeface="Arial"/>
              </a:defRPr>
            </a:lvl4pPr>
            <a:lvl5pPr>
              <a:defRPr sz="1275" b="0">
                <a:solidFill>
                  <a:srgbClr val="526C75"/>
                </a:solidFill>
                <a:latin typeface="Arial"/>
                <a:ea typeface="Arial"/>
                <a:cs typeface="Arial"/>
              </a:defRPr>
            </a:lvl5pPr>
            <a:lvl6pPr>
              <a:defRPr sz="1275" b="0">
                <a:solidFill>
                  <a:srgbClr val="526C75"/>
                </a:solidFill>
                <a:latin typeface="Arial"/>
                <a:ea typeface="Arial"/>
                <a:cs typeface="Arial"/>
              </a:defRPr>
            </a:lvl6pPr>
            <a:lvl7pPr>
              <a:defRPr sz="1275" b="0">
                <a:solidFill>
                  <a:srgbClr val="526C75"/>
                </a:solidFill>
                <a:latin typeface="Arial"/>
                <a:ea typeface="Arial"/>
                <a:cs typeface="Arial"/>
              </a:defRPr>
            </a:lvl7pPr>
            <a:lvl8pPr>
              <a:defRPr sz="1275" b="0">
                <a:solidFill>
                  <a:srgbClr val="526C75"/>
                </a:solidFill>
                <a:latin typeface="Arial"/>
                <a:ea typeface="Arial"/>
                <a:cs typeface="Arial"/>
              </a:defRPr>
            </a:lvl8pPr>
            <a:lvl9pPr>
              <a:defRPr sz="1275" b="0">
                <a:solidFill>
                  <a:srgbClr val="526C75"/>
                </a:solidFill>
                <a:latin typeface="Arial"/>
                <a:ea typeface="Arial"/>
                <a:cs typeface="Arial"/>
              </a:defRPr>
            </a:lvl9pPr>
          </a:lstStyle>
          <a:p xmlns:a="http://schemas.openxmlformats.org/drawingml/2006/main">
            <a:pPr>
              <a:defRPr sz="1275" b="0">
                <a:solidFill>
                  <a:srgbClr val="526C75"/>
                </a:solidFill>
                <a:latin typeface="Arial"/>
                <a:ea typeface="Arial"/>
                <a:cs typeface="Arial"/>
              </a:defRPr>
            </a:pPr>
            <a:r>
              <a:rPr sz="1275" b="0">
                <a:solidFill>
                  <a:srgbClr val="526C75"/>
                </a:solidFill>
                <a:latin typeface="Arial"/>
                <a:ea typeface="Arial"/>
                <a:cs typeface="Arial"/>
              </a:rPr>
              <a:t>A query client supplies LandXML records and companion WKT; no standard LandXML USD association is claimed.</a:t>
            </a:r>
          </a:p>
        </p:txBody>
      </p:sp>
      <p:sp>
        <p:nvSpPr>
          <p:cNvPr id="5" name="">
            <a:extLst xmlns:a="http://schemas.openxmlformats.org/drawingml/2006/main">
              <a:ext uri="{FF2B5EF4-FFF2-40B4-BE49-F238E27FC236}">
                <a16:creationId xmlns:a16="http://schemas.microsoft.com/office/drawing/2014/main" id="{70C51C63-C627-46E8-BDD5-DF64D8FD10AD}"/>
              </a:ext>
            </a:extLst>
          </p:cNvPr>
          <p:cNvSpPr>
            <a:spLocks xmlns:a="http://schemas.openxmlformats.org/drawingml/2006/main" noGrp="1"/>
          </p:cNvSpPr>
          <p:nvPr/>
        </p:nvSpPr>
        <p:spPr>
          <a:xfrm xmlns:a="http://schemas.openxmlformats.org/drawingml/2006/main">
            <a:off x="11353800" y="6324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C75"/>
                </a:solidFill>
                <a:latin typeface="Arial"/>
                <a:ea typeface="Arial"/>
                <a:cs typeface="Arial"/>
              </a:defRPr>
            </a:defPPr>
            <a:lvl1pPr>
              <a:defRPr sz="1200" b="0">
                <a:solidFill>
                  <a:srgbClr val="526C75"/>
                </a:solidFill>
                <a:latin typeface="Arial"/>
                <a:ea typeface="Arial"/>
                <a:cs typeface="Arial"/>
              </a:defRPr>
            </a:lvl1pPr>
            <a:lvl2pPr>
              <a:defRPr sz="1200" b="0">
                <a:solidFill>
                  <a:srgbClr val="526C75"/>
                </a:solidFill>
                <a:latin typeface="Arial"/>
                <a:ea typeface="Arial"/>
                <a:cs typeface="Arial"/>
              </a:defRPr>
            </a:lvl2pPr>
            <a:lvl3pPr>
              <a:defRPr sz="1200" b="0">
                <a:solidFill>
                  <a:srgbClr val="526C75"/>
                </a:solidFill>
                <a:latin typeface="Arial"/>
                <a:ea typeface="Arial"/>
                <a:cs typeface="Arial"/>
              </a:defRPr>
            </a:lvl3pPr>
            <a:lvl4pPr>
              <a:defRPr sz="1200" b="0">
                <a:solidFill>
                  <a:srgbClr val="526C75"/>
                </a:solidFill>
                <a:latin typeface="Arial"/>
                <a:ea typeface="Arial"/>
                <a:cs typeface="Arial"/>
              </a:defRPr>
            </a:lvl4pPr>
            <a:lvl5pPr>
              <a:defRPr sz="1200" b="0">
                <a:solidFill>
                  <a:srgbClr val="526C75"/>
                </a:solidFill>
                <a:latin typeface="Arial"/>
                <a:ea typeface="Arial"/>
                <a:cs typeface="Arial"/>
              </a:defRPr>
            </a:lvl5pPr>
            <a:lvl6pPr>
              <a:defRPr sz="1200" b="0">
                <a:solidFill>
                  <a:srgbClr val="526C75"/>
                </a:solidFill>
                <a:latin typeface="Arial"/>
                <a:ea typeface="Arial"/>
                <a:cs typeface="Arial"/>
              </a:defRPr>
            </a:lvl6pPr>
            <a:lvl7pPr>
              <a:defRPr sz="1200" b="0">
                <a:solidFill>
                  <a:srgbClr val="526C75"/>
                </a:solidFill>
                <a:latin typeface="Arial"/>
                <a:ea typeface="Arial"/>
                <a:cs typeface="Arial"/>
              </a:defRPr>
            </a:lvl7pPr>
            <a:lvl8pPr>
              <a:defRPr sz="1200" b="0">
                <a:solidFill>
                  <a:srgbClr val="526C75"/>
                </a:solidFill>
                <a:latin typeface="Arial"/>
                <a:ea typeface="Arial"/>
                <a:cs typeface="Arial"/>
              </a:defRPr>
            </a:lvl8pPr>
            <a:lvl9pPr>
              <a:defRPr sz="1200" b="0">
                <a:solidFill>
                  <a:srgbClr val="526C75"/>
                </a:solidFill>
                <a:latin typeface="Arial"/>
                <a:ea typeface="Arial"/>
                <a:cs typeface="Arial"/>
              </a:defRPr>
            </a:lvl9pPr>
          </a:lstStyle>
          <a:p xmlns:a="http://schemas.openxmlformats.org/drawingml/2006/main">
            <a:pPr>
              <a:defRPr sz="1200" b="0">
                <a:solidFill>
                  <a:srgbClr val="526C75"/>
                </a:solidFill>
                <a:latin typeface="Arial"/>
                <a:ea typeface="Arial"/>
                <a:cs typeface="Arial"/>
              </a:defRPr>
            </a:pPr>
            <a:r>
              <a:rPr sz="1200" b="0">
                <a:solidFill>
                  <a:srgbClr val="526C75"/>
                </a:solidFill>
                <a:latin typeface="Arial"/>
                <a:ea typeface="Arial"/>
                <a:cs typeface="Arial"/>
              </a:rPr>
              <a:t>7</a:t>
            </a:r>
          </a:p>
        </p:txBody>
      </p:sp>
    </p:spTree>
    <p:extLst>
      <p:ext uri="{BB962C8B-B14F-4D97-AF65-F5344CB8AC3E}">
        <p14:creationId xmlns:p14="http://schemas.microsoft.com/office/powerpoint/2010/main" val="15319733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D027B9D-CCE1-4FEA-A224-27196876C6E3}"/>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13F4C"/>
                </a:solidFill>
                <a:latin typeface="Arial"/>
                <a:ea typeface="Arial"/>
                <a:cs typeface="Arial"/>
              </a:defRPr>
            </a:defPPr>
            <a:lvl1pPr>
              <a:defRPr sz="2850" b="1">
                <a:solidFill>
                  <a:srgbClr val="213F4C"/>
                </a:solidFill>
                <a:latin typeface="Arial"/>
                <a:ea typeface="Arial"/>
                <a:cs typeface="Arial"/>
              </a:defRPr>
            </a:lvl1pPr>
            <a:lvl2pPr>
              <a:defRPr sz="2850" b="1">
                <a:solidFill>
                  <a:srgbClr val="213F4C"/>
                </a:solidFill>
                <a:latin typeface="Arial"/>
                <a:ea typeface="Arial"/>
                <a:cs typeface="Arial"/>
              </a:defRPr>
            </a:lvl2pPr>
            <a:lvl3pPr>
              <a:defRPr sz="2850" b="1">
                <a:solidFill>
                  <a:srgbClr val="213F4C"/>
                </a:solidFill>
                <a:latin typeface="Arial"/>
                <a:ea typeface="Arial"/>
                <a:cs typeface="Arial"/>
              </a:defRPr>
            </a:lvl3pPr>
            <a:lvl4pPr>
              <a:defRPr sz="2850" b="1">
                <a:solidFill>
                  <a:srgbClr val="213F4C"/>
                </a:solidFill>
                <a:latin typeface="Arial"/>
                <a:ea typeface="Arial"/>
                <a:cs typeface="Arial"/>
              </a:defRPr>
            </a:lvl4pPr>
            <a:lvl5pPr>
              <a:defRPr sz="2850" b="1">
                <a:solidFill>
                  <a:srgbClr val="213F4C"/>
                </a:solidFill>
                <a:latin typeface="Arial"/>
                <a:ea typeface="Arial"/>
                <a:cs typeface="Arial"/>
              </a:defRPr>
            </a:lvl5pPr>
            <a:lvl6pPr>
              <a:defRPr sz="2850" b="1">
                <a:solidFill>
                  <a:srgbClr val="213F4C"/>
                </a:solidFill>
                <a:latin typeface="Arial"/>
                <a:ea typeface="Arial"/>
                <a:cs typeface="Arial"/>
              </a:defRPr>
            </a:lvl6pPr>
            <a:lvl7pPr>
              <a:defRPr sz="2850" b="1">
                <a:solidFill>
                  <a:srgbClr val="213F4C"/>
                </a:solidFill>
                <a:latin typeface="Arial"/>
                <a:ea typeface="Arial"/>
                <a:cs typeface="Arial"/>
              </a:defRPr>
            </a:lvl7pPr>
            <a:lvl8pPr>
              <a:defRPr sz="2850" b="1">
                <a:solidFill>
                  <a:srgbClr val="213F4C"/>
                </a:solidFill>
                <a:latin typeface="Arial"/>
                <a:ea typeface="Arial"/>
                <a:cs typeface="Arial"/>
              </a:defRPr>
            </a:lvl8pPr>
            <a:lvl9pPr>
              <a:defRPr sz="2850" b="1">
                <a:solidFill>
                  <a:srgbClr val="213F4C"/>
                </a:solidFill>
                <a:latin typeface="Arial"/>
                <a:ea typeface="Arial"/>
                <a:cs typeface="Arial"/>
              </a:defRPr>
            </a:lvl9pPr>
          </a:lstStyle>
          <a:p xmlns:a="http://schemas.openxmlformats.org/drawingml/2006/main">
            <a:pPr>
              <a:defRPr sz="2850" b="1">
                <a:solidFill>
                  <a:srgbClr val="213F4C"/>
                </a:solidFill>
                <a:latin typeface="Arial"/>
                <a:ea typeface="Arial"/>
                <a:cs typeface="Arial"/>
              </a:defRPr>
            </a:pPr>
            <a:r>
              <a:rPr sz="2850" b="1">
                <a:solidFill>
                  <a:srgbClr val="213F4C"/>
                </a:solidFill>
                <a:latin typeface="Arial"/>
                <a:ea typeface="Arial"/>
                <a:cs typeface="Arial"/>
              </a:rPr>
              <a:t>Global analysis does not require a renderer</a:t>
            </a:r>
          </a:p>
        </p:txBody>
      </p:sp>
      <p:sp>
        <p:nvSpPr>
          <p:cNvPr id="2" name="">
            <a:extLst xmlns:a="http://schemas.openxmlformats.org/drawingml/2006/main">
              <a:ext uri="{FF2B5EF4-FFF2-40B4-BE49-F238E27FC236}">
                <a16:creationId xmlns:a16="http://schemas.microsoft.com/office/drawing/2014/main" id="{6FFCB925-06D3-4C91-A679-8CE02D74892E}"/>
              </a:ext>
            </a:extLst>
          </p:cNvPr>
          <p:cNvSpPr>
            <a:spLocks xmlns:a="http://schemas.openxmlformats.org/drawingml/2006/main" noGrp="1"/>
          </p:cNvSpPr>
          <p:nvPr/>
        </p:nvSpPr>
        <p:spPr>
          <a:xfrm xmlns:a="http://schemas.openxmlformats.org/drawingml/2006/main">
            <a:off x="609600" y="135255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84653"/>
                </a:solidFill>
                <a:latin typeface="Arial"/>
                <a:ea typeface="Arial"/>
                <a:cs typeface="Arial"/>
              </a:defRPr>
            </a:defPPr>
            <a:lvl1pPr>
              <a:defRPr sz="1875" b="0">
                <a:solidFill>
                  <a:srgbClr val="284653"/>
                </a:solidFill>
                <a:latin typeface="Arial"/>
                <a:ea typeface="Arial"/>
                <a:cs typeface="Arial"/>
              </a:defRPr>
            </a:lvl1pPr>
            <a:lvl2pPr>
              <a:defRPr sz="1875" b="0">
                <a:solidFill>
                  <a:srgbClr val="284653"/>
                </a:solidFill>
                <a:latin typeface="Arial"/>
                <a:ea typeface="Arial"/>
                <a:cs typeface="Arial"/>
              </a:defRPr>
            </a:lvl2pPr>
            <a:lvl3pPr>
              <a:defRPr sz="1875" b="0">
                <a:solidFill>
                  <a:srgbClr val="284653"/>
                </a:solidFill>
                <a:latin typeface="Arial"/>
                <a:ea typeface="Arial"/>
                <a:cs typeface="Arial"/>
              </a:defRPr>
            </a:lvl3pPr>
            <a:lvl4pPr>
              <a:defRPr sz="1875" b="0">
                <a:solidFill>
                  <a:srgbClr val="284653"/>
                </a:solidFill>
                <a:latin typeface="Arial"/>
                <a:ea typeface="Arial"/>
                <a:cs typeface="Arial"/>
              </a:defRPr>
            </a:lvl4pPr>
            <a:lvl5pPr>
              <a:defRPr sz="1875" b="0">
                <a:solidFill>
                  <a:srgbClr val="284653"/>
                </a:solidFill>
                <a:latin typeface="Arial"/>
                <a:ea typeface="Arial"/>
                <a:cs typeface="Arial"/>
              </a:defRPr>
            </a:lvl5pPr>
            <a:lvl6pPr>
              <a:defRPr sz="1875" b="0">
                <a:solidFill>
                  <a:srgbClr val="284653"/>
                </a:solidFill>
                <a:latin typeface="Arial"/>
                <a:ea typeface="Arial"/>
                <a:cs typeface="Arial"/>
              </a:defRPr>
            </a:lvl6pPr>
            <a:lvl7pPr>
              <a:defRPr sz="1875" b="0">
                <a:solidFill>
                  <a:srgbClr val="284653"/>
                </a:solidFill>
                <a:latin typeface="Arial"/>
                <a:ea typeface="Arial"/>
                <a:cs typeface="Arial"/>
              </a:defRPr>
            </a:lvl7pPr>
            <a:lvl8pPr>
              <a:defRPr sz="1875" b="0">
                <a:solidFill>
                  <a:srgbClr val="284653"/>
                </a:solidFill>
                <a:latin typeface="Arial"/>
                <a:ea typeface="Arial"/>
                <a:cs typeface="Arial"/>
              </a:defRPr>
            </a:lvl8pPr>
            <a:lvl9pPr>
              <a:defRPr sz="1875" b="0">
                <a:solidFill>
                  <a:srgbClr val="284653"/>
                </a:solidFill>
                <a:latin typeface="Arial"/>
                <a:ea typeface="Arial"/>
                <a:cs typeface="Arial"/>
              </a:defRPr>
            </a:lvl9pPr>
          </a:lstStyle>
          <a:p xmlns:a="http://schemas.openxmlformats.org/drawingml/2006/main">
            <a:pPr>
              <a:defRPr sz="1875" b="0">
                <a:solidFill>
                  <a:srgbClr val="284653"/>
                </a:solidFill>
                <a:latin typeface="Arial"/>
                <a:ea typeface="Arial"/>
                <a:cs typeface="Arial"/>
              </a:defRPr>
            </a:pPr>
            <a:r>
              <a:rPr sz="1875" b="0">
                <a:solidFill>
                  <a:srgbClr val="284653"/>
                </a:solidFill>
                <a:latin typeface="Arial"/>
                <a:ea typeface="Arial"/>
                <a:cs typeface="Arial"/>
              </a:rPr>
              <a:t>The climate example pairs 2,664 original measurement values with explicit coordinates and two illustrative observation times, yielding 5,328 sample records. Both readers agree on their global geocentric locations. Changing a measurement time keeps its location association intact; the globe and heatmap are optional views of the same data.</a:t>
            </a:r>
          </a:p>
        </p:txBody>
      </p:sp>
      <p:pic>
        <p:nvPicPr>
          <p:cNvPr id="3" name="">
            <a:extLst xmlns:a="http://schemas.openxmlformats.org/drawingml/2006/main">
              <a:ext uri="{FF2B5EF4-FFF2-40B4-BE49-F238E27FC236}">
                <a16:creationId xmlns:a16="http://schemas.microsoft.com/office/drawing/2014/main" id="{60178EB3-867B-44D4-82A7-35560E097784}"/>
              </a:ext>
            </a:extLst>
          </p:cNvPr>
          <p:cNvPicPr>
            <a:picLocks xmlns:a="http://schemas.openxmlformats.org/drawingml/2006/main" noChangeAspect="1"/>
          </p:cNvPicPr>
          <p:nvPr/>
        </p:nvPicPr>
        <p:blipFill>
          <a:blip xmlns:r="http://schemas.openxmlformats.org/officeDocument/2006/relationships" xmlns:a="http://schemas.openxmlformats.org/drawingml/2006/main" r:embed="R0c93dbf42417410a"/>
          <a:stretch xmlns:a="http://schemas.openxmlformats.org/drawingml/2006/main"/>
        </p:blipFill>
        <p:spPr>
          <a:xfrm xmlns:a="http://schemas.openxmlformats.org/drawingml/2006/main">
            <a:off x="2376055" y="2571750"/>
            <a:ext cx="7439891" cy="3409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1CCCAFB-18E1-4661-923A-C971DD42CF1E}"/>
              </a:ext>
            </a:extLst>
          </p:cNvPr>
          <p:cNvSpPr>
            <a:spLocks xmlns:a="http://schemas.openxmlformats.org/drawingml/2006/main" noGrp="1"/>
          </p:cNvSpPr>
          <p:nvPr/>
        </p:nvSpPr>
        <p:spPr>
          <a:xfrm xmlns:a="http://schemas.openxmlformats.org/drawingml/2006/main">
            <a:off x="609600" y="62293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C75"/>
                </a:solidFill>
                <a:latin typeface="Arial"/>
                <a:ea typeface="Arial"/>
                <a:cs typeface="Arial"/>
              </a:defRPr>
            </a:defPPr>
            <a:lvl1pPr>
              <a:defRPr sz="1275" b="0">
                <a:solidFill>
                  <a:srgbClr val="526C75"/>
                </a:solidFill>
                <a:latin typeface="Arial"/>
                <a:ea typeface="Arial"/>
                <a:cs typeface="Arial"/>
              </a:defRPr>
            </a:lvl1pPr>
            <a:lvl2pPr>
              <a:defRPr sz="1275" b="0">
                <a:solidFill>
                  <a:srgbClr val="526C75"/>
                </a:solidFill>
                <a:latin typeface="Arial"/>
                <a:ea typeface="Arial"/>
                <a:cs typeface="Arial"/>
              </a:defRPr>
            </a:lvl2pPr>
            <a:lvl3pPr>
              <a:defRPr sz="1275" b="0">
                <a:solidFill>
                  <a:srgbClr val="526C75"/>
                </a:solidFill>
                <a:latin typeface="Arial"/>
                <a:ea typeface="Arial"/>
                <a:cs typeface="Arial"/>
              </a:defRPr>
            </a:lvl3pPr>
            <a:lvl4pPr>
              <a:defRPr sz="1275" b="0">
                <a:solidFill>
                  <a:srgbClr val="526C75"/>
                </a:solidFill>
                <a:latin typeface="Arial"/>
                <a:ea typeface="Arial"/>
                <a:cs typeface="Arial"/>
              </a:defRPr>
            </a:lvl4pPr>
            <a:lvl5pPr>
              <a:defRPr sz="1275" b="0">
                <a:solidFill>
                  <a:srgbClr val="526C75"/>
                </a:solidFill>
                <a:latin typeface="Arial"/>
                <a:ea typeface="Arial"/>
                <a:cs typeface="Arial"/>
              </a:defRPr>
            </a:lvl5pPr>
            <a:lvl6pPr>
              <a:defRPr sz="1275" b="0">
                <a:solidFill>
                  <a:srgbClr val="526C75"/>
                </a:solidFill>
                <a:latin typeface="Arial"/>
                <a:ea typeface="Arial"/>
                <a:cs typeface="Arial"/>
              </a:defRPr>
            </a:lvl6pPr>
            <a:lvl7pPr>
              <a:defRPr sz="1275" b="0">
                <a:solidFill>
                  <a:srgbClr val="526C75"/>
                </a:solidFill>
                <a:latin typeface="Arial"/>
                <a:ea typeface="Arial"/>
                <a:cs typeface="Arial"/>
              </a:defRPr>
            </a:lvl7pPr>
            <a:lvl8pPr>
              <a:defRPr sz="1275" b="0">
                <a:solidFill>
                  <a:srgbClr val="526C75"/>
                </a:solidFill>
                <a:latin typeface="Arial"/>
                <a:ea typeface="Arial"/>
                <a:cs typeface="Arial"/>
              </a:defRPr>
            </a:lvl8pPr>
            <a:lvl9pPr>
              <a:defRPr sz="1275" b="0">
                <a:solidFill>
                  <a:srgbClr val="526C75"/>
                </a:solidFill>
                <a:latin typeface="Arial"/>
                <a:ea typeface="Arial"/>
                <a:cs typeface="Arial"/>
              </a:defRPr>
            </a:lvl9pPr>
          </a:lstStyle>
          <a:p xmlns:a="http://schemas.openxmlformats.org/drawingml/2006/main">
            <a:pPr>
              <a:defRPr sz="1275" b="0">
                <a:solidFill>
                  <a:srgbClr val="526C75"/>
                </a:solidFill>
                <a:latin typeface="Arial"/>
                <a:ea typeface="Arial"/>
                <a:cs typeface="Arial"/>
              </a:defRPr>
            </a:pPr>
            <a:r>
              <a:rPr sz="1275" b="0">
                <a:solidFill>
                  <a:srgbClr val="526C75"/>
                </a:solidFill>
                <a:latin typeface="Arial"/>
                <a:ea typeface="Arial"/>
                <a:cs typeface="Arial"/>
              </a:rPr>
              <a:t>Added example inputs: Kelvin, zero ellipsoidal height, chosen observation times and a second field at +1 K.</a:t>
            </a:r>
          </a:p>
        </p:txBody>
      </p:sp>
      <p:sp>
        <p:nvSpPr>
          <p:cNvPr id="5" name="">
            <a:extLst xmlns:a="http://schemas.openxmlformats.org/drawingml/2006/main">
              <a:ext uri="{FF2B5EF4-FFF2-40B4-BE49-F238E27FC236}">
                <a16:creationId xmlns:a16="http://schemas.microsoft.com/office/drawing/2014/main" id="{25086ACC-1E18-4973-853D-5AA6560A5CAC}"/>
              </a:ext>
            </a:extLst>
          </p:cNvPr>
          <p:cNvSpPr>
            <a:spLocks xmlns:a="http://schemas.openxmlformats.org/drawingml/2006/main" noGrp="1"/>
          </p:cNvSpPr>
          <p:nvPr/>
        </p:nvSpPr>
        <p:spPr>
          <a:xfrm xmlns:a="http://schemas.openxmlformats.org/drawingml/2006/main">
            <a:off x="11353800" y="6324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C75"/>
                </a:solidFill>
                <a:latin typeface="Arial"/>
                <a:ea typeface="Arial"/>
                <a:cs typeface="Arial"/>
              </a:defRPr>
            </a:defPPr>
            <a:lvl1pPr>
              <a:defRPr sz="1200" b="0">
                <a:solidFill>
                  <a:srgbClr val="526C75"/>
                </a:solidFill>
                <a:latin typeface="Arial"/>
                <a:ea typeface="Arial"/>
                <a:cs typeface="Arial"/>
              </a:defRPr>
            </a:lvl1pPr>
            <a:lvl2pPr>
              <a:defRPr sz="1200" b="0">
                <a:solidFill>
                  <a:srgbClr val="526C75"/>
                </a:solidFill>
                <a:latin typeface="Arial"/>
                <a:ea typeface="Arial"/>
                <a:cs typeface="Arial"/>
              </a:defRPr>
            </a:lvl2pPr>
            <a:lvl3pPr>
              <a:defRPr sz="1200" b="0">
                <a:solidFill>
                  <a:srgbClr val="526C75"/>
                </a:solidFill>
                <a:latin typeface="Arial"/>
                <a:ea typeface="Arial"/>
                <a:cs typeface="Arial"/>
              </a:defRPr>
            </a:lvl3pPr>
            <a:lvl4pPr>
              <a:defRPr sz="1200" b="0">
                <a:solidFill>
                  <a:srgbClr val="526C75"/>
                </a:solidFill>
                <a:latin typeface="Arial"/>
                <a:ea typeface="Arial"/>
                <a:cs typeface="Arial"/>
              </a:defRPr>
            </a:lvl4pPr>
            <a:lvl5pPr>
              <a:defRPr sz="1200" b="0">
                <a:solidFill>
                  <a:srgbClr val="526C75"/>
                </a:solidFill>
                <a:latin typeface="Arial"/>
                <a:ea typeface="Arial"/>
                <a:cs typeface="Arial"/>
              </a:defRPr>
            </a:lvl5pPr>
            <a:lvl6pPr>
              <a:defRPr sz="1200" b="0">
                <a:solidFill>
                  <a:srgbClr val="526C75"/>
                </a:solidFill>
                <a:latin typeface="Arial"/>
                <a:ea typeface="Arial"/>
                <a:cs typeface="Arial"/>
              </a:defRPr>
            </a:lvl6pPr>
            <a:lvl7pPr>
              <a:defRPr sz="1200" b="0">
                <a:solidFill>
                  <a:srgbClr val="526C75"/>
                </a:solidFill>
                <a:latin typeface="Arial"/>
                <a:ea typeface="Arial"/>
                <a:cs typeface="Arial"/>
              </a:defRPr>
            </a:lvl7pPr>
            <a:lvl8pPr>
              <a:defRPr sz="1200" b="0">
                <a:solidFill>
                  <a:srgbClr val="526C75"/>
                </a:solidFill>
                <a:latin typeface="Arial"/>
                <a:ea typeface="Arial"/>
                <a:cs typeface="Arial"/>
              </a:defRPr>
            </a:lvl8pPr>
            <a:lvl9pPr>
              <a:defRPr sz="1200" b="0">
                <a:solidFill>
                  <a:srgbClr val="526C75"/>
                </a:solidFill>
                <a:latin typeface="Arial"/>
                <a:ea typeface="Arial"/>
                <a:cs typeface="Arial"/>
              </a:defRPr>
            </a:lvl9pPr>
          </a:lstStyle>
          <a:p xmlns:a="http://schemas.openxmlformats.org/drawingml/2006/main">
            <a:pPr>
              <a:defRPr sz="1200" b="0">
                <a:solidFill>
                  <a:srgbClr val="526C75"/>
                </a:solidFill>
                <a:latin typeface="Arial"/>
                <a:ea typeface="Arial"/>
                <a:cs typeface="Arial"/>
              </a:defRPr>
            </a:pPr>
            <a:r>
              <a:rPr sz="1200" b="0">
                <a:solidFill>
                  <a:srgbClr val="526C75"/>
                </a:solidFill>
                <a:latin typeface="Arial"/>
                <a:ea typeface="Arial"/>
                <a:cs typeface="Arial"/>
              </a:rPr>
              <a:t>8</a:t>
            </a:r>
          </a:p>
        </p:txBody>
      </p:sp>
    </p:spTree>
    <p:extLst>
      <p:ext uri="{BB962C8B-B14F-4D97-AF65-F5344CB8AC3E}">
        <p14:creationId xmlns:p14="http://schemas.microsoft.com/office/powerpoint/2010/main" val="14702894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A101A8F-D6E6-463C-9655-686AD0E313FC}"/>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13F4C"/>
                </a:solidFill>
                <a:latin typeface="Arial"/>
                <a:ea typeface="Arial"/>
                <a:cs typeface="Arial"/>
              </a:defRPr>
            </a:defPPr>
            <a:lvl1pPr>
              <a:defRPr sz="2850" b="1">
                <a:solidFill>
                  <a:srgbClr val="213F4C"/>
                </a:solidFill>
                <a:latin typeface="Arial"/>
                <a:ea typeface="Arial"/>
                <a:cs typeface="Arial"/>
              </a:defRPr>
            </a:lvl1pPr>
            <a:lvl2pPr>
              <a:defRPr sz="2850" b="1">
                <a:solidFill>
                  <a:srgbClr val="213F4C"/>
                </a:solidFill>
                <a:latin typeface="Arial"/>
                <a:ea typeface="Arial"/>
                <a:cs typeface="Arial"/>
              </a:defRPr>
            </a:lvl2pPr>
            <a:lvl3pPr>
              <a:defRPr sz="2850" b="1">
                <a:solidFill>
                  <a:srgbClr val="213F4C"/>
                </a:solidFill>
                <a:latin typeface="Arial"/>
                <a:ea typeface="Arial"/>
                <a:cs typeface="Arial"/>
              </a:defRPr>
            </a:lvl3pPr>
            <a:lvl4pPr>
              <a:defRPr sz="2850" b="1">
                <a:solidFill>
                  <a:srgbClr val="213F4C"/>
                </a:solidFill>
                <a:latin typeface="Arial"/>
                <a:ea typeface="Arial"/>
                <a:cs typeface="Arial"/>
              </a:defRPr>
            </a:lvl4pPr>
            <a:lvl5pPr>
              <a:defRPr sz="2850" b="1">
                <a:solidFill>
                  <a:srgbClr val="213F4C"/>
                </a:solidFill>
                <a:latin typeface="Arial"/>
                <a:ea typeface="Arial"/>
                <a:cs typeface="Arial"/>
              </a:defRPr>
            </a:lvl5pPr>
            <a:lvl6pPr>
              <a:defRPr sz="2850" b="1">
                <a:solidFill>
                  <a:srgbClr val="213F4C"/>
                </a:solidFill>
                <a:latin typeface="Arial"/>
                <a:ea typeface="Arial"/>
                <a:cs typeface="Arial"/>
              </a:defRPr>
            </a:lvl6pPr>
            <a:lvl7pPr>
              <a:defRPr sz="2850" b="1">
                <a:solidFill>
                  <a:srgbClr val="213F4C"/>
                </a:solidFill>
                <a:latin typeface="Arial"/>
                <a:ea typeface="Arial"/>
                <a:cs typeface="Arial"/>
              </a:defRPr>
            </a:lvl7pPr>
            <a:lvl8pPr>
              <a:defRPr sz="2850" b="1">
                <a:solidFill>
                  <a:srgbClr val="213F4C"/>
                </a:solidFill>
                <a:latin typeface="Arial"/>
                <a:ea typeface="Arial"/>
                <a:cs typeface="Arial"/>
              </a:defRPr>
            </a:lvl8pPr>
            <a:lvl9pPr>
              <a:defRPr sz="2850" b="1">
                <a:solidFill>
                  <a:srgbClr val="213F4C"/>
                </a:solidFill>
                <a:latin typeface="Arial"/>
                <a:ea typeface="Arial"/>
                <a:cs typeface="Arial"/>
              </a:defRPr>
            </a:lvl9pPr>
          </a:lstStyle>
          <a:p xmlns:a="http://schemas.openxmlformats.org/drawingml/2006/main">
            <a:pPr>
              <a:defRPr sz="2850" b="1">
                <a:solidFill>
                  <a:srgbClr val="213F4C"/>
                </a:solidFill>
                <a:latin typeface="Arial"/>
                <a:ea typeface="Arial"/>
                <a:cs typeface="Arial"/>
              </a:defRPr>
            </a:pPr>
            <a:r>
              <a:rPr sz="2850" b="1">
                <a:solidFill>
                  <a:srgbClr val="213F4C"/>
                </a:solidFill>
                <a:latin typeface="Arial"/>
                <a:ea typeface="Arial"/>
                <a:cs typeface="Arial"/>
              </a:rPr>
              <a:t>A height fallback is visible and queryable</a:t>
            </a:r>
          </a:p>
        </p:txBody>
      </p:sp>
      <p:sp>
        <p:nvSpPr>
          <p:cNvPr id="2" name="">
            <a:extLst xmlns:a="http://schemas.openxmlformats.org/drawingml/2006/main">
              <a:ext uri="{FF2B5EF4-FFF2-40B4-BE49-F238E27FC236}">
                <a16:creationId xmlns:a16="http://schemas.microsoft.com/office/drawing/2014/main" id="{C577EB99-4C66-407D-95DB-3911F04DA934}"/>
              </a:ext>
            </a:extLst>
          </p:cNvPr>
          <p:cNvSpPr>
            <a:spLocks xmlns:a="http://schemas.openxmlformats.org/drawingml/2006/main" noGrp="1"/>
          </p:cNvSpPr>
          <p:nvPr/>
        </p:nvSpPr>
        <p:spPr>
          <a:xfrm xmlns:a="http://schemas.openxmlformats.org/drawingml/2006/main">
            <a:off x="609600" y="135255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84653"/>
                </a:solidFill>
                <a:latin typeface="Arial"/>
                <a:ea typeface="Arial"/>
                <a:cs typeface="Arial"/>
              </a:defRPr>
            </a:defPPr>
            <a:lvl1pPr>
              <a:defRPr sz="1875" b="0">
                <a:solidFill>
                  <a:srgbClr val="284653"/>
                </a:solidFill>
                <a:latin typeface="Arial"/>
                <a:ea typeface="Arial"/>
                <a:cs typeface="Arial"/>
              </a:defRPr>
            </a:lvl1pPr>
            <a:lvl2pPr>
              <a:defRPr sz="1875" b="0">
                <a:solidFill>
                  <a:srgbClr val="284653"/>
                </a:solidFill>
                <a:latin typeface="Arial"/>
                <a:ea typeface="Arial"/>
                <a:cs typeface="Arial"/>
              </a:defRPr>
            </a:lvl2pPr>
            <a:lvl3pPr>
              <a:defRPr sz="1875" b="0">
                <a:solidFill>
                  <a:srgbClr val="284653"/>
                </a:solidFill>
                <a:latin typeface="Arial"/>
                <a:ea typeface="Arial"/>
                <a:cs typeface="Arial"/>
              </a:defRPr>
            </a:lvl3pPr>
            <a:lvl4pPr>
              <a:defRPr sz="1875" b="0">
                <a:solidFill>
                  <a:srgbClr val="284653"/>
                </a:solidFill>
                <a:latin typeface="Arial"/>
                <a:ea typeface="Arial"/>
                <a:cs typeface="Arial"/>
              </a:defRPr>
            </a:lvl4pPr>
            <a:lvl5pPr>
              <a:defRPr sz="1875" b="0">
                <a:solidFill>
                  <a:srgbClr val="284653"/>
                </a:solidFill>
                <a:latin typeface="Arial"/>
                <a:ea typeface="Arial"/>
                <a:cs typeface="Arial"/>
              </a:defRPr>
            </a:lvl5pPr>
            <a:lvl6pPr>
              <a:defRPr sz="1875" b="0">
                <a:solidFill>
                  <a:srgbClr val="284653"/>
                </a:solidFill>
                <a:latin typeface="Arial"/>
                <a:ea typeface="Arial"/>
                <a:cs typeface="Arial"/>
              </a:defRPr>
            </a:lvl6pPr>
            <a:lvl7pPr>
              <a:defRPr sz="1875" b="0">
                <a:solidFill>
                  <a:srgbClr val="284653"/>
                </a:solidFill>
                <a:latin typeface="Arial"/>
                <a:ea typeface="Arial"/>
                <a:cs typeface="Arial"/>
              </a:defRPr>
            </a:lvl7pPr>
            <a:lvl8pPr>
              <a:defRPr sz="1875" b="0">
                <a:solidFill>
                  <a:srgbClr val="284653"/>
                </a:solidFill>
                <a:latin typeface="Arial"/>
                <a:ea typeface="Arial"/>
                <a:cs typeface="Arial"/>
              </a:defRPr>
            </a:lvl8pPr>
            <a:lvl9pPr>
              <a:defRPr sz="1875" b="0">
                <a:solidFill>
                  <a:srgbClr val="284653"/>
                </a:solidFill>
                <a:latin typeface="Arial"/>
                <a:ea typeface="Arial"/>
                <a:cs typeface="Arial"/>
              </a:defRPr>
            </a:lvl9pPr>
          </a:lstStyle>
          <a:p xmlns:a="http://schemas.openxmlformats.org/drawingml/2006/main">
            <a:pPr>
              <a:defRPr sz="1875" b="0">
                <a:solidFill>
                  <a:srgbClr val="284653"/>
                </a:solidFill>
                <a:latin typeface="Arial"/>
                <a:ea typeface="Arial"/>
                <a:cs typeface="Arial"/>
              </a:defRPr>
            </a:pPr>
            <a:r>
              <a:rPr sz="1875" b="0">
                <a:solidFill>
                  <a:srgbClr val="284653"/>
                </a:solidFill>
                <a:latin typeface="Arial"/>
                <a:ea typeface="Arial"/>
                <a:cs typeface="Arial"/>
              </a:rPr>
              <a:t>When a model placement lacks a vertical CRS, the specified fallback is EGM2008 gravity-related height, with a warning. At the illustrative Eiffel coordinate, 35 m in that reference resolves to about 79.639 m ellipsoidal height. The reader reports the source interpretation and whether it was declared or assumed; it authors no computed height properties.</a:t>
            </a:r>
          </a:p>
        </p:txBody>
      </p:sp>
      <p:graphicFrame>
        <p:nvGraphicFramePr>
          <p:cNvPr id="3" name="">
            <a:extLst xmlns:a="http://schemas.openxmlformats.org/drawingml/2006/main">
              <a:ext uri="{FF2B5EF4-FFF2-40B4-BE49-F238E27FC236}">
                <a16:creationId xmlns:a16="http://schemas.microsoft.com/office/drawing/2014/main" id="{172C34FF-1510-4ADD-823C-58D14E0D7836}"/>
              </a:ext>
            </a:extLst>
          </p:cNvPr>
          <p:cNvGraphicFramePr/>
          <p:nvPr/>
        </p:nvGraphicFramePr>
        <p:xfrm>
          <a:off xmlns:a="http://schemas.openxmlformats.org/drawingml/2006/main" x="609600" y="2686050"/>
          <a:ext xmlns:a="http://schemas.openxmlformats.org/drawingml/2006/main" cx="10972800" cy="3219450"/>
        </p:xfrm>
        <a:graphic xmlns:a="http://schemas.openxmlformats.org/drawingml/2006/main">
          <a:graphicData uri="http://schemas.openxmlformats.org/drawingml/2006/table">
            <a:tbl>
              <a:tblPr/>
              <a:tblGrid>
                <a:gridCol w="3714750"/>
                <a:gridCol w="7258050"/>
              </a:tblGrid>
              <a:tr h="643890">
                <a:tc>
                  <a:txBody>
                    <a:bodyPr wrap="square" lIns="95250" tIns="95250" rIns="95250" bIns="95250">
                      <a:noAutofit/>
                    </a:bodyPr>
                    <a:lstStyle/>
                    <a:p>
                      <a:r>
                        <a:rPr sz="1800" b="1">
                          <a:solidFill>
                            <a:srgbClr val="FFFFFF"/>
                          </a:solidFill>
                          <a:latin typeface="Arial"/>
                          <a:ea typeface="Arial"/>
                          <a:cs typeface="Arial"/>
                        </a:rPr>
                        <a:t>Source definition</a:t>
                      </a:r>
                    </a:p>
                  </a:txBody>
                  <a:tcPr marL="91440" marR="91440" marT="45720" marB="45720" anchor="ctr">
                    <a:lnL w="7144">
                      <a:solidFill>
                        <a:srgbClr val="BCC9CC"/>
                      </a:solidFill>
                      <a:prstDash val="solid"/>
                    </a:lnL>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c>
                  <a:txBody>
                    <a:bodyPr wrap="square" lIns="95250" tIns="95250" rIns="95250" bIns="95250">
                      <a:noAutofit/>
                    </a:bodyPr>
                    <a:lstStyle/>
                    <a:p>
                      <a:r>
                        <a:rPr sz="1800" b="1">
                          <a:solidFill>
                            <a:srgbClr val="FFFFFF"/>
                          </a:solidFill>
                          <a:latin typeface="Arial"/>
                          <a:ea typeface="Arial"/>
                          <a:cs typeface="Arial"/>
                        </a:rPr>
                        <a:t>Computed height report</a:t>
                      </a:r>
                    </a:p>
                  </a:txBody>
                  <a:tcPr marL="91440" marR="91440" marT="45720" marB="45720" anchor="ctr">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r>
              <a:tr h="643890">
                <a:tc>
                  <a:txBody>
                    <a:bodyPr wrap="square" lIns="95250" tIns="95250" rIns="95250" bIns="95250">
                      <a:noAutofit/>
                    </a:bodyPr>
                    <a:lstStyle/>
                    <a:p>
                      <a:r>
                        <a:rPr sz="1725" b="0">
                          <a:solidFill>
                            <a:srgbClr val="284653"/>
                          </a:solidFill>
                          <a:latin typeface="Arial"/>
                          <a:ea typeface="Arial"/>
                          <a:cs typeface="Arial"/>
                        </a:rPr>
                        <a:t>Geographic 3D with ellipsoidal height</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Ellipsoidal; declared</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r h="643890">
                <a:tc>
                  <a:txBody>
                    <a:bodyPr wrap="square" lIns="95250" tIns="95250" rIns="95250" bIns="95250">
                      <a:noAutofit/>
                    </a:bodyPr>
                    <a:lstStyle/>
                    <a:p>
                      <a:r>
                        <a:rPr sz="1725" b="0">
                          <a:solidFill>
                            <a:srgbClr val="284653"/>
                          </a:solidFill>
                          <a:latin typeface="Arial"/>
                          <a:ea typeface="Arial"/>
                          <a:cs typeface="Arial"/>
                        </a:rPr>
                        <a:t>Geocentric X, Y, Z</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No height axis; declared</a:t>
                      </a:r>
                    </a:p>
                  </a:txBody>
                  <a:tcPr marL="91440" marR="91440" marT="45720" marB="45720" anchor="ctr">
                    <a:lnR w="7144">
                      <a:solidFill>
                        <a:srgbClr val="BCC9CC"/>
                      </a:solidFill>
                      <a:prstDash val="solid"/>
                    </a:lnR>
                    <a:lnB w="7144">
                      <a:solidFill>
                        <a:srgbClr val="BCC9CC"/>
                      </a:solidFill>
                      <a:prstDash val="solid"/>
                    </a:lnB>
                    <a:solidFill>
                      <a:srgbClr val="F3F6F5"/>
                    </a:solidFill>
                  </a:tcPr>
                </a:tc>
              </a:tr>
              <a:tr h="643890">
                <a:tc>
                  <a:txBody>
                    <a:bodyPr wrap="square" lIns="95250" tIns="95250" rIns="95250" bIns="95250">
                      <a:noAutofit/>
                    </a:bodyPr>
                    <a:lstStyle/>
                    <a:p>
                      <a:r>
                        <a:rPr sz="1725" b="0">
                          <a:solidFill>
                            <a:srgbClr val="284653"/>
                          </a:solidFill>
                          <a:latin typeface="Arial"/>
                          <a:ea typeface="Arial"/>
                          <a:cs typeface="Arial"/>
                        </a:rPr>
                        <a:t>Horizontal geographic CRS used for model placement</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EGM2008 height in metres; assumed and warned</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r h="643890">
                <a:tc>
                  <a:txBody>
                    <a:bodyPr wrap="square" lIns="95250" tIns="95250" rIns="95250" bIns="95250">
                      <a:noAutofit/>
                    </a:bodyPr>
                    <a:lstStyle/>
                    <a:p>
                      <a:r>
                        <a:rPr sz="1725" b="0">
                          <a:solidFill>
                            <a:srgbClr val="284653"/>
                          </a:solidFill>
                          <a:latin typeface="Arial"/>
                          <a:ea typeface="Arial"/>
                          <a:cs typeface="Arial"/>
                        </a:rPr>
                        <a:t>Horizontal projected CRS used for model placement</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EGM2008 height in the horizontal linear unit; assumed and warned</a:t>
                      </a:r>
                    </a:p>
                  </a:txBody>
                  <a:tcPr marL="91440" marR="91440" marT="45720" marB="45720" anchor="ctr">
                    <a:lnR w="7144">
                      <a:solidFill>
                        <a:srgbClr val="BCC9CC"/>
                      </a:solidFill>
                      <a:prstDash val="solid"/>
                    </a:lnR>
                    <a:lnB w="7144">
                      <a:solidFill>
                        <a:srgbClr val="BCC9CC"/>
                      </a:solidFill>
                      <a:prstDash val="solid"/>
                    </a:lnB>
                    <a:solidFill>
                      <a:srgbClr val="F3F6F5"/>
                    </a:solidFill>
                  </a:tcPr>
                </a:tc>
              </a:tr>
            </a:tbl>
          </a:graphicData>
        </a:graphic>
      </p:graphicFrame>
      <p:sp>
        <p:nvSpPr>
          <p:cNvPr id="4" name="">
            <a:extLst xmlns:a="http://schemas.openxmlformats.org/drawingml/2006/main">
              <a:ext uri="{FF2B5EF4-FFF2-40B4-BE49-F238E27FC236}">
                <a16:creationId xmlns:a16="http://schemas.microsoft.com/office/drawing/2014/main" id="{6B18B300-BF6B-4C6E-9842-895D861EEB9C}"/>
              </a:ext>
            </a:extLst>
          </p:cNvPr>
          <p:cNvSpPr>
            <a:spLocks xmlns:a="http://schemas.openxmlformats.org/drawingml/2006/main" noGrp="1"/>
          </p:cNvSpPr>
          <p:nvPr/>
        </p:nvSpPr>
        <p:spPr>
          <a:xfrm xmlns:a="http://schemas.openxmlformats.org/drawingml/2006/main">
            <a:off x="609600" y="62293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C75"/>
                </a:solidFill>
                <a:latin typeface="Arial"/>
                <a:ea typeface="Arial"/>
                <a:cs typeface="Arial"/>
              </a:defRPr>
            </a:defPPr>
            <a:lvl1pPr>
              <a:defRPr sz="1275" b="0">
                <a:solidFill>
                  <a:srgbClr val="526C75"/>
                </a:solidFill>
                <a:latin typeface="Arial"/>
                <a:ea typeface="Arial"/>
                <a:cs typeface="Arial"/>
              </a:defRPr>
            </a:lvl1pPr>
            <a:lvl2pPr>
              <a:defRPr sz="1275" b="0">
                <a:solidFill>
                  <a:srgbClr val="526C75"/>
                </a:solidFill>
                <a:latin typeface="Arial"/>
                <a:ea typeface="Arial"/>
                <a:cs typeface="Arial"/>
              </a:defRPr>
            </a:lvl2pPr>
            <a:lvl3pPr>
              <a:defRPr sz="1275" b="0">
                <a:solidFill>
                  <a:srgbClr val="526C75"/>
                </a:solidFill>
                <a:latin typeface="Arial"/>
                <a:ea typeface="Arial"/>
                <a:cs typeface="Arial"/>
              </a:defRPr>
            </a:lvl3pPr>
            <a:lvl4pPr>
              <a:defRPr sz="1275" b="0">
                <a:solidFill>
                  <a:srgbClr val="526C75"/>
                </a:solidFill>
                <a:latin typeface="Arial"/>
                <a:ea typeface="Arial"/>
                <a:cs typeface="Arial"/>
              </a:defRPr>
            </a:lvl4pPr>
            <a:lvl5pPr>
              <a:defRPr sz="1275" b="0">
                <a:solidFill>
                  <a:srgbClr val="526C75"/>
                </a:solidFill>
                <a:latin typeface="Arial"/>
                <a:ea typeface="Arial"/>
                <a:cs typeface="Arial"/>
              </a:defRPr>
            </a:lvl5pPr>
            <a:lvl6pPr>
              <a:defRPr sz="1275" b="0">
                <a:solidFill>
                  <a:srgbClr val="526C75"/>
                </a:solidFill>
                <a:latin typeface="Arial"/>
                <a:ea typeface="Arial"/>
                <a:cs typeface="Arial"/>
              </a:defRPr>
            </a:lvl6pPr>
            <a:lvl7pPr>
              <a:defRPr sz="1275" b="0">
                <a:solidFill>
                  <a:srgbClr val="526C75"/>
                </a:solidFill>
                <a:latin typeface="Arial"/>
                <a:ea typeface="Arial"/>
                <a:cs typeface="Arial"/>
              </a:defRPr>
            </a:lvl7pPr>
            <a:lvl8pPr>
              <a:defRPr sz="1275" b="0">
                <a:solidFill>
                  <a:srgbClr val="526C75"/>
                </a:solidFill>
                <a:latin typeface="Arial"/>
                <a:ea typeface="Arial"/>
                <a:cs typeface="Arial"/>
              </a:defRPr>
            </a:lvl8pPr>
            <a:lvl9pPr>
              <a:defRPr sz="1275" b="0">
                <a:solidFill>
                  <a:srgbClr val="526C75"/>
                </a:solidFill>
                <a:latin typeface="Arial"/>
                <a:ea typeface="Arial"/>
                <a:cs typeface="Arial"/>
              </a:defRPr>
            </a:lvl9pPr>
          </a:lstStyle>
          <a:p xmlns:a="http://schemas.openxmlformats.org/drawingml/2006/main">
            <a:pPr>
              <a:defRPr sz="1275" b="0">
                <a:solidFill>
                  <a:srgbClr val="526C75"/>
                </a:solidFill>
                <a:latin typeface="Arial"/>
                <a:ea typeface="Arial"/>
                <a:cs typeface="Arial"/>
              </a:defRPr>
            </a:pPr>
            <a:r>
              <a:rPr sz="1275" b="0">
                <a:solidFill>
                  <a:srgbClr val="526C75"/>
                </a:solidFill>
                <a:latin typeface="Arial"/>
                <a:ea typeface="Arial"/>
                <a:cs typeface="Arial"/>
              </a:rPr>
              <a:t>Required grids are actually used. A missing grid fails visibly instead of substituting another height reference.</a:t>
            </a:r>
          </a:p>
        </p:txBody>
      </p:sp>
      <p:sp>
        <p:nvSpPr>
          <p:cNvPr id="5" name="">
            <a:extLst xmlns:a="http://schemas.openxmlformats.org/drawingml/2006/main">
              <a:ext uri="{FF2B5EF4-FFF2-40B4-BE49-F238E27FC236}">
                <a16:creationId xmlns:a16="http://schemas.microsoft.com/office/drawing/2014/main" id="{0098DA19-7269-4BC7-97B7-54746099153F}"/>
              </a:ext>
            </a:extLst>
          </p:cNvPr>
          <p:cNvSpPr>
            <a:spLocks xmlns:a="http://schemas.openxmlformats.org/drawingml/2006/main" noGrp="1"/>
          </p:cNvSpPr>
          <p:nvPr/>
        </p:nvSpPr>
        <p:spPr>
          <a:xfrm xmlns:a="http://schemas.openxmlformats.org/drawingml/2006/main">
            <a:off x="11353800" y="6324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C75"/>
                </a:solidFill>
                <a:latin typeface="Arial"/>
                <a:ea typeface="Arial"/>
                <a:cs typeface="Arial"/>
              </a:defRPr>
            </a:defPPr>
            <a:lvl1pPr>
              <a:defRPr sz="1200" b="0">
                <a:solidFill>
                  <a:srgbClr val="526C75"/>
                </a:solidFill>
                <a:latin typeface="Arial"/>
                <a:ea typeface="Arial"/>
                <a:cs typeface="Arial"/>
              </a:defRPr>
            </a:lvl1pPr>
            <a:lvl2pPr>
              <a:defRPr sz="1200" b="0">
                <a:solidFill>
                  <a:srgbClr val="526C75"/>
                </a:solidFill>
                <a:latin typeface="Arial"/>
                <a:ea typeface="Arial"/>
                <a:cs typeface="Arial"/>
              </a:defRPr>
            </a:lvl2pPr>
            <a:lvl3pPr>
              <a:defRPr sz="1200" b="0">
                <a:solidFill>
                  <a:srgbClr val="526C75"/>
                </a:solidFill>
                <a:latin typeface="Arial"/>
                <a:ea typeface="Arial"/>
                <a:cs typeface="Arial"/>
              </a:defRPr>
            </a:lvl3pPr>
            <a:lvl4pPr>
              <a:defRPr sz="1200" b="0">
                <a:solidFill>
                  <a:srgbClr val="526C75"/>
                </a:solidFill>
                <a:latin typeface="Arial"/>
                <a:ea typeface="Arial"/>
                <a:cs typeface="Arial"/>
              </a:defRPr>
            </a:lvl4pPr>
            <a:lvl5pPr>
              <a:defRPr sz="1200" b="0">
                <a:solidFill>
                  <a:srgbClr val="526C75"/>
                </a:solidFill>
                <a:latin typeface="Arial"/>
                <a:ea typeface="Arial"/>
                <a:cs typeface="Arial"/>
              </a:defRPr>
            </a:lvl5pPr>
            <a:lvl6pPr>
              <a:defRPr sz="1200" b="0">
                <a:solidFill>
                  <a:srgbClr val="526C75"/>
                </a:solidFill>
                <a:latin typeface="Arial"/>
                <a:ea typeface="Arial"/>
                <a:cs typeface="Arial"/>
              </a:defRPr>
            </a:lvl6pPr>
            <a:lvl7pPr>
              <a:defRPr sz="1200" b="0">
                <a:solidFill>
                  <a:srgbClr val="526C75"/>
                </a:solidFill>
                <a:latin typeface="Arial"/>
                <a:ea typeface="Arial"/>
                <a:cs typeface="Arial"/>
              </a:defRPr>
            </a:lvl7pPr>
            <a:lvl8pPr>
              <a:defRPr sz="1200" b="0">
                <a:solidFill>
                  <a:srgbClr val="526C75"/>
                </a:solidFill>
                <a:latin typeface="Arial"/>
                <a:ea typeface="Arial"/>
                <a:cs typeface="Arial"/>
              </a:defRPr>
            </a:lvl8pPr>
            <a:lvl9pPr>
              <a:defRPr sz="1200" b="0">
                <a:solidFill>
                  <a:srgbClr val="526C75"/>
                </a:solidFill>
                <a:latin typeface="Arial"/>
                <a:ea typeface="Arial"/>
                <a:cs typeface="Arial"/>
              </a:defRPr>
            </a:lvl9pPr>
          </a:lstStyle>
          <a:p xmlns:a="http://schemas.openxmlformats.org/drawingml/2006/main">
            <a:pPr>
              <a:defRPr sz="1200" b="0">
                <a:solidFill>
                  <a:srgbClr val="526C75"/>
                </a:solidFill>
                <a:latin typeface="Arial"/>
                <a:ea typeface="Arial"/>
                <a:cs typeface="Arial"/>
              </a:defRPr>
            </a:pPr>
            <a:r>
              <a:rPr sz="1200" b="0">
                <a:solidFill>
                  <a:srgbClr val="526C75"/>
                </a:solidFill>
                <a:latin typeface="Arial"/>
                <a:ea typeface="Arial"/>
                <a:cs typeface="Arial"/>
              </a:rPr>
              <a:t>9</a:t>
            </a:r>
          </a:p>
        </p:txBody>
      </p:sp>
    </p:spTree>
    <p:extLst>
      <p:ext uri="{BB962C8B-B14F-4D97-AF65-F5344CB8AC3E}">
        <p14:creationId xmlns:p14="http://schemas.microsoft.com/office/powerpoint/2010/main" val="177756154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28E0A50-8A3E-4BD7-A10E-91574D94834B}"/>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13F4C"/>
                </a:solidFill>
                <a:latin typeface="Arial"/>
                <a:ea typeface="Arial"/>
                <a:cs typeface="Arial"/>
              </a:defRPr>
            </a:defPPr>
            <a:lvl1pPr>
              <a:defRPr sz="2850" b="1">
                <a:solidFill>
                  <a:srgbClr val="213F4C"/>
                </a:solidFill>
                <a:latin typeface="Arial"/>
                <a:ea typeface="Arial"/>
                <a:cs typeface="Arial"/>
              </a:defRPr>
            </a:lvl1pPr>
            <a:lvl2pPr>
              <a:defRPr sz="2850" b="1">
                <a:solidFill>
                  <a:srgbClr val="213F4C"/>
                </a:solidFill>
                <a:latin typeface="Arial"/>
                <a:ea typeface="Arial"/>
                <a:cs typeface="Arial"/>
              </a:defRPr>
            </a:lvl2pPr>
            <a:lvl3pPr>
              <a:defRPr sz="2850" b="1">
                <a:solidFill>
                  <a:srgbClr val="213F4C"/>
                </a:solidFill>
                <a:latin typeface="Arial"/>
                <a:ea typeface="Arial"/>
                <a:cs typeface="Arial"/>
              </a:defRPr>
            </a:lvl3pPr>
            <a:lvl4pPr>
              <a:defRPr sz="2850" b="1">
                <a:solidFill>
                  <a:srgbClr val="213F4C"/>
                </a:solidFill>
                <a:latin typeface="Arial"/>
                <a:ea typeface="Arial"/>
                <a:cs typeface="Arial"/>
              </a:defRPr>
            </a:lvl4pPr>
            <a:lvl5pPr>
              <a:defRPr sz="2850" b="1">
                <a:solidFill>
                  <a:srgbClr val="213F4C"/>
                </a:solidFill>
                <a:latin typeface="Arial"/>
                <a:ea typeface="Arial"/>
                <a:cs typeface="Arial"/>
              </a:defRPr>
            </a:lvl5pPr>
            <a:lvl6pPr>
              <a:defRPr sz="2850" b="1">
                <a:solidFill>
                  <a:srgbClr val="213F4C"/>
                </a:solidFill>
                <a:latin typeface="Arial"/>
                <a:ea typeface="Arial"/>
                <a:cs typeface="Arial"/>
              </a:defRPr>
            </a:lvl6pPr>
            <a:lvl7pPr>
              <a:defRPr sz="2850" b="1">
                <a:solidFill>
                  <a:srgbClr val="213F4C"/>
                </a:solidFill>
                <a:latin typeface="Arial"/>
                <a:ea typeface="Arial"/>
                <a:cs typeface="Arial"/>
              </a:defRPr>
            </a:lvl7pPr>
            <a:lvl8pPr>
              <a:defRPr sz="2850" b="1">
                <a:solidFill>
                  <a:srgbClr val="213F4C"/>
                </a:solidFill>
                <a:latin typeface="Arial"/>
                <a:ea typeface="Arial"/>
                <a:cs typeface="Arial"/>
              </a:defRPr>
            </a:lvl8pPr>
            <a:lvl9pPr>
              <a:defRPr sz="2850" b="1">
                <a:solidFill>
                  <a:srgbClr val="213F4C"/>
                </a:solidFill>
                <a:latin typeface="Arial"/>
                <a:ea typeface="Arial"/>
                <a:cs typeface="Arial"/>
              </a:defRPr>
            </a:lvl9pPr>
          </a:lstStyle>
          <a:p xmlns:a="http://schemas.openxmlformats.org/drawingml/2006/main">
            <a:pPr>
              <a:defRPr sz="2850" b="1">
                <a:solidFill>
                  <a:srgbClr val="213F4C"/>
                </a:solidFill>
                <a:latin typeface="Arial"/>
                <a:ea typeface="Arial"/>
                <a:cs typeface="Arial"/>
              </a:defRPr>
            </a:pPr>
            <a:r>
              <a:rPr sz="2850" b="1">
                <a:solidFill>
                  <a:srgbClr val="213F4C"/>
                </a:solidFill>
                <a:latin typeface="Arial"/>
                <a:ea typeface="Arial"/>
                <a:cs typeface="Arial"/>
              </a:rPr>
              <a:t>Profiles lets a consumer detect the dependency early</a:t>
            </a:r>
          </a:p>
        </p:txBody>
      </p:sp>
      <p:sp>
        <p:nvSpPr>
          <p:cNvPr id="2" name="">
            <a:extLst xmlns:a="http://schemas.openxmlformats.org/drawingml/2006/main">
              <a:ext uri="{FF2B5EF4-FFF2-40B4-BE49-F238E27FC236}">
                <a16:creationId xmlns:a16="http://schemas.microsoft.com/office/drawing/2014/main" id="{C42307FB-4DDB-4E19-ABEC-6EDA8F62355C}"/>
              </a:ext>
            </a:extLst>
          </p:cNvPr>
          <p:cNvSpPr>
            <a:spLocks xmlns:a="http://schemas.openxmlformats.org/drawingml/2006/main" noGrp="1"/>
          </p:cNvSpPr>
          <p:nvPr/>
        </p:nvSpPr>
        <p:spPr>
          <a:xfrm xmlns:a="http://schemas.openxmlformats.org/drawingml/2006/main">
            <a:off x="609600" y="135255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84653"/>
                </a:solidFill>
                <a:latin typeface="Arial"/>
                <a:ea typeface="Arial"/>
                <a:cs typeface="Arial"/>
              </a:defRPr>
            </a:defPPr>
            <a:lvl1pPr>
              <a:defRPr sz="1875" b="0">
                <a:solidFill>
                  <a:srgbClr val="284653"/>
                </a:solidFill>
                <a:latin typeface="Arial"/>
                <a:ea typeface="Arial"/>
                <a:cs typeface="Arial"/>
              </a:defRPr>
            </a:lvl1pPr>
            <a:lvl2pPr>
              <a:defRPr sz="1875" b="0">
                <a:solidFill>
                  <a:srgbClr val="284653"/>
                </a:solidFill>
                <a:latin typeface="Arial"/>
                <a:ea typeface="Arial"/>
                <a:cs typeface="Arial"/>
              </a:defRPr>
            </a:lvl2pPr>
            <a:lvl3pPr>
              <a:defRPr sz="1875" b="0">
                <a:solidFill>
                  <a:srgbClr val="284653"/>
                </a:solidFill>
                <a:latin typeface="Arial"/>
                <a:ea typeface="Arial"/>
                <a:cs typeface="Arial"/>
              </a:defRPr>
            </a:lvl3pPr>
            <a:lvl4pPr>
              <a:defRPr sz="1875" b="0">
                <a:solidFill>
                  <a:srgbClr val="284653"/>
                </a:solidFill>
                <a:latin typeface="Arial"/>
                <a:ea typeface="Arial"/>
                <a:cs typeface="Arial"/>
              </a:defRPr>
            </a:lvl4pPr>
            <a:lvl5pPr>
              <a:defRPr sz="1875" b="0">
                <a:solidFill>
                  <a:srgbClr val="284653"/>
                </a:solidFill>
                <a:latin typeface="Arial"/>
                <a:ea typeface="Arial"/>
                <a:cs typeface="Arial"/>
              </a:defRPr>
            </a:lvl5pPr>
            <a:lvl6pPr>
              <a:defRPr sz="1875" b="0">
                <a:solidFill>
                  <a:srgbClr val="284653"/>
                </a:solidFill>
                <a:latin typeface="Arial"/>
                <a:ea typeface="Arial"/>
                <a:cs typeface="Arial"/>
              </a:defRPr>
            </a:lvl6pPr>
            <a:lvl7pPr>
              <a:defRPr sz="1875" b="0">
                <a:solidFill>
                  <a:srgbClr val="284653"/>
                </a:solidFill>
                <a:latin typeface="Arial"/>
                <a:ea typeface="Arial"/>
                <a:cs typeface="Arial"/>
              </a:defRPr>
            </a:lvl7pPr>
            <a:lvl8pPr>
              <a:defRPr sz="1875" b="0">
                <a:solidFill>
                  <a:srgbClr val="284653"/>
                </a:solidFill>
                <a:latin typeface="Arial"/>
                <a:ea typeface="Arial"/>
                <a:cs typeface="Arial"/>
              </a:defRPr>
            </a:lvl8pPr>
            <a:lvl9pPr>
              <a:defRPr sz="1875" b="0">
                <a:solidFill>
                  <a:srgbClr val="284653"/>
                </a:solidFill>
                <a:latin typeface="Arial"/>
                <a:ea typeface="Arial"/>
                <a:cs typeface="Arial"/>
              </a:defRPr>
            </a:lvl9pPr>
          </a:lstStyle>
          <a:p xmlns:a="http://schemas.openxmlformats.org/drawingml/2006/main">
            <a:pPr>
              <a:defRPr sz="1875" b="0">
                <a:solidFill>
                  <a:srgbClr val="284653"/>
                </a:solidFill>
                <a:latin typeface="Arial"/>
                <a:ea typeface="Arial"/>
                <a:cs typeface="Arial"/>
              </a:defRPr>
            </a:pPr>
            <a:r>
              <a:rPr sz="1875" b="0">
                <a:solidFill>
                  <a:srgbClr val="284653"/>
                </a:solidFill>
                <a:latin typeface="Arial"/>
                <a:ea typeface="Arial"/>
                <a:cs typeface="Arial"/>
              </a:rPr>
              <a:t>Authors use the geospatial input schemas. Publishers maintain a conservative summary at advertised entrypoints, above payloads and across retained variants. Consumers read that summary before loading content: hard dependency, qualified known-none, or unknown. This helps adoption by making unsupported placement detectable instead of silently wrong.</a:t>
            </a:r>
          </a:p>
        </p:txBody>
      </p:sp>
      <p:graphicFrame>
        <p:nvGraphicFramePr>
          <p:cNvPr id="3" name="">
            <a:extLst xmlns:a="http://schemas.openxmlformats.org/drawingml/2006/main">
              <a:ext uri="{FF2B5EF4-FFF2-40B4-BE49-F238E27FC236}">
                <a16:creationId xmlns:a16="http://schemas.microsoft.com/office/drawing/2014/main" id="{6902171C-939E-4CC9-AF74-98AA03045FD6}"/>
              </a:ext>
            </a:extLst>
          </p:cNvPr>
          <p:cNvGraphicFramePr/>
          <p:nvPr/>
        </p:nvGraphicFramePr>
        <p:xfrm>
          <a:off xmlns:a="http://schemas.openxmlformats.org/drawingml/2006/main" x="609600" y="2686050"/>
          <a:ext xmlns:a="http://schemas.openxmlformats.org/drawingml/2006/main" cx="10972800" cy="3219450"/>
        </p:xfrm>
        <a:graphic xmlns:a="http://schemas.openxmlformats.org/drawingml/2006/main">
          <a:graphicData uri="http://schemas.openxmlformats.org/drawingml/2006/table">
            <a:tbl>
              <a:tblPr/>
              <a:tblGrid>
                <a:gridCol w="3714750"/>
                <a:gridCol w="7258050"/>
              </a:tblGrid>
              <a:tr h="643890">
                <a:tc>
                  <a:txBody>
                    <a:bodyPr wrap="square" lIns="95250" tIns="95250" rIns="95250" bIns="95250">
                      <a:noAutofit/>
                    </a:bodyPr>
                    <a:lstStyle/>
                    <a:p>
                      <a:r>
                        <a:rPr sz="1800" b="1">
                          <a:solidFill>
                            <a:srgbClr val="FFFFFF"/>
                          </a:solidFill>
                          <a:latin typeface="Arial"/>
                          <a:ea typeface="Arial"/>
                          <a:cs typeface="Arial"/>
                        </a:rPr>
                        <a:t>Participant</a:t>
                      </a:r>
                    </a:p>
                  </a:txBody>
                  <a:tcPr marL="91440" marR="91440" marT="45720" marB="45720" anchor="ctr">
                    <a:lnL w="7144">
                      <a:solidFill>
                        <a:srgbClr val="BCC9CC"/>
                      </a:solidFill>
                      <a:prstDash val="solid"/>
                    </a:lnL>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c>
                  <a:txBody>
                    <a:bodyPr wrap="square" lIns="95250" tIns="95250" rIns="95250" bIns="95250">
                      <a:noAutofit/>
                    </a:bodyPr>
                    <a:lstStyle/>
                    <a:p>
                      <a:r>
                        <a:rPr sz="1800" b="1">
                          <a:solidFill>
                            <a:srgbClr val="FFFFFF"/>
                          </a:solidFill>
                          <a:latin typeface="Arial"/>
                          <a:ea typeface="Arial"/>
                          <a:cs typeface="Arial"/>
                        </a:rPr>
                        <a:t>Observable contract</a:t>
                      </a:r>
                    </a:p>
                  </a:txBody>
                  <a:tcPr marL="91440" marR="91440" marT="45720" marB="45720" anchor="ctr">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r>
              <a:tr h="643890">
                <a:tc>
                  <a:txBody>
                    <a:bodyPr wrap="square" lIns="95250" tIns="95250" rIns="95250" bIns="95250">
                      <a:noAutofit/>
                    </a:bodyPr>
                    <a:lstStyle/>
                    <a:p>
                      <a:r>
                        <a:rPr sz="1725" b="0">
                          <a:solidFill>
                            <a:srgbClr val="284653"/>
                          </a:solidFill>
                          <a:latin typeface="Arial"/>
                          <a:ea typeface="Arial"/>
                          <a:cs typeface="Arial"/>
                        </a:rPr>
                        <a:t>Author</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Binding and measurement schemas imply the proposed capability</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r h="643890">
                <a:tc>
                  <a:txBody>
                    <a:bodyPr wrap="square" lIns="95250" tIns="95250" rIns="95250" bIns="95250">
                      <a:noAutofit/>
                    </a:bodyPr>
                    <a:lstStyle/>
                    <a:p>
                      <a:r>
                        <a:rPr sz="1725" b="0">
                          <a:solidFill>
                            <a:srgbClr val="284653"/>
                          </a:solidFill>
                          <a:latin typeface="Arial"/>
                          <a:ea typeface="Arial"/>
                          <a:cs typeface="Arial"/>
                        </a:rPr>
                        <a:t>Publisher</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ClaimsAPI records a complete, conservative publication summary</a:t>
                      </a:r>
                    </a:p>
                  </a:txBody>
                  <a:tcPr marL="91440" marR="91440" marT="45720" marB="45720" anchor="ctr">
                    <a:lnR w="7144">
                      <a:solidFill>
                        <a:srgbClr val="BCC9CC"/>
                      </a:solidFill>
                      <a:prstDash val="solid"/>
                    </a:lnR>
                    <a:lnB w="7144">
                      <a:solidFill>
                        <a:srgbClr val="BCC9CC"/>
                      </a:solidFill>
                      <a:prstDash val="solid"/>
                    </a:lnB>
                    <a:solidFill>
                      <a:srgbClr val="F3F6F5"/>
                    </a:solidFill>
                  </a:tcPr>
                </a:tc>
              </a:tr>
              <a:tr h="643890">
                <a:tc>
                  <a:txBody>
                    <a:bodyPr wrap="square" lIns="95250" tIns="95250" rIns="95250" bIns="95250">
                      <a:noAutofit/>
                    </a:bodyPr>
                    <a:lstStyle/>
                    <a:p>
                      <a:r>
                        <a:rPr sz="1725" b="0">
                          <a:solidFill>
                            <a:srgbClr val="284653"/>
                          </a:solidFill>
                          <a:latin typeface="Arial"/>
                          <a:ea typeface="Arial"/>
                          <a:cs typeface="Arial"/>
                        </a:rPr>
                        <a:t>Consumer</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Reads the summary without traversing or loading payloads</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r h="643890">
                <a:tc>
                  <a:txBody>
                    <a:bodyPr wrap="square" lIns="95250" tIns="95250" rIns="95250" bIns="95250">
                      <a:noAutofit/>
                    </a:bodyPr>
                    <a:lstStyle/>
                    <a:p>
                      <a:r>
                        <a:rPr sz="1725" b="0">
                          <a:solidFill>
                            <a:srgbClr val="284653"/>
                          </a:solidFill>
                          <a:latin typeface="Arial"/>
                          <a:ea typeface="Arial"/>
                          <a:cs typeface="Arial"/>
                        </a:rPr>
                        <a:t>Ordinary geometry bake</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May claim known-none after every retained dependency is removed</a:t>
                      </a:r>
                    </a:p>
                  </a:txBody>
                  <a:tcPr marL="91440" marR="91440" marT="45720" marB="45720" anchor="ctr">
                    <a:lnR w="7144">
                      <a:solidFill>
                        <a:srgbClr val="BCC9CC"/>
                      </a:solidFill>
                      <a:prstDash val="solid"/>
                    </a:lnR>
                    <a:lnB w="7144">
                      <a:solidFill>
                        <a:srgbClr val="BCC9CC"/>
                      </a:solidFill>
                      <a:prstDash val="solid"/>
                    </a:lnB>
                    <a:solidFill>
                      <a:srgbClr val="F3F6F5"/>
                    </a:solidFill>
                  </a:tcPr>
                </a:tc>
              </a:tr>
            </a:tbl>
          </a:graphicData>
        </a:graphic>
      </p:graphicFrame>
      <p:sp>
        <p:nvSpPr>
          <p:cNvPr id="4" name="">
            <a:extLst xmlns:a="http://schemas.openxmlformats.org/drawingml/2006/main">
              <a:ext uri="{FF2B5EF4-FFF2-40B4-BE49-F238E27FC236}">
                <a16:creationId xmlns:a16="http://schemas.microsoft.com/office/drawing/2014/main" id="{0B484C9C-FD3D-47B8-8421-92FA840255C1}"/>
              </a:ext>
            </a:extLst>
          </p:cNvPr>
          <p:cNvSpPr>
            <a:spLocks xmlns:a="http://schemas.openxmlformats.org/drawingml/2006/main" noGrp="1"/>
          </p:cNvSpPr>
          <p:nvPr/>
        </p:nvSpPr>
        <p:spPr>
          <a:xfrm xmlns:a="http://schemas.openxmlformats.org/drawingml/2006/main">
            <a:off x="609600" y="62293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C75"/>
                </a:solidFill>
                <a:latin typeface="Arial"/>
                <a:ea typeface="Arial"/>
                <a:cs typeface="Arial"/>
              </a:defRPr>
            </a:defPPr>
            <a:lvl1pPr>
              <a:defRPr sz="1275" b="0">
                <a:solidFill>
                  <a:srgbClr val="526C75"/>
                </a:solidFill>
                <a:latin typeface="Arial"/>
                <a:ea typeface="Arial"/>
                <a:cs typeface="Arial"/>
              </a:defRPr>
            </a:lvl1pPr>
            <a:lvl2pPr>
              <a:defRPr sz="1275" b="0">
                <a:solidFill>
                  <a:srgbClr val="526C75"/>
                </a:solidFill>
                <a:latin typeface="Arial"/>
                <a:ea typeface="Arial"/>
                <a:cs typeface="Arial"/>
              </a:defRPr>
            </a:lvl2pPr>
            <a:lvl3pPr>
              <a:defRPr sz="1275" b="0">
                <a:solidFill>
                  <a:srgbClr val="526C75"/>
                </a:solidFill>
                <a:latin typeface="Arial"/>
                <a:ea typeface="Arial"/>
                <a:cs typeface="Arial"/>
              </a:defRPr>
            </a:lvl3pPr>
            <a:lvl4pPr>
              <a:defRPr sz="1275" b="0">
                <a:solidFill>
                  <a:srgbClr val="526C75"/>
                </a:solidFill>
                <a:latin typeface="Arial"/>
                <a:ea typeface="Arial"/>
                <a:cs typeface="Arial"/>
              </a:defRPr>
            </a:lvl4pPr>
            <a:lvl5pPr>
              <a:defRPr sz="1275" b="0">
                <a:solidFill>
                  <a:srgbClr val="526C75"/>
                </a:solidFill>
                <a:latin typeface="Arial"/>
                <a:ea typeface="Arial"/>
                <a:cs typeface="Arial"/>
              </a:defRPr>
            </a:lvl5pPr>
            <a:lvl6pPr>
              <a:defRPr sz="1275" b="0">
                <a:solidFill>
                  <a:srgbClr val="526C75"/>
                </a:solidFill>
                <a:latin typeface="Arial"/>
                <a:ea typeface="Arial"/>
                <a:cs typeface="Arial"/>
              </a:defRPr>
            </a:lvl6pPr>
            <a:lvl7pPr>
              <a:defRPr sz="1275" b="0">
                <a:solidFill>
                  <a:srgbClr val="526C75"/>
                </a:solidFill>
                <a:latin typeface="Arial"/>
                <a:ea typeface="Arial"/>
                <a:cs typeface="Arial"/>
              </a:defRPr>
            </a:lvl7pPr>
            <a:lvl8pPr>
              <a:defRPr sz="1275" b="0">
                <a:solidFill>
                  <a:srgbClr val="526C75"/>
                </a:solidFill>
                <a:latin typeface="Arial"/>
                <a:ea typeface="Arial"/>
                <a:cs typeface="Arial"/>
              </a:defRPr>
            </a:lvl8pPr>
            <a:lvl9pPr>
              <a:defRPr sz="1275" b="0">
                <a:solidFill>
                  <a:srgbClr val="526C75"/>
                </a:solidFill>
                <a:latin typeface="Arial"/>
                <a:ea typeface="Arial"/>
                <a:cs typeface="Arial"/>
              </a:defRPr>
            </a:lvl9pPr>
          </a:lstStyle>
          <a:p xmlns:a="http://schemas.openxmlformats.org/drawingml/2006/main">
            <a:pPr>
              <a:defRPr sz="1275" b="0">
                <a:solidFill>
                  <a:srgbClr val="526C75"/>
                </a:solidFill>
                <a:latin typeface="Arial"/>
                <a:ea typeface="Arial"/>
                <a:cs typeface="Arial"/>
              </a:defRPr>
            </a:pPr>
            <a:r>
              <a:rPr sz="1275" b="0">
                <a:solidFill>
                  <a:srgbClr val="526C75"/>
                </a:solidFill>
                <a:latin typeface="Arial"/>
                <a:ea typeface="Arial"/>
                <a:cs typeface="Arial"/>
              </a:rPr>
              <a:t>Native ClaimsAPI reads the declaration with zero payloads loaded. The capability names remain proposed.</a:t>
            </a:r>
          </a:p>
        </p:txBody>
      </p:sp>
      <p:sp>
        <p:nvSpPr>
          <p:cNvPr id="5" name="">
            <a:extLst xmlns:a="http://schemas.openxmlformats.org/drawingml/2006/main">
              <a:ext uri="{FF2B5EF4-FFF2-40B4-BE49-F238E27FC236}">
                <a16:creationId xmlns:a16="http://schemas.microsoft.com/office/drawing/2014/main" id="{7E3FDC97-E072-47E3-AF3C-FE0A38D85200}"/>
              </a:ext>
            </a:extLst>
          </p:cNvPr>
          <p:cNvSpPr>
            <a:spLocks xmlns:a="http://schemas.openxmlformats.org/drawingml/2006/main" noGrp="1"/>
          </p:cNvSpPr>
          <p:nvPr/>
        </p:nvSpPr>
        <p:spPr>
          <a:xfrm xmlns:a="http://schemas.openxmlformats.org/drawingml/2006/main">
            <a:off x="11353800" y="6324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C75"/>
                </a:solidFill>
                <a:latin typeface="Arial"/>
                <a:ea typeface="Arial"/>
                <a:cs typeface="Arial"/>
              </a:defRPr>
            </a:defPPr>
            <a:lvl1pPr>
              <a:defRPr sz="1200" b="0">
                <a:solidFill>
                  <a:srgbClr val="526C75"/>
                </a:solidFill>
                <a:latin typeface="Arial"/>
                <a:ea typeface="Arial"/>
                <a:cs typeface="Arial"/>
              </a:defRPr>
            </a:lvl1pPr>
            <a:lvl2pPr>
              <a:defRPr sz="1200" b="0">
                <a:solidFill>
                  <a:srgbClr val="526C75"/>
                </a:solidFill>
                <a:latin typeface="Arial"/>
                <a:ea typeface="Arial"/>
                <a:cs typeface="Arial"/>
              </a:defRPr>
            </a:lvl2pPr>
            <a:lvl3pPr>
              <a:defRPr sz="1200" b="0">
                <a:solidFill>
                  <a:srgbClr val="526C75"/>
                </a:solidFill>
                <a:latin typeface="Arial"/>
                <a:ea typeface="Arial"/>
                <a:cs typeface="Arial"/>
              </a:defRPr>
            </a:lvl3pPr>
            <a:lvl4pPr>
              <a:defRPr sz="1200" b="0">
                <a:solidFill>
                  <a:srgbClr val="526C75"/>
                </a:solidFill>
                <a:latin typeface="Arial"/>
                <a:ea typeface="Arial"/>
                <a:cs typeface="Arial"/>
              </a:defRPr>
            </a:lvl4pPr>
            <a:lvl5pPr>
              <a:defRPr sz="1200" b="0">
                <a:solidFill>
                  <a:srgbClr val="526C75"/>
                </a:solidFill>
                <a:latin typeface="Arial"/>
                <a:ea typeface="Arial"/>
                <a:cs typeface="Arial"/>
              </a:defRPr>
            </a:lvl5pPr>
            <a:lvl6pPr>
              <a:defRPr sz="1200" b="0">
                <a:solidFill>
                  <a:srgbClr val="526C75"/>
                </a:solidFill>
                <a:latin typeface="Arial"/>
                <a:ea typeface="Arial"/>
                <a:cs typeface="Arial"/>
              </a:defRPr>
            </a:lvl6pPr>
            <a:lvl7pPr>
              <a:defRPr sz="1200" b="0">
                <a:solidFill>
                  <a:srgbClr val="526C75"/>
                </a:solidFill>
                <a:latin typeface="Arial"/>
                <a:ea typeface="Arial"/>
                <a:cs typeface="Arial"/>
              </a:defRPr>
            </a:lvl7pPr>
            <a:lvl8pPr>
              <a:defRPr sz="1200" b="0">
                <a:solidFill>
                  <a:srgbClr val="526C75"/>
                </a:solidFill>
                <a:latin typeface="Arial"/>
                <a:ea typeface="Arial"/>
                <a:cs typeface="Arial"/>
              </a:defRPr>
            </a:lvl8pPr>
            <a:lvl9pPr>
              <a:defRPr sz="1200" b="0">
                <a:solidFill>
                  <a:srgbClr val="526C75"/>
                </a:solidFill>
                <a:latin typeface="Arial"/>
                <a:ea typeface="Arial"/>
                <a:cs typeface="Arial"/>
              </a:defRPr>
            </a:lvl9pPr>
          </a:lstStyle>
          <a:p xmlns:a="http://schemas.openxmlformats.org/drawingml/2006/main">
            <a:pPr>
              <a:defRPr sz="1200" b="0">
                <a:solidFill>
                  <a:srgbClr val="526C75"/>
                </a:solidFill>
                <a:latin typeface="Arial"/>
                <a:ea typeface="Arial"/>
                <a:cs typeface="Arial"/>
              </a:defRPr>
            </a:pPr>
            <a:r>
              <a:rPr sz="1200" b="0">
                <a:solidFill>
                  <a:srgbClr val="526C75"/>
                </a:solidFill>
                <a:latin typeface="Arial"/>
                <a:ea typeface="Arial"/>
                <a:cs typeface="Arial"/>
              </a:rPr>
              <a:t>10</a:t>
            </a:r>
          </a:p>
        </p:txBody>
      </p:sp>
    </p:spTree>
    <p:extLst>
      <p:ext uri="{BB962C8B-B14F-4D97-AF65-F5344CB8AC3E}">
        <p14:creationId xmlns:p14="http://schemas.microsoft.com/office/powerpoint/2010/main" val="152836064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305455-8DE5-4C7B-ABD7-DC06E4BE1ADE}"/>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13F4C"/>
                </a:solidFill>
                <a:latin typeface="Arial"/>
                <a:ea typeface="Arial"/>
                <a:cs typeface="Arial"/>
              </a:defRPr>
            </a:defPPr>
            <a:lvl1pPr>
              <a:defRPr sz="2850" b="1">
                <a:solidFill>
                  <a:srgbClr val="213F4C"/>
                </a:solidFill>
                <a:latin typeface="Arial"/>
                <a:ea typeface="Arial"/>
                <a:cs typeface="Arial"/>
              </a:defRPr>
            </a:lvl1pPr>
            <a:lvl2pPr>
              <a:defRPr sz="2850" b="1">
                <a:solidFill>
                  <a:srgbClr val="213F4C"/>
                </a:solidFill>
                <a:latin typeface="Arial"/>
                <a:ea typeface="Arial"/>
                <a:cs typeface="Arial"/>
              </a:defRPr>
            </a:lvl2pPr>
            <a:lvl3pPr>
              <a:defRPr sz="2850" b="1">
                <a:solidFill>
                  <a:srgbClr val="213F4C"/>
                </a:solidFill>
                <a:latin typeface="Arial"/>
                <a:ea typeface="Arial"/>
                <a:cs typeface="Arial"/>
              </a:defRPr>
            </a:lvl3pPr>
            <a:lvl4pPr>
              <a:defRPr sz="2850" b="1">
                <a:solidFill>
                  <a:srgbClr val="213F4C"/>
                </a:solidFill>
                <a:latin typeface="Arial"/>
                <a:ea typeface="Arial"/>
                <a:cs typeface="Arial"/>
              </a:defRPr>
            </a:lvl4pPr>
            <a:lvl5pPr>
              <a:defRPr sz="2850" b="1">
                <a:solidFill>
                  <a:srgbClr val="213F4C"/>
                </a:solidFill>
                <a:latin typeface="Arial"/>
                <a:ea typeface="Arial"/>
                <a:cs typeface="Arial"/>
              </a:defRPr>
            </a:lvl5pPr>
            <a:lvl6pPr>
              <a:defRPr sz="2850" b="1">
                <a:solidFill>
                  <a:srgbClr val="213F4C"/>
                </a:solidFill>
                <a:latin typeface="Arial"/>
                <a:ea typeface="Arial"/>
                <a:cs typeface="Arial"/>
              </a:defRPr>
            </a:lvl6pPr>
            <a:lvl7pPr>
              <a:defRPr sz="2850" b="1">
                <a:solidFill>
                  <a:srgbClr val="213F4C"/>
                </a:solidFill>
                <a:latin typeface="Arial"/>
                <a:ea typeface="Arial"/>
                <a:cs typeface="Arial"/>
              </a:defRPr>
            </a:lvl7pPr>
            <a:lvl8pPr>
              <a:defRPr sz="2850" b="1">
                <a:solidFill>
                  <a:srgbClr val="213F4C"/>
                </a:solidFill>
                <a:latin typeface="Arial"/>
                <a:ea typeface="Arial"/>
                <a:cs typeface="Arial"/>
              </a:defRPr>
            </a:lvl8pPr>
            <a:lvl9pPr>
              <a:defRPr sz="2850" b="1">
                <a:solidFill>
                  <a:srgbClr val="213F4C"/>
                </a:solidFill>
                <a:latin typeface="Arial"/>
                <a:ea typeface="Arial"/>
                <a:cs typeface="Arial"/>
              </a:defRPr>
            </a:lvl9pPr>
          </a:lstStyle>
          <a:p xmlns:a="http://schemas.openxmlformats.org/drawingml/2006/main">
            <a:pPr>
              <a:defRPr sz="2850" b="1">
                <a:solidFill>
                  <a:srgbClr val="213F4C"/>
                </a:solidFill>
                <a:latin typeface="Arial"/>
                <a:ea typeface="Arial"/>
                <a:cs typeface="Arial"/>
              </a:defRPr>
            </a:pPr>
            <a:r>
              <a:rPr sz="2850" b="1">
                <a:solidFill>
                  <a:srgbClr val="213F4C"/>
                </a:solidFill>
                <a:latin typeface="Arial"/>
                <a:ea typeface="Arial"/>
                <a:cs typeface="Arial"/>
              </a:rPr>
              <a:t>Sampling and coverage claims have practical limits</a:t>
            </a:r>
          </a:p>
        </p:txBody>
      </p:sp>
      <p:sp>
        <p:nvSpPr>
          <p:cNvPr id="2" name="">
            <a:extLst xmlns:a="http://schemas.openxmlformats.org/drawingml/2006/main">
              <a:ext uri="{FF2B5EF4-FFF2-40B4-BE49-F238E27FC236}">
                <a16:creationId xmlns:a16="http://schemas.microsoft.com/office/drawing/2014/main" id="{50F0FDE9-09AC-4578-AF56-5FA0F9AA7C3B}"/>
              </a:ext>
            </a:extLst>
          </p:cNvPr>
          <p:cNvSpPr>
            <a:spLocks xmlns:a="http://schemas.openxmlformats.org/drawingml/2006/main" noGrp="1"/>
          </p:cNvSpPr>
          <p:nvPr/>
        </p:nvSpPr>
        <p:spPr>
          <a:xfrm xmlns:a="http://schemas.openxmlformats.org/drawingml/2006/main">
            <a:off x="609600" y="135255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84653"/>
                </a:solidFill>
                <a:latin typeface="Arial"/>
                <a:ea typeface="Arial"/>
                <a:cs typeface="Arial"/>
              </a:defRPr>
            </a:defPPr>
            <a:lvl1pPr>
              <a:defRPr sz="1875" b="0">
                <a:solidFill>
                  <a:srgbClr val="284653"/>
                </a:solidFill>
                <a:latin typeface="Arial"/>
                <a:ea typeface="Arial"/>
                <a:cs typeface="Arial"/>
              </a:defRPr>
            </a:lvl1pPr>
            <a:lvl2pPr>
              <a:defRPr sz="1875" b="0">
                <a:solidFill>
                  <a:srgbClr val="284653"/>
                </a:solidFill>
                <a:latin typeface="Arial"/>
                <a:ea typeface="Arial"/>
                <a:cs typeface="Arial"/>
              </a:defRPr>
            </a:lvl2pPr>
            <a:lvl3pPr>
              <a:defRPr sz="1875" b="0">
                <a:solidFill>
                  <a:srgbClr val="284653"/>
                </a:solidFill>
                <a:latin typeface="Arial"/>
                <a:ea typeface="Arial"/>
                <a:cs typeface="Arial"/>
              </a:defRPr>
            </a:lvl3pPr>
            <a:lvl4pPr>
              <a:defRPr sz="1875" b="0">
                <a:solidFill>
                  <a:srgbClr val="284653"/>
                </a:solidFill>
                <a:latin typeface="Arial"/>
                <a:ea typeface="Arial"/>
                <a:cs typeface="Arial"/>
              </a:defRPr>
            </a:lvl4pPr>
            <a:lvl5pPr>
              <a:defRPr sz="1875" b="0">
                <a:solidFill>
                  <a:srgbClr val="284653"/>
                </a:solidFill>
                <a:latin typeface="Arial"/>
                <a:ea typeface="Arial"/>
                <a:cs typeface="Arial"/>
              </a:defRPr>
            </a:lvl5pPr>
            <a:lvl6pPr>
              <a:defRPr sz="1875" b="0">
                <a:solidFill>
                  <a:srgbClr val="284653"/>
                </a:solidFill>
                <a:latin typeface="Arial"/>
                <a:ea typeface="Arial"/>
                <a:cs typeface="Arial"/>
              </a:defRPr>
            </a:lvl6pPr>
            <a:lvl7pPr>
              <a:defRPr sz="1875" b="0">
                <a:solidFill>
                  <a:srgbClr val="284653"/>
                </a:solidFill>
                <a:latin typeface="Arial"/>
                <a:ea typeface="Arial"/>
                <a:cs typeface="Arial"/>
              </a:defRPr>
            </a:lvl7pPr>
            <a:lvl8pPr>
              <a:defRPr sz="1875" b="0">
                <a:solidFill>
                  <a:srgbClr val="284653"/>
                </a:solidFill>
                <a:latin typeface="Arial"/>
                <a:ea typeface="Arial"/>
                <a:cs typeface="Arial"/>
              </a:defRPr>
            </a:lvl8pPr>
            <a:lvl9pPr>
              <a:defRPr sz="1875" b="0">
                <a:solidFill>
                  <a:srgbClr val="284653"/>
                </a:solidFill>
                <a:latin typeface="Arial"/>
                <a:ea typeface="Arial"/>
                <a:cs typeface="Arial"/>
              </a:defRPr>
            </a:lvl9pPr>
          </a:lstStyle>
          <a:p xmlns:a="http://schemas.openxmlformats.org/drawingml/2006/main">
            <a:pPr>
              <a:defRPr sz="1875" b="0">
                <a:solidFill>
                  <a:srgbClr val="284653"/>
                </a:solidFill>
                <a:latin typeface="Arial"/>
                <a:ea typeface="Arial"/>
                <a:cs typeface="Arial"/>
              </a:defRPr>
            </a:pPr>
            <a:r>
              <a:rPr sz="1875" b="0">
                <a:solidFill>
                  <a:srgbClr val="284653"/>
                </a:solidFill>
                <a:latin typeface="Arial"/>
                <a:ea typeface="Arial"/>
                <a:cs typeface="Arial"/>
              </a:rPr>
              <a:t>A two-endpoint ECEF bake does not preserve the source trajectory between those endpoints. The equatorial test exposes a 971.421 m midpoint difference. Exported sample keys and time-code scale record what was written; they do not claim an untested path or certify the continuous image of a face, curve or subdivision surface.</a:t>
            </a:r>
          </a:p>
        </p:txBody>
      </p:sp>
      <p:pic>
        <p:nvPicPr>
          <p:cNvPr id="3" name="">
            <a:extLst xmlns:a="http://schemas.openxmlformats.org/drawingml/2006/main">
              <a:ext uri="{FF2B5EF4-FFF2-40B4-BE49-F238E27FC236}">
                <a16:creationId xmlns:a16="http://schemas.microsoft.com/office/drawing/2014/main" id="{F279D487-9CCA-4359-A86C-055EF875AC95}"/>
              </a:ext>
            </a:extLst>
          </p:cNvPr>
          <p:cNvPicPr>
            <a:picLocks xmlns:a="http://schemas.openxmlformats.org/drawingml/2006/main" noChangeAspect="1"/>
          </p:cNvPicPr>
          <p:nvPr/>
        </p:nvPicPr>
        <p:blipFill>
          <a:blip xmlns:r="http://schemas.openxmlformats.org/officeDocument/2006/relationships" xmlns:a="http://schemas.openxmlformats.org/drawingml/2006/main" r:embed="Ra4e32172916f451f"/>
          <a:stretch xmlns:a="http://schemas.openxmlformats.org/drawingml/2006/main"/>
        </p:blipFill>
        <p:spPr>
          <a:xfrm xmlns:a="http://schemas.openxmlformats.org/drawingml/2006/main">
            <a:off x="1734436" y="2571750"/>
            <a:ext cx="8723128" cy="3409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2B54DB1-5DF7-40FD-8E6D-7313D99FA4BA}"/>
              </a:ext>
            </a:extLst>
          </p:cNvPr>
          <p:cNvSpPr>
            <a:spLocks xmlns:a="http://schemas.openxmlformats.org/drawingml/2006/main" noGrp="1"/>
          </p:cNvSpPr>
          <p:nvPr/>
        </p:nvSpPr>
        <p:spPr>
          <a:xfrm xmlns:a="http://schemas.openxmlformats.org/drawingml/2006/main">
            <a:off x="609600" y="62293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C75"/>
                </a:solidFill>
                <a:latin typeface="Arial"/>
                <a:ea typeface="Arial"/>
                <a:cs typeface="Arial"/>
              </a:defRPr>
            </a:defPPr>
            <a:lvl1pPr>
              <a:defRPr sz="1275" b="0">
                <a:solidFill>
                  <a:srgbClr val="526C75"/>
                </a:solidFill>
                <a:latin typeface="Arial"/>
                <a:ea typeface="Arial"/>
                <a:cs typeface="Arial"/>
              </a:defRPr>
            </a:lvl1pPr>
            <a:lvl2pPr>
              <a:defRPr sz="1275" b="0">
                <a:solidFill>
                  <a:srgbClr val="526C75"/>
                </a:solidFill>
                <a:latin typeface="Arial"/>
                <a:ea typeface="Arial"/>
                <a:cs typeface="Arial"/>
              </a:defRPr>
            </a:lvl2pPr>
            <a:lvl3pPr>
              <a:defRPr sz="1275" b="0">
                <a:solidFill>
                  <a:srgbClr val="526C75"/>
                </a:solidFill>
                <a:latin typeface="Arial"/>
                <a:ea typeface="Arial"/>
                <a:cs typeface="Arial"/>
              </a:defRPr>
            </a:lvl3pPr>
            <a:lvl4pPr>
              <a:defRPr sz="1275" b="0">
                <a:solidFill>
                  <a:srgbClr val="526C75"/>
                </a:solidFill>
                <a:latin typeface="Arial"/>
                <a:ea typeface="Arial"/>
                <a:cs typeface="Arial"/>
              </a:defRPr>
            </a:lvl4pPr>
            <a:lvl5pPr>
              <a:defRPr sz="1275" b="0">
                <a:solidFill>
                  <a:srgbClr val="526C75"/>
                </a:solidFill>
                <a:latin typeface="Arial"/>
                <a:ea typeface="Arial"/>
                <a:cs typeface="Arial"/>
              </a:defRPr>
            </a:lvl5pPr>
            <a:lvl6pPr>
              <a:defRPr sz="1275" b="0">
                <a:solidFill>
                  <a:srgbClr val="526C75"/>
                </a:solidFill>
                <a:latin typeface="Arial"/>
                <a:ea typeface="Arial"/>
                <a:cs typeface="Arial"/>
              </a:defRPr>
            </a:lvl6pPr>
            <a:lvl7pPr>
              <a:defRPr sz="1275" b="0">
                <a:solidFill>
                  <a:srgbClr val="526C75"/>
                </a:solidFill>
                <a:latin typeface="Arial"/>
                <a:ea typeface="Arial"/>
                <a:cs typeface="Arial"/>
              </a:defRPr>
            </a:lvl7pPr>
            <a:lvl8pPr>
              <a:defRPr sz="1275" b="0">
                <a:solidFill>
                  <a:srgbClr val="526C75"/>
                </a:solidFill>
                <a:latin typeface="Arial"/>
                <a:ea typeface="Arial"/>
                <a:cs typeface="Arial"/>
              </a:defRPr>
            </a:lvl8pPr>
            <a:lvl9pPr>
              <a:defRPr sz="1275" b="0">
                <a:solidFill>
                  <a:srgbClr val="526C75"/>
                </a:solidFill>
                <a:latin typeface="Arial"/>
                <a:ea typeface="Arial"/>
                <a:cs typeface="Arial"/>
              </a:defRPr>
            </a:lvl9pPr>
          </a:lstStyle>
          <a:p xmlns:a="http://schemas.openxmlformats.org/drawingml/2006/main">
            <a:pPr>
              <a:defRPr sz="1275" b="0">
                <a:solidFill>
                  <a:srgbClr val="526C75"/>
                </a:solidFill>
                <a:latin typeface="Arial"/>
                <a:ea typeface="Arial"/>
                <a:cs typeface="Arial"/>
              </a:defRPr>
            </a:pPr>
            <a:r>
              <a:rPr sz="1275" b="0">
                <a:solidFill>
                  <a:srgbClr val="526C75"/>
                </a:solidFill>
                <a:latin typeface="Arial"/>
                <a:ea typeface="Arial"/>
                <a:cs typeface="Arial"/>
              </a:rPr>
              <a:t>The sampled bake claims its actual sample instants; it makes no between-sample trajectory guarantee.</a:t>
            </a:r>
          </a:p>
        </p:txBody>
      </p:sp>
      <p:sp>
        <p:nvSpPr>
          <p:cNvPr id="5" name="">
            <a:extLst xmlns:a="http://schemas.openxmlformats.org/drawingml/2006/main">
              <a:ext uri="{FF2B5EF4-FFF2-40B4-BE49-F238E27FC236}">
                <a16:creationId xmlns:a16="http://schemas.microsoft.com/office/drawing/2014/main" id="{009CFFBF-4D85-44B8-A0D2-3D10CE6F5088}"/>
              </a:ext>
            </a:extLst>
          </p:cNvPr>
          <p:cNvSpPr>
            <a:spLocks xmlns:a="http://schemas.openxmlformats.org/drawingml/2006/main" noGrp="1"/>
          </p:cNvSpPr>
          <p:nvPr/>
        </p:nvSpPr>
        <p:spPr>
          <a:xfrm xmlns:a="http://schemas.openxmlformats.org/drawingml/2006/main">
            <a:off x="11353800" y="6324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C75"/>
                </a:solidFill>
                <a:latin typeface="Arial"/>
                <a:ea typeface="Arial"/>
                <a:cs typeface="Arial"/>
              </a:defRPr>
            </a:defPPr>
            <a:lvl1pPr>
              <a:defRPr sz="1200" b="0">
                <a:solidFill>
                  <a:srgbClr val="526C75"/>
                </a:solidFill>
                <a:latin typeface="Arial"/>
                <a:ea typeface="Arial"/>
                <a:cs typeface="Arial"/>
              </a:defRPr>
            </a:lvl1pPr>
            <a:lvl2pPr>
              <a:defRPr sz="1200" b="0">
                <a:solidFill>
                  <a:srgbClr val="526C75"/>
                </a:solidFill>
                <a:latin typeface="Arial"/>
                <a:ea typeface="Arial"/>
                <a:cs typeface="Arial"/>
              </a:defRPr>
            </a:lvl2pPr>
            <a:lvl3pPr>
              <a:defRPr sz="1200" b="0">
                <a:solidFill>
                  <a:srgbClr val="526C75"/>
                </a:solidFill>
                <a:latin typeface="Arial"/>
                <a:ea typeface="Arial"/>
                <a:cs typeface="Arial"/>
              </a:defRPr>
            </a:lvl3pPr>
            <a:lvl4pPr>
              <a:defRPr sz="1200" b="0">
                <a:solidFill>
                  <a:srgbClr val="526C75"/>
                </a:solidFill>
                <a:latin typeface="Arial"/>
                <a:ea typeface="Arial"/>
                <a:cs typeface="Arial"/>
              </a:defRPr>
            </a:lvl4pPr>
            <a:lvl5pPr>
              <a:defRPr sz="1200" b="0">
                <a:solidFill>
                  <a:srgbClr val="526C75"/>
                </a:solidFill>
                <a:latin typeface="Arial"/>
                <a:ea typeface="Arial"/>
                <a:cs typeface="Arial"/>
              </a:defRPr>
            </a:lvl5pPr>
            <a:lvl6pPr>
              <a:defRPr sz="1200" b="0">
                <a:solidFill>
                  <a:srgbClr val="526C75"/>
                </a:solidFill>
                <a:latin typeface="Arial"/>
                <a:ea typeface="Arial"/>
                <a:cs typeface="Arial"/>
              </a:defRPr>
            </a:lvl6pPr>
            <a:lvl7pPr>
              <a:defRPr sz="1200" b="0">
                <a:solidFill>
                  <a:srgbClr val="526C75"/>
                </a:solidFill>
                <a:latin typeface="Arial"/>
                <a:ea typeface="Arial"/>
                <a:cs typeface="Arial"/>
              </a:defRPr>
            </a:lvl7pPr>
            <a:lvl8pPr>
              <a:defRPr sz="1200" b="0">
                <a:solidFill>
                  <a:srgbClr val="526C75"/>
                </a:solidFill>
                <a:latin typeface="Arial"/>
                <a:ea typeface="Arial"/>
                <a:cs typeface="Arial"/>
              </a:defRPr>
            </a:lvl8pPr>
            <a:lvl9pPr>
              <a:defRPr sz="1200" b="0">
                <a:solidFill>
                  <a:srgbClr val="526C75"/>
                </a:solidFill>
                <a:latin typeface="Arial"/>
                <a:ea typeface="Arial"/>
                <a:cs typeface="Arial"/>
              </a:defRPr>
            </a:lvl9pPr>
          </a:lstStyle>
          <a:p xmlns:a="http://schemas.openxmlformats.org/drawingml/2006/main">
            <a:pPr>
              <a:defRPr sz="1200" b="0">
                <a:solidFill>
                  <a:srgbClr val="526C75"/>
                </a:solidFill>
                <a:latin typeface="Arial"/>
                <a:ea typeface="Arial"/>
                <a:cs typeface="Arial"/>
              </a:defRPr>
            </a:pPr>
            <a:r>
              <a:rPr sz="1200" b="0">
                <a:solidFill>
                  <a:srgbClr val="526C75"/>
                </a:solidFill>
                <a:latin typeface="Arial"/>
                <a:ea typeface="Arial"/>
                <a:cs typeface="Arial"/>
              </a:rPr>
              <a:t>11</a:t>
            </a:r>
          </a:p>
        </p:txBody>
      </p:sp>
    </p:spTree>
    <p:extLst>
      <p:ext uri="{BB962C8B-B14F-4D97-AF65-F5344CB8AC3E}">
        <p14:creationId xmlns:p14="http://schemas.microsoft.com/office/powerpoint/2010/main" val="106070940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4E831F-40C2-41E2-8989-0427067967EF}"/>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13F4C"/>
                </a:solidFill>
                <a:latin typeface="Arial"/>
                <a:ea typeface="Arial"/>
                <a:cs typeface="Arial"/>
              </a:defRPr>
            </a:defPPr>
            <a:lvl1pPr>
              <a:defRPr sz="2850" b="1">
                <a:solidFill>
                  <a:srgbClr val="213F4C"/>
                </a:solidFill>
                <a:latin typeface="Arial"/>
                <a:ea typeface="Arial"/>
                <a:cs typeface="Arial"/>
              </a:defRPr>
            </a:lvl1pPr>
            <a:lvl2pPr>
              <a:defRPr sz="2850" b="1">
                <a:solidFill>
                  <a:srgbClr val="213F4C"/>
                </a:solidFill>
                <a:latin typeface="Arial"/>
                <a:ea typeface="Arial"/>
                <a:cs typeface="Arial"/>
              </a:defRPr>
            </a:lvl2pPr>
            <a:lvl3pPr>
              <a:defRPr sz="2850" b="1">
                <a:solidFill>
                  <a:srgbClr val="213F4C"/>
                </a:solidFill>
                <a:latin typeface="Arial"/>
                <a:ea typeface="Arial"/>
                <a:cs typeface="Arial"/>
              </a:defRPr>
            </a:lvl3pPr>
            <a:lvl4pPr>
              <a:defRPr sz="2850" b="1">
                <a:solidFill>
                  <a:srgbClr val="213F4C"/>
                </a:solidFill>
                <a:latin typeface="Arial"/>
                <a:ea typeface="Arial"/>
                <a:cs typeface="Arial"/>
              </a:defRPr>
            </a:lvl4pPr>
            <a:lvl5pPr>
              <a:defRPr sz="2850" b="1">
                <a:solidFill>
                  <a:srgbClr val="213F4C"/>
                </a:solidFill>
                <a:latin typeface="Arial"/>
                <a:ea typeface="Arial"/>
                <a:cs typeface="Arial"/>
              </a:defRPr>
            </a:lvl5pPr>
            <a:lvl6pPr>
              <a:defRPr sz="2850" b="1">
                <a:solidFill>
                  <a:srgbClr val="213F4C"/>
                </a:solidFill>
                <a:latin typeface="Arial"/>
                <a:ea typeface="Arial"/>
                <a:cs typeface="Arial"/>
              </a:defRPr>
            </a:lvl6pPr>
            <a:lvl7pPr>
              <a:defRPr sz="2850" b="1">
                <a:solidFill>
                  <a:srgbClr val="213F4C"/>
                </a:solidFill>
                <a:latin typeface="Arial"/>
                <a:ea typeface="Arial"/>
                <a:cs typeface="Arial"/>
              </a:defRPr>
            </a:lvl7pPr>
            <a:lvl8pPr>
              <a:defRPr sz="2850" b="1">
                <a:solidFill>
                  <a:srgbClr val="213F4C"/>
                </a:solidFill>
                <a:latin typeface="Arial"/>
                <a:ea typeface="Arial"/>
                <a:cs typeface="Arial"/>
              </a:defRPr>
            </a:lvl8pPr>
            <a:lvl9pPr>
              <a:defRPr sz="2850" b="1">
                <a:solidFill>
                  <a:srgbClr val="213F4C"/>
                </a:solidFill>
                <a:latin typeface="Arial"/>
                <a:ea typeface="Arial"/>
                <a:cs typeface="Arial"/>
              </a:defRPr>
            </a:lvl9pPr>
          </a:lstStyle>
          <a:p xmlns:a="http://schemas.openxmlformats.org/drawingml/2006/main">
            <a:pPr>
              <a:defRPr sz="2850" b="1">
                <a:solidFill>
                  <a:srgbClr val="213F4C"/>
                </a:solidFill>
                <a:latin typeface="Arial"/>
                <a:ea typeface="Arial"/>
                <a:cs typeface="Arial"/>
              </a:defRPr>
            </a:pPr>
            <a:r>
              <a:rPr sz="2850" b="1">
                <a:solidFill>
                  <a:srgbClr val="213F4C"/>
                </a:solidFill>
                <a:latin typeface="Arial"/>
                <a:ea typeface="Arial"/>
                <a:cs typeface="Arial"/>
              </a:rPr>
              <a:t>Separate proposal quality from prototype coverage</a:t>
            </a:r>
          </a:p>
        </p:txBody>
      </p:sp>
      <p:sp>
        <p:nvSpPr>
          <p:cNvPr id="2" name="">
            <a:extLst xmlns:a="http://schemas.openxmlformats.org/drawingml/2006/main">
              <a:ext uri="{FF2B5EF4-FFF2-40B4-BE49-F238E27FC236}">
                <a16:creationId xmlns:a16="http://schemas.microsoft.com/office/drawing/2014/main" id="{C692ABEA-3CDE-45DF-9A72-FF82A31E9642}"/>
              </a:ext>
            </a:extLst>
          </p:cNvPr>
          <p:cNvSpPr>
            <a:spLocks xmlns:a="http://schemas.openxmlformats.org/drawingml/2006/main" noGrp="1"/>
          </p:cNvSpPr>
          <p:nvPr/>
        </p:nvSpPr>
        <p:spPr>
          <a:xfrm xmlns:a="http://schemas.openxmlformats.org/drawingml/2006/main">
            <a:off x="609600" y="135255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84653"/>
                </a:solidFill>
                <a:latin typeface="Arial"/>
                <a:ea typeface="Arial"/>
                <a:cs typeface="Arial"/>
              </a:defRPr>
            </a:defPPr>
            <a:lvl1pPr>
              <a:defRPr sz="1875" b="0">
                <a:solidFill>
                  <a:srgbClr val="284653"/>
                </a:solidFill>
                <a:latin typeface="Arial"/>
                <a:ea typeface="Arial"/>
                <a:cs typeface="Arial"/>
              </a:defRPr>
            </a:lvl1pPr>
            <a:lvl2pPr>
              <a:defRPr sz="1875" b="0">
                <a:solidFill>
                  <a:srgbClr val="284653"/>
                </a:solidFill>
                <a:latin typeface="Arial"/>
                <a:ea typeface="Arial"/>
                <a:cs typeface="Arial"/>
              </a:defRPr>
            </a:lvl2pPr>
            <a:lvl3pPr>
              <a:defRPr sz="1875" b="0">
                <a:solidFill>
                  <a:srgbClr val="284653"/>
                </a:solidFill>
                <a:latin typeface="Arial"/>
                <a:ea typeface="Arial"/>
                <a:cs typeface="Arial"/>
              </a:defRPr>
            </a:lvl3pPr>
            <a:lvl4pPr>
              <a:defRPr sz="1875" b="0">
                <a:solidFill>
                  <a:srgbClr val="284653"/>
                </a:solidFill>
                <a:latin typeface="Arial"/>
                <a:ea typeface="Arial"/>
                <a:cs typeface="Arial"/>
              </a:defRPr>
            </a:lvl4pPr>
            <a:lvl5pPr>
              <a:defRPr sz="1875" b="0">
                <a:solidFill>
                  <a:srgbClr val="284653"/>
                </a:solidFill>
                <a:latin typeface="Arial"/>
                <a:ea typeface="Arial"/>
                <a:cs typeface="Arial"/>
              </a:defRPr>
            </a:lvl5pPr>
            <a:lvl6pPr>
              <a:defRPr sz="1875" b="0">
                <a:solidFill>
                  <a:srgbClr val="284653"/>
                </a:solidFill>
                <a:latin typeface="Arial"/>
                <a:ea typeface="Arial"/>
                <a:cs typeface="Arial"/>
              </a:defRPr>
            </a:lvl6pPr>
            <a:lvl7pPr>
              <a:defRPr sz="1875" b="0">
                <a:solidFill>
                  <a:srgbClr val="284653"/>
                </a:solidFill>
                <a:latin typeface="Arial"/>
                <a:ea typeface="Arial"/>
                <a:cs typeface="Arial"/>
              </a:defRPr>
            </a:lvl7pPr>
            <a:lvl8pPr>
              <a:defRPr sz="1875" b="0">
                <a:solidFill>
                  <a:srgbClr val="284653"/>
                </a:solidFill>
                <a:latin typeface="Arial"/>
                <a:ea typeface="Arial"/>
                <a:cs typeface="Arial"/>
              </a:defRPr>
            </a:lvl8pPr>
            <a:lvl9pPr>
              <a:defRPr sz="1875" b="0">
                <a:solidFill>
                  <a:srgbClr val="284653"/>
                </a:solidFill>
                <a:latin typeface="Arial"/>
                <a:ea typeface="Arial"/>
                <a:cs typeface="Arial"/>
              </a:defRPr>
            </a:lvl9pPr>
          </a:lstStyle>
          <a:p xmlns:a="http://schemas.openxmlformats.org/drawingml/2006/main">
            <a:pPr>
              <a:defRPr sz="1875" b="0">
                <a:solidFill>
                  <a:srgbClr val="284653"/>
                </a:solidFill>
                <a:latin typeface="Arial"/>
                <a:ea typeface="Arial"/>
                <a:cs typeface="Arial"/>
              </a:defRPr>
            </a:pPr>
            <a:r>
              <a:rPr sz="1875" b="0">
                <a:solidFill>
                  <a:srgbClr val="284653"/>
                </a:solidFill>
                <a:latin typeface="Arial"/>
                <a:ea typeface="Arial"/>
                <a:cs typeface="Arial"/>
              </a:rPr>
              <a:t>The fresh run found implementation defects and repaired them against existing requirements. It found no new blocking model or runtime ambiguity in the exercised contracts. Remaining review/adoption questions, explicit roadmap deferrals and prototype coverage limits are different claims and must remain visible when assessing readiness.</a:t>
            </a:r>
          </a:p>
        </p:txBody>
      </p:sp>
      <p:graphicFrame>
        <p:nvGraphicFramePr>
          <p:cNvPr id="3" name="">
            <a:extLst xmlns:a="http://schemas.openxmlformats.org/drawingml/2006/main">
              <a:ext uri="{FF2B5EF4-FFF2-40B4-BE49-F238E27FC236}">
                <a16:creationId xmlns:a16="http://schemas.microsoft.com/office/drawing/2014/main" id="{C6F6CC0C-FCCE-45E6-AF47-6BA5AFAA7FDB}"/>
              </a:ext>
            </a:extLst>
          </p:cNvPr>
          <p:cNvGraphicFramePr/>
          <p:nvPr/>
        </p:nvGraphicFramePr>
        <p:xfrm>
          <a:off xmlns:a="http://schemas.openxmlformats.org/drawingml/2006/main" x="609600" y="2686050"/>
          <a:ext xmlns:a="http://schemas.openxmlformats.org/drawingml/2006/main" cx="10972800" cy="3219450"/>
        </p:xfrm>
        <a:graphic xmlns:a="http://schemas.openxmlformats.org/drawingml/2006/main">
          <a:graphicData uri="http://schemas.openxmlformats.org/drawingml/2006/table">
            <a:tbl>
              <a:tblPr/>
              <a:tblGrid>
                <a:gridCol w="3714750"/>
                <a:gridCol w="7258050"/>
              </a:tblGrid>
              <a:tr h="536575">
                <a:tc>
                  <a:txBody>
                    <a:bodyPr wrap="square" lIns="95250" tIns="95250" rIns="95250" bIns="95250">
                      <a:noAutofit/>
                    </a:bodyPr>
                    <a:lstStyle/>
                    <a:p>
                      <a:r>
                        <a:rPr sz="1800" b="1">
                          <a:solidFill>
                            <a:srgbClr val="FFFFFF"/>
                          </a:solidFill>
                          <a:latin typeface="Arial"/>
                          <a:ea typeface="Arial"/>
                          <a:cs typeface="Arial"/>
                        </a:rPr>
                        <a:t>Category</a:t>
                      </a:r>
                    </a:p>
                  </a:txBody>
                  <a:tcPr marL="91440" marR="91440" marT="45720" marB="45720" anchor="ctr">
                    <a:lnL w="7144">
                      <a:solidFill>
                        <a:srgbClr val="BCC9CC"/>
                      </a:solidFill>
                      <a:prstDash val="solid"/>
                    </a:lnL>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c>
                  <a:txBody>
                    <a:bodyPr wrap="square" lIns="95250" tIns="95250" rIns="95250" bIns="95250">
                      <a:noAutofit/>
                    </a:bodyPr>
                    <a:lstStyle/>
                    <a:p>
                      <a:r>
                        <a:rPr sz="1800" b="1">
                          <a:solidFill>
                            <a:srgbClr val="FFFFFF"/>
                          </a:solidFill>
                          <a:latin typeface="Arial"/>
                          <a:ea typeface="Arial"/>
                          <a:cs typeface="Arial"/>
                        </a:rPr>
                        <a:t>Current assessment</a:t>
                      </a:r>
                    </a:p>
                  </a:txBody>
                  <a:tcPr marL="91440" marR="91440" marT="45720" marB="45720" anchor="ctr">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r>
              <a:tr h="536575">
                <a:tc>
                  <a:txBody>
                    <a:bodyPr wrap="square" lIns="95250" tIns="95250" rIns="95250" bIns="95250">
                      <a:noAutofit/>
                    </a:bodyPr>
                    <a:lstStyle/>
                    <a:p>
                      <a:r>
                        <a:rPr sz="1725" b="0">
                          <a:solidFill>
                            <a:srgbClr val="284653"/>
                          </a:solidFill>
                          <a:latin typeface="Arial"/>
                          <a:ea typeface="Arial"/>
                          <a:cs typeface="Arial"/>
                        </a:rPr>
                        <a:t>Missing meaning in tested contracts</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No new blocking gap found; bounded evidence</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r h="536575">
                <a:tc>
                  <a:txBody>
                    <a:bodyPr wrap="square" lIns="95250" tIns="95250" rIns="95250" bIns="95250">
                      <a:noAutofit/>
                    </a:bodyPr>
                    <a:lstStyle/>
                    <a:p>
                      <a:r>
                        <a:rPr sz="1725" b="0">
                          <a:solidFill>
                            <a:srgbClr val="284653"/>
                          </a:solidFill>
                          <a:latin typeface="Arial"/>
                          <a:ea typeface="Arial"/>
                          <a:cs typeface="Arial"/>
                        </a:rPr>
                        <a:t>Review and adoption</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Detailed candidate conventions and Profiles identity ownership still require standards review</a:t>
                      </a:r>
                    </a:p>
                  </a:txBody>
                  <a:tcPr marL="91440" marR="91440" marT="45720" marB="45720" anchor="ctr">
                    <a:lnR w="7144">
                      <a:solidFill>
                        <a:srgbClr val="BCC9CC"/>
                      </a:solidFill>
                      <a:prstDash val="solid"/>
                    </a:lnR>
                    <a:lnB w="7144">
                      <a:solidFill>
                        <a:srgbClr val="BCC9CC"/>
                      </a:solidFill>
                      <a:prstDash val="solid"/>
                    </a:lnB>
                    <a:solidFill>
                      <a:srgbClr val="F3F6F5"/>
                    </a:solidFill>
                  </a:tcPr>
                </a:tc>
              </a:tr>
              <a:tr h="536575">
                <a:tc>
                  <a:txBody>
                    <a:bodyPr wrap="square" lIns="95250" tIns="95250" rIns="95250" bIns="95250">
                      <a:noAutofit/>
                    </a:bodyPr>
                    <a:lstStyle/>
                    <a:p>
                      <a:r>
                        <a:rPr sz="1725" b="0">
                          <a:solidFill>
                            <a:srgbClr val="284653"/>
                          </a:solidFill>
                          <a:latin typeface="Arial"/>
                          <a:ea typeface="Arial"/>
                          <a:cs typeface="Arial"/>
                        </a:rPr>
                        <a:t>Explicit deferrals</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Coordinate epochs and scene-authored operation/resource pinning</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r h="536575">
                <a:tc>
                  <a:txBody>
                    <a:bodyPr wrap="square" lIns="95250" tIns="95250" rIns="95250" bIns="95250">
                      <a:noAutofit/>
                    </a:bodyPr>
                    <a:lstStyle/>
                    <a:p>
                      <a:r>
                        <a:rPr sz="1725" b="0">
                          <a:solidFill>
                            <a:srgbClr val="284653"/>
                          </a:solidFill>
                          <a:latin typeface="Arial"/>
                          <a:ea typeface="Arial"/>
                          <a:cs typeface="Arial"/>
                        </a:rPr>
                        <a:t>Prototype limits</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General continuous-domain certification, custom GeoTIFF decoding and point-instancer bake expansion are visibly unsupported</a:t>
                      </a:r>
                    </a:p>
                  </a:txBody>
                  <a:tcPr marL="91440" marR="91440" marT="45720" marB="45720" anchor="ctr">
                    <a:lnR w="7144">
                      <a:solidFill>
                        <a:srgbClr val="BCC9CC"/>
                      </a:solidFill>
                      <a:prstDash val="solid"/>
                    </a:lnR>
                    <a:lnB w="7144">
                      <a:solidFill>
                        <a:srgbClr val="BCC9CC"/>
                      </a:solidFill>
                      <a:prstDash val="solid"/>
                    </a:lnB>
                    <a:solidFill>
                      <a:srgbClr val="F3F6F5"/>
                    </a:solidFill>
                  </a:tcPr>
                </a:tc>
              </a:tr>
              <a:tr h="536575">
                <a:tc>
                  <a:txBody>
                    <a:bodyPr wrap="square" lIns="95250" tIns="95250" rIns="95250" bIns="95250">
                      <a:noAutofit/>
                    </a:bodyPr>
                    <a:lstStyle/>
                    <a:p>
                      <a:r>
                        <a:rPr sz="1725" b="0">
                          <a:solidFill>
                            <a:srgbClr val="284653"/>
                          </a:solidFill>
                          <a:latin typeface="Arial"/>
                          <a:ea typeface="Arial"/>
                          <a:cs typeface="Arial"/>
                        </a:rPr>
                        <a:t>Independence of evidence</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Same author and PROJ family; provider tables also use PROJ</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859A4D2-5179-4E75-8AA8-52755D643BF1}"/>
              </a:ext>
            </a:extLst>
          </p:cNvPr>
          <p:cNvSpPr>
            <a:spLocks xmlns:a="http://schemas.openxmlformats.org/drawingml/2006/main" noGrp="1"/>
          </p:cNvSpPr>
          <p:nvPr/>
        </p:nvSpPr>
        <p:spPr>
          <a:xfrm xmlns:a="http://schemas.openxmlformats.org/drawingml/2006/main">
            <a:off x="609600" y="62293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C75"/>
                </a:solidFill>
                <a:latin typeface="Arial"/>
                <a:ea typeface="Arial"/>
                <a:cs typeface="Arial"/>
              </a:defRPr>
            </a:defPPr>
            <a:lvl1pPr>
              <a:defRPr sz="1275" b="0">
                <a:solidFill>
                  <a:srgbClr val="526C75"/>
                </a:solidFill>
                <a:latin typeface="Arial"/>
                <a:ea typeface="Arial"/>
                <a:cs typeface="Arial"/>
              </a:defRPr>
            </a:lvl1pPr>
            <a:lvl2pPr>
              <a:defRPr sz="1275" b="0">
                <a:solidFill>
                  <a:srgbClr val="526C75"/>
                </a:solidFill>
                <a:latin typeface="Arial"/>
                <a:ea typeface="Arial"/>
                <a:cs typeface="Arial"/>
              </a:defRPr>
            </a:lvl2pPr>
            <a:lvl3pPr>
              <a:defRPr sz="1275" b="0">
                <a:solidFill>
                  <a:srgbClr val="526C75"/>
                </a:solidFill>
                <a:latin typeface="Arial"/>
                <a:ea typeface="Arial"/>
                <a:cs typeface="Arial"/>
              </a:defRPr>
            </a:lvl3pPr>
            <a:lvl4pPr>
              <a:defRPr sz="1275" b="0">
                <a:solidFill>
                  <a:srgbClr val="526C75"/>
                </a:solidFill>
                <a:latin typeface="Arial"/>
                <a:ea typeface="Arial"/>
                <a:cs typeface="Arial"/>
              </a:defRPr>
            </a:lvl4pPr>
            <a:lvl5pPr>
              <a:defRPr sz="1275" b="0">
                <a:solidFill>
                  <a:srgbClr val="526C75"/>
                </a:solidFill>
                <a:latin typeface="Arial"/>
                <a:ea typeface="Arial"/>
                <a:cs typeface="Arial"/>
              </a:defRPr>
            </a:lvl5pPr>
            <a:lvl6pPr>
              <a:defRPr sz="1275" b="0">
                <a:solidFill>
                  <a:srgbClr val="526C75"/>
                </a:solidFill>
                <a:latin typeface="Arial"/>
                <a:ea typeface="Arial"/>
                <a:cs typeface="Arial"/>
              </a:defRPr>
            </a:lvl6pPr>
            <a:lvl7pPr>
              <a:defRPr sz="1275" b="0">
                <a:solidFill>
                  <a:srgbClr val="526C75"/>
                </a:solidFill>
                <a:latin typeface="Arial"/>
                <a:ea typeface="Arial"/>
                <a:cs typeface="Arial"/>
              </a:defRPr>
            </a:lvl7pPr>
            <a:lvl8pPr>
              <a:defRPr sz="1275" b="0">
                <a:solidFill>
                  <a:srgbClr val="526C75"/>
                </a:solidFill>
                <a:latin typeface="Arial"/>
                <a:ea typeface="Arial"/>
                <a:cs typeface="Arial"/>
              </a:defRPr>
            </a:lvl8pPr>
            <a:lvl9pPr>
              <a:defRPr sz="1275" b="0">
                <a:solidFill>
                  <a:srgbClr val="526C75"/>
                </a:solidFill>
                <a:latin typeface="Arial"/>
                <a:ea typeface="Arial"/>
                <a:cs typeface="Arial"/>
              </a:defRPr>
            </a:lvl9pPr>
          </a:lstStyle>
          <a:p xmlns:a="http://schemas.openxmlformats.org/drawingml/2006/main">
            <a:pPr>
              <a:defRPr sz="1275" b="0">
                <a:solidFill>
                  <a:srgbClr val="526C75"/>
                </a:solidFill>
                <a:latin typeface="Arial"/>
                <a:ea typeface="Arial"/>
                <a:cs typeface="Arial"/>
              </a:defRPr>
            </a:pPr>
            <a:r>
              <a:rPr sz="1275" b="0">
                <a:solidFill>
                  <a:srgbClr val="526C75"/>
                </a:solidFill>
                <a:latin typeface="Arial"/>
                <a:ea typeface="Arial"/>
                <a:cs typeface="Arial"/>
              </a:rPr>
              <a:t>Reverse audit.</a:t>
            </a:r>
          </a:p>
        </p:txBody>
      </p:sp>
      <p:sp>
        <p:nvSpPr>
          <p:cNvPr id="5" name="">
            <a:extLst xmlns:a="http://schemas.openxmlformats.org/drawingml/2006/main">
              <a:ext uri="{FF2B5EF4-FFF2-40B4-BE49-F238E27FC236}">
                <a16:creationId xmlns:a16="http://schemas.microsoft.com/office/drawing/2014/main" id="{4F1DB4E7-B67C-4BA0-A909-BCC899C4F2AF}"/>
              </a:ext>
            </a:extLst>
          </p:cNvPr>
          <p:cNvSpPr>
            <a:spLocks xmlns:a="http://schemas.openxmlformats.org/drawingml/2006/main" noGrp="1"/>
          </p:cNvSpPr>
          <p:nvPr/>
        </p:nvSpPr>
        <p:spPr>
          <a:xfrm xmlns:a="http://schemas.openxmlformats.org/drawingml/2006/main">
            <a:off x="11353800" y="6324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C75"/>
                </a:solidFill>
                <a:latin typeface="Arial"/>
                <a:ea typeface="Arial"/>
                <a:cs typeface="Arial"/>
              </a:defRPr>
            </a:defPPr>
            <a:lvl1pPr>
              <a:defRPr sz="1200" b="0">
                <a:solidFill>
                  <a:srgbClr val="526C75"/>
                </a:solidFill>
                <a:latin typeface="Arial"/>
                <a:ea typeface="Arial"/>
                <a:cs typeface="Arial"/>
              </a:defRPr>
            </a:lvl1pPr>
            <a:lvl2pPr>
              <a:defRPr sz="1200" b="0">
                <a:solidFill>
                  <a:srgbClr val="526C75"/>
                </a:solidFill>
                <a:latin typeface="Arial"/>
                <a:ea typeface="Arial"/>
                <a:cs typeface="Arial"/>
              </a:defRPr>
            </a:lvl2pPr>
            <a:lvl3pPr>
              <a:defRPr sz="1200" b="0">
                <a:solidFill>
                  <a:srgbClr val="526C75"/>
                </a:solidFill>
                <a:latin typeface="Arial"/>
                <a:ea typeface="Arial"/>
                <a:cs typeface="Arial"/>
              </a:defRPr>
            </a:lvl3pPr>
            <a:lvl4pPr>
              <a:defRPr sz="1200" b="0">
                <a:solidFill>
                  <a:srgbClr val="526C75"/>
                </a:solidFill>
                <a:latin typeface="Arial"/>
                <a:ea typeface="Arial"/>
                <a:cs typeface="Arial"/>
              </a:defRPr>
            </a:lvl4pPr>
            <a:lvl5pPr>
              <a:defRPr sz="1200" b="0">
                <a:solidFill>
                  <a:srgbClr val="526C75"/>
                </a:solidFill>
                <a:latin typeface="Arial"/>
                <a:ea typeface="Arial"/>
                <a:cs typeface="Arial"/>
              </a:defRPr>
            </a:lvl5pPr>
            <a:lvl6pPr>
              <a:defRPr sz="1200" b="0">
                <a:solidFill>
                  <a:srgbClr val="526C75"/>
                </a:solidFill>
                <a:latin typeface="Arial"/>
                <a:ea typeface="Arial"/>
                <a:cs typeface="Arial"/>
              </a:defRPr>
            </a:lvl6pPr>
            <a:lvl7pPr>
              <a:defRPr sz="1200" b="0">
                <a:solidFill>
                  <a:srgbClr val="526C75"/>
                </a:solidFill>
                <a:latin typeface="Arial"/>
                <a:ea typeface="Arial"/>
                <a:cs typeface="Arial"/>
              </a:defRPr>
            </a:lvl7pPr>
            <a:lvl8pPr>
              <a:defRPr sz="1200" b="0">
                <a:solidFill>
                  <a:srgbClr val="526C75"/>
                </a:solidFill>
                <a:latin typeface="Arial"/>
                <a:ea typeface="Arial"/>
                <a:cs typeface="Arial"/>
              </a:defRPr>
            </a:lvl8pPr>
            <a:lvl9pPr>
              <a:defRPr sz="1200" b="0">
                <a:solidFill>
                  <a:srgbClr val="526C75"/>
                </a:solidFill>
                <a:latin typeface="Arial"/>
                <a:ea typeface="Arial"/>
                <a:cs typeface="Arial"/>
              </a:defRPr>
            </a:lvl9pPr>
          </a:lstStyle>
          <a:p xmlns:a="http://schemas.openxmlformats.org/drawingml/2006/main">
            <a:pPr>
              <a:defRPr sz="1200" b="0">
                <a:solidFill>
                  <a:srgbClr val="526C75"/>
                </a:solidFill>
                <a:latin typeface="Arial"/>
                <a:ea typeface="Arial"/>
                <a:cs typeface="Arial"/>
              </a:defRPr>
            </a:pPr>
            <a:r>
              <a:rPr sz="1200" b="0">
                <a:solidFill>
                  <a:srgbClr val="526C75"/>
                </a:solidFill>
                <a:latin typeface="Arial"/>
                <a:ea typeface="Arial"/>
                <a:cs typeface="Arial"/>
              </a:rPr>
              <a:t>12</a:t>
            </a:r>
          </a:p>
        </p:txBody>
      </p:sp>
    </p:spTree>
    <p:extLst>
      <p:ext uri="{BB962C8B-B14F-4D97-AF65-F5344CB8AC3E}">
        <p14:creationId xmlns:p14="http://schemas.microsoft.com/office/powerpoint/2010/main" val="5759046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2026-10-26T17:57:11.4720000Z</dcterms:created>
  <dcterms:modified xsi:type="dcterms:W3CDTF">2026-10-26T17:57:11.4720000Z</dcterms:modified>
</coreProperties>
</file>