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f1b73e05f4d1e" /><Relationship Type="http://schemas.openxmlformats.org/officeDocument/2006/relationships/extended-properties" Target="/docProps/app.xml" Id="R92f402f5916346bc" /><Relationship Type="http://schemas.openxmlformats.org/officeDocument/2006/relationships/officeDocument" Target="/ppt/presentation.xml" Id="R9dd1c7662de6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02d6b761f04b37"/>
  </p:sldMasterIdLst>
  <p:notesMasterIdLst>
    <p:notesMasterId xmlns:r="http://schemas.openxmlformats.org/officeDocument/2006/relationships" r:id="R2b3936266533494b"/>
  </p:notesMasterIdLst>
  <p:sldIdLst>
    <p:sldId xmlns:r="http://schemas.openxmlformats.org/officeDocument/2006/relationships" id="256" r:id="R82ec106b78034b5b"/>
    <p:sldId xmlns:r="http://schemas.openxmlformats.org/officeDocument/2006/relationships" id="257" r:id="Ra2ba2249647643d5"/>
    <p:sldId xmlns:r="http://schemas.openxmlformats.org/officeDocument/2006/relationships" id="258" r:id="Rb612fe0eb87847a1"/>
    <p:sldId xmlns:r="http://schemas.openxmlformats.org/officeDocument/2006/relationships" id="259" r:id="R6976325dfae8486b"/>
    <p:sldId xmlns:r="http://schemas.openxmlformats.org/officeDocument/2006/relationships" id="260" r:id="R66b5ec72b3754848"/>
    <p:sldId xmlns:r="http://schemas.openxmlformats.org/officeDocument/2006/relationships" id="261" r:id="R5366d0a7d0ec408e"/>
    <p:sldId xmlns:r="http://schemas.openxmlformats.org/officeDocument/2006/relationships" id="262" r:id="R7c14550c479e4825"/>
    <p:sldId xmlns:r="http://schemas.openxmlformats.org/officeDocument/2006/relationships" id="263" r:id="R40bfd5c3624547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30cb649764cda" /><Relationship Type="http://schemas.openxmlformats.org/officeDocument/2006/relationships/slideMaster" Target="/ppt/slideMasters/slideMaster1.xml" Id="Rdb02d6b761f04b37" /><Relationship Type="http://schemas.openxmlformats.org/officeDocument/2006/relationships/notesMaster" Target="/ppt/notesMasters/notesMaster1.xml" Id="R2b3936266533494b" /><Relationship Type="http://schemas.openxmlformats.org/officeDocument/2006/relationships/presProps" Target="/ppt/presProps.xml" Id="R3b16dcf5eacc4292" /><Relationship Type="http://schemas.openxmlformats.org/officeDocument/2006/relationships/tableStyles" Target="/ppt/tableStyles.xml" Id="Ra15fc75d41844ab3" /><Relationship Type="http://schemas.openxmlformats.org/officeDocument/2006/relationships/slide" Target="/ppt/slides/slide1.xml" Id="R82ec106b78034b5b" /><Relationship Type="http://schemas.openxmlformats.org/officeDocument/2006/relationships/slide" Target="/ppt/slides/slide2.xml" Id="Ra2ba2249647643d5" /><Relationship Type="http://schemas.openxmlformats.org/officeDocument/2006/relationships/slide" Target="/ppt/slides/slide3.xml" Id="Rb612fe0eb87847a1" /><Relationship Type="http://schemas.openxmlformats.org/officeDocument/2006/relationships/slide" Target="/ppt/slides/slide4.xml" Id="R6976325dfae8486b" /><Relationship Type="http://schemas.openxmlformats.org/officeDocument/2006/relationships/slide" Target="/ppt/slides/slide5.xml" Id="R66b5ec72b3754848" /><Relationship Type="http://schemas.openxmlformats.org/officeDocument/2006/relationships/slide" Target="/ppt/slides/slide6.xml" Id="R5366d0a7d0ec408e" /><Relationship Type="http://schemas.openxmlformats.org/officeDocument/2006/relationships/slide" Target="/ppt/slides/slide7.xml" Id="R7c14550c479e4825" /><Relationship Type="http://schemas.openxmlformats.org/officeDocument/2006/relationships/slide" Target="/ppt/slides/slide8.xml" Id="R40bfd5c3624547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443a5477014a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9fa3d75ad149dd" /><Relationship Type="http://schemas.openxmlformats.org/officeDocument/2006/relationships/notesMaster" Target="/ppt/notesMasters/notesMaster1.xml" Id="R2a1fa35da00f48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bffdee0974ba8" /><Relationship Type="http://schemas.openxmlformats.org/officeDocument/2006/relationships/notesMaster" Target="/ppt/notesMasters/notesMaster1.xml" Id="Re57486d64b9641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2799d0a94e4a5d" /><Relationship Type="http://schemas.openxmlformats.org/officeDocument/2006/relationships/notesMaster" Target="/ppt/notesMasters/notesMaster1.xml" Id="Re7522d4727774f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09cfd0f64e4d9a" /><Relationship Type="http://schemas.openxmlformats.org/officeDocument/2006/relationships/notesMaster" Target="/ppt/notesMasters/notesMaster1.xml" Id="R1dd6c36f9ad3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134bb078804969" /><Relationship Type="http://schemas.openxmlformats.org/officeDocument/2006/relationships/notesMaster" Target="/ppt/notesMasters/notesMaster1.xml" Id="Rff89a3bec317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e99504a574cc0" /><Relationship Type="http://schemas.openxmlformats.org/officeDocument/2006/relationships/notesMaster" Target="/ppt/notesMasters/notesMaster1.xml" Id="R102cdb694c1443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c9e17a38084ebc" /><Relationship Type="http://schemas.openxmlformats.org/officeDocument/2006/relationships/notesMaster" Target="/ppt/notesMasters/notesMaster1.xml" Id="R6200169ac16d45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cbc1dc6a454da5" /><Relationship Type="http://schemas.openxmlformats.org/officeDocument/2006/relationships/notesMaster" Target="/ppt/notesMasters/notesMaster1.xml" Id="Rf2f03278a9c545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'usdGeospatial build loop'. README SHA-256: 499baead9bd928b544619434127ee666ad7bdf656010194262f20934fc29bc24.</a:t>
            </a:r>
          </a:p>
          <a:p xmlns:a="http://schemas.openxmlformats.org/drawingml/2006/main">
            <a:r>
              <a:t>Functional requirements, runtime behavior and measured evidence</a:t>
            </a:r>
          </a:p>
          <a:p xmlns:a="http://schemas.openxmlformats.org/drawingml/2006/main">
            <a:r>
              <a:t>Implementation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'Checkpoint'. README SHA-256: 499baead9bd928b544619434127ee666ad7bdf656010194262f20934fc29bc24.</a:t>
            </a:r>
          </a:p>
          <a:p xmlns:a="http://schemas.openxmlformats.org/drawingml/2006/main">
            <a:r>
              <a:t>35 tests passed, 0 failed, 0 skipped in this delivered run.</a:t>
            </a:r>
          </a:p>
          <a:p xmlns:a="http://schemas.openxmlformats.org/drawingml/2006/main">
            <a:r>
              <a:t>29 functional requirements, 9 numbered open questions and 7 grouped build stops are tracked.</a:t>
            </a:r>
          </a:p>
          <a:p xmlns:a="http://schemas.openxmlformats.org/drawingml/2006/main">
            <a:r>
              <a:t>The requirements and runtime derivation remain drafts. Complete scene resolution and independent OpenUSD/OV agreement remain unimplemented.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'Runnable components'. README SHA-256: 499baead9bd928b544619434127ee666ad7bdf656010194262f20934fc29bc24.</a:t>
            </a:r>
          </a:p>
          <a:p xmlns:a="http://schemas.openxmlformats.org/drawingml/2006/main">
            <a:r>
              <a:t>A read-only binding inspector reads composed USD relationships, nested overrides and forwarded targets.</a:t>
            </a:r>
          </a:p>
          <a:p xmlns:a="http://schemas.openxmlformats.org/drawingml/2006/main">
            <a:r>
              <a:t>A PROJ adapter converts explicit WGS 84 geographic-3D and geocentric coordinates, with operation provenance and whole-batch failures.</a:t>
            </a:r>
          </a:p>
          <a:p xmlns:a="http://schemas.openxmlformats.org/drawingml/2006/main">
            <a:r>
              <a:t>Input-change checks invalidate stale derivations before old tests can count as current evidence.</a:t>
            </a:r>
          </a:p>
          <a:p xmlns:a="http://schemas.openxmlformats.org/drawingml/2006/main">
            <a:r>
              <a:t>Anchor decoding, placement matrices, scene-target selection, general datum/grid/epoch operations and OV integration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'Coordinate checks'. README SHA-256: 499baead9bd928b544619434127ee666ad7bdf656010194262f20934fc29bc24.</a:t>
            </a:r>
          </a:p>
          <a:p xmlns:a="http://schemas.openxmlformats.org/drawingml/2006/main">
            <a:r>
              <a:t>Maximum measured Cartesian residual: 0.000000000 m at a coordinate magnitude of 6378147.000 m.</a:t>
            </a:r>
          </a:p>
          <a:p xmlns:a="http://schemas.openxmlformats.org/drawingml/2006/main">
            <a:r>
              <a:t>Expected coordinates come from WGS 84 ellipsoid equations calculated separately from PROJ.</a:t>
            </a:r>
          </a:p>
          <a:p xmlns:a="http://schemas.openxmlformats.org/drawingml/2006/main">
            <a:r>
              <a:t>The analytic check uses a 0.000001 m numerical tolerance. This is a component-test tolerance.</a:t>
            </a:r>
          </a:p>
          <a:p xmlns:a="http://schemas.openxmlformats.org/drawingml/2006/main">
            <a:r>
              <a:t>PROJ reports this operation's accuracy as unknown. A measured residual does not replace the engine's accuracy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'Sampled position path'. README SHA-256: 499baead9bd928b544619434127ee666ad7bdf656010194262f20934fc29bc24.</a:t>
            </a:r>
          </a:p>
          <a:p xmlns:a="http://schemas.openxmlformats.org/drawingml/2006/main">
            <a:r>
              <a:t>Converting the native midpoint first places the example point on the ellipsoid.</a:t>
            </a:r>
          </a:p>
          <a:p xmlns:a="http://schemas.openxmlformats.org/drawingml/2006/main">
            <a:r>
              <a:t>Converted-first midpoint displacement: 971.421 m below that point.</a:t>
            </a:r>
          </a:p>
          <a:p xmlns:a="http://schemas.openxmlformats.org/drawingml/2006/main">
            <a:r>
              <a:t>This exercises requirement 20, Positions between recorded moments, using its equatorial example.</a:t>
            </a:r>
          </a:p>
          <a:p xmlns:a="http://schemas.openxmlformats.org/drawingml/2006/main">
            <a:r>
              <a:t>Whether USD may record geographic positions, and which carrier holds them, remains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'Partner baseline'. README SHA-256: 499baead9bd928b544619434127ee666ad7bdf656010194262f20934fc29bc24.</a:t>
            </a:r>
          </a:p>
          <a:p xmlns:a="http://schemas.openxmlformats.org/drawingml/2006/main">
            <a:r>
              <a:t>Tower-origin residual: 0.000000 m against the partner's stated coordinates.</a:t>
            </a:r>
          </a:p>
          <a:p xmlns:a="http://schemas.openxmlformats.org/drawingml/2006/main">
            <a:r>
              <a:t>Tower height: 299.999995 m against the stated approximately 300 m.</a:t>
            </a:r>
          </a:p>
          <a:p xmlns:a="http://schemas.openxmlformats.org/drawingml/2006/main">
            <a:r>
              <a:t>Calibrated grid-origin residual: 0.001339 mm.</a:t>
            </a:r>
          </a:p>
          <a:p xmlns:a="http://schemas.openxmlformats.org/drawingml/2006/main">
            <a:r>
              <a:t>These checks reproduce the existing stock-USD example. They do not validate a new scene resolver.</a:t>
            </a:r>
          </a:p>
          <a:p xmlns:a="http://schemas.openxmlformats.org/drawingml/2006/main">
            <a:r>
              <a:t>The attachment remains local because redistribution has not been established. Public reruns skip its two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'Open decisions'. README SHA-256: 499baead9bd928b544619434127ee666ad7bdf656010194262f20934fc29bc24.</a:t>
            </a:r>
          </a:p>
          <a:p xmlns:a="http://schemas.openxmlformats.org/drawingml/2006/main">
            <a:r>
              <a:t>S01: position carrier, geographic recording and the position/offset boundary.</a:t>
            </a:r>
          </a:p>
          <a:p xmlns:a="http://schemas.openxmlformats.org/drawingml/2006/main">
            <a:r>
              <a:t>S02: preserving an asset's native CRS while placing it in a project.</a:t>
            </a:r>
          </a:p>
          <a:p xmlns:a="http://schemas.openxmlformats.org/drawingml/2006/main">
            <a:r>
              <a:t>S03: scene units/up axis, the placement basis and its distance/extent bound.</a:t>
            </a:r>
          </a:p>
          <a:p xmlns:a="http://schemas.openxmlformats.org/drawingml/2006/main">
            <a:r>
              <a:t>S04: consumer target selection and geographic scene output.</a:t>
            </a:r>
          </a:p>
          <a:p xmlns:a="http://schemas.openxmlformats.org/drawingml/2006/main">
            <a:r>
              <a:t>S05: dependency declaration, explicit export and re-resolution.</a:t>
            </a:r>
          </a:p>
          <a:p xmlns:a="http://schemas.openxmlformats.org/drawingml/2006/main">
            <a:r>
              <a:t>S06: practitioner controls, operation resources, a second engine and OV evidence.</a:t>
            </a:r>
          </a:p>
          <a:p xmlns:a="http://schemas.openxmlformats.org/drawingml/2006/main">
            <a:r>
              <a:t>S07: complete rules for hierarchical binding relationships.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'Delivery for each run'. README SHA-256: 499baead9bd928b544619434127ee666ad7bdf656010194262f20934fc29bc24.</a:t>
            </a:r>
          </a:p>
          <a:p xmlns:a="http://schemas.openxmlformats.org/drawingml/2006/main">
            <a:r>
              <a:t>A successful test invocation produces an immutable checkpoint with the input revision, source hashes, environment, results and remaining decisions.</a:t>
            </a:r>
          </a:p>
          <a:p xmlns:a="http://schemas.openxmlformats.org/drawingml/2006/main">
            <a:r>
              <a:t>Run evidence updates the README. The PR body and slide content are then derived from the README.</a:t>
            </a:r>
          </a:p>
          <a:p xmlns:a="http://schemas.openxmlformats.org/drawingml/2006/main">
            <a:r>
              <a:t>A publication check rejects issue/PR citations, private paths and private communication links before a push or PR update.</a:t>
            </a:r>
          </a:p>
          <a:p xmlns:a="http://schemas.openxmlformats.org/drawingml/2006/main">
            <a:r>
              <a:t>One standing draft PR receives each reviewed checkpoint. Earlier run records remain in the branch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833e3fbc348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114faf2c0452e" /><Relationship Type="http://schemas.openxmlformats.org/officeDocument/2006/relationships/slideLayout" Target="/ppt/slideLayouts/slideLayout1.xml" Id="R214e8dd862b84e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4e8dd862b84e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4983245e34536" /><Relationship Type="http://schemas.openxmlformats.org/officeDocument/2006/relationships/notesSlide" Target="/ppt/notesSlides/notesSlide1.xml" Id="R03f4b3154c1a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2cb70c1aa4181" /><Relationship Type="http://schemas.openxmlformats.org/officeDocument/2006/relationships/notesSlide" Target="/ppt/notesSlides/notesSlide2.xml" Id="Ra18318b7b9d0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09f70f2974cd2" /><Relationship Type="http://schemas.openxmlformats.org/officeDocument/2006/relationships/notesSlide" Target="/ppt/notesSlides/notesSlide3.xml" Id="Ref8fd82666524b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b45b7687c40b6" /><Relationship Type="http://schemas.openxmlformats.org/officeDocument/2006/relationships/notesSlide" Target="/ppt/notesSlides/notesSlide4.xml" Id="Raa5f23796736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99bd590c24422" /><Relationship Type="http://schemas.openxmlformats.org/officeDocument/2006/relationships/chart" Target="/ppt/slides/charts/chart1.xml" Id="R8a51789a0d064912" /><Relationship Type="http://schemas.openxmlformats.org/officeDocument/2006/relationships/notesSlide" Target="/ppt/notesSlides/notesSlide5.xml" Id="R09faaca275364a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c2c81a704bbc" /><Relationship Type="http://schemas.openxmlformats.org/officeDocument/2006/relationships/notesSlide" Target="/ppt/notesSlides/notesSlide6.xml" Id="Rf7d589ffdf7845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01cf844c24d7c" /><Relationship Type="http://schemas.openxmlformats.org/officeDocument/2006/relationships/notesSlide" Target="/ppt/notesSlides/notesSlide7.xml" Id="R966a22ed293848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93cc55ff24090" /><Relationship Type="http://schemas.openxmlformats.org/officeDocument/2006/relationships/notesSlide" Target="/ppt/notesSlides/notesSlide8.xml" Id="R4b74cd78188343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Midpoint displacement</c:v>
          </c:tx>
          <c:spPr>
            <a:solidFill xmlns:a="http://schemas.openxmlformats.org/drawingml/2006/main">
              <a:srgbClr val="548B00"/>
            </a:solidFill>
          </c:spPr>
          <c:cat>
            <c:strRef>
              <c:f>'Chart Data'!$A$2:$A$3</c:f>
              <c:strCache>
                <c:ptCount val="2"/>
                <c:pt idx="0">
                  <c:v>Native midpoint first</c:v>
                </c:pt>
                <c:pt idx="1">
                  <c:v>Converted samples first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971.421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52A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152A36"/>
                    </a:solidFill>
                    <a:latin typeface="Arial"/>
                    <a:ea typeface="Arial"/>
                    <a:cs typeface="Arial"/>
                  </a:rPr>
                  <a:t>Displacement (m)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2A36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2E707-6FF6-4F93-9ECB-8E869D7A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usdGeospatial build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37041-C817-4272-8BFD-696B389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BE8E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BE8EC"/>
                </a:solidFill>
                <a:latin typeface="Arial"/>
                <a:ea typeface="Arial"/>
                <a:cs typeface="Arial"/>
              </a:rPr>
              <a:t>Functional requirements, runtime behavior and measured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AEF45-5B90-43E9-B03E-84A16C33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3D7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3D744"/>
                </a:solidFill>
                <a:latin typeface="Arial"/>
                <a:ea typeface="Arial"/>
                <a:cs typeface="Arial"/>
              </a:rPr>
              <a:t>Implementation checkpoint</a:t>
            </a:r>
          </a:p>
        </p:txBody>
      </p:sp>
    </p:spTree>
    <p:extLst>
      <p:ext uri="{BB962C8B-B14F-4D97-AF65-F5344CB8AC3E}">
        <p14:creationId xmlns:p14="http://schemas.microsoft.com/office/powerpoint/2010/main" val="105169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E795F-5466-49F2-A6F5-9BC8F8ED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914DE-5C3E-46D4-98BA-134C304E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35 tests passed, 0 failed, 0 skipped in this delivered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F1D23-E537-45D5-AD62-424D0F3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29 functional requirements, 9 numbered open questions and 7 grouped build stops are tracked.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051F6-FE2B-40C3-852F-2861DE26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requirements and runtime derivation remain drafts. Complete scene resolution and independent OpenUSD/OV agreement remain unimplemented.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AC9F-E737-4A70-97DA-31DA20E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280029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7918B-9F0A-4F6A-91EB-8433ACC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Runnable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C6FF8-A482-4A26-A5FF-153ACD32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 read-only binding inspector reads composed USD relationships, nested overrides and forwarded targets.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98052-B539-4683-9985-05D1F25D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 PROJ adapter converts explicit WGS 84 geographic-3D and geocentric coordinates, with operation provenance and whole-batch failures.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A7A68-5B85-4F8C-AC82-C5EDBC8A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Input-change checks invalidate stale derivations before old tests can count as current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27C79-BEC6-4059-80BE-8E45ED49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Anchor decoding, placement matrices, scene-target selection, general datum/grid/epoch operations and OV integration remain 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5CEEA-26C7-4BC8-8B48-B652C8AF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623364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B231-59EF-4C43-9FF9-50DFE11B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Coordinate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92CB5-29CE-4F93-833A-4642BCA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Maximum measured Cartesian residual: 0.000000000 m at a coordinate magnitude of 6378147.000 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1FEB1-9B73-487C-AD99-BFCD1B3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Expected coordinates come from WGS 84 ellipsoid equations calculated separately from PROJ.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4BB7-06DD-467D-8B67-57B24883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analytic check uses a 0.000001 m numerical tolerance. This is a component-test tolerance.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9F578-E1C6-4E9A-A0CB-AB1CBDB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PROJ reports this operation's accuracy as unknown. A measured residual does not replace the engine's accuracy estimate.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FF4DF-7E71-487F-9E68-D0F690F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972147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FD4A6-63D1-4397-9994-D6B6030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Sampled position path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1543050"/>
          <a:ext xmlns:a="http://schemas.openxmlformats.org/drawingml/2006/main" cx="70961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51789a0d06491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2328B-CCBA-480B-A8A5-BBA7A63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This exercises requirement 20, Positions between recorded moments, using its equatorial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DC31-2C65-4347-A160-B41BFF35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33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Whether USD may record geographic positions, and which carrier holds them, remains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D15D6-1CC8-45F7-A5F5-9F442877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073842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8908E-9A9B-4D12-87E7-09BFF08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Partner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34721-4548-4E2E-845A-7C8B3DC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Tower-origin residual: 0.000000 m against the partner's stated coordinates.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FFC2B-BA47-4781-8D89-08F94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Tower height: 299.999995 m against the stated approximately 300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EDB7-31C1-42AB-B47A-9FE9B5E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Calibrated grid-origin residual: 0.001339 mm.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E5C54-3477-4735-BB21-95D5823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These checks reproduce the existing stock-USD example. They do not validate a new scene resolver.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232EA-67F3-4436-92E3-BC07098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attachment remains local because redistribution has not been established. Public reruns skip its two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49D0-A908-4D04-92E1-3A42353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036832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B29C0-6F12-4FE3-AB96-E501372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Open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2C4D2-3BC0-4437-BD06-77B6D0BC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S01: position carrier, geographic recording and the position/offset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3E503-C388-4221-BE0B-57F6C81E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S02: preserving an asset's native CRS while placing it in a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11A42-6965-4FB5-9035-BB5AB563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S03: scene units/up axis, the placement basis and its distance/extent bound.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59F60-287B-4F90-B9FE-13B44525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S04: consumer target selection and geographic scene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05EA7-8694-472D-A60E-E2D1081E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S05: dependency declaration, explicit export and re-resolution.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EBF7-77BB-4ACD-99E4-C76F72F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S06: practitioner controls, operation resources, a second engine and OV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81294-5040-4439-A3E5-ED6FBC0E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S07: complete rules for hierarchical binding relationships.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772CC-5EA8-47AC-9703-27ACF8E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568703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909BE-D112-4BD4-8E39-F564A223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Delivery for each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179E2-8D84-45AD-B3C0-CBCF4A53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 successful test invocation produces an immutable checkpoint with the input revision, source hashes, environment, results and remaining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518BC-03DA-4F6F-8951-1B55D07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Run evidence updates the README. The PR body and slide content are then derived from the README.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A0486-6AD9-4840-BE4A-F4FFD47F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A publication check rejects issue/PR citations, private paths and private communication links before a push or PR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C8695-E41D-4AB2-B336-A5EDD2B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One standing draft PR receives each reviewed checkpoint. Earlier run records remain in the branch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6948D-D831-4E52-AA6D-D00CF80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2072766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2026-09-21T22:38:10.9400000Z</dcterms:created>
  <dcterms:modified xsi:type="dcterms:W3CDTF">2026-09-21T22:38:10.9400000Z</dcterms:modified>
</coreProperties>
</file>