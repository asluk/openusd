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b62a0134254227" /><Relationship Type="http://schemas.openxmlformats.org/officeDocument/2006/relationships/extended-properties" Target="/docProps/app.xml" Id="Rc6fc8e510b5246bd" /><Relationship Type="http://schemas.openxmlformats.org/officeDocument/2006/relationships/officeDocument" Target="/ppt/presentation.xml" Id="Rfa224452123241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02cfb239a843fc"/>
  </p:sldMasterIdLst>
  <p:notesMasterIdLst>
    <p:notesMasterId xmlns:r="http://schemas.openxmlformats.org/officeDocument/2006/relationships" r:id="R2da6416b36554272"/>
  </p:notesMasterIdLst>
  <p:sldIdLst>
    <p:sldId xmlns:r="http://schemas.openxmlformats.org/officeDocument/2006/relationships" id="256" r:id="R54a7a7a8b617410e"/>
    <p:sldId xmlns:r="http://schemas.openxmlformats.org/officeDocument/2006/relationships" id="257" r:id="R133410885cdb48a7"/>
    <p:sldId xmlns:r="http://schemas.openxmlformats.org/officeDocument/2006/relationships" id="258" r:id="R7e3c879bf9a747e8"/>
    <p:sldId xmlns:r="http://schemas.openxmlformats.org/officeDocument/2006/relationships" id="259" r:id="R4c80bad8cd024ffc"/>
    <p:sldId xmlns:r="http://schemas.openxmlformats.org/officeDocument/2006/relationships" id="260" r:id="Raa830915dfe24196"/>
    <p:sldId xmlns:r="http://schemas.openxmlformats.org/officeDocument/2006/relationships" id="261" r:id="R8da20666cab54a03"/>
    <p:sldId xmlns:r="http://schemas.openxmlformats.org/officeDocument/2006/relationships" id="262" r:id="R85ffe6ee43bc4b0c"/>
    <p:sldId xmlns:r="http://schemas.openxmlformats.org/officeDocument/2006/relationships" id="263" r:id="R63efb70e9f4a4699"/>
    <p:sldId xmlns:r="http://schemas.openxmlformats.org/officeDocument/2006/relationships" id="264" r:id="R26c884d5b91f42a6"/>
    <p:sldId xmlns:r="http://schemas.openxmlformats.org/officeDocument/2006/relationships" id="265" r:id="R0a9f7bb3338b44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61c80e88992435e" /><Relationship Type="http://schemas.openxmlformats.org/officeDocument/2006/relationships/slideMaster" Target="/ppt/slideMasters/slideMaster1.xml" Id="Rde02cfb239a843fc" /><Relationship Type="http://schemas.openxmlformats.org/officeDocument/2006/relationships/notesMaster" Target="/ppt/notesMasters/notesMaster1.xml" Id="R2da6416b36554272" /><Relationship Type="http://schemas.openxmlformats.org/officeDocument/2006/relationships/presProps" Target="/ppt/presProps.xml" Id="R393917456a11466b" /><Relationship Type="http://schemas.openxmlformats.org/officeDocument/2006/relationships/tableStyles" Target="/ppt/tableStyles.xml" Id="R1ca0c723b4c54b83" /><Relationship Type="http://schemas.openxmlformats.org/officeDocument/2006/relationships/slide" Target="/ppt/slides/slide1.xml" Id="R54a7a7a8b617410e" /><Relationship Type="http://schemas.openxmlformats.org/officeDocument/2006/relationships/slide" Target="/ppt/slides/slide2.xml" Id="R133410885cdb48a7" /><Relationship Type="http://schemas.openxmlformats.org/officeDocument/2006/relationships/slide" Target="/ppt/slides/slide3.xml" Id="R7e3c879bf9a747e8" /><Relationship Type="http://schemas.openxmlformats.org/officeDocument/2006/relationships/slide" Target="/ppt/slides/slide4.xml" Id="R4c80bad8cd024ffc" /><Relationship Type="http://schemas.openxmlformats.org/officeDocument/2006/relationships/slide" Target="/ppt/slides/slide5.xml" Id="Raa830915dfe24196" /><Relationship Type="http://schemas.openxmlformats.org/officeDocument/2006/relationships/slide" Target="/ppt/slides/slide6.xml" Id="R8da20666cab54a03" /><Relationship Type="http://schemas.openxmlformats.org/officeDocument/2006/relationships/slide" Target="/ppt/slides/slide7.xml" Id="R85ffe6ee43bc4b0c" /><Relationship Type="http://schemas.openxmlformats.org/officeDocument/2006/relationships/slide" Target="/ppt/slides/slide8.xml" Id="R63efb70e9f4a4699" /><Relationship Type="http://schemas.openxmlformats.org/officeDocument/2006/relationships/slide" Target="/ppt/slides/slide9.xml" Id="R26c884d5b91f42a6" /><Relationship Type="http://schemas.openxmlformats.org/officeDocument/2006/relationships/slide" Target="/ppt/slides/slide10.xml" Id="R0a9f7bb3338b44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07d0a188b04d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1e84c2390a4ddc" /><Relationship Type="http://schemas.openxmlformats.org/officeDocument/2006/relationships/notesMaster" Target="/ppt/notesMasters/notesMaster1.xml" Id="R7d3103d3656a43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f1f436e2ce4863" /><Relationship Type="http://schemas.openxmlformats.org/officeDocument/2006/relationships/notesMaster" Target="/ppt/notesMasters/notesMaster1.xml" Id="Rd9eb0f89e6d046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d2b39080434509" /><Relationship Type="http://schemas.openxmlformats.org/officeDocument/2006/relationships/notesMaster" Target="/ppt/notesMasters/notesMaster1.xml" Id="R3d30f1967bb84c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a17b098db04f52" /><Relationship Type="http://schemas.openxmlformats.org/officeDocument/2006/relationships/notesMaster" Target="/ppt/notesMasters/notesMaster1.xml" Id="Ref5f9aba956b4a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32e9d598fab4ddc" /><Relationship Type="http://schemas.openxmlformats.org/officeDocument/2006/relationships/notesMaster" Target="/ppt/notesMasters/notesMaster1.xml" Id="R72b43219e1064bb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2620689baa4a7f" /><Relationship Type="http://schemas.openxmlformats.org/officeDocument/2006/relationships/notesMaster" Target="/ppt/notesMasters/notesMaster1.xml" Id="Ra32673aea2314d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11b3f82e64550" /><Relationship Type="http://schemas.openxmlformats.org/officeDocument/2006/relationships/notesMaster" Target="/ppt/notesMasters/notesMaster1.xml" Id="R6830a32e38af44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01ee9f9c80405c" /><Relationship Type="http://schemas.openxmlformats.org/officeDocument/2006/relationships/notesMaster" Target="/ppt/notesMasters/notesMaster1.xml" Id="Ra0a2c85428b548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92ee615f21d4200" /><Relationship Type="http://schemas.openxmlformats.org/officeDocument/2006/relationships/notesMaster" Target="/ppt/notesMasters/notesMaster1.xml" Id="R247b59675f7f42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d49487105342b1" /><Relationship Type="http://schemas.openxmlformats.org/officeDocument/2006/relationships/notesMaster" Target="/ppt/notesMasters/notesMaster1.xml" Id="R046875d70a334a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Proposal authority and decisions requiring review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Proposal authority and decisions requiring review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Physical placement and ordinary transforms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Eiffel model and native Hydra rendering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Colorado survey geometry and site calibration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Non-visual measurements and regional geometry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Non-visual measurements and regional geometry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Same partner coordinate inputs in both implementations and the OV host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Source interpolation and freshly reread exports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curve is a 61-point analytic visualization guide. Dots are the three actual resolved sample positions verified in fresh geometry exports. Source longitude goes from 0 to 2 degrees. Chart offset is for presentation only. Literal chart snapshots round plotted values to six decimals; underlying results remain unchanged.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 section: Actual consumers and shared components</a:t>
            </a:r>
          </a:p>
          <a:p xmlns:a="http://schemas.openxmlformats.org/drawingml/2006/main">
            <a:r>
              <a:t>README SHA-256: c8526cd9672f2b8759543cc9d70a0c46dfb12b90f6efdc873b35ce1f4b6c0226</a:t>
            </a:r>
          </a:p>
          <a:p xmlns:a="http://schemas.openxmlformats.org/drawingml/2006/main">
            <a:r>
              <a:t>Receipt SHA-256: 6c79acd04eab6bc51bc3a0e3ed50dcd66f1e7ec12395db537c76bc0dbb94a35d</a:t>
            </a:r>
          </a:p>
          <a:p xmlns:a="http://schemas.openxmlformats.org/drawingml/2006/main">
            <a:r>
              <a:t>Immutable execution receipt SHA-256: d3c90dd02e9642080edef6d0dfed00c95e6e3d01e18b746df9fdd185e63c31ca</a:t>
            </a:r>
          </a:p>
          <a:p xmlns:a="http://schemas.openxmlformats.org/drawingml/2006/main">
            <a:r>
              <a:t>Proposal SHA-256: 2120953af221f83816486afbe88a06768e206d23cb570b5e39a193f254ba7a11</a:t>
            </a:r>
          </a:p>
          <a:p xmlns:a="http://schemas.openxmlformats.org/drawingml/2006/main">
            <a:r>
              <a:t>Integration evidence SHA-256: 235be1ab2b43c161614d1bba09517b8cb20166592929e7061d6b53f59f2ae8e9</a:t>
            </a:r>
          </a:p>
          <a:p xmlns:a="http://schemas.openxmlformats.org/drawingml/2006/main">
            <a:r>
              <a:t>Executed source parent: 874ad2059b4a0c168600804acc9ce56e5834d35a; exact executed files frozen in receipt.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Local candidate, not group agreement or whole-requirement conformance. Two placement implementations; all use PROJ. OV reuses Python with a verified runtime geometry sink, without an OV render claim. Hydra uses a resolved ordinary-USD export from C++ results. Source data and measured limitations are documented in the README.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089f70622b4c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509ebf6a7f4567" /><Relationship Type="http://schemas.openxmlformats.org/officeDocument/2006/relationships/slideLayout" Target="/ppt/slideLayouts/slideLayout1.xml" Id="Rddd8393df91b48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d8393df91b48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fab92d0c548a3" /><Relationship Type="http://schemas.openxmlformats.org/officeDocument/2006/relationships/notesSlide" Target="/ppt/notesSlides/notesSlide1.xml" Id="R36b9b9f505a14c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384f000374a67" /><Relationship Type="http://schemas.openxmlformats.org/officeDocument/2006/relationships/notesSlide" Target="/ppt/notesSlides/notesSlide2.xml" Id="Rd7b76e2c18b946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31936fd434e88" /><Relationship Type="http://schemas.openxmlformats.org/officeDocument/2006/relationships/notesSlide" Target="/ppt/notesSlides/notesSlide3.xml" Id="R37197d7d632540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7e76797c74064" /><Relationship Type="http://schemas.openxmlformats.org/officeDocument/2006/relationships/image" Target="/ppt/media/image.png" Id="R06b4362a47174dda" /><Relationship Type="http://schemas.openxmlformats.org/officeDocument/2006/relationships/notesSlide" Target="/ppt/notesSlides/notesSlide4.xml" Id="R04f46af8f8cc43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ece5c37044c01" /><Relationship Type="http://schemas.openxmlformats.org/officeDocument/2006/relationships/image" Target="/ppt/media/image2.png" Id="Racf75f57d7e341fa" /><Relationship Type="http://schemas.openxmlformats.org/officeDocument/2006/relationships/notesSlide" Target="/ppt/notesSlides/notesSlide5.xml" Id="R53b590254d2941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b932378a74dd4" /><Relationship Type="http://schemas.openxmlformats.org/officeDocument/2006/relationships/image" Target="/ppt/media/image3.png" Id="Rc1bd0301090b4eb1" /><Relationship Type="http://schemas.openxmlformats.org/officeDocument/2006/relationships/notesSlide" Target="/ppt/notesSlides/notesSlide6.xml" Id="R408a30696daa47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39a4acb9434c8c" /><Relationship Type="http://schemas.openxmlformats.org/officeDocument/2006/relationships/image" Target="/ppt/media/image4.png" Id="Rd86f07368a3c49c8" /><Relationship Type="http://schemas.openxmlformats.org/officeDocument/2006/relationships/notesSlide" Target="/ppt/notesSlides/notesSlide7.xml" Id="R21fbb12be9ea467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cb794799144630" /><Relationship Type="http://schemas.openxmlformats.org/officeDocument/2006/relationships/notesSlide" Target="/ppt/notesSlides/notesSlide8.xml" Id="Rb4406acb62fb40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2a56f7a6545f6" /><Relationship Type="http://schemas.openxmlformats.org/officeDocument/2006/relationships/chart" Target="/ppt/slides/charts/chart1.xml" Id="R2acb5832f09e4f68" /><Relationship Type="http://schemas.openxmlformats.org/officeDocument/2006/relationships/notesSlide" Target="/ppt/notesSlides/notesSlide9.xml" Id="R04891e4d616548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7a7c7e1ff4c77" /><Relationship Type="http://schemas.openxmlformats.org/officeDocument/2006/relationships/notesSlide" Target="/ppt/notesSlides/notesSlide10.xml" Id="Ree6fea09bdf949d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Source-first ECEF path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 b="1">
              <a:solidFill>
                <a:srgbClr val="213744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Marker"/>
        <c:ser>
          <c:idx val="0"/>
          <c:order val="0"/>
          <c:tx>
            <c:v>Analytic guide</c:v>
          </c:tx>
          <c:spPr>
            <a:ln xmlns:a="http://schemas.openxmlformats.org/drawingml/2006/main" w="28575">
              <a:solidFill>
                <a:srgbClr val="157C87"/>
              </a:solidFill>
            </a:ln>
          </c:spPr>
          <c:marker>
            <c:symbol val="none"/>
          </c:marker>
          <c:xVal>
            <c:numRef>
              <c:f>'Chart Data'!$A$2:$A$62</c:f>
              <c:numCache>
                <c:formatCode>General</c:formatCode>
                <c:ptCount val="61"/>
                <c:pt idx="0">
                  <c:v>0</c:v>
                </c:pt>
                <c:pt idx="1">
                  <c:v>3.710649</c:v>
                </c:pt>
                <c:pt idx="2">
                  <c:v>7.421298</c:v>
                </c:pt>
                <c:pt idx="3">
                  <c:v>11.131943</c:v>
                </c:pt>
                <c:pt idx="4">
                  <c:v>14.842585</c:v>
                </c:pt>
                <c:pt idx="5">
                  <c:v>18.553222</c:v>
                </c:pt>
                <c:pt idx="6">
                  <c:v>22.263853</c:v>
                </c:pt>
                <c:pt idx="7">
                  <c:v>25.974476</c:v>
                </c:pt>
                <c:pt idx="8">
                  <c:v>29.68509</c:v>
                </c:pt>
                <c:pt idx="9">
                  <c:v>33.395695</c:v>
                </c:pt>
                <c:pt idx="10">
                  <c:v>37.106288</c:v>
                </c:pt>
                <c:pt idx="11">
                  <c:v>40.816868</c:v>
                </c:pt>
                <c:pt idx="12">
                  <c:v>44.527435</c:v>
                </c:pt>
                <c:pt idx="13">
                  <c:v>48.237986</c:v>
                </c:pt>
                <c:pt idx="14">
                  <c:v>51.948521</c:v>
                </c:pt>
                <c:pt idx="15">
                  <c:v>55.659039</c:v>
                </c:pt>
                <c:pt idx="16">
                  <c:v>59.369538</c:v>
                </c:pt>
                <c:pt idx="17">
                  <c:v>63.080016</c:v>
                </c:pt>
                <c:pt idx="18">
                  <c:v>66.790474</c:v>
                </c:pt>
                <c:pt idx="19">
                  <c:v>70.500908</c:v>
                </c:pt>
                <c:pt idx="20">
                  <c:v>74.211319</c:v>
                </c:pt>
                <c:pt idx="21">
                  <c:v>77.921705</c:v>
                </c:pt>
                <c:pt idx="22">
                  <c:v>81.632064</c:v>
                </c:pt>
                <c:pt idx="23">
                  <c:v>85.342396</c:v>
                </c:pt>
                <c:pt idx="24">
                  <c:v>89.052699</c:v>
                </c:pt>
                <c:pt idx="25">
                  <c:v>92.762972</c:v>
                </c:pt>
                <c:pt idx="26">
                  <c:v>96.473213</c:v>
                </c:pt>
                <c:pt idx="27">
                  <c:v>100.183422</c:v>
                </c:pt>
                <c:pt idx="28">
                  <c:v>103.893596</c:v>
                </c:pt>
                <c:pt idx="29">
                  <c:v>107.603736</c:v>
                </c:pt>
                <c:pt idx="30">
                  <c:v>111.313839</c:v>
                </c:pt>
                <c:pt idx="31">
                  <c:v>115.023905</c:v>
                </c:pt>
                <c:pt idx="32">
                  <c:v>118.733931</c:v>
                </c:pt>
                <c:pt idx="33">
                  <c:v>122.443918</c:v>
                </c:pt>
                <c:pt idx="34">
                  <c:v>126.153863</c:v>
                </c:pt>
                <c:pt idx="35">
                  <c:v>129.863765</c:v>
                </c:pt>
                <c:pt idx="36">
                  <c:v>133.573623</c:v>
                </c:pt>
                <c:pt idx="37">
                  <c:v>137.283436</c:v>
                </c:pt>
                <c:pt idx="38">
                  <c:v>140.993203</c:v>
                </c:pt>
                <c:pt idx="39">
                  <c:v>144.702922</c:v>
                </c:pt>
                <c:pt idx="40">
                  <c:v>148.412592</c:v>
                </c:pt>
                <c:pt idx="41">
                  <c:v>152.122211</c:v>
                </c:pt>
                <c:pt idx="42">
                  <c:v>155.831779</c:v>
                </c:pt>
                <c:pt idx="43">
                  <c:v>159.541295</c:v>
                </c:pt>
                <c:pt idx="44">
                  <c:v>163.250756</c:v>
                </c:pt>
                <c:pt idx="45">
                  <c:v>166.960163</c:v>
                </c:pt>
                <c:pt idx="46">
                  <c:v>170.669512</c:v>
                </c:pt>
                <c:pt idx="47">
                  <c:v>174.378804</c:v>
                </c:pt>
                <c:pt idx="48">
                  <c:v>178.088037</c:v>
                </c:pt>
                <c:pt idx="49">
                  <c:v>181.79721</c:v>
                </c:pt>
                <c:pt idx="50">
                  <c:v>185.506321</c:v>
                </c:pt>
                <c:pt idx="51">
                  <c:v>189.215369</c:v>
                </c:pt>
                <c:pt idx="52">
                  <c:v>192.924353</c:v>
                </c:pt>
                <c:pt idx="53">
                  <c:v>196.633272</c:v>
                </c:pt>
                <c:pt idx="54">
                  <c:v>200.342125</c:v>
                </c:pt>
                <c:pt idx="55">
                  <c:v>204.050909</c:v>
                </c:pt>
                <c:pt idx="56">
                  <c:v>207.759625</c:v>
                </c:pt>
                <c:pt idx="57">
                  <c:v>211.46827</c:v>
                </c:pt>
                <c:pt idx="58">
                  <c:v>215.176844</c:v>
                </c:pt>
                <c:pt idx="59">
                  <c:v>218.885344</c:v>
                </c:pt>
                <c:pt idx="60">
                  <c:v>222.593771</c:v>
                </c:pt>
              </c:numCache>
            </c:numRef>
          </c:xVal>
          <c:yVal>
            <c:numRef>
              <c:f>'Chart Data'!$B$2:$B$62</c:f>
              <c:numCache>
                <c:formatCode>0</c:formatCode>
                <c:ptCount val="61"/>
                <c:pt idx="0">
                  <c:v>1942.694364</c:v>
                </c:pt>
                <c:pt idx="1">
                  <c:v>1941.61498</c:v>
                </c:pt>
                <c:pt idx="2">
                  <c:v>1938.376828</c:v>
                </c:pt>
                <c:pt idx="3">
                  <c:v>1932.979909</c:v>
                </c:pt>
                <c:pt idx="4">
                  <c:v>1925.424224</c:v>
                </c:pt>
                <c:pt idx="5">
                  <c:v>1915.709777</c:v>
                </c:pt>
                <c:pt idx="6">
                  <c:v>1903.836571</c:v>
                </c:pt>
                <c:pt idx="7">
                  <c:v>1889.80461</c:v>
                </c:pt>
                <c:pt idx="8">
                  <c:v>1873.613898</c:v>
                </c:pt>
                <c:pt idx="9">
                  <c:v>1855.264441</c:v>
                </c:pt>
                <c:pt idx="10">
                  <c:v>1834.756245</c:v>
                </c:pt>
                <c:pt idx="11">
                  <c:v>1812.089317</c:v>
                </c:pt>
                <c:pt idx="12">
                  <c:v>1787.263665</c:v>
                </c:pt>
                <c:pt idx="13">
                  <c:v>1760.279297</c:v>
                </c:pt>
                <c:pt idx="14">
                  <c:v>1731.136223</c:v>
                </c:pt>
                <c:pt idx="15">
                  <c:v>1699.834451</c:v>
                </c:pt>
                <c:pt idx="16">
                  <c:v>1666.373994</c:v>
                </c:pt>
                <c:pt idx="17">
                  <c:v>1630.754861</c:v>
                </c:pt>
                <c:pt idx="18">
                  <c:v>1592.977066</c:v>
                </c:pt>
                <c:pt idx="19">
                  <c:v>1553.040621</c:v>
                </c:pt>
                <c:pt idx="20">
                  <c:v>1510.945539</c:v>
                </c:pt>
                <c:pt idx="21">
                  <c:v>1466.691834</c:v>
                </c:pt>
                <c:pt idx="22">
                  <c:v>1420.279523</c:v>
                </c:pt>
                <c:pt idx="23">
                  <c:v>1371.70862</c:v>
                </c:pt>
                <c:pt idx="24">
                  <c:v>1320.979142</c:v>
                </c:pt>
                <c:pt idx="25">
                  <c:v>1268.091105</c:v>
                </c:pt>
                <c:pt idx="26">
                  <c:v>1213.044529</c:v>
                </c:pt>
                <c:pt idx="27">
                  <c:v>1155.839431</c:v>
                </c:pt>
                <c:pt idx="28">
                  <c:v>1096.475831</c:v>
                </c:pt>
                <c:pt idx="29">
                  <c:v>1034.953749</c:v>
                </c:pt>
                <c:pt idx="30">
                  <c:v>971.273206</c:v>
                </c:pt>
                <c:pt idx="31">
                  <c:v>905.434223</c:v>
                </c:pt>
                <c:pt idx="32">
                  <c:v>837.436823</c:v>
                </c:pt>
                <c:pt idx="33">
                  <c:v>767.281029</c:v>
                </c:pt>
                <c:pt idx="34">
                  <c:v>694.966864</c:v>
                </c:pt>
                <c:pt idx="35">
                  <c:v>620.494353</c:v>
                </c:pt>
                <c:pt idx="36">
                  <c:v>543.863521</c:v>
                </c:pt>
                <c:pt idx="37">
                  <c:v>465.074394</c:v>
                </c:pt>
                <c:pt idx="38">
                  <c:v>384.126998</c:v>
                </c:pt>
                <c:pt idx="39">
                  <c:v>301.021362</c:v>
                </c:pt>
                <c:pt idx="40">
                  <c:v>215.757513</c:v>
                </c:pt>
                <c:pt idx="41">
                  <c:v>128.33548</c:v>
                </c:pt>
                <c:pt idx="42">
                  <c:v>38.755293</c:v>
                </c:pt>
                <c:pt idx="43">
                  <c:v>-52.983018</c:v>
                </c:pt>
                <c:pt idx="44">
                  <c:v>-146.879423</c:v>
                </c:pt>
                <c:pt idx="45">
                  <c:v>-242.933888</c:v>
                </c:pt>
                <c:pt idx="46">
                  <c:v>-341.146382</c:v>
                </c:pt>
                <c:pt idx="47">
                  <c:v>-441.516871</c:v>
                </c:pt>
                <c:pt idx="48">
                  <c:v>-544.045322</c:v>
                </c:pt>
                <c:pt idx="49">
                  <c:v>-648.7317</c:v>
                </c:pt>
                <c:pt idx="50">
                  <c:v>-755.575969</c:v>
                </c:pt>
                <c:pt idx="51">
                  <c:v>-864.578093</c:v>
                </c:pt>
                <c:pt idx="52">
                  <c:v>-975.738036</c:v>
                </c:pt>
                <c:pt idx="53">
                  <c:v>-1089.055759</c:v>
                </c:pt>
                <c:pt idx="54">
                  <c:v>-1204.531224</c:v>
                </c:pt>
                <c:pt idx="55">
                  <c:v>-1322.164393</c:v>
                </c:pt>
                <c:pt idx="56">
                  <c:v>-1441.955225</c:v>
                </c:pt>
                <c:pt idx="57">
                  <c:v>-1563.903679</c:v>
                </c:pt>
                <c:pt idx="58">
                  <c:v>-1688.009716</c:v>
                </c:pt>
                <c:pt idx="59">
                  <c:v>-1814.273292</c:v>
                </c:pt>
                <c:pt idx="60">
                  <c:v>-1942.694364</c:v>
                </c:pt>
              </c:numCache>
            </c:numRef>
          </c:yVal>
        </c:ser>
        <c:ser>
          <c:idx val="1"/>
          <c:order val="1"/>
          <c:tx>
            <c:v>Converted endpoint chord</c:v>
          </c:tx>
          <c:spPr>
            <a:ln xmlns:a="http://schemas.openxmlformats.org/drawingml/2006/main" w="28575">
              <a:solidFill>
                <a:srgbClr val="A25D20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</c:v>
                </c:pt>
                <c:pt idx="1">
                  <c:v>222.593771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1942.694364</c:v>
                </c:pt>
                <c:pt idx="1">
                  <c:v>-1942.694364</c:v>
                </c:pt>
              </c:numCache>
            </c:numRef>
          </c:yVal>
        </c:ser>
        <c:ser>
          <c:idx val="2"/>
          <c:order val="2"/>
          <c:tx>
            <c:v>Resolved export samples</c:v>
          </c:tx>
          <c:spPr>
            <a:solidFill xmlns:a="http://schemas.openxmlformats.org/drawingml/2006/main">
              <a:srgbClr val="2A6199"/>
            </a:solidFill>
            <a:ln xmlns:a="http://schemas.openxmlformats.org/drawingml/2006/main" w="0">
              <a:noFill/>
            </a:ln>
          </c:spPr>
          <c:marker>
            <c:symbol val="circle"/>
            <c:size val="10"/>
            <c:spPr>
              <a:noFill xmlns:a="http://schemas.openxmlformats.org/drawingml/2006/main"/>
            </c:spPr>
          </c:marker>
          <c:xVal>
            <c:numRef>
              <c:f>'Chart Data'!$E$2:$E$4</c:f>
              <c:numCache>
                <c:formatCode>General</c:formatCode>
                <c:ptCount val="3"/>
                <c:pt idx="0">
                  <c:v>0</c:v>
                </c:pt>
                <c:pt idx="1">
                  <c:v>111.313839</c:v>
                </c:pt>
                <c:pt idx="2">
                  <c:v>222.593771</c:v>
                </c:pt>
              </c:numCache>
            </c:numRef>
          </c:xVal>
          <c:yVal>
            <c:numRef>
              <c:f>'Chart Data'!$F$2:$F$4</c:f>
              <c:numCache>
                <c:formatCode>0</c:formatCode>
                <c:ptCount val="3"/>
                <c:pt idx="0">
                  <c:v>1942.694364</c:v>
                </c:pt>
                <c:pt idx="1">
                  <c:v>971.273206</c:v>
                </c:pt>
                <c:pt idx="2">
                  <c:v>-1942.694364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ECEF X relative to chord midpoint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E9EEF1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213744"/>
                    </a:solidFill>
                    <a:latin typeface="Arial"/>
                    <a:ea typeface="Arial"/>
                    <a:cs typeface="Arial"/>
                  </a:rPr>
                  <a:t>ECEF Y (km)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13744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7E1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213744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183E2-6E86-4AA4-BE14-51F54986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Proposal quality and candidate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D5200-BF7B-4527-949C-D6128B9F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emailed leans now have explicit local candidate contracts.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1A6D71-482B-48FB-A5B4-6D64C40D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The group still needs to review those choices. Independently CRS-bound point-instancer prototypes remain a model gap.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F7960-0B41-44FF-BED7-C75F5021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64 regressions and 47 distinguishing controls passed.</a:t>
            </a:r>
          </a:p>
          <a:p xmlns:a="http://schemas.openxmlformats.org/drawingml/2006/main">
            <a:pPr>
              <a:defRPr sz="2400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204,729 coordinate results per Python/C++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0D608-7FCD-4A6F-B8BB-69D2E3DE1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Geographic scene frames/bounds remain Q9. Complete proposal conformance is not claimed.</a:t>
            </a:r>
          </a:p>
        </p:txBody>
      </p:sp>
    </p:spTree>
    <p:extLst>
      <p:ext uri="{BB962C8B-B14F-4D97-AF65-F5344CB8AC3E}">
        <p14:creationId xmlns:p14="http://schemas.microsoft.com/office/powerpoint/2010/main" val="9851229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35642A-1BA7-40D3-B8B0-F28E145E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Concrete contracts for group review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4429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8115300"/>
              </a:tblGrid>
              <a:tr h="885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Subject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Concrete candidate answer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885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Q3: working frame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Nearest enclosing CRS fixes the adjustment chart. The candidate specifies origins, pivots and descendant resets.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Q6: axes and units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Z-up: (x,y,z). Y-up: (x,-z,y). Convert stage units before scale and orientation.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Q11: measurements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 proposed non-Xformable data-source schema selects asset, format, field and coordinate domain. Native formats retain values and times.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Q12: dependency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Profiles on defaultPrim carries a conservative hard capability claim for the whole scene, including unloaded content.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3E12C-EB80-48BA-B9A9-733253B3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These are proposed details, including a new external-association schema. Passing tests does not establish group agreement.</a:t>
            </a:r>
          </a:p>
        </p:txBody>
      </p:sp>
    </p:spTree>
    <p:extLst>
      <p:ext uri="{BB962C8B-B14F-4D97-AF65-F5344CB8AC3E}">
        <p14:creationId xmlns:p14="http://schemas.microsoft.com/office/powerpoint/2010/main" val="919488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79E4CA-3A3E-4B7B-AF78-4B84C072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A fixed working frame for project adjustments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13377-E809-4778-8C4C-FC949E32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A geographic asset sits inside a projected site. Its model orientation turns local X northward.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2562225"/>
          <a:ext xmlns:a="http://schemas.openxmlformats.org/drawingml/2006/main" cx="10972800" cy="2257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14850"/>
                <a:gridCol w="2152650"/>
                <a:gridCol w="2152650"/>
                <a:gridCol w="2152650"/>
              </a:tblGrid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Queried position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Easting (m)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Northing (m)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Height (m)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Anchor with +10 site adjustment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448262.0014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5411954.9099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35.0000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with +3 local 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448262.0292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5411957.9087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35.0000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4356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Child with ordinary reset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448252.0292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5411957.9087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35.0000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76D42-5B4E-488D-AAF0-81EAB55B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+10 follows site easting. The child offset follows the oriented model.</a:t>
            </a:r>
          </a:p>
          <a:p xmlns:a="http://schemas.openxmlformats.org/drawingml/2006/main">
            <a:pPr>
              <a:defRPr sz="2175" b="0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7C87"/>
                </a:solidFill>
                <a:latin typeface="Arial"/>
                <a:ea typeface="Arial"/>
                <a:cs typeface="Arial"/>
              </a:rPr>
              <a:t>The reset removes the ordinary adjustment and retains CRS placement.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AF568-FFD9-45EA-BEF4-B1D4B9EF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Reprojection to ECEF preserves the same adjusted physical result. Ordinary parent transforms remain excluded at a direct binding.</a:t>
            </a:r>
          </a:p>
        </p:txBody>
      </p:sp>
    </p:spTree>
    <p:extLst>
      <p:ext uri="{BB962C8B-B14F-4D97-AF65-F5344CB8AC3E}">
        <p14:creationId xmlns:p14="http://schemas.microsoft.com/office/powerpoint/2010/main" val="19463068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00492-1FC5-4953-9957-84929CE9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Eiffel geometry in the native Hydra consumer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b4362a47174dda"/>
          <a:stretch xmlns:a="http://schemas.openxmlformats.org/drawingml/2006/main"/>
        </p:blipFill>
        <p:spPr>
          <a:xfrm xmlns:a="http://schemas.openxmlformats.org/drawingml/2006/main">
            <a:off x="285750" y="1453455"/>
            <a:ext cx="7667625" cy="431303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A1437-A405-4ED1-AB68-3F9B30CB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52600"/>
            <a:ext cx="3333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163,440 vertices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ED5F05-AA62-46E1-AE3D-A607F5FE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38425"/>
            <a:ext cx="3333750" cy="2085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C++ pointwise results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Fresh USD export readers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Hydra points and transforms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Native Storm color output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9EF76-FD20-47BB-AD00-C9B59741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76825"/>
            <a:ext cx="3333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Illustrative plane and markers.</a:t>
            </a:r>
          </a:p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No surveyed Paris context.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E8D27-57B8-4C69-9469-5BFC2D3F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renderer consumes an ordinary resolved export. This run does not install a live geospatial scene-index filter.</a:t>
            </a:r>
          </a:p>
        </p:txBody>
      </p:sp>
    </p:spTree>
    <p:extLst>
      <p:ext uri="{BB962C8B-B14F-4D97-AF65-F5344CB8AC3E}">
        <p14:creationId xmlns:p14="http://schemas.microsoft.com/office/powerpoint/2010/main" val="4239704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9A040-A04B-4A8E-95A9-71017F61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Colorado survey geometry in a calibrated site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f75f57d7e341fa"/>
          <a:stretch xmlns:a="http://schemas.openxmlformats.org/drawingml/2006/main"/>
        </p:blipFill>
        <p:spPr>
          <a:xfrm xmlns:a="http://schemas.openxmlformats.org/drawingml/2006/main">
            <a:off x="238125" y="1453158"/>
            <a:ext cx="7753350" cy="436125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DC696-436A-472B-9D49-75EC0AB4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24025"/>
            <a:ext cx="33242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14,359 vertices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B56DF1-2661-43F9-B3E3-550D4FC5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628900"/>
            <a:ext cx="3324225" cy="2181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Original LandXML breaklines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WKT-carried site calibration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Declared US survey feet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Separate stage conventions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CCED7-F343-43C0-90F9-37189263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81600"/>
            <a:ext cx="33242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No terrain surface</a:t>
            </a:r>
          </a:p>
          <a:p xmlns:a="http://schemas.openxmlformats.org/drawingml/2006/main">
            <a:pPr>
              <a:defRPr sz="187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was fabricated.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F2A8D-55A0-4525-84B3-9B63354B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007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Fresh readers verify the resolved geometry. Polygonal bounds cover returned vertices and straight faces, with no continuous-surface certificate.</a:t>
            </a:r>
          </a:p>
        </p:txBody>
      </p:sp>
    </p:spTree>
    <p:extLst>
      <p:ext uri="{BB962C8B-B14F-4D97-AF65-F5344CB8AC3E}">
        <p14:creationId xmlns:p14="http://schemas.microsoft.com/office/powerpoint/2010/main" val="21307640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705F0-18FA-4A33-A0AD-0586A513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Georeferenced measurements remain usable as data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bd0301090b4eb1"/>
          <a:stretch xmlns:a="http://schemas.openxmlformats.org/drawingml/2006/main"/>
        </p:blipFill>
        <p:spPr>
          <a:xfrm xmlns:a="http://schemas.openxmlformats.org/drawingml/2006/main">
            <a:off x="2425303" y="1466850"/>
            <a:ext cx="7322344" cy="35147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331095-46A3-4F56-A135-51FDF765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2,664 original values and horizontal coordinates remain paired.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288A83-86E9-4FE1-AABF-B360B067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The association invents no height, physical units or observation times. A 3D request fails without a height reference and coordinate.</a:t>
            </a:r>
          </a:p>
        </p:txBody>
      </p:sp>
    </p:spTree>
    <p:extLst>
      <p:ext uri="{BB962C8B-B14F-4D97-AF65-F5344CB8AC3E}">
        <p14:creationId xmlns:p14="http://schemas.microsoft.com/office/powerpoint/2010/main" val="873845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AA9A-C937-4953-9747-3CB3A0E9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Regional geometry retains its source coordinates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f07368a3c49c8"/>
          <a:stretch xmlns:a="http://schemas.openxmlformats.org/drawingml/2006/main"/>
        </p:blipFill>
        <p:spPr>
          <a:xfrm xmlns:a="http://schemas.openxmlformats.org/drawingml/2006/main">
            <a:off x="701976" y="1409700"/>
            <a:ext cx="5644548" cy="48863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621353-0A90-42BC-A14C-4502E9D6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90700"/>
            <a:ext cx="4381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15,822 vertices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D636D-BD57-4162-978C-A47A8179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86050"/>
            <a:ext cx="43815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2,386 railway parts</a:t>
            </a:r>
          </a:p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Explicit horizontal source copy</a:t>
            </a:r>
          </a:p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UTM 32 output coordinates</a:t>
            </a:r>
          </a:p>
          <a:p xmlns:a="http://schemas.openxmlformats.org/drawingml/2006/main">
            <a:pPr>
              <a:defRPr sz="217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Original data retained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84FDA2-B72C-4A44-A219-92D5A170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95875"/>
            <a:ext cx="4381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Original third components</a:t>
            </a:r>
          </a:p>
          <a:p xmlns:a="http://schemas.openxmlformats.org/drawingml/2006/main">
            <a:pPr>
              <a:defRPr sz="202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remain uninterpreted.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ACC8E-6A22-469B-99C9-B0A50A1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The larger-scale workflows keep useful 2D resolution without inventing height. Plot offsets serve display only.</a:t>
            </a:r>
          </a:p>
        </p:txBody>
      </p:sp>
    </p:spTree>
    <p:extLst>
      <p:ext uri="{BB962C8B-B14F-4D97-AF65-F5344CB8AC3E}">
        <p14:creationId xmlns:p14="http://schemas.microsoft.com/office/powerpoint/2010/main" val="16272963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AE026-B2CD-4239-A546-A2DA9AAF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Matching partner-coordinate queries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9267D-9E75-4280-8DA3-867E3F9E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France: CC49 to Lambert-93 (metres)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990725"/>
          <a:ext xmlns:a="http://schemas.openxmlformats.org/drawingml/2006/main" cx="10972800" cy="1562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19325"/>
                <a:gridCol w="2219325"/>
                <a:gridCol w="2219325"/>
                <a:gridCol w="2505075"/>
              </a:tblGrid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C++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OV-hosted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Easting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1661099.0390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661101.1094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661101.1094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661101.1094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Northing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8180053.1170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6857834.2565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6857834.2565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6857834.2565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37.2980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02744-46E5-4595-A8C2-071AC0EC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Colorado: State Plane to calibrated site (US survey feet)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4314825"/>
          <a:ext xmlns:a="http://schemas.openxmlformats.org/drawingml/2006/main" cx="10972800" cy="1562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2219325"/>
                <a:gridCol w="2219325"/>
                <a:gridCol w="2219325"/>
                <a:gridCol w="2505075"/>
              </a:tblGrid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 C++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OV-hosted Python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Easting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3108002.1122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3108871.4501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3108871.4501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3108871.4501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Northing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1752265.0666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1206317.4694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1206317.4694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1206317.4694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05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Height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5482.9424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5484.6779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5484.6779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5484.6779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E5FB3-A62D-46BE-B100-77AF3622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38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USD implementations agree. OV reuses Python placement. All paths share PROJ; these comparisons do not certify survey accuracy.</a:t>
            </a:r>
          </a:p>
        </p:txBody>
      </p:sp>
    </p:spTree>
    <p:extLst>
      <p:ext uri="{BB962C8B-B14F-4D97-AF65-F5344CB8AC3E}">
        <p14:creationId xmlns:p14="http://schemas.microsoft.com/office/powerpoint/2010/main" val="12827843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708AB-6346-48CF-810D-08E480E0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Source interpolation and sampled exports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428625" y="1552575"/>
          <a:ext xmlns:a="http://schemas.openxmlformats.org/drawingml/2006/main" cx="7162800" cy="41052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acb5832f09e4f68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9A050-DCED-4F08-BFB8-FE985A7C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24050"/>
            <a:ext cx="3562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971.421 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61F78-5378-4928-9712-BF317081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81300"/>
            <a:ext cx="3562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Midpoint difference from</a:t>
            </a:r>
          </a:p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interpolating only the</a:t>
            </a:r>
          </a:p>
          <a:p xmlns:a="http://schemas.openxmlformats.org/drawingml/2006/main">
            <a:pPr>
              <a:defRPr sz="2100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converted endpoints.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046D7-D8BA-4117-B4FD-04AFA93EC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05325"/>
            <a:ext cx="35623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Fresh geometry exports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Sample keys 0, 5, 10</a:t>
            </a:r>
          </a:p>
          <a:p xmlns:a="http://schemas.openxmlformats.org/drawingml/2006/main">
            <a:pPr>
              <a:defRPr sz="2025" b="0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13744"/>
                </a:solidFill>
                <a:latin typeface="Arial"/>
                <a:ea typeface="Arial"/>
                <a:cs typeface="Arial"/>
              </a:rPr>
              <a:t>timeCodesPerSecond = 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233801-AEA9-4C37-B558-5A128844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B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9"/>
                </a:solidFill>
                <a:latin typeface="Arial"/>
                <a:ea typeface="Arial"/>
                <a:cs typeface="Arial"/>
              </a:rPr>
              <a:t>Both readers verify each exported sample. No original-trajectory guarantee is claimed between samples. Chart axes use different distance scales.</a:t>
            </a:r>
          </a:p>
        </p:txBody>
      </p:sp>
    </p:spTree>
    <p:extLst>
      <p:ext uri="{BB962C8B-B14F-4D97-AF65-F5344CB8AC3E}">
        <p14:creationId xmlns:p14="http://schemas.microsoft.com/office/powerpoint/2010/main" val="846769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3A6E04-EE57-49A9-977C-08E2F089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1374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213744"/>
                </a:solidFill>
                <a:latin typeface="Arial"/>
                <a:ea typeface="Arial"/>
                <a:cs typeface="Arial"/>
              </a:rPr>
              <a:t>Consumer evidence and remaining limits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7924800"/>
              </a:tblGrid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Consumer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Evidence reaching its output</a:t>
                      </a:r>
                    </a:p>
                  </a:txBody>
                  <a:tcPr marL="91440" marR="91440" marT="45720" marB="45720">
                    <a:solidFill>
                      <a:srgbClr val="213744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USD Python and C++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Independent placement arithmetic; full point maps, Cartesian frame estimates and polygonal bounds. Shared PROJ and external decoding.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Omniverse live geometry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177,846 vertices read back from runtime buffers/matrices. 27 edit, failure and recovery checks. Reuses Python placement.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97719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Hydra / Storm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213744"/>
                          </a:solidFill>
                          <a:latin typeface="Arial"/>
                          <a:ea typeface="Arial"/>
                          <a:cs typeface="Arial"/>
                        </a:rPr>
                        <a:t>Two ordinary resolved exports reach points/transform data sources and the native renderer. No live CRS filter.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41EDE-1C5B-4A12-BAE9-3656950A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7C8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7C87"/>
                </a:solidFill>
                <a:latin typeface="Arial"/>
                <a:ea typeface="Arial"/>
                <a:cs typeface="Arial"/>
              </a:rPr>
              <a:t>Eight exports pass fresh-reader checks. Authored source layers remain unchanged.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9EB75-FD14-4D3E-8696-A87EFDDA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25D2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25D20"/>
                </a:solidFill>
                <a:latin typeface="Arial"/>
                <a:ea typeface="Arial"/>
                <a:cs typeface="Arial"/>
              </a:rPr>
              <a:t>Remaining limits: bound point-instancer prototypes, geographic scene frames/bounds, continuous nonlinear certificates and physics integration. Candidate choices still need group review.</a:t>
            </a:r>
          </a:p>
        </p:txBody>
      </p:sp>
    </p:spTree>
    <p:extLst>
      <p:ext uri="{BB962C8B-B14F-4D97-AF65-F5344CB8AC3E}">
        <p14:creationId xmlns:p14="http://schemas.microsoft.com/office/powerpoint/2010/main" val="5916105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2026-10-06T15:21:13.8320000Z</dcterms:created>
  <dcterms:modified xsi:type="dcterms:W3CDTF">2026-10-06T15:21:13.8320000Z</dcterms:modified>
</coreProperties>
</file>