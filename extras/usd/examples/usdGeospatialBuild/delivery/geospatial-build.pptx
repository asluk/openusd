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22135222874ae1" /><Relationship Type="http://schemas.openxmlformats.org/officeDocument/2006/relationships/extended-properties" Target="/docProps/app.xml" Id="Reb470df1cdb54af2" /><Relationship Type="http://schemas.openxmlformats.org/officeDocument/2006/relationships/officeDocument" Target="/ppt/presentation.xml" Id="Redbf0eb3295a40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bb615d0f5a45a3"/>
  </p:sldMasterIdLst>
  <p:notesMasterIdLst>
    <p:notesMasterId xmlns:r="http://schemas.openxmlformats.org/officeDocument/2006/relationships" r:id="R2d2db94645f9461d"/>
  </p:notesMasterIdLst>
  <p:sldIdLst>
    <p:sldId xmlns:r="http://schemas.openxmlformats.org/officeDocument/2006/relationships" id="256" r:id="R549ff8e5d1294045"/>
    <p:sldId xmlns:r="http://schemas.openxmlformats.org/officeDocument/2006/relationships" id="257" r:id="Rfd59fda9a86c4469"/>
    <p:sldId xmlns:r="http://schemas.openxmlformats.org/officeDocument/2006/relationships" id="258" r:id="R3f0e028930484127"/>
    <p:sldId xmlns:r="http://schemas.openxmlformats.org/officeDocument/2006/relationships" id="259" r:id="R0b2912092f644fc4"/>
    <p:sldId xmlns:r="http://schemas.openxmlformats.org/officeDocument/2006/relationships" id="260" r:id="R3ad39765d598475e"/>
    <p:sldId xmlns:r="http://schemas.openxmlformats.org/officeDocument/2006/relationships" id="261" r:id="R65ba8b15aefd4055"/>
    <p:sldId xmlns:r="http://schemas.openxmlformats.org/officeDocument/2006/relationships" id="262" r:id="R247ff39179394db8"/>
    <p:sldId xmlns:r="http://schemas.openxmlformats.org/officeDocument/2006/relationships" id="263" r:id="R85713a523be849dc"/>
    <p:sldId xmlns:r="http://schemas.openxmlformats.org/officeDocument/2006/relationships" id="264" r:id="Rf6187c8511794cd7"/>
    <p:sldId xmlns:r="http://schemas.openxmlformats.org/officeDocument/2006/relationships" id="265" r:id="R13dd1d220f4a4f3d"/>
    <p:sldId xmlns:r="http://schemas.openxmlformats.org/officeDocument/2006/relationships" id="266" r:id="R5bf7df65ebe64a90"/>
    <p:sldId xmlns:r="http://schemas.openxmlformats.org/officeDocument/2006/relationships" id="267" r:id="R94f721e25e6a4b08"/>
    <p:sldId xmlns:r="http://schemas.openxmlformats.org/officeDocument/2006/relationships" id="268" r:id="Rf0bc6be3006b4cb7"/>
    <p:sldId xmlns:r="http://schemas.openxmlformats.org/officeDocument/2006/relationships" id="269" r:id="Rcb179a09765b4fb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57bd139fd6404d" /><Relationship Type="http://schemas.openxmlformats.org/officeDocument/2006/relationships/slideMaster" Target="/ppt/slideMasters/slideMaster1.xml" Id="Rf9bb615d0f5a45a3" /><Relationship Type="http://schemas.openxmlformats.org/officeDocument/2006/relationships/notesMaster" Target="/ppt/notesMasters/notesMaster1.xml" Id="R2d2db94645f9461d" /><Relationship Type="http://schemas.openxmlformats.org/officeDocument/2006/relationships/presProps" Target="/ppt/presProps.xml" Id="R21f58c95d94a4ebe" /><Relationship Type="http://schemas.openxmlformats.org/officeDocument/2006/relationships/tableStyles" Target="/ppt/tableStyles.xml" Id="Rc8193e48cb114348" /><Relationship Type="http://schemas.openxmlformats.org/officeDocument/2006/relationships/slide" Target="/ppt/slides/slide1.xml" Id="R549ff8e5d1294045" /><Relationship Type="http://schemas.openxmlformats.org/officeDocument/2006/relationships/slide" Target="/ppt/slides/slide2.xml" Id="Rfd59fda9a86c4469" /><Relationship Type="http://schemas.openxmlformats.org/officeDocument/2006/relationships/slide" Target="/ppt/slides/slide3.xml" Id="R3f0e028930484127" /><Relationship Type="http://schemas.openxmlformats.org/officeDocument/2006/relationships/slide" Target="/ppt/slides/slide4.xml" Id="R0b2912092f644fc4" /><Relationship Type="http://schemas.openxmlformats.org/officeDocument/2006/relationships/slide" Target="/ppt/slides/slide5.xml" Id="R3ad39765d598475e" /><Relationship Type="http://schemas.openxmlformats.org/officeDocument/2006/relationships/slide" Target="/ppt/slides/slide6.xml" Id="R65ba8b15aefd4055" /><Relationship Type="http://schemas.openxmlformats.org/officeDocument/2006/relationships/slide" Target="/ppt/slides/slide7.xml" Id="R247ff39179394db8" /><Relationship Type="http://schemas.openxmlformats.org/officeDocument/2006/relationships/slide" Target="/ppt/slides/slide8.xml" Id="R85713a523be849dc" /><Relationship Type="http://schemas.openxmlformats.org/officeDocument/2006/relationships/slide" Target="/ppt/slides/slide9.xml" Id="Rf6187c8511794cd7" /><Relationship Type="http://schemas.openxmlformats.org/officeDocument/2006/relationships/slide" Target="/ppt/slides/slide10.xml" Id="R13dd1d220f4a4f3d" /><Relationship Type="http://schemas.openxmlformats.org/officeDocument/2006/relationships/slide" Target="/ppt/slides/slide11.xml" Id="R5bf7df65ebe64a90" /><Relationship Type="http://schemas.openxmlformats.org/officeDocument/2006/relationships/slide" Target="/ppt/slides/slide12.xml" Id="R94f721e25e6a4b08" /><Relationship Type="http://schemas.openxmlformats.org/officeDocument/2006/relationships/slide" Target="/ppt/slides/slide13.xml" Id="Rf0bc6be3006b4cb7" /><Relationship Type="http://schemas.openxmlformats.org/officeDocument/2006/relationships/slide" Target="/ppt/slides/slide14.xml" Id="Rcb179a09765b4f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3427b4cb4548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f2f067781245ad" /><Relationship Type="http://schemas.openxmlformats.org/officeDocument/2006/relationships/notesMaster" Target="/ppt/notesMasters/notesMaster1.xml" Id="R96578e68d3104d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bbea7d32d349b5" /><Relationship Type="http://schemas.openxmlformats.org/officeDocument/2006/relationships/notesMaster" Target="/ppt/notesMasters/notesMaster1.xml" Id="R3ea0f216bcb54f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ada84a69f14a99" /><Relationship Type="http://schemas.openxmlformats.org/officeDocument/2006/relationships/notesMaster" Target="/ppt/notesMasters/notesMaster1.xml" Id="R2297080b49764e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43a1a38f6a400b" /><Relationship Type="http://schemas.openxmlformats.org/officeDocument/2006/relationships/notesMaster" Target="/ppt/notesMasters/notesMaster1.xml" Id="Rbc7bc16a4c9d4b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50287270a94b50" /><Relationship Type="http://schemas.openxmlformats.org/officeDocument/2006/relationships/notesMaster" Target="/ppt/notesMasters/notesMaster1.xml" Id="Ree7d54f3d3f14b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4c8065a8b547af" /><Relationship Type="http://schemas.openxmlformats.org/officeDocument/2006/relationships/notesMaster" Target="/ppt/notesMasters/notesMaster1.xml" Id="Re70f62adff1346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a12ebfee1a4070" /><Relationship Type="http://schemas.openxmlformats.org/officeDocument/2006/relationships/notesMaster" Target="/ppt/notesMasters/notesMaster1.xml" Id="Rf6c2fad34a6248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e3e480103f4ea7" /><Relationship Type="http://schemas.openxmlformats.org/officeDocument/2006/relationships/notesMaster" Target="/ppt/notesMasters/notesMaster1.xml" Id="R7eda9a87b74a40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6e3ae244874c0b" /><Relationship Type="http://schemas.openxmlformats.org/officeDocument/2006/relationships/notesMaster" Target="/ppt/notesMasters/notesMaster1.xml" Id="Rc276b43b3bd044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d6ee466c07e4067" /><Relationship Type="http://schemas.openxmlformats.org/officeDocument/2006/relationships/notesMaster" Target="/ppt/notesMasters/notesMaster1.xml" Id="Rea92d202efe349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45408b446aa4c52" /><Relationship Type="http://schemas.openxmlformats.org/officeDocument/2006/relationships/notesMaster" Target="/ppt/notesMasters/notesMaster1.xml" Id="R49a0a0fba575451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a0ae066baab4f27" /><Relationship Type="http://schemas.openxmlformats.org/officeDocument/2006/relationships/notesMaster" Target="/ppt/notesMasters/notesMaster1.xml" Id="R5d26892978274ae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5c4aa24eeac4590" /><Relationship Type="http://schemas.openxmlformats.org/officeDocument/2006/relationships/notesMaster" Target="/ppt/notesMasters/notesMaster1.xml" Id="Rd4ba2f6003c94ce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14f5f2c91b04d70" /><Relationship Type="http://schemas.openxmlformats.org/officeDocument/2006/relationships/notesMaster" Target="/ppt/notesMasters/notesMaster1.xml" Id="Reed321e2c0b847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{"section":"Assessment of the proposal","status":[["Proposal definitions","A focused requirements baseline is separate from the full candidate used for execution. Supported meaning and pending conventions are distinguished."],["Newly confirmed model gap","No additional undefined model rule was confirmed in reviewed paths. This is a scoped assessment, not an exhaustive completeness proof."],["Implementation evidence","The selected cases work. 6 prior defects pass fresh counterexamples; 1 remains unresolved."],["Deferred capabilities","Coordinate epochs and scene-authored transformation resources remain on the roadmap. Initial choices must preserve a path to adding them."]]}</a:t>
            </a:r>
          </a:p>
          <a:p xmlns:a="http://schemas.openxmlformats.org/drawingml/2006/main">
            <a:r>
              <a:t>Main explanation: 1–8. Supporting evidence and review choices: 9–14.</a:t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reader distinguish the model's shape from its location on Earth?</a:t>
            </a:r>
          </a:p>
          <a:p xmlns:a="http://schemas.openxmlformats.org/drawingml/2006/main">
            <a:r>
              <a:t>Proposed rule: The scene records local geometry separately from its geographic origin and physical orientation. A coordinate reference system (CRS) defines how to interpret the origin's axes, units and height.</a:t>
            </a:r>
          </a:p>
          <a:p xmlns:a="http://schemas.openxmlformats.org/drawingml/2006/main">
            <a:r>
              <a:t>Expected: A reader has enough source information to place the model, without interpreting longitude or latitude as a distance or adding computed results to the source schema.</a:t>
            </a:r>
          </a:p>
          <a:p xmlns:a="http://schemas.openxmlformats.org/drawingml/2006/main">
            <a:r>
              <a:t>Observed: The source stores a single double3 heading/pitch/roll tuple in degrees. The rules define its true-north/ellipsoid-up meaning, rotation order and time-sample evaluation; computed quaternions stay transient.</a:t>
            </a:r>
          </a:p>
          <a:p xmlns:a="http://schemas.openxmlformats.org/drawingml/2006/main">
            <a:r>
              <a:t>Implication for proposal quality: The proposed representation follows the concrete authoring workflow. New checks show that reading, editing and composing these inputs produces the specified physical pose.</a:t>
            </a:r>
          </a:p>
          <a:p xmlns:a="http://schemas.openxmlformats.org/drawingml/2006/main">
            <a:r>
              <a:t>Limit: This is the preferred local candidate, not group adoption. At +170 and -170 degrees the readers pass through 180 degrees; ordinary tuple interpolation would face 0 degrees.</a:t>
            </a:r>
          </a:p>
          <a:p xmlns:a="http://schemas.openxmlformats.org/drawingml/2006/main">
            <a:r>
              <a:t>Proposal: #### Authored properties at proposal/proposal-source.txt:1532</a:t>
            </a:r>
          </a:p>
          <a:p xmlns:a="http://schemas.openxmlformats.org/drawingml/2006/main">
            <a:r>
              <a:t>Functional requirements: [{"id":9,"title":"Positions, and offsets from them.","line":779},{"id":10,"title":"Offsets along the axes of their position.","line":800},{"id":12,"title":"No angle read as a length.","line":836},{"id":14,"title":"Scene conventions stay the scene's.","line":862},{"id":15,"title":"Placement separate from conformance.","line":875}]</a:t>
            </a:r>
          </a:p>
          <a:p xmlns:a="http://schemas.openxmlformats.org/drawingml/2006/main">
            <a:r>
              <a:t>Image role: Recorded numerical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Does changing coordinate systems preserve physical placement?</a:t>
            </a:r>
          </a:p>
          <a:p xmlns:a="http://schemas.openxmlformats.org/drawingml/2006/main">
            <a:r>
              <a:t>Proposed rule: CRS conversion expresses the same physical placement using different coordinates. The reader computes projection effects instead of recording them as additional source properties.</a:t>
            </a:r>
          </a:p>
          <a:p xmlns:a="http://schemas.openxmlformats.org/drawingml/2006/main">
            <a:r>
              <a:t>Expected: Longitude and latitude can become map east and north coordinates while the tower stays at the same physical place.</a:t>
            </a:r>
          </a:p>
          <a:p xmlns:a="http://schemas.openxmlformats.org/drawingml/2006/main">
            <a:r>
              <a:t>Observed: The illustration converts longitude, latitude and height into map coordinates. The physical site stays the same; map north and local scale can differ.</a:t>
            </a:r>
          </a:p>
          <a:p xmlns:a="http://schemas.openxmlformats.org/drawingml/2006/main">
            <a:r>
              <a:t>Implication for proposal quality: The proposed rules distinguish a new coordinate representation from a physical move. An image explains this distinction; numerical controls must test it.</a:t>
            </a:r>
          </a:p>
          <a:p xmlns:a="http://schemas.openxmlformats.org/drawingml/2006/main">
            <a:r>
              <a:t>Limit: The location, height and orientation are illustrative. This image explains the proposed math and does not verify surveyed Paris placement.</a:t>
            </a:r>
          </a:p>
          <a:p xmlns:a="http://schemas.openxmlformats.org/drawingml/2006/main">
            <a:r>
              <a:t>Proposal: ### Source placement evaluation and transform order at proposal/proposal-source.txt:1830</a:t>
            </a:r>
          </a:p>
          <a:p xmlns:a="http://schemas.openxmlformats.org/drawingml/2006/main">
            <a:r>
              <a:t>Functional requirements: [{"id":9,"title":"Positions, and offsets from them.","line":779},{"id":12,"title":"No angle read as a length.","line":836},{"id":13,"title":"One axis mapping.","line":850},{"id":16,"title":"One CRS out.","line":887},{"id":19,"title":"Resolution leaves the scene as authored.","line":937}]</a:t>
            </a:r>
          </a:p>
          <a:p xmlns:a="http://schemas.openxmlformats.org/drawingml/2006/main">
            <a:r>
              <a:t>Image role: informative illustration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In which coordinates do an author's scale, rotation and translation operate?</a:t>
            </a:r>
          </a:p>
          <a:p xmlns:a="http://schemas.openxmlformats.org/drawingml/2006/main">
            <a:r>
              <a:t>Proposed rule: On an object with its own CRS binding, ordinary USD transforms (xformOps) adjust the resolved placement in a fixed project working frame. The requested output CRS does not reinterpret those adjustment values.</a:t>
            </a:r>
          </a:p>
          <a:p xmlns:a="http://schemas.openxmlformats.org/drawingml/2006/main">
            <a:r>
              <a:t>Expected: A project adjustment moves or resizes the placed model while its source geospatial inputs remain unchanged. The proposal separately specifies how child transforms retain model-local meaning.</a:t>
            </a:r>
          </a:p>
          <a:p xmlns:a="http://schemas.openxmlformats.org/drawingml/2006/main">
            <a:r>
              <a:t>Observed: The illustration applies scale 1.15, rotation 20 degrees, then moves 120 m east and 60 m south. A child-transform control separates two interpretations by 4.222 m.</a:t>
            </a:r>
          </a:p>
          <a:p xmlns:a="http://schemas.openxmlformats.org/drawingml/2006/main">
            <a:r>
              <a:t>Implication for proposal quality: Order changes the result. The control tests the agreed anchor/child distinction while detailed chart and instance conventions remain candidates.</a:t>
            </a:r>
          </a:p>
          <a:p xmlns:a="http://schemas.openxmlformats.org/drawingml/2006/main">
            <a:r>
              <a:t>Limit: The image is informative. Feedback supports project adjustments versus model-local child offsets; detailed rules still need review.</a:t>
            </a:r>
          </a:p>
          <a:p xmlns:a="http://schemas.openxmlformats.org/drawingml/2006/main">
            <a:r>
              <a:t>Proposal: #### Evaluation at proposal/proposal-source.txt:1930</a:t>
            </a:r>
          </a:p>
          <a:p xmlns:a="http://schemas.openxmlformats.org/drawingml/2006/main">
            <a:r>
              <a:t>Functional requirements: [{"id":9,"title":"Positions, and offsets from them.","line":779},{"id":14,"title":"Scene conventions stay the scene's.","line":862},{"id":15,"title":"Placement separate from conformance.","line":875},{"id":17,"title":"The same answer for every consumer.","line":907},{"id":19,"title":"Resolution leaves the scene as authored.","line":937}]</a:t>
            </a:r>
          </a:p>
          <a:p xmlns:a="http://schemas.openxmlformats.org/drawingml/2006/main">
            <a:r>
              <a:t>Image role: informative illustration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separate implementations derive the same coordinates from the proposed inputs and rules?</a:t>
            </a:r>
          </a:p>
          <a:p xmlns:a="http://schemas.openxmlformats.org/drawingml/2006/main">
            <a:r>
              <a:t>Proposed rule: Consumers use the same declared coordinate meanings and resolution rules for a requested output. Agreement must be assessed with declared units and numerical evidence.</a:t>
            </a:r>
          </a:p>
          <a:p xmlns:a="http://schemas.openxmlformats.org/drawingml/2006/main">
            <a:r>
              <a:t>Expected: Python and C++ readers resolve the same partner points into matching output coordinates within the recorded tolerance.</a:t>
            </a:r>
          </a:p>
          <a:p xmlns:a="http://schemas.openxmlformats.org/drawingml/2006/main">
            <a:r>
              <a:t>Observed: France and Colorado points resolve through both readers. The maximum measured difference over the recorded coordinates is 3.39e-08 m.</a:t>
            </a:r>
          </a:p>
          <a:p xmlns:a="http://schemas.openxmlformats.org/drawingml/2006/main">
            <a:r>
              <a:t>Implication for proposal quality: The compared cases support reproducible interpretation of the proposed placement rules. They do not establish coverage of every rule or every input layout.</a:t>
            </a:r>
          </a:p>
          <a:p xmlns:a="http://schemas.openxmlformats.org/drawingml/2006/main">
            <a:r>
              <a:t>Limit: Both readers use PROJ and share dataset decoding. Agreement is limited to tested domains and is not independent geodetic validation.</a:t>
            </a:r>
          </a:p>
          <a:p xmlns:a="http://schemas.openxmlformats.org/drawingml/2006/main">
            <a:r>
              <a:t>Proposal: ### Extent and result comparison at proposal/proposal-source.txt:2085</a:t>
            </a:r>
          </a:p>
          <a:p xmlns:a="http://schemas.openxmlformats.org/drawingml/2006/main">
            <a:r>
              <a:t>Functional requirements: [{"id":4,"title":"A site's own grid is a CRS like any other.","line":676},{"id":13,"title":"One axis mapping.","line":850},{"id":16,"title":"One CRS out.","line":887},{"id":17,"title":"The same answer for every consumer.","line":907},{"id":18,"title":"Coordinates back out.","line":922},{"id":28,"title":"A result says what produced it.","line":1104},{"id":29,"title":"Implementable from the text alone.","line":1122}]</a:t>
            </a:r>
          </a:p>
          <a:p xmlns:a="http://schemas.openxmlformats.org/drawingml/2006/main">
            <a:r>
              <a:t>Image role: Recorded numerical evidence</a:t>
            </a:r>
          </a:p>
          <a:p xmlns:a="http://schemas.openxmlformats.org/drawingml/2006/main">
            <a:r>
              <a:t>The tables round one point per dataset to six decimals in their declared units. Shared PROJ and decoding limit independence. Component, magnitude and angular reporting now pass the independent counterexample. {"France_01":{"source":[1661099.039,8180053.117,37.298],"source_label":"CC49","target_label":"Lambert-93","unit":"m","python":[661101.1094171533,6857834.256535667,37.297999998112694],"native":[661101.1094171533,6857834.256535667,37.298000000906654],"ov":[661101.1094171533,6857834.256535667,37.297999998112694]},"Colorado_02":{"source":[3108002.1122,1752265.0666,5482.9424],"source_label":"State Plane","target_label":"Westminster site grid","unit":"ftUS","python":[3108871.450100667,1206317.4694031866,5484.677949332321],"native":[3108871.450100667,1206317.469403112,5484.677949268161],"ov":[3108871.450100667,1206317.4694031866,5484.677949332321]}}</a:t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renderer use the result without implementing geospatial evaluation?</a:t>
            </a:r>
          </a:p>
          <a:p xmlns:a="http://schemas.openxmlformats.org/drawingml/2006/main">
            <a:r>
              <a:t>Proposed rule: An explicit bake creates a derived copy containing resolved geometry and ordinary transforms. It retains the output coordinate context and applies each placement effect once.</a:t>
            </a:r>
          </a:p>
          <a:p xmlns:a="http://schemas.openxmlformats.org/drawingml/2006/main">
            <a:r>
              <a:t>Expected: A USD renderer reads the derived copy as ordinary geometry while the source scene keeps its authored geospatial inputs.</a:t>
            </a:r>
          </a:p>
          <a:p xmlns:a="http://schemas.openxmlformats.org/drawingml/2006/main">
            <a:r>
              <a:t>Observed: Native Hydra/Storm renders the ordinary USD bake. A double-precision origin keeps local points small; fresh readers recover the placement.</a:t>
            </a:r>
          </a:p>
          <a:p xmlns:a="http://schemas.openxmlformats.org/drawingml/2006/main">
            <a:r>
              <a:t>Implication for proposal quality: Unaware viewers receive resolved ordinary geometry. Fresh checks reject duplicate meshes and retain an unrelated applied schema.</a:t>
            </a:r>
          </a:p>
          <a:p xmlns:a="http://schemas.openxmlformats.org/drawingml/2006/main">
            <a:r>
              <a:t>Limit: This is a recorded native render. General materials, primvars and continuous coverage remain unverified.</a:t>
            </a:r>
          </a:p>
          <a:p xmlns:a="http://schemas.openxmlformats.org/drawingml/2006/main">
            <a:r>
              <a:t>Proposal: ### Explicit export and sampling at proposal/proposal-source.txt:2138</a:t>
            </a:r>
          </a:p>
          <a:p xmlns:a="http://schemas.openxmlformats.org/drawingml/2006/main">
            <a:r>
              <a:t>Functional requirements: [{"id":17,"title":"The same answer for every consumer.","line":907},{"id":19,"title":"Resolution leaves the scene as authored.","line":937},{"id":23,"title":"Detail that does not depend on location.","line":1043},{"id":25,"title":"Additive for consumers that ignore it.","line":1067},{"id":29,"title":"Implementable from the text alone.","line":1122}]</a:t>
            </a:r>
          </a:p>
          <a:p xmlns:a="http://schemas.openxmlformats.org/drawingml/2006/main">
            <a:r>
              <a:t>Image role: recorded native render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the scene make a native measurement dataset usable without rewriting its values or guessing what its coordinates mean?</a:t>
            </a:r>
          </a:p>
          <a:p xmlns:a="http://schemas.openxmlformats.org/drawingml/2006/main">
            <a:r>
              <a:t>Proposed rule: The scene identifies the asset, field and coordinate domain. The reader resolves sample locations while preserving their association with values, missing-data masks and observation times.</a:t>
            </a:r>
          </a:p>
          <a:p xmlns:a="http://schemas.openxmlformats.org/drawingml/2006/main">
            <a:r>
              <a:t>Expected: The same sample keeps the same measurement value and observation time whether its location is returned as longitude/latitude/height or Earth-centred Cartesian coordinates.</a:t>
            </a:r>
          </a:p>
          <a:p xmlns:a="http://schemas.openxmlformats.org/drawingml/2006/main">
            <a:r>
              <a:t>Observed: The synthetic global temperature case returns both coordinate forms for 154 samples and preserves the native values and two observation times.</a:t>
            </a:r>
          </a:p>
          <a:p xmlns:a="http://schemas.openxmlformats.org/drawingml/2006/main">
            <a:r>
              <a:t>Implication for proposal quality: The example exercises larger-scale analytical use, beyond model rendering. The proposal's association rule also identifies the later shared-decoder mistake as a failure.</a:t>
            </a:r>
          </a:p>
          <a:p xmlns:a="http://schemas.openxmlformats.org/drawingml/2006/main">
            <a:r>
              <a:t>Limit: The values are synthetic. Named-dimension associations are independently tested; agreeing readers alone cannot verify shared decoding.</a:t>
            </a:r>
          </a:p>
          <a:p xmlns:a="http://schemas.openxmlformats.org/drawingml/2006/main">
            <a:r>
              <a:t>Proposal: ### External measurement association at proposal/proposal-source.txt:1630</a:t>
            </a:r>
          </a:p>
          <a:p xmlns:a="http://schemas.openxmlformats.org/drawingml/2006/main">
            <a:r>
              <a:t>Functional requirements: [{"id":8,"title":"Brought-in data keeps its coordinates and its CRS.","line":753},{"id":12,"title":"No angle read as a length.","line":836},{"id":18,"title":"Coordinates back out.","line":922},{"id":19,"title":"Resolution leaves the scene as authored.","line":937},{"id":21,"title":"Never placed by a guess.","line":973},{"id":30,"title":"Measurements remain usable as data.","line":1008}]</a:t>
            </a:r>
          </a:p>
          <a:p xmlns:a="http://schemas.openxmlformats.org/drawingml/2006/main">
            <a:r>
              <a:t>Image role: plot of recorded synthetic 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{"section":"Fresh independent audit","status":[["Proposal definitions","A focused requirements baseline is separate from the full candidate used for execution. Supported meaning and pending conventions are distinguished."],["Newly confirmed model gap","No additional undefined model rule was confirmed in reviewed paths. This is a scoped assessment, not an exhaustive completeness proof."],["Implementation evidence","The selected cases work. 6 prior defects pass fresh counterexamples; 1 remains unresolved."],["Deferred capabilities","Coordinate epochs and scene-authored transformation resources remain on the roadmap. Initial choices must preserve a path to adding them."]],"issues":[["Surface lighting directions","Remaining: normal sampling has no justified domain/error bound; projected difference about 1.24 degrees."],["Repeated models","Corrected: an unbound library prototype receives its instancer placement in both readers."],["Baked geometry","Corrected: two source meshes yield exactly two baked meshes; extras are rejected."],["Measurement locations","Corrected: all six measurements retain the coordinates declared by dimension names."],["Other scene information","Corrected: the bake retains MotionAPI and its velocity-scale value."],["Error reporting","Corrected: reports include component errors, magnitudes and angular errors."],["Invalid input detection","Corrected: both readers reject an invalid child placement field."]]}</a:t>
            </a:r>
          </a:p>
          <a:p xmlns:a="http://schemas.openxmlformats.org/drawingml/2006/main">
            <a:r>
              <a:t>No additional model blocker was established by this audit; this is not an exhaustive finding. R1 remains unreproduced.</a:t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project's local survey grid participate as a defined CRS?</a:t>
            </a:r>
          </a:p>
          <a:p xmlns:a="http://schemas.openxmlformats.org/drawingml/2006/main">
            <a:r>
              <a:t>Proposed rule: Site calibration records how a local survey grid relates to a broader coordinate system. The source WKT, a standard text description, carries that relationship and its units.</a:t>
            </a:r>
          </a:p>
          <a:p xmlns:a="http://schemas.openxmlformats.org/drawingml/2006/main">
            <a:r>
              <a:t>Expected: The partner survey resolves into the calibrated site grid using US survey feet, separately from the scene's model units and up direction.</a:t>
            </a:r>
          </a:p>
          <a:p xmlns:a="http://schemas.openxmlformats.org/drawingml/2006/main">
            <a:r>
              <a:t>Observed: The original LandXML survey breaklines resolve and reach an ordinary USD bake rendered by Storm.</a:t>
            </a:r>
          </a:p>
          <a:p xmlns:a="http://schemas.openxmlformats.org/drawingml/2006/main">
            <a:r>
              <a:t>Implication for proposal quality: The case supports a site's calibrated CRS using partner survey lines. It does not establish independent survey accuracy.</a:t>
            </a:r>
          </a:p>
          <a:p xmlns:a="http://schemas.openxmlformats.org/drawingml/2006/main">
            <a:r>
              <a:t>Limit: The image shows survey breaklines. It does not independently validate the survey or certify a continuous terrain surface.</a:t>
            </a:r>
          </a:p>
          <a:p xmlns:a="http://schemas.openxmlformats.org/drawingml/2006/main">
            <a:r>
              <a:t>Proposal: #### Decision on question 7: site calibration at proposal/proposal-source.txt:1303</a:t>
            </a:r>
          </a:p>
          <a:p xmlns:a="http://schemas.openxmlformats.org/drawingml/2006/main">
            <a:r>
              <a:t>Functional requirements: [{"id":4,"title":"A site's own grid is a CRS like any other.","line":676},{"id":14,"title":"Scene conventions stay the scene's.","line":862},{"id":15,"title":"Placement separate from conformance.","line":875},{"id":17,"title":"The same answer for every consumer.","line":907}]</a:t>
            </a:r>
          </a:p>
          <a:p xmlns:a="http://schemas.openxmlformats.org/drawingml/2006/main">
            <a:r>
              <a:t>Image role: recorded native render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incomplete source metadata still support an honestly limited workflow?</a:t>
            </a:r>
          </a:p>
          <a:p xmlns:a="http://schemas.openxmlformats.org/drawingml/2006/main">
            <a:r>
              <a:t>Proposed rule: A consumer does not invent missing coordinate meaning. An explicitly horizontal association can support horizontal resolution while leaving uninterpreted third components unchanged.</a:t>
            </a:r>
          </a:p>
          <a:p xmlns:a="http://schemas.openxmlformats.org/drawingml/2006/main">
            <a:r>
              <a:t>Expected: The horizontal copy resolves into the UTM 32 map system. The original GeoJSON remains unchanged, and no height reference is guessed.</a:t>
            </a:r>
          </a:p>
          <a:p xmlns:a="http://schemas.openxmlformats.org/drawingml/2006/main">
            <a:r>
              <a:t>Observed: The horizontal railway copy resolves 15,822 vertices across 2,386 parts. The plot uses display-only offsets.</a:t>
            </a:r>
          </a:p>
          <a:p xmlns:a="http://schemas.openxmlformats.org/drawingml/2006/main">
            <a:r>
              <a:t>Implication for proposal quality: This case exercises visible limits on interpretation, not a silent assumption that every three-number tuple is a valid geographic 3D position.</a:t>
            </a:r>
          </a:p>
          <a:p xmlns:a="http://schemas.openxmlformats.org/drawingml/2006/main">
            <a:r>
              <a:t>Limit: The original third components remain uninterpreted. This demonstration supports horizontal placement only.</a:t>
            </a:r>
          </a:p>
          <a:p xmlns:a="http://schemas.openxmlformats.org/drawingml/2006/main">
            <a:r>
              <a:t>Proposal: ### External measurement association at proposal/proposal-source.txt:1630</a:t>
            </a:r>
          </a:p>
          <a:p xmlns:a="http://schemas.openxmlformats.org/drawingml/2006/main">
            <a:r>
              <a:t>Functional requirements: [{"id":8,"title":"Brought-in data keeps its coordinates and its CRS.","line":753},{"id":12,"title":"No angle read as a length.","line":836},{"id":19,"title":"Resolution leaves the scene as authored.","line":937},{"id":21,"title":"Never placed by a guess.","line":973}]</a:t>
            </a:r>
          </a:p>
          <a:p xmlns:a="http://schemas.openxmlformats.org/drawingml/2006/main">
            <a:r>
              <a:t>Image role: plot of recorded resolved geometry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Does the proposal say how to resolve positions between authored moments?</a:t>
            </a:r>
          </a:p>
          <a:p xmlns:a="http://schemas.openxmlformats.org/drawingml/2006/main">
            <a:r>
              <a:t>Proposed rule: Interpolate the authored source location first, then convert coordinates. Interpolating already-converted endpoints can produce a different path.</a:t>
            </a:r>
          </a:p>
          <a:p xmlns:a="http://schemas.openxmlformats.org/drawingml/2006/main">
            <a:r>
              <a:t>Expected: At the middle sample, both readers return the converted source-interpolated position. An ordinary bake states exactly which samples it preserves.</a:t>
            </a:r>
          </a:p>
          <a:p xmlns:a="http://schemas.openxmlformats.org/drawingml/2006/main">
            <a:r>
              <a:t>Observed: In the equatorial test, the source longitude spans 0 to 2 degrees. Interpolating converted endpoints misses the source-first midpoint by 971.421 m.</a:t>
            </a:r>
          </a:p>
          <a:p xmlns:a="http://schemas.openxmlformats.org/drawingml/2006/main">
            <a:r>
              <a:t>Implication for proposal quality: The distinguishing control makes the ordering rule testable. Preserving sample times alone cannot prove preservation of the original trajectory between samples.</a:t>
            </a:r>
          </a:p>
          <a:p xmlns:a="http://schemas.openxmlformats.org/drawingml/2006/main">
            <a:r>
              <a:t>Limit: Position interpolation is shown here. HPR wrap, held samples, reference offsets and value clips pass separate controls.</a:t>
            </a:r>
          </a:p>
          <a:p xmlns:a="http://schemas.openxmlformats.org/drawingml/2006/main">
            <a:r>
              <a:t>Proposal: #### Evaluation at proposal/proposal-source.txt:1930</a:t>
            </a:r>
          </a:p>
          <a:p xmlns:a="http://schemas.openxmlformats.org/drawingml/2006/main">
            <a:r>
              <a:t>Functional requirements: [{"id":20,"title":"Positions between recorded moments.","line":956},{"id":29,"title":"Implementable from the text alone.","line":1122}]</a:t>
            </a:r>
          </a:p>
          <a:p xmlns:a="http://schemas.openxmlformats.org/drawingml/2006/main">
            <a:r>
              <a:t>Image role: Recorded numerical evidence</a:t>
            </a:r>
          </a:p>
          <a:p xmlns:a="http://schemas.openxmlformats.org/drawingml/2006/main">
            <a:r>
              <a:t>The chart uses literal values from frozen source samples [[6378137,0,0],[6377165.5788417,111313.83923667613,0],[6374251.6112710945,222593.77119959943,0]]; midpoint difference 971.4211583005459 m. Whole-metre chart labels; six-decimal workbook values. No continuous error curve is claimed.</a:t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{"section":"Proposed choices awaiting agreement","status":[["Proposal definitions","A focused requirements baseline is separate from the full candidate used for execution. Supported meaning and pending conventions are distinguished."],["Newly confirmed model gap","No additional undefined model rule was confirmed in reviewed paths. This is a scoped assessment, not an exhaustive completeness proof."],["Implementation evidence","The selected cases work. 6 prior defects pass fresh counterexamples; 1 remains unresolved."],["Deferred capabilities","Coordinate epochs and scene-authored transformation resources remain on the roadmap. Initial choices must preserve a path to adding them."]]}</a:t>
            </a:r>
          </a:p>
          <a:p xmlns:a="http://schemas.openxmlformats.org/drawingml/2006/main">
            <a:r>
              <a:t>[["Physical orientation","Preferred HPR tuple in degrees, with explicit pose interpolation. Authored inputs only; adoption pending."],["The object with its own georeference","Project adjustment meaning is supported. The detailed fixed working-frame convention remains a candidate."],["Child objects","Model-local meaning is supported. The follow-up specifies chart/reset details and tests that offsets retain their interpretation."],["Independently georeferenced repeated models","Keep a prototype's own geographic placement and apply each instance effect once."],["Geographic queries and scene geometry","Return longitude/latitude/height for geographic queries. Cartesian geometry and bounds use the datum's Earth-centred frame."]]</a:t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{"section":"Proposed choices awaiting agreement","status":[["Proposal definitions","A focused requirements baseline is separate from the full candidate used for execution. Supported meaning and pending conventions are distinguished."],["Newly confirmed model gap","No additional undefined model rule was confirmed in reviewed paths. This is a scoped assessment, not an exhaustive completeness proof."],["Implementation evidence","The selected cases work. 6 prior defects pass fresh counterexamples; 1 remains unresolved."],["Deferred capabilities","Coordinate epochs and scene-authored transformation resources remain on the roadmap. Initial choices must preserve a path to adding them."]]}</a:t>
            </a:r>
          </a:p>
          <a:p xmlns:a="http://schemas.openxmlformats.org/drawingml/2006/main">
            <a:r>
              <a:t>[["Native data association","Name the asset, format, field and coordinate domain. Preserve the association between values, locations and observation times."],["WKT string normalization","A prescribed text form supports token comparison. Different normalized texts can still describe equivalent CRSs."],["Semantic CRS comparison","Specify equivalence criteria and the comparison domain, accounting for relevant axes, units and metadata."],["Dependency declaration using Profiles","Declare the composed scene's need for geospatial interpretation, including unloaded content. Writers and assemblers maintain the declaration."],["Baked output context","Record a Cartesian CRS and ordinary double-precision origin. Preserve precision and space/time coverage."]]</a:t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{"section":"Detailed evidence","status":[["Proposal definitions","A focused requirements baseline is separate from the full candidate used for execution. Supported meaning and pending conventions are distinguished."],["Newly confirmed model gap","No additional undefined model rule was confirmed in reviewed paths. This is a scoped assessment, not an exhaustive completeness proof."],["Implementation evidence","The selected cases work. 6 prior defects pass fresh counterexamples; 1 remains unresolved."],["Deferred capabilities","Coordinate epochs and scene-authored transformation resources remain on the roadmap. Initial choices must preserve a path to adding them."]]}</a:t>
            </a:r>
          </a:p>
          <a:p xmlns:a="http://schemas.openxmlformats.org/drawingml/2006/main">
            <a:r>
              <a:t>[["Python and C++ readers","213,243 coordinate results per reader. Maximum measured difference 3.39e-08 m. They share PROJ and native dataset decoding."],["Omniverse stage geometry integration","Reuses Python placement. Recorded readback covers 177,872 geometry vertices and 48 edit, failure and recovery checks, across 39 jobs."],["Hydra / Storm","Two selected ordinary USD bakes reach native rendering. This consumer path uses the C++ placement results."],["Recorded tests","88 regressions and 65 distinguishing controls passed. Fresh independent diagnostics verify six repairs and retain the unresolved normal case."],["Source preservation","Original inputs and all frozen execution files remained unchanged during this run. The immutable receipt identifies the exact executed content."],["Bake readbacks","11 selected exports were checked. The fresh nested-geometry counterexample verifies the complete inventory, including unexpected extras."]]</a:t>
            </a:r>
          </a:p>
          <a:p xmlns:a="http://schemas.openxmlformats.org/drawingml/2006/main">
            <a:r>
              <a:t>README SHA-256 e7a38c47715e43994a8c44f1474cd6c4a0e924aab1ae63af557fc405cff0a90e</a:t>
            </a:r>
          </a:p>
          <a:p xmlns:a="http://schemas.openxmlformats.org/drawingml/2006/main">
            <a:r>
              <a:t>Proposal SHA-256 0ed1dcda854e43bb82b7e830ba4b2224cdb8da0741fa9d6cb4fe459d4266ace0</a:t>
            </a:r>
          </a:p>
          <a:p xmlns:a="http://schemas.openxmlformats.org/drawingml/2006/main">
            <a:r>
              <a:t>Immutable execution receipt SHA-256 bc2c422dc4a9ec855fe6831a1b6afcd2ef86961db5bc954bd71c74d5ec39d842</a:t>
            </a:r>
          </a:p>
          <a:p xmlns:a="http://schemas.openxmlformats.org/drawingml/2006/main">
            <a:r>
              <a:t>Later audit SHA-256 2c11e5d97389f5cdcabab87f586d0511c5d6e4e8bdc0b2bd4cdcbfdb7f9d783c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1a41765e9648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3cef592b8e499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e74bddbf29462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0ea66c37d8426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07d1fc162241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2d7ad504724d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89443B7-F491-4E4E-BBDD-573B9813CC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64C70A5-A4BD-47D7-BB1A-673AD6D257D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1B7AAEC-5292-4A83-9971-92D2773B5C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875809-DE26-4022-B6E7-A83AF9956B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01D9240-D6BD-43EA-A35A-64CCAF4EC3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7F4A65D-249C-4836-B169-AE45EED44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DB7F9C7-5DB0-49A8-90C3-53160992AD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580D369-38C5-462D-B215-2BF71FEECD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8ACD92B-798A-4E31-A617-470290B31D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F0EA803-E8DB-43E9-B099-69E9A6F5B8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353f9a058f4d38" /><Relationship Type="http://schemas.openxmlformats.org/officeDocument/2006/relationships/slideLayout" Target="/ppt/slideLayouts/slideLayout1.xml" Id="R1202b325ffe84126" /><Relationship Type="http://schemas.openxmlformats.org/officeDocument/2006/relationships/slideLayout" Target="/ppt/slideLayouts/slideLayout2.xml" Id="R50f88dabeddb4e34" /><Relationship Type="http://schemas.openxmlformats.org/officeDocument/2006/relationships/slideLayout" Target="/ppt/slideLayouts/slideLayout3.xml" Id="R816c748fecde4915" /><Relationship Type="http://schemas.openxmlformats.org/officeDocument/2006/relationships/slideLayout" Target="/ppt/slideLayouts/slideLayout4.xml" Id="Re72ad86a6f7e483e" /><Relationship Type="http://schemas.openxmlformats.org/officeDocument/2006/relationships/slideLayout" Target="/ppt/slideLayouts/slideLayout5.xml" Id="Rd6048145743e4f9b" /><Relationship Type="http://schemas.openxmlformats.org/officeDocument/2006/relationships/slideLayout" Target="/ppt/slideLayouts/slideLayout6.xml" Id="R5edcac9528e849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02b325ffe84126"/>
    <p:sldLayoutId xmlns:r="http://schemas.openxmlformats.org/officeDocument/2006/relationships" id="2147483650" r:id="R50f88dabeddb4e34"/>
    <p:sldLayoutId xmlns:r="http://schemas.openxmlformats.org/officeDocument/2006/relationships" id="2147483651" r:id="R816c748fecde4915"/>
    <p:sldLayoutId xmlns:r="http://schemas.openxmlformats.org/officeDocument/2006/relationships" id="2147483652" r:id="Re72ad86a6f7e483e"/>
    <p:sldLayoutId xmlns:r="http://schemas.openxmlformats.org/officeDocument/2006/relationships" id="2147483653" r:id="Rd6048145743e4f9b"/>
    <p:sldLayoutId xmlns:r="http://schemas.openxmlformats.org/officeDocument/2006/relationships" id="2147483654" r:id="R5edcac9528e849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1342fb9bad46cf" /><Relationship Type="http://schemas.openxmlformats.org/officeDocument/2006/relationships/notesSlide" Target="/ppt/notesSlides/notesSlide1.xml" Id="R78c3bae17a034f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0c8d8fe5b7479c" /><Relationship Type="http://schemas.openxmlformats.org/officeDocument/2006/relationships/notesSlide" Target="/ppt/notesSlides/notesSlide2.xml" Id="R290739c573b84c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76803dd45c471a" /><Relationship Type="http://schemas.openxmlformats.org/officeDocument/2006/relationships/image" Target="/ppt/media/image.png" Id="R71129250e8424158" /><Relationship Type="http://schemas.openxmlformats.org/officeDocument/2006/relationships/notesSlide" Target="/ppt/notesSlides/notesSlide3.xml" Id="Re2edc606c3a14e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271c121c414222" /><Relationship Type="http://schemas.openxmlformats.org/officeDocument/2006/relationships/image" Target="/ppt/media/image2.png" Id="R7b9eee2dbe034fa3" /><Relationship Type="http://schemas.openxmlformats.org/officeDocument/2006/relationships/notesSlide" Target="/ppt/notesSlides/notesSlide4.xml" Id="R4a645f9f615c4a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a2e8491ff54b92" /><Relationship Type="http://schemas.openxmlformats.org/officeDocument/2006/relationships/notesSlide" Target="/ppt/notesSlides/notesSlide5.xml" Id="Rdfcbe2f338f641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6bcaee739d4376" /><Relationship Type="http://schemas.openxmlformats.org/officeDocument/2006/relationships/image" Target="/ppt/media/image3.png" Id="R383a418c57274d36" /><Relationship Type="http://schemas.openxmlformats.org/officeDocument/2006/relationships/notesSlide" Target="/ppt/notesSlides/notesSlide6.xml" Id="Ra4ab1178a87141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bd896ce0f24d1c" /><Relationship Type="http://schemas.openxmlformats.org/officeDocument/2006/relationships/image" Target="/ppt/media/image4.png" Id="R0d4923b9de324e9c" /><Relationship Type="http://schemas.openxmlformats.org/officeDocument/2006/relationships/notesSlide" Target="/ppt/notesSlides/notesSlide7.xml" Id="Rada9dceb407a4a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44394694bc4e5b" /><Relationship Type="http://schemas.openxmlformats.org/officeDocument/2006/relationships/notesSlide" Target="/ppt/notesSlides/notesSlide8.xml" Id="R9c0dc858f0ae44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83033fe6754d05" /><Relationship Type="http://schemas.openxmlformats.org/officeDocument/2006/relationships/image" Target="/ppt/media/image5.png" Id="R6037c39680914654" /><Relationship Type="http://schemas.openxmlformats.org/officeDocument/2006/relationships/notesSlide" Target="/ppt/notesSlides/notesSlide9.xml" Id="R9d537f556fd945f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c3fe0769a54b61" /><Relationship Type="http://schemas.openxmlformats.org/officeDocument/2006/relationships/image" Target="/ppt/media/image6.png" Id="R5c9372ad25c642d4" /><Relationship Type="http://schemas.openxmlformats.org/officeDocument/2006/relationships/notesSlide" Target="/ppt/notesSlides/notesSlide10.xml" Id="Re78cc36bdc4142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c9f38abe8d4b94" /><Relationship Type="http://schemas.openxmlformats.org/officeDocument/2006/relationships/chart" Target="/ppt/slides/charts/chart1.xml" Id="Rb22176a038284531" /><Relationship Type="http://schemas.openxmlformats.org/officeDocument/2006/relationships/notesSlide" Target="/ppt/notesSlides/notesSlide11.xml" Id="R15100b40e1df45e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8868776a9a4f07" /><Relationship Type="http://schemas.openxmlformats.org/officeDocument/2006/relationships/notesSlide" Target="/ppt/notesSlides/notesSlide12.xml" Id="R77ab0e50a96a47c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36f1e3c525407e" /><Relationship Type="http://schemas.openxmlformats.org/officeDocument/2006/relationships/notesSlide" Target="/ppt/notesSlides/notesSlide13.xml" Id="R34cdc587084346c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982c71fece4f31" /><Relationship Type="http://schemas.openxmlformats.org/officeDocument/2006/relationships/notesSlide" Target="/ppt/notesSlides/notesSlide14.xml" Id="Rcc0978fa9e00468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Error from interpolating converted endpoints</c:v>
          </c:tx>
          <c:spPr>
            <a:solidFill xmlns:a="http://schemas.openxmlformats.org/drawingml/2006/main">
              <a:srgbClr val="A25D20"/>
            </a:solidFill>
          </c:spP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0</c:v>
                </c:pt>
                <c:pt idx="1">
                  <c:v>971.421158</c:v>
                </c:pt>
                <c:pt idx="2">
                  <c:v>0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USD sample time code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E1E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9EEF1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Distance from source-first result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C4D5B6-FC81-4520-BDB9-96063679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Geospatial proposal 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62D1C-0AE8-4CB1-BD6E-05E0E6BF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USD describes a 3D model's shape and size. Geospatial information says where it belongs on Earth, so models, surveys and measurements can work together.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2E54B-BBE8-4229-AA23-6C761179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1097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The full follow-up now starts from placement authoring: a readable heading/pitch/roll input, with explicit physical meaning and sample evaluation. The focused requirements baseline remains separate.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523966-949A-4F93-ACE2-B98ED68B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All 105 prior case comparisons remain within their existing acceptance limits. New orientation and composition controls pass. Normal sampling remains unresolved; the preferred HPR model still needs group adoption.</a:t>
            </a:r>
          </a:p>
        </p:txBody>
      </p:sp>
    </p:spTree>
    <p:extLst>
      <p:ext uri="{BB962C8B-B14F-4D97-AF65-F5344CB8AC3E}">
        <p14:creationId xmlns:p14="http://schemas.microsoft.com/office/powerpoint/2010/main" val="71205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098617-C0EA-4FB6-8F6F-3873D5B8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 geographic location for a 3D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4A849F-7C28-4737-95FD-577076B2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752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a reader distinguish the model's shape from its location on Earth?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3FDB3-3255-47AB-BEB4-BF3566A666BC}"/>
              </a:ext>
            </a:extLst>
          </p:cNvPr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 information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Plain meaning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Model geometry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Shape and local distances, with declared model units and up direction. In USD: points, metersPerUnit and upAxis.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Coordinate reference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 CRS binding refers to WKT, the standard text description of the location's axes, units and height meaning.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Geographic origin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crs:position locates the model origin. The illustrative example uses longitude 2.2945 degrees, latitude 48.8584 degrees and ellipsoidal height 80 m.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Physical orientation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crs:orientation stores heading, pitch and roll in degrees: which way the model faces and tilts at its origin.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B0EE0-C136-4D11-92F0-60D522DD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A reader has enough source information to place the model, without interpreting longitude or latitude as a distance or adding computed results to the source schema.</a:t>
            </a:r>
          </a:p>
        </p:txBody>
      </p:sp>
    </p:spTree>
    <p:extLst>
      <p:ext uri="{BB962C8B-B14F-4D97-AF65-F5344CB8AC3E}">
        <p14:creationId xmlns:p14="http://schemas.microsoft.com/office/powerpoint/2010/main" val="1330021116"/>
      </p:ext>
    </p:extLst>
  </p:cSld>
</p:sld>
</file>

<file path=ppt/slides/slide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9" name="">
            <ns1:extLst>
              <ns1:ext uri="{FF2B5EF4-FFF2-40B4-BE49-F238E27FC236}">
                <ns2:creationId id="{217C1DC2-1262-45F7-B10E-80D08A51C672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323850"/>
            <ns1:ext cx="10972800" cy="9906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One physical place, different coordinates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29DBD395-82D2-48AD-824B-80B8FFB6A1AE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1400175"/>
            <ns1:ext cx="10972800" cy="7715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Does changing coordinate systems preserve physical placement?</ns1:t>
            </ns1:r>
          </ns1:p>
        </ns0:txBody>
      </ns0:sp>
      <ns0:pic>
        <ns0:nvPicPr>
          <ns0:cNvPr id="3" name="">
            <ns1:extLst>
              <ns1:ext uri="{FF2B5EF4-FFF2-40B4-BE49-F238E27FC236}">
                <ns2:creationId id="{C9D8D000-B5F5-44E8-B716-B52FCBFC2AC9}"/>
              </ns1:ext>
            </ns1:extLst>
          </ns0:cNvPr>
          <ns0:cNvPicPr>
            <ns1:picLocks noChangeAspect="1"/>
          </ns0:cNvPicPr>
          <ns0:nvPr/>
        </ns0:nvPicPr>
        <ns0:blipFill>
          <ns1:blip ns3:embed="R71129250e8424158"/>
          <ns1:srcRect l="0" t="8974" r="0" b="33333"/>
          <ns1:stretch/>
        </ns0:blipFill>
        <ns0:spPr>
          <ns1:xfrm>
            <ns1:off x="609600" y="2381250"/>
            <ns1:ext cx="7258050" cy="4086225"/>
          </ns1:xfrm>
          <ns1:prstGeom prst="rect">
            <ns1:avLst/>
          </ns1:prstGeom>
        </ns0:spPr>
      </ns0:pic>
      <ns0:sp>
        <ns0:nvSpPr>
          <ns0:cNvPr id="4" name="">
            <ns1:extLst>
              <ns1:ext uri="{FF2B5EF4-FFF2-40B4-BE49-F238E27FC236}">
                <ns2:creationId id="{A55CB239-0A2C-4E6C-975A-5C19188D57CB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2381250"/>
            <ns1:ext cx="3343275" cy="3048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Observed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23B6FB3F-DF7B-4DBB-A0E5-3571FB3E92B6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2733675"/>
            <ns1:ext cx="3343275" cy="16002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The illustration converts longitude, latitude and height into map coordinates. The physical site stays the same; map north and local scale can differ.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D1A0BC71-445A-4555-A396-D373BB04092A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4429125"/>
            <ns1:ext cx="3343275" cy="3143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What it establishes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26052368-F006-4134-8169-9EFFF25D3E72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4791075"/>
            <ns1:ext cx="3343275" cy="18002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The proposed rules distinguish a new coordinate representation from a physical move. An image explains this distinction; numerical controls must test it.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82AD54BB-B271-4D89-B98D-BB74520FD1F3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534150"/>
            <ns1:ext cx="7258050" cy="2381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defRPr>
            </ns1:pPr>
            <ns1:r>
              <ns1: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rPr>
              <ns1:t>Informative illustration. Limits in the notes and README.</ns1:t>
            </ns1:r>
          </ns1:p>
        </ns0:txBody>
      </ns0:sp>
    </ns0:spTree>
    <ns0:extLst>
      <ns0:ext uri="{BB962C8B-B14F-4D97-AF65-F5344CB8AC3E}">
        <ns4:creationId val="60000145"/>
      </ns0:ext>
    </ns0:extLst>
  </ns0:cSld>
</ns0:sld>
</file>

<file path=ppt/slides/slide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9" name="">
            <ns1:extLst>
              <ns1:ext uri="{FF2B5EF4-FFF2-40B4-BE49-F238E27FC236}">
                <ns2:creationId id="{E8680611-9BB4-4924-A1B7-B995CEF6F19C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323850"/>
            <ns1:ext cx="10972800" cy="9906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Ordinary model adjustments after placement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B476CFD8-BEC2-4394-BFCD-D376627604E5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1400175"/>
            <ns1:ext cx="10972800" cy="7715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In which coordinates do an author's scale, rotation and translation operate?</ns1:t>
            </ns1:r>
          </ns1:p>
        </ns0:txBody>
      </ns0:sp>
      <ns0:pic>
        <ns0:nvPicPr>
          <ns0:cNvPr id="3" name="">
            <ns1:extLst>
              <ns1:ext uri="{FF2B5EF4-FFF2-40B4-BE49-F238E27FC236}">
                <ns2:creationId id="{C12E792C-1AC3-48B6-95D8-1654FF86FEAE}"/>
              </ns1:ext>
            </ns1:extLst>
          </ns0:cNvPr>
          <ns0:cNvPicPr>
            <ns1:picLocks noChangeAspect="1"/>
          </ns0:cNvPicPr>
          <ns0:nvPr/>
        </ns0:nvPicPr>
        <ns0:blipFill>
          <ns1:blip ns3:embed="R7b9eee2dbe034fa3"/>
          <ns1:srcRect l="0" t="8974" r="0" b="33333"/>
          <ns1:stretch/>
        </ns0:blipFill>
        <ns0:spPr>
          <ns1:xfrm>
            <ns1:off x="609600" y="2381250"/>
            <ns1:ext cx="7258050" cy="4086225"/>
          </ns1:xfrm>
          <ns1:prstGeom prst="rect">
            <ns1:avLst/>
          </ns1:prstGeom>
        </ns0:spPr>
      </ns0:pic>
      <ns0:sp>
        <ns0:nvSpPr>
          <ns0:cNvPr id="4" name="">
            <ns1:extLst>
              <ns1:ext uri="{FF2B5EF4-FFF2-40B4-BE49-F238E27FC236}">
                <ns2:creationId id="{F290FA25-A9D6-459E-B11C-039820519AD2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2381250"/>
            <ns1:ext cx="3343275" cy="3048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Observed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7E4878C4-8F12-4FC3-83D6-F6CC299D78BB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2733675"/>
            <ns1:ext cx="3343275" cy="16002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The illustration applies scale 1.15, rotation 20 degrees, then moves 120 m east and 60 m south. A child-transform control separates two interpretations by 4.222 m.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AA82C676-B1B9-4202-889E-46530D0B008C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4429125"/>
            <ns1:ext cx="3343275" cy="3143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What it establishes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4A61FED5-E9BB-4741-B87B-6162964EA437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4791075"/>
            <ns1:ext cx="3343275" cy="18002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Order changes the result. The control tests the agreed anchor/child distinction while detailed chart and instance conventions remain candidates.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5D039E69-0194-49C2-BB8A-35FC5A0E7F36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534150"/>
            <ns1:ext cx="7258050" cy="2381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defRPr>
            </ns1:pPr>
            <ns1:r>
              <ns1: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rPr>
              <ns1:t>Informative illustration. Limits in the notes and README.</ns1:t>
            </ns1:r>
          </ns1:p>
        </ns0:txBody>
      </ns0:sp>
    </ns0:spTree>
    <ns0:extLst>
      <ns0:ext uri="{BB962C8B-B14F-4D97-AF65-F5344CB8AC3E}">
        <ns4:creationId val="1982735989"/>
      </ns0:ext>
    </ns0:extLst>
  </ns0:cSld>
</ns0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C678C0-7BE9-46A4-9CB2-D2B70124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same rules in two placement readers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D3C420-61B5-4F2C-BB0E-61879D4C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separate implementations derive the same coordinates from the proposed inputs and rules?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892FB-1929-4A97-89C6-6764EECA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France: CC49 to Lambert-93, metres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10B86-B2E0-413B-8F07-08071F4AB493}"/>
              </a:ext>
            </a:extLst>
          </p:cNvPr>
          <p:cNvGraphicFramePr/>
          <p:nvPr/>
        </p:nvGraphicFramePr>
        <p:xfrm>
          <a:off xmlns:a="http://schemas.openxmlformats.org/drawingml/2006/main" x="609600" y="2733675"/>
          <a:ext xmlns:a="http://schemas.openxmlformats.org/drawingml/2006/main" cx="10972800" cy="1352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52800"/>
                <a:gridCol w="3810000"/>
                <a:gridCol w="3810000"/>
              </a:tblGrid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Resolved component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Python reader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C++ reader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east coordinate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661,101.109417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661,101.109417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north coordinate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6,857,834.256536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6,857,834.256536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37.298000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37.298000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2AC0D-0783-45B8-B801-44BD2254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Colorado: State Plane to site grid, US survey feet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775E7F-FC2E-42D6-8658-05236DFDA6D6}"/>
              </a:ext>
            </a:extLst>
          </p:cNvPr>
          <p:cNvGraphicFramePr/>
          <p:nvPr/>
        </p:nvGraphicFramePr>
        <p:xfrm>
          <a:off xmlns:a="http://schemas.openxmlformats.org/drawingml/2006/main" x="609600" y="4667250"/>
          <a:ext xmlns:a="http://schemas.openxmlformats.org/drawingml/2006/main" cx="10972800" cy="1352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52800"/>
                <a:gridCol w="3810000"/>
                <a:gridCol w="3810000"/>
              </a:tblGrid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Resolved component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Python reader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C++ reader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east coordinate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3,108,871.450101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3,108,871.450101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north coordinate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1,206,317.469403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1,206,317.469403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5,484.677949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5,484.677949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50F218-F0FD-47EA-93C2-8FC8F6DE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Both readers use PROJ and share dataset decoding.</a:t>
            </a:r>
          </a:p>
        </p:txBody>
      </p:sp>
    </p:spTree>
    <p:extLst>
      <p:ext uri="{BB962C8B-B14F-4D97-AF65-F5344CB8AC3E}">
        <p14:creationId xmlns:p14="http://schemas.microsoft.com/office/powerpoint/2010/main" val="2137830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B0715-1A07-4725-8D81-5B8CB3E1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Ordinary USD geometry for rendering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563BE-9A0B-4155-A6E8-5D3E96B0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a renderer use the result without implementing geospatial evaluation?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187886-06E1-4BA8-BB5F-784F1E186C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3a418c57274d36"/>
          <a:stretch xmlns:a="http://schemas.openxmlformats.org/drawingml/2006/main"/>
        </p:blipFill>
        <p:spPr>
          <a:xfrm xmlns:a="http://schemas.openxmlformats.org/drawingml/2006/main">
            <a:off x="609600" y="2383036"/>
            <a:ext cx="7258050" cy="40826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A33E4-DF51-4438-9204-9EE1500D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3B0A65-661C-4F2F-99FF-4E7B239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Native Hydra/Storm renders the ordinary USD bake. A double-precision origin keeps local points small; fresh readers recover the placement.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8FCFF9-464F-4234-9454-D344F77A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12867-10F2-45ED-A4AD-924E3C56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Unaware viewers receive resolved ordinary geometry. Fresh checks reject duplicate meshes and retain an unrelated applied schema.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67E0CC-ABD7-4A62-9473-9616E5BD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Recorded native render.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1267397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B635C4-9525-4C1A-9F7A-CA1BC97F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Measurements stay paired with their locations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A54FBC-1368-4841-A940-80A707CF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the scene make a native measurement dataset usable without rewriting its values or guessing what its coordinates mean?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8AB706-4762-4848-AAA5-5E1C04A86E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923b9de324e9c"/>
          <a:stretch xmlns:a="http://schemas.openxmlformats.org/drawingml/2006/main"/>
        </p:blipFill>
        <p:spPr>
          <a:xfrm xmlns:a="http://schemas.openxmlformats.org/drawingml/2006/main">
            <a:off x="2801937" y="2371725"/>
            <a:ext cx="6588125" cy="31623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72438-EBAE-4271-8227-E20F8E23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The synthetic global temperature case returns both coordinate forms for 154 samples and preserves the native values and two observation times.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825CCF-B4AE-40C2-8F33-38D172E4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 values are synthetic. Named-dimension associations are independently tested; agreeing readers alone cannot verify shared decoding.</a:t>
            </a:r>
          </a:p>
        </p:txBody>
      </p:sp>
    </p:spTree>
    <p:extLst>
      <p:ext uri="{BB962C8B-B14F-4D97-AF65-F5344CB8AC3E}">
        <p14:creationId xmlns:p14="http://schemas.microsoft.com/office/powerpoint/2010/main" val="6523562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34B28-8D9B-4062-A16E-F9DA2223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Fresh independent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3BD4F-8853-400F-8584-87238B5A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Six prior defects pass fresh counterexamples; one remains unresolved.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5B5895-0B96-4E30-83CC-DBE639B1AEF3}"/>
              </a:ext>
            </a:extLst>
          </p:cNvPr>
          <p:cNvGraphicFramePr/>
          <p:nvPr/>
        </p:nvGraphicFramePr>
        <p:xfrm>
          <a:off xmlns:a="http://schemas.openxmlformats.org/drawingml/2006/main" x="609600" y="218122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Affected behavior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Fresh audit result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Surface lighting directions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Remaining: normal sampling has no justified domain/error bound; projected difference about 1.24 degrees.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Repeated models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an unbound library prototype receives its instancer placement in both readers.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Baked geometry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two source meshes yield exactly two baked meshes; extras are rejected.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Measurement locations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all six measurements retain the coordinates declared by dimension names.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Other scene information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the bake retains MotionAPI and its velocity-scale value.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Error reporting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reports include component errors, magnitudes and angular errors.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Invalid input detection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both readers reject an invalid child placement field.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3E84F-C37C-434E-9707-B68FCB9A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Normal sampling still needs justified domain/error evidence. Do not turn its shortcut into a proposal rule.</a:t>
            </a:r>
          </a:p>
        </p:txBody>
      </p:sp>
    </p:spTree>
    <p:extLst>
      <p:ext uri="{BB962C8B-B14F-4D97-AF65-F5344CB8AC3E}">
        <p14:creationId xmlns:p14="http://schemas.microsoft.com/office/powerpoint/2010/main" val="21320315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BF383-B061-4A35-ADC4-31507572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A construction site's own survey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34A648-595B-44F2-9C57-B0DBA56E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a project's local survey grid participate as a defined CRS?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AE4C99-07FE-42F6-8500-0C1354DAF3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37c39680914654"/>
          <a:stretch xmlns:a="http://schemas.openxmlformats.org/drawingml/2006/main"/>
        </p:blipFill>
        <p:spPr>
          <a:xfrm xmlns:a="http://schemas.openxmlformats.org/drawingml/2006/main">
            <a:off x="609600" y="2383036"/>
            <a:ext cx="7258050" cy="40826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0C51C0-2BF0-477B-8D83-2566BD67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423587-9148-4C29-B4AC-7126AF42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original LandXML survey breaklines resolve and reach an ordinary USD bake rendered by Storm.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FA1876-3D6A-4F51-89A6-25345B33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93905-3BBA-4E91-AC80-073CD641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case supports a site's calibrated CRS using partner survey lines. It does not establish independent survey accuracy.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47F9D-C2C6-4FBF-BBF5-B6F49C54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Recorded native render.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15168647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F85D39-18B0-4645-9E0B-1E526A4E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Useful horizontal placement without invented height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E2141E-A7D6-4917-8CF3-F5A14DA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incomplete source metadata still support an honestly limited workflow?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6F78F-CB94-48C1-BAE7-CAA7CD6604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372ad25c642d4"/>
          <a:stretch xmlns:a="http://schemas.openxmlformats.org/drawingml/2006/main"/>
        </p:blipFill>
        <p:spPr>
          <a:xfrm xmlns:a="http://schemas.openxmlformats.org/drawingml/2006/main">
            <a:off x="1878478" y="2381250"/>
            <a:ext cx="4720294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208A4-5B0A-4ACD-901E-1D72634D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90DF2-927A-49F6-937D-CFE14A29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horizontal railway copy resolves 15,822 vertices across 2,386 parts. The plot uses display-only offsets.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6A2DE-A3E9-4679-8B09-A098D690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338E3-861B-4E92-915E-67038AC9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This case exercises visible limits on interpretation, not a silent assumption that every three-number tuple is a valid geographic 3D position.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0FBA1C-1115-4179-B488-8C183EA3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Plot of recorded resolved geometry.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16050890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DC3F84-F697-4313-8765-63654670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Animation evaluation 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BCF429-2388-4EE9-B423-90438E83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Interpolate the authored source location first, then convert coordinates. Interpolating already-converted endpoints can produce a different path.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7BDF7478-3460-444B-B6FD-7BB1FC5A4ED4}"/>
              </a:ext>
            </a:extLst>
          </p:cNvPr>
          <p:cNvGraphicFramePr/>
          <p:nvPr/>
        </p:nvGraphicFramePr>
        <p:xfrm>
          <a:off xmlns:a="http://schemas.openxmlformats.org/drawingml/2006/main" x="428625" y="2524125"/>
          <a:ext xmlns:a="http://schemas.openxmlformats.org/drawingml/2006/main" cx="7200900" cy="3886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2176a038284531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050D4-DD38-41C7-A50C-9D0346EA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81275"/>
            <a:ext cx="348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Why the order matters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39E84-7237-452B-8C2E-81CC9C0B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67075"/>
            <a:ext cx="34861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distinguishing control makes the ordering rule testable. Preserving sample times alone cannot prove preservation of the original trajectory between samples.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1DE03-7FE3-4BE1-9E2A-812D3992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34861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Position interpolation is shown here. HPR wrap, held samples, reference offsets and value clips pass separate controls.</a:t>
            </a:r>
          </a:p>
        </p:txBody>
      </p:sp>
    </p:spTree>
    <p:extLst>
      <p:ext uri="{BB962C8B-B14F-4D97-AF65-F5344CB8AC3E}">
        <p14:creationId xmlns:p14="http://schemas.microsoft.com/office/powerpoint/2010/main" val="15061577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D0A52E-9748-4142-94C3-BC1C466A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Placement choices under review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AFAAC1-95BB-48CE-B432-2AB28342149B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257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591425"/>
              </a:tblGrid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Topic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Supported meaning and candidate detail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Physical orientation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Preferred HPR tuple in degrees, with explicit pose interpolation. Authored inputs only; adoption pending.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The object with its own georeference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Project adjustment meaning is supported. The detailed fixed working-frame convention remains a candidate.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Child objects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Model-local meaning is supported. The follow-up specifies chart/reset details and tests that offsets retain their interpretation.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Independently georeferenced repeated models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Keep a prototype's own geographic placement and apply each instance effect once.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Geographic queries and scene geometry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Return longitude/latitude/height for geographic queries. Cartesian geometry and bounds use the datum's Earth-centred frame.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881D9-77F1-4779-BE18-CBA9DDF6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Prefer HPR for authoring; review the precise pose convention and interpolation before adoption.</a:t>
            </a:r>
          </a:p>
        </p:txBody>
      </p:sp>
    </p:spTree>
    <p:extLst>
      <p:ext uri="{BB962C8B-B14F-4D97-AF65-F5344CB8AC3E}">
        <p14:creationId xmlns:p14="http://schemas.microsoft.com/office/powerpoint/2010/main" val="9710065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81F1EC-CF05-4A1F-A315-F3D517BE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Data and declaration choices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4D3E32-C483-4EF4-99C4-1654F9811FDD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257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591425"/>
              </a:tblGrid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Topic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Supported meaning and candidate detail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Native data association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Name the asset, format, field and coordinate domain. Preserve the association between values, locations and observation times.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WKT string normalization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 prescribed text form supports token comparison. Different normalized texts can still describe equivalent CRSs.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Semantic CRS comparison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Specify equivalence criteria and the comparison domain, accounting for relevant axes, units and metadata.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Dependency declaration using Profiles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Declare the composed scene's need for geospatial interpretation, including unloaded content. Writers and assemblers maintain the declaration.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Baked output context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Record a Cartesian CRS and ordinary double-precision origin. Preserve precision and space/time coverage.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731CF5-1065-4B63-85E6-E56D918A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Coordinate epochs and scene-authored operation/resource controls remain deferred without foreclosing later support.</a:t>
            </a:r>
          </a:p>
        </p:txBody>
      </p:sp>
    </p:spTree>
    <p:extLst>
      <p:ext uri="{BB962C8B-B14F-4D97-AF65-F5344CB8AC3E}">
        <p14:creationId xmlns:p14="http://schemas.microsoft.com/office/powerpoint/2010/main" val="9373887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16CE18-35BB-40C7-9804-7D3F93B6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Evidence and its limits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7B8C0-D0F1-4FA4-8D51-79BC3584C8FA}"/>
              </a:ext>
            </a:extLst>
          </p:cNvPr>
          <p:cNvGraphicFramePr/>
          <p:nvPr/>
        </p:nvGraphicFramePr>
        <p:xfrm>
          <a:off xmlns:a="http://schemas.openxmlformats.org/drawingml/2006/main" x="609600" y="1438275"/>
          <a:ext xmlns:a="http://schemas.openxmlformats.org/drawingml/2006/main" cx="10972800" cy="4371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Path or check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evidence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Python and C++ readers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213,243 coordinate results per reader. Maximum measured difference 3.39e-08 m. They share PROJ and native dataset decoding.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Omniverse stage geometry integration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Reuses Python placement. Recorded readback covers 177,872 geometry vertices and 48 edit, failure and recovery checks, across 39 jobs.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Hydra / Storm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Two selected ordinary USD bakes reach native rendering. This consumer path uses the C++ placement results.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Recorded tests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88 regressions and 65 distinguishing controls passed. Fresh independent diagnostics verify six repairs and retain the unresolved normal case.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Source preservation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Original inputs and all frozen execution files remained unchanged during this run. The immutable receipt identifies the exact executed content.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Bake readbacks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11 selected exports were checked. The fresh nested-geometry counterexample verifies the complete inventory, including unexpected extras.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428F0A-2AFF-4D95-8286-241719A8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There are two placement readers. Omniverse reuses Python with a verified stage geometry sink. Hydra consumes a C++-resolved ordinary USD bake.</a:t>
            </a:r>
          </a:p>
        </p:txBody>
      </p:sp>
    </p:spTree>
    <p:extLst>
      <p:ext uri="{BB962C8B-B14F-4D97-AF65-F5344CB8AC3E}">
        <p14:creationId xmlns:p14="http://schemas.microsoft.com/office/powerpoint/2010/main" val="6272034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2026-10-08T18:20:49.9760000Z</dcterms:created>
  <dcterms:modified xsi:type="dcterms:W3CDTF">2026-10-08T18:20:49.9760000Z</dcterms:modified>
</coreProperties>
</file>