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c133ac3be374072" /><Relationship Type="http://schemas.openxmlformats.org/officeDocument/2006/relationships/extended-properties" Target="/docProps/app.xml" Id="Ra2a32eff01cd48f7" /><Relationship Type="http://schemas.openxmlformats.org/officeDocument/2006/relationships/officeDocument" Target="/ppt/presentation.xml" Id="R99edd323f16f4231" /></Relationships>
</file>

<file path=ppt/presentation.xml><?xml version="1.0" encoding="utf-8"?>
<p:presentation xmlns:p="http://schemas.openxmlformats.org/presentationml/2006/main">
  <p:sldMasterIdLst>
    <p:sldMasterId xmlns:r="http://schemas.openxmlformats.org/officeDocument/2006/relationships" id="2147483648" r:id="Rdf9892ee8f454463"/>
  </p:sldMasterIdLst>
  <p:notesMasterIdLst>
    <p:notesMasterId xmlns:r="http://schemas.openxmlformats.org/officeDocument/2006/relationships" r:id="Rb39d5c262aaf441b"/>
  </p:notesMasterIdLst>
  <p:sldIdLst>
    <p:sldId xmlns:r="http://schemas.openxmlformats.org/officeDocument/2006/relationships" id="256" r:id="R5caee55bbae943ef"/>
    <p:sldId xmlns:r="http://schemas.openxmlformats.org/officeDocument/2006/relationships" id="257" r:id="R38fa9b9489fc4fa8"/>
    <p:sldId xmlns:r="http://schemas.openxmlformats.org/officeDocument/2006/relationships" id="258" r:id="R0c49777cc00c4a78"/>
    <p:sldId xmlns:r="http://schemas.openxmlformats.org/officeDocument/2006/relationships" id="259" r:id="R56f1f5ec218f43e2"/>
    <p:sldId xmlns:r="http://schemas.openxmlformats.org/officeDocument/2006/relationships" id="260" r:id="R8093ac778c1047fa"/>
    <p:sldId xmlns:r="http://schemas.openxmlformats.org/officeDocument/2006/relationships" id="261" r:id="Rbd0e9d9a6b2c4034"/>
    <p:sldId xmlns:r="http://schemas.openxmlformats.org/officeDocument/2006/relationships" id="262" r:id="R2d86bc0ba7ad4cb4"/>
    <p:sldId xmlns:r="http://schemas.openxmlformats.org/officeDocument/2006/relationships" id="263" r:id="R856403ee20ea4c32"/>
    <p:sldId xmlns:r="http://schemas.openxmlformats.org/officeDocument/2006/relationships" id="264" r:id="R7b5acbf936cb402c"/>
    <p:sldId xmlns:r="http://schemas.openxmlformats.org/officeDocument/2006/relationships" id="265" r:id="Ra2902d371adb4ea9"/>
    <p:sldId xmlns:r="http://schemas.openxmlformats.org/officeDocument/2006/relationships" id="266" r:id="Rd2d2cc0f4e484791"/>
    <p:sldId xmlns:r="http://schemas.openxmlformats.org/officeDocument/2006/relationships" id="267" r:id="R0aa4d75d23534af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3200c638bda46a6" /><Relationship Type="http://schemas.openxmlformats.org/officeDocument/2006/relationships/slideMaster" Target="/ppt/slideMasters/slideMaster1.xml" Id="Rdf9892ee8f454463" /><Relationship Type="http://schemas.openxmlformats.org/officeDocument/2006/relationships/notesMaster" Target="/ppt/notesMasters/notesMaster1.xml" Id="Rb39d5c262aaf441b" /><Relationship Type="http://schemas.openxmlformats.org/officeDocument/2006/relationships/presProps" Target="/ppt/presProps.xml" Id="R9ce567e83ce74605" /><Relationship Type="http://schemas.openxmlformats.org/officeDocument/2006/relationships/tableStyles" Target="/ppt/tableStyles.xml" Id="R410faddce4bd477d" /><Relationship Type="http://schemas.openxmlformats.org/officeDocument/2006/relationships/slide" Target="/ppt/slides/slide1.xml" Id="R5caee55bbae943ef" /><Relationship Type="http://schemas.openxmlformats.org/officeDocument/2006/relationships/slide" Target="/ppt/slides/slide2.xml" Id="R38fa9b9489fc4fa8" /><Relationship Type="http://schemas.openxmlformats.org/officeDocument/2006/relationships/slide" Target="/ppt/slides/slide3.xml" Id="R0c49777cc00c4a78" /><Relationship Type="http://schemas.openxmlformats.org/officeDocument/2006/relationships/slide" Target="/ppt/slides/slide4.xml" Id="R56f1f5ec218f43e2" /><Relationship Type="http://schemas.openxmlformats.org/officeDocument/2006/relationships/slide" Target="/ppt/slides/slide5.xml" Id="R8093ac778c1047fa" /><Relationship Type="http://schemas.openxmlformats.org/officeDocument/2006/relationships/slide" Target="/ppt/slides/slide6.xml" Id="Rbd0e9d9a6b2c4034" /><Relationship Type="http://schemas.openxmlformats.org/officeDocument/2006/relationships/slide" Target="/ppt/slides/slide7.xml" Id="R2d86bc0ba7ad4cb4" /><Relationship Type="http://schemas.openxmlformats.org/officeDocument/2006/relationships/slide" Target="/ppt/slides/slide8.xml" Id="R856403ee20ea4c32" /><Relationship Type="http://schemas.openxmlformats.org/officeDocument/2006/relationships/slide" Target="/ppt/slides/slide9.xml" Id="R7b5acbf936cb402c" /><Relationship Type="http://schemas.openxmlformats.org/officeDocument/2006/relationships/slide" Target="/ppt/slides/slide10.xml" Id="Ra2902d371adb4ea9" /><Relationship Type="http://schemas.openxmlformats.org/officeDocument/2006/relationships/slide" Target="/ppt/slides/slide11.xml" Id="Rd2d2cc0f4e484791" /><Relationship Type="http://schemas.openxmlformats.org/officeDocument/2006/relationships/slide" Target="/ppt/slides/slide12.xml" Id="R0aa4d75d23534a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4cccee68274d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388d5efd2a8436d" /><Relationship Type="http://schemas.openxmlformats.org/officeDocument/2006/relationships/notesMaster" Target="/ppt/notesMasters/notesMaster1.xml" Id="R68ae3ff65e5d4a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9d3bfc6062641f2" /><Relationship Type="http://schemas.openxmlformats.org/officeDocument/2006/relationships/notesMaster" Target="/ppt/notesMasters/notesMaster1.xml" Id="R3e8a4f58607c4e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2bc5e1923634504" /><Relationship Type="http://schemas.openxmlformats.org/officeDocument/2006/relationships/notesMaster" Target="/ppt/notesMasters/notesMaster1.xml" Id="Rb321440ff0604c7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edde2e786040f2" /><Relationship Type="http://schemas.openxmlformats.org/officeDocument/2006/relationships/notesMaster" Target="/ppt/notesMasters/notesMaster1.xml" Id="R0710014471a442c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1fb9debf444dfd" /><Relationship Type="http://schemas.openxmlformats.org/officeDocument/2006/relationships/notesMaster" Target="/ppt/notesMasters/notesMaster1.xml" Id="R43f62cc471704d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8150af376f4b5f" /><Relationship Type="http://schemas.openxmlformats.org/officeDocument/2006/relationships/notesMaster" Target="/ppt/notesMasters/notesMaster1.xml" Id="R35e14528443b4d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fff9e7335cf47fc" /><Relationship Type="http://schemas.openxmlformats.org/officeDocument/2006/relationships/notesMaster" Target="/ppt/notesMasters/notesMaster1.xml" Id="Rad9a5a2dbec44b53" /></Relationships>
</file>

<file path=ppt/notesSlides/_rels/notesSlide8.xml.rels>&#65279;<?xml version="1.0" encoding="utf-8"?><Relationships xmlns="http://schemas.openxmlformats.org/package/2006/relationships"><Relationship Type="http://schemas.openxmlformats.org/officeDocument/2006/relationships/slide" Target="/ppt/slides/slide8.xml" Id="R98b04499f23442ef" /><Relationship Type="http://schemas.openxmlformats.org/officeDocument/2006/relationships/notesMaster" Target="/ppt/notesMasters/notesMaster1.xml" Id="R63b94071dfb24fb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d15895d7c434c23" /><Relationship Type="http://schemas.openxmlformats.org/officeDocument/2006/relationships/notesMaster" Target="/ppt/notesMasters/notesMaster1.xml" Id="R33e986e5d0304f7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b4b7977c54f4ded" /><Relationship Type="http://schemas.openxmlformats.org/officeDocument/2006/relationships/notesMaster" Target="/ppt/notesMasters/notesMaster1.xml" Id="Rfffcf709c9d743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7ddb4b2bb44c7b" /><Relationship Type="http://schemas.openxmlformats.org/officeDocument/2006/relationships/notesMaster" Target="/ppt/notesMasters/notesMaster1.xml" Id="Rd392afef5ba74c4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7f325299c3b441f" /><Relationship Type="http://schemas.openxmlformats.org/officeDocument/2006/relationships/notesMaster" Target="/ppt/notesMasters/notesMaster1.xml" Id="R8410fbac851d48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"Geospatial proposal quality",</a:t>
            </a:r>
          </a:p>
          <a:p xmlns:a="http://schemas.openxmlformats.org/drawingml/2006/main">
            <a:r>
              <a:t>  "paragraphs": [</a:t>
            </a:r>
          </a:p>
          <a:p xmlns:a="http://schemas.openxmlformats.org/drawingml/2006/main">
            <a:r>
              <a:t>    "The revised local proposal addresses the seven red-team concerns without changing the 31 functional requirements or adding geospatial attributes. Fresh tests support its instance and bake semantics, make unsupported requests explicit, and preserve the existing workflows. No additional undefined rule was found in the inspected paths. This is a scoped finding, not proof of exhaustive completeness.",</a:t>
            </a:r>
          </a:p>
          <a:p xmlns:a="http://schemas.openxmlformats.org/drawingml/2006/main">
            <a:r>
              <a:t>    "Local leans for group review. Authored input fields and the 31 functional requirements remain unchanged."</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"Instance offsets retain one meaning",</a:t>
            </a:r>
          </a:p>
          <a:p xmlns:a="http://schemas.openxmlformats.org/drawingml/2006/main">
            <a:r>
              <a:t>  "image": "instance-offset.png",</a:t>
            </a:r>
          </a:p>
          <a:p xmlns:a="http://schemas.openxmlformats.org/drawingml/2006/main">
            <a:r>
              <a:t>  "paragraphs": [</a:t>
            </a:r>
          </a:p>
          <a:p xmlns:a="http://schemas.openxmlformats.org/drawingml/2006/main">
            <a:r>
              <a:t>    "A local +X offset moves both coincident prototypes ten metres east, whether each has its own georeference or inherits one.",</a:t>
            </a:r>
          </a:p>
          <a:p xmlns:a="http://schemas.openxmlformats.org/drawingml/2006/main">
            <a:r>
              <a:t>    "The draft specifies finite transport through the instancer frame. A required singular inverse fails."</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"Ordinary USD bake reassembly",</a:t>
            </a:r>
          </a:p>
          <a:p xmlns:a="http://schemas.openxmlformats.org/drawingml/2006/main">
            <a:r>
              <a:t>  "table": [</a:t>
            </a:r>
          </a:p>
          <a:p xmlns:a="http://schemas.openxmlformats.org/drawingml/2006/main">
            <a:r>
              <a:t>    [</a:t>
            </a:r>
          </a:p>
          <a:p xmlns:a="http://schemas.openxmlformats.org/drawingml/2006/main">
            <a:r>
              <a:t>      "Intent",</a:t>
            </a:r>
          </a:p>
          <a:p xmlns:a="http://schemas.openxmlformats.org/drawingml/2006/main">
            <a:r>
              <a:t>      "Ordinary USD X (m)",</a:t>
            </a:r>
          </a:p>
          <a:p xmlns:a="http://schemas.openxmlformats.org/drawingml/2006/main">
            <a:r>
              <a:t>      "Python / C++ X (m)"</a:t>
            </a:r>
          </a:p>
          <a:p xmlns:a="http://schemas.openxmlformats.org/drawingml/2006/main">
            <a:r>
              <a:t>    ],</a:t>
            </a:r>
          </a:p>
          <a:p xmlns:a="http://schemas.openxmlformats.org/drawingml/2006/main">
            <a:r>
              <a:t>    [</a:t>
            </a:r>
          </a:p>
          <a:p xmlns:a="http://schemas.openxmlformats.org/drawingml/2006/main">
            <a:r>
              <a:t>      "+100 m parent",</a:t>
            </a:r>
          </a:p>
          <a:p xmlns:a="http://schemas.openxmlformats.org/drawingml/2006/main">
            <a:r>
              <a:t>      "6,378,237",</a:t>
            </a:r>
          </a:p>
          <a:p xmlns:a="http://schemas.openxmlformats.org/drawingml/2006/main">
            <a:r>
              <a:t>      "6,378,237"</a:t>
            </a:r>
          </a:p>
          <a:p xmlns:a="http://schemas.openxmlformats.org/drawingml/2006/main">
            <a:r>
              <a:t>    ],</a:t>
            </a:r>
          </a:p>
          <a:p xmlns:a="http://schemas.openxmlformats.org/drawingml/2006/main">
            <a:r>
              <a:t>    [</a:t>
            </a:r>
          </a:p>
          <a:p xmlns:a="http://schemas.openxmlformats.org/drawingml/2006/main">
            <a:r>
              <a:t>      "Authored reset",</a:t>
            </a:r>
          </a:p>
          <a:p xmlns:a="http://schemas.openxmlformats.org/drawingml/2006/main">
            <a:r>
              <a:t>      "6,378,137",</a:t>
            </a:r>
          </a:p>
          <a:p xmlns:a="http://schemas.openxmlformats.org/drawingml/2006/main">
            <a:r>
              <a:t>      "6,378,137"</a:t>
            </a:r>
          </a:p>
          <a:p xmlns:a="http://schemas.openxmlformats.org/drawingml/2006/main">
            <a:r>
              <a:t>    ]</a:t>
            </a:r>
          </a:p>
          <a:p xmlns:a="http://schemas.openxmlformats.org/drawingml/2006/main">
            <a:r>
              <a:t>  ],</a:t>
            </a:r>
          </a:p>
          <a:p xmlns:a="http://schemas.openxmlformats.org/drawingml/2006/main">
            <a:r>
              <a:t>  "paragraphs": [</a:t>
            </a:r>
          </a:p>
          <a:p xmlns:a="http://schemas.openxmlformats.org/drawingml/2006/main">
            <a:r>
              <a:t>    "A retained CRS identifies the Cartesian context. Ordinary USD determines transform inheritance and resets."</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"Geographic adjustment context",</a:t>
            </a:r>
          </a:p>
          <a:p xmlns:a="http://schemas.openxmlformats.org/drawingml/2006/main">
            <a:r>
              <a:t>  "table": [</a:t>
            </a:r>
          </a:p>
          <a:p xmlns:a="http://schemas.openxmlformats.org/drawingml/2006/main">
            <a:r>
              <a:t>    [</a:t>
            </a:r>
          </a:p>
          <a:p xmlns:a="http://schemas.openxmlformats.org/drawingml/2006/main">
            <a:r>
              <a:t>      "Request",</a:t>
            </a:r>
          </a:p>
          <a:p xmlns:a="http://schemas.openxmlformats.org/drawingml/2006/main">
            <a:r>
              <a:t>      "Proposed outcome"</a:t>
            </a:r>
          </a:p>
          <a:p xmlns:a="http://schemas.openxmlformats.org/drawingml/2006/main">
            <a:r>
              <a:t>    ],</a:t>
            </a:r>
          </a:p>
          <a:p xmlns:a="http://schemas.openxmlformats.org/drawingml/2006/main">
            <a:r>
              <a:t>    [</a:t>
            </a:r>
          </a:p>
          <a:p xmlns:a="http://schemas.openxmlformats.org/drawingml/2006/main">
            <a:r>
              <a:t>      "Read geographic positions",</a:t>
            </a:r>
          </a:p>
          <a:p xmlns:a="http://schemas.openxmlformats.org/drawingml/2006/main">
            <a:r>
              <a:t>      "Retain coordinates and native values"</a:t>
            </a:r>
          </a:p>
          <a:p xmlns:a="http://schemas.openxmlformats.org/drawingml/2006/main">
            <a:r>
              <a:t>    ],</a:t>
            </a:r>
          </a:p>
          <a:p xmlns:a="http://schemas.openxmlformats.org/drawingml/2006/main">
            <a:r>
              <a:t>    [</a:t>
            </a:r>
          </a:p>
          <a:p xmlns:a="http://schemas.openxmlformats.org/drawingml/2006/main">
            <a:r>
              <a:t>      "Adjust in an explicit Cartesian project frame",</a:t>
            </a:r>
          </a:p>
          <a:p xmlns:a="http://schemas.openxmlformats.org/drawingml/2006/main">
            <a:r>
              <a:t>      "Apply the recorded ordinary adjustment"</a:t>
            </a:r>
          </a:p>
          <a:p xmlns:a="http://schemas.openxmlformats.org/drawingml/2006/main">
            <a:r>
              <a:t>    ],</a:t>
            </a:r>
          </a:p>
          <a:p xmlns:a="http://schemas.openxmlformats.org/drawingml/2006/main">
            <a:r>
              <a:t>    [</a:t>
            </a:r>
          </a:p>
          <a:p xmlns:a="http://schemas.openxmlformats.org/drawingml/2006/main">
            <a:r>
              <a:t>      "Adjust without a Cartesian project frame",</a:t>
            </a:r>
          </a:p>
          <a:p xmlns:a="http://schemas.openxmlformats.org/drawingml/2006/main">
            <a:r>
              <a:t>      "Report unsupported adjustment"</a:t>
            </a:r>
          </a:p>
          <a:p xmlns:a="http://schemas.openxmlformats.org/drawingml/2006/main">
            <a:r>
              <a:t>    ]</a:t>
            </a:r>
          </a:p>
          <a:p xmlns:a="http://schemas.openxmlformats.org/drawingml/2006/main">
            <a:r>
              <a:t>  ],</a:t>
            </a:r>
          </a:p>
          <a:p xmlns:a="http://schemas.openxmlformats.org/drawingml/2006/main">
            <a:r>
              <a:t>  "paragraphs": [</a:t>
            </a:r>
          </a:p>
          <a:p xmlns:a="http://schemas.openxmlformats.org/drawingml/2006/main">
            <a:r>
              <a:t>    "This limits one adjustment convention. Global data and analytical queries remain supported."</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"Physical 3D and surface distance",</a:t>
            </a:r>
          </a:p>
          <a:p xmlns:a="http://schemas.openxmlformats.org/drawingml/2006/main">
            <a:r>
              <a:t>  "chart": true,</a:t>
            </a:r>
          </a:p>
          <a:p xmlns:a="http://schemas.openxmlformats.org/drawingml/2006/main">
            <a:r>
              <a:t>  "paragraphs": [</a:t>
            </a:r>
          </a:p>
          <a:p xmlns:a="http://schemas.openxmlformats.org/drawingml/2006/main">
            <a:r>
              <a:t>    "Two equatorial positions, one degree apart, both at 400 km ellipsoidal height.",</a:t>
            </a:r>
          </a:p>
          <a:p xmlns:a="http://schemas.openxmlformats.org/drawingml/2006/main">
            <a:r>
              <a:t>    "The draft separates physical 3D separation from horizontal surface distance. Height remains explicit."</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"An authored rotation path",</a:t>
            </a:r>
          </a:p>
          <a:p xmlns:a="http://schemas.openxmlformats.org/drawingml/2006/main">
            <a:r>
              <a:t>  "table": [</a:t>
            </a:r>
          </a:p>
          <a:p xmlns:a="http://schemas.openxmlformats.org/drawingml/2006/main">
            <a:r>
              <a:t>    [</a:t>
            </a:r>
          </a:p>
          <a:p xmlns:a="http://schemas.openxmlformats.org/drawingml/2006/main">
            <a:r>
              <a:t>      "Authored poses",</a:t>
            </a:r>
          </a:p>
          <a:p xmlns:a="http://schemas.openxmlformats.org/drawingml/2006/main">
            <a:r>
              <a:t>      "Resolved outcome"</a:t>
            </a:r>
          </a:p>
          <a:p xmlns:a="http://schemas.openxmlformats.org/drawingml/2006/main">
            <a:r>
              <a:t>    ],</a:t>
            </a:r>
          </a:p>
          <a:p xmlns:a="http://schemas.openxmlformats.org/drawingml/2006/main">
            <a:r>
              <a:t>    [</a:t>
            </a:r>
          </a:p>
          <a:p xmlns:a="http://schemas.openxmlformats.org/drawingml/2006/main">
            <a:r>
              <a:t>      "0 and +180 or -180 degrees",</a:t>
            </a:r>
          </a:p>
          <a:p xmlns:a="http://schemas.openxmlformats.org/drawingml/2006/main">
            <a:r>
              <a:t>      "Ambiguous path fails"</a:t>
            </a:r>
          </a:p>
          <a:p xmlns:a="http://schemas.openxmlformats.org/drawingml/2006/main">
            <a:r>
              <a:t>    ],</a:t>
            </a:r>
          </a:p>
          <a:p xmlns:a="http://schemas.openxmlformats.org/drawingml/2006/main">
            <a:r>
              <a:t>    [</a:t>
            </a:r>
          </a:p>
          <a:p xmlns:a="http://schemas.openxmlformats.org/drawingml/2006/main">
            <a:r>
              <a:t>      "0, intermediate 90, then 180 degrees",</a:t>
            </a:r>
          </a:p>
          <a:p xmlns:a="http://schemas.openxmlformats.org/drawingml/2006/main">
            <a:r>
              <a:t>      "Intermediate pose determines the path"</a:t>
            </a:r>
          </a:p>
          <a:p xmlns:a="http://schemas.openxmlformats.org/drawingml/2006/main">
            <a:r>
              <a:t>    ],</a:t>
            </a:r>
          </a:p>
          <a:p xmlns:a="http://schemas.openxmlformats.org/drawingml/2006/main">
            <a:r>
              <a:t>    [</a:t>
            </a:r>
          </a:p>
          <a:p xmlns:a="http://schemas.openxmlformats.org/drawingml/2006/main">
            <a:r>
              <a:t>      "Held reader or exact sample",</a:t>
            </a:r>
          </a:p>
          <a:p xmlns:a="http://schemas.openxmlformats.org/drawingml/2006/main">
            <a:r>
              <a:t>      "Recorded pose remains defined"</a:t>
            </a:r>
          </a:p>
          <a:p xmlns:a="http://schemas.openxmlformats.org/drawingml/2006/main">
            <a:r>
              <a:t>    ]</a:t>
            </a:r>
          </a:p>
          <a:p xmlns:a="http://schemas.openxmlformats.org/drawingml/2006/main">
            <a:r>
              <a:t>  ],</a:t>
            </a:r>
          </a:p>
          <a:p xmlns:a="http://schemas.openxmlformats.org/drawingml/2006/main">
            <a:r>
              <a:t>  "paragraphs": [</a:t>
            </a:r>
          </a:p>
          <a:p xmlns:a="http://schemas.openxmlformats.org/drawingml/2006/main">
            <a:r>
              <a:t>    "The source stores heading, pitch and roll. The reader computes a pose. The prototype uncertainty bound still needs evidence."</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"Dependency coverage with Profiles",</a:t>
            </a:r>
          </a:p>
          <a:p xmlns:a="http://schemas.openxmlformats.org/drawingml/2006/main">
            <a:r>
              <a:t>  "table": [</a:t>
            </a:r>
          </a:p>
          <a:p xmlns:a="http://schemas.openxmlformats.org/drawingml/2006/main">
            <a:r>
              <a:t>    [</a:t>
            </a:r>
          </a:p>
          <a:p xmlns:a="http://schemas.openxmlformats.org/drawingml/2006/main">
            <a:r>
              <a:t>      "Publisher declaration",</a:t>
            </a:r>
          </a:p>
          <a:p xmlns:a="http://schemas.openxmlformats.org/drawingml/2006/main">
            <a:r>
              <a:t>      "Consumer interpretation"</a:t>
            </a:r>
          </a:p>
          <a:p xmlns:a="http://schemas.openxmlformats.org/drawingml/2006/main">
            <a:r>
              <a:t>    ],</a:t>
            </a:r>
          </a:p>
          <a:p xmlns:a="http://schemas.openxmlformats.org/drawingml/2006/main">
            <a:r>
              <a:t>    [</a:t>
            </a:r>
          </a:p>
          <a:p xmlns:a="http://schemas.openxmlformats.org/drawingml/2006/main">
            <a:r>
              <a:t>      "Complete summary, no retained use",</a:t>
            </a:r>
          </a:p>
          <a:p xmlns:a="http://schemas.openxmlformats.org/drawingml/2006/main">
            <a:r>
              <a:t>      "Known none"</a:t>
            </a:r>
          </a:p>
          <a:p xmlns:a="http://schemas.openxmlformats.org/drawingml/2006/main">
            <a:r>
              <a:t>    ],</a:t>
            </a:r>
          </a:p>
          <a:p xmlns:a="http://schemas.openxmlformats.org/drawingml/2006/main">
            <a:r>
              <a:t>    [</a:t>
            </a:r>
          </a:p>
          <a:p xmlns:a="http://schemas.openxmlformats.org/drawingml/2006/main">
            <a:r>
              <a:t>      "Hard capability usage",</a:t>
            </a:r>
          </a:p>
          <a:p xmlns:a="http://schemas.openxmlformats.org/drawingml/2006/main">
            <a:r>
              <a:t>      "Resolution dependency"</a:t>
            </a:r>
          </a:p>
          <a:p xmlns:a="http://schemas.openxmlformats.org/drawingml/2006/main">
            <a:r>
              <a:t>    ],</a:t>
            </a:r>
          </a:p>
          <a:p xmlns:a="http://schemas.openxmlformats.org/drawingml/2006/main">
            <a:r>
              <a:t>    [</a:t>
            </a:r>
          </a:p>
          <a:p xmlns:a="http://schemas.openxmlformats.org/drawingml/2006/main">
            <a:r>
              <a:t>      "Missing complete qualification",</a:t>
            </a:r>
          </a:p>
          <a:p xmlns:a="http://schemas.openxmlformats.org/drawingml/2006/main">
            <a:r>
              <a:t>      "Unknown, conservatively hard"</a:t>
            </a:r>
          </a:p>
          <a:p xmlns:a="http://schemas.openxmlformats.org/drawingml/2006/main">
            <a:r>
              <a:t>    ]</a:t>
            </a:r>
          </a:p>
          <a:p xmlns:a="http://schemas.openxmlformats.org/drawingml/2006/main">
            <a:r>
              <a:t>  ],</a:t>
            </a:r>
          </a:p>
          <a:p xmlns:a="http://schemas.openxmlformats.org/drawingml/2006/main">
            <a:r>
              <a:t>  "paragraphs": [</a:t>
            </a:r>
          </a:p>
          <a:p xmlns:a="http://schemas.openxmlformats.org/drawingml/2006/main">
            <a:r>
              <a:t>    "Existing Profiles metadata carries a proposed publishing profile. Publisher checks must cover retained variants and unloaded content. A metadata read alone cannot establish truth."</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"Working native visualization",</a:t>
            </a:r>
          </a:p>
          <a:p xmlns:a="http://schemas.openxmlformats.org/drawingml/2006/main">
            <a:r>
              <a:t>  "images": [</a:t>
            </a:r>
          </a:p>
          <a:p xmlns:a="http://schemas.openxmlformats.org/drawingml/2006/main">
            <a:r>
              <a:t>    "tower.png",</a:t>
            </a:r>
          </a:p>
          <a:p xmlns:a="http://schemas.openxmlformats.org/drawingml/2006/main">
            <a:r>
              <a:t>    "terrain.png"</a:t>
            </a:r>
          </a:p>
          <a:p xmlns:a="http://schemas.openxmlformats.org/drawingml/2006/main">
            <a:r>
              <a:t>  ],</a:t>
            </a:r>
          </a:p>
          <a:p xmlns:a="http://schemas.openxmlformats.org/drawingml/2006/main">
            <a:r>
              <a:t>  "paragraphs": [</a:t>
            </a:r>
          </a:p>
          <a:p xmlns:a="http://schemas.openxmlformats.org/drawingml/2006/main">
            <a:r>
              <a:t>    "Fresh native Hydra/Storm images of C++-resolved ordinary USD bakes.",</a:t>
            </a:r>
          </a:p>
          <a:p xmlns:a="http://schemas.openxmlformats.org/drawingml/2006/main">
            <a:r>
              <a:t>    "They demonstrate the render path. Surface-normal accuracy remains a separate failed diagnostic."</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"Measurements retain native meaning",</a:t>
            </a:r>
          </a:p>
          <a:p xmlns:a="http://schemas.openxmlformats.org/drawingml/2006/main">
            <a:r>
              <a:t>  "image": "global-temperature.png",</a:t>
            </a:r>
          </a:p>
          <a:p xmlns:a="http://schemas.openxmlformats.org/drawingml/2006/main">
            <a:r>
              <a:t>  "paragraphs": [</a:t>
            </a:r>
          </a:p>
          <a:p xmlns:a="http://schemas.openxmlformats.org/drawingml/2006/main">
            <a:r>
              <a:t>    "The synthetic global field retains 154 observations over two times, with explicit height.",</a:t>
            </a:r>
          </a:p>
          <a:p xmlns:a="http://schemas.openxmlformats.org/drawingml/2006/main">
            <a:r>
              <a:t>    "Geographic and Earth-centred results keep the same measurements. Named-dimension controls check the shared decoder."</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"Both readers resolve partner controls",</a:t>
            </a:r>
          </a:p>
          <a:p xmlns:a="http://schemas.openxmlformats.org/drawingml/2006/main">
            <a:r>
              <a:t>  "examples": true,</a:t>
            </a:r>
          </a:p>
          <a:p xmlns:a="http://schemas.openxmlformats.org/drawingml/2006/main">
            <a:r>
              <a:t>  "paragraphs": [</a:t>
            </a:r>
          </a:p>
          <a:p xmlns:a="http://schemas.openxmlformats.org/drawingml/2006/main">
            <a:r>
              <a:t>    "Recorded components in the declared output units. Both placement readers share PROJ and external-data decoding."</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"Remaining prototype limits",</a:t>
            </a:r>
          </a:p>
          <a:p xmlns:a="http://schemas.openxmlformats.org/drawingml/2006/main">
            <a:r>
              <a:t>  "table": [</a:t>
            </a:r>
          </a:p>
          <a:p xmlns:a="http://schemas.openxmlformats.org/drawingml/2006/main">
            <a:r>
              <a:t>    [</a:t>
            </a:r>
          </a:p>
          <a:p xmlns:a="http://schemas.openxmlformats.org/drawingml/2006/main">
            <a:r>
              <a:t>      "Finding",</a:t>
            </a:r>
          </a:p>
          <a:p xmlns:a="http://schemas.openxmlformats.org/drawingml/2006/main">
            <a:r>
              <a:t>      "Assessment"</a:t>
            </a:r>
          </a:p>
          <a:p xmlns:a="http://schemas.openxmlformats.org/drawingml/2006/main">
            <a:r>
              <a:t>    ],</a:t>
            </a:r>
          </a:p>
          <a:p xmlns:a="http://schemas.openxmlformats.org/drawingml/2006/main">
            <a:r>
              <a:t>    [</a:t>
            </a:r>
          </a:p>
          <a:p xmlns:a="http://schemas.openxmlformats.org/drawingml/2006/main">
            <a:r>
              <a:t>      "Surface lighting directions",</a:t>
            </a:r>
          </a:p>
          <a:p xmlns:a="http://schemas.openxmlformats.org/drawingml/2006/main">
            <a:r>
              <a:t>      "1.24 degrees across one large projected face. Current sampling lacks an error bound."</a:t>
            </a:r>
          </a:p>
          <a:p xmlns:a="http://schemas.openxmlformats.org/drawingml/2006/main">
            <a:r>
              <a:t>    ],</a:t>
            </a:r>
          </a:p>
          <a:p xmlns:a="http://schemas.openxmlformats.org/drawingml/2006/main">
            <a:r>
              <a:t>    [</a:t>
            </a:r>
          </a:p>
          <a:p xmlns:a="http://schemas.openxmlformats.org/drawingml/2006/main">
            <a:r>
              <a:t>      "Near-half-turn numerical guard",</a:t>
            </a:r>
          </a:p>
          <a:p xmlns:a="http://schemas.openxmlformats.org/drawingml/2006/main">
            <a:r>
              <a:t>      "Correct failure, incomplete rotational uncertainty evidence"</a:t>
            </a:r>
          </a:p>
          <a:p xmlns:a="http://schemas.openxmlformats.org/drawingml/2006/main">
            <a:r>
              <a:t>    ],</a:t>
            </a:r>
          </a:p>
          <a:p xmlns:a="http://schemas.openxmlformats.org/drawingml/2006/main">
            <a:r>
              <a:t>    [</a:t>
            </a:r>
          </a:p>
          <a:p xmlns:a="http://schemas.openxmlformats.org/drawingml/2006/main">
            <a:r>
              <a:t>      "WKT quoted text",</a:t>
            </a:r>
          </a:p>
          <a:p xmlns:a="http://schemas.openxmlformats.org/drawingml/2006/main">
            <a:r>
              <a:t>      "Both readers mistake a quoted name for a deferred epoch wrapper"</a:t>
            </a:r>
          </a:p>
          <a:p xmlns:a="http://schemas.openxmlformats.org/drawingml/2006/main">
            <a:r>
              <a:t>    ],</a:t>
            </a:r>
          </a:p>
          <a:p xmlns:a="http://schemas.openxmlformats.org/drawingml/2006/main">
            <a:r>
              <a:t>    [</a:t>
            </a:r>
          </a:p>
          <a:p xmlns:a="http://schemas.openxmlformats.org/drawingml/2006/main">
            <a:r>
              <a:t>      "Publication and consumer coverage",</a:t>
            </a:r>
          </a:p>
          <a:p xmlns:a="http://schemas.openxmlformats.org/drawingml/2006/main">
            <a:r>
              <a:t>      "Selected controls pass. Broader composition and continuous coverage remains unverified"</a:t>
            </a:r>
          </a:p>
          <a:p xmlns:a="http://schemas.openxmlformats.org/drawingml/2006/main">
            <a:r>
              <a:t>    ]</a:t>
            </a:r>
          </a:p>
          <a:p xmlns:a="http://schemas.openxmlformats.org/drawingml/2006/main">
            <a:r>
              <a:t>  ],</a:t>
            </a:r>
          </a:p>
          <a:p xmlns:a="http://schemas.openxmlformats.org/drawingml/2006/main">
            <a:r>
              <a:t>  "paragraphs": [</a:t>
            </a:r>
          </a:p>
          <a:p xmlns:a="http://schemas.openxmlformats.org/drawingml/2006/main">
            <a:r>
              <a:t>    "The proposal supplies rules for these outcomes. Passing prototype tests cannot establish exhaustive proposal quality."</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"title": "Review choices and fresh evidence",</a:t>
            </a:r>
          </a:p>
          <a:p xmlns:a="http://schemas.openxmlformats.org/drawingml/2006/main">
            <a:r>
              <a:t>  "table": [</a:t>
            </a:r>
          </a:p>
          <a:p xmlns:a="http://schemas.openxmlformats.org/drawingml/2006/main">
            <a:r>
              <a:t>    [</a:t>
            </a:r>
          </a:p>
          <a:p xmlns:a="http://schemas.openxmlformats.org/drawingml/2006/main">
            <a:r>
              <a:t>      "Evidence",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"Contract tests",</a:t>
            </a:r>
          </a:p>
          <a:p xmlns:a="http://schemas.openxmlformats.org/drawingml/2006/main">
            <a:r>
              <a:t>      "113 passed"</a:t>
            </a:r>
          </a:p>
          <a:p xmlns:a="http://schemas.openxmlformats.org/drawingml/2006/main">
            <a:r>
              <a:t>    ],</a:t>
            </a:r>
          </a:p>
          <a:p xmlns:a="http://schemas.openxmlformats.org/drawingml/2006/main">
            <a:r>
              <a:t>    [</a:t>
            </a:r>
          </a:p>
          <a:p xmlns:a="http://schemas.openxmlformats.org/drawingml/2006/main">
            <a:r>
              <a:t>      "Coordinates compared per reader",</a:t>
            </a:r>
          </a:p>
          <a:p xmlns:a="http://schemas.openxmlformats.org/drawingml/2006/main">
            <a:r>
              <a:t>      "213,243"</a:t>
            </a:r>
          </a:p>
          <a:p xmlns:a="http://schemas.openxmlformats.org/drawingml/2006/main">
            <a:r>
              <a:t>    ],</a:t>
            </a:r>
          </a:p>
          <a:p xmlns:a="http://schemas.openxmlformats.org/drawingml/2006/main">
            <a:r>
              <a:t>    [</a:t>
            </a:r>
          </a:p>
          <a:p xmlns:a="http://schemas.openxmlformats.org/drawingml/2006/main">
            <a:r>
              <a:t>      "Prior cases",</a:t>
            </a:r>
          </a:p>
          <a:p xmlns:a="http://schemas.openxmlformats.org/drawingml/2006/main">
            <a:r>
              <a:t>      "No unexpected numerical regression"</a:t>
            </a:r>
          </a:p>
          <a:p xmlns:a="http://schemas.openxmlformats.org/drawingml/2006/main">
            <a:r>
              <a:t>    ],</a:t>
            </a:r>
          </a:p>
          <a:p xmlns:a="http://schemas.openxmlformats.org/drawingml/2006/main">
            <a:r>
              <a:t>    [</a:t>
            </a:r>
          </a:p>
          <a:p xmlns:a="http://schemas.openxmlformats.org/drawingml/2006/main">
            <a:r>
              <a:t>      "Omniverse writeback",</a:t>
            </a:r>
          </a:p>
          <a:p xmlns:a="http://schemas.openxmlformats.org/drawingml/2006/main">
            <a:r>
              <a:t>      "177,872 vertices and 48 edit checks"</a:t>
            </a:r>
          </a:p>
          <a:p xmlns:a="http://schemas.openxmlformats.org/drawingml/2006/main">
            <a:r>
              <a:t>    ]</a:t>
            </a:r>
          </a:p>
          <a:p xmlns:a="http://schemas.openxmlformats.org/drawingml/2006/main">
            <a:r>
              <a:t>  ],</a:t>
            </a:r>
          </a:p>
          <a:p xmlns:a="http://schemas.openxmlformats.org/drawingml/2006/main">
            <a:r>
              <a:t>  "paragraphs": [</a:t>
            </a:r>
          </a:p>
          <a:p xmlns:a="http://schemas.openxmlformats.org/drawingml/2006/main">
            <a:r>
              <a:t>    "Review instance transport, Cartesian adjustment context and the publishing-profile contract. HPR, the half-turn policy and comparison conventions remain proposed."</a:t>
            </a:r>
          </a:p>
          <a:p xmlns:a="http://schemas.openxmlformats.org/drawingml/2006/main">
            <a:r>
              <a:t>  ]</a:t>
            </a:r>
          </a:p>
          <a:p xmlns:a="http://schemas.openxmlformats.org/drawingml/2006/main">
            <a:r>
              <a:t>}</a:t>
            </a:r>
          </a:p>
          <a:p xmlns:a="http://schemas.openxmlformats.org/drawingml/2006/main">
            <a:r>
              <a:t>Derived from README SHA-256 e911ac6b2c77038c9d018941e69986e3ba78e8298a790b93c147a72e63e7d715</a:t>
            </a:r>
          </a:p>
          <a:p xmlns:a="http://schemas.openxmlformats.org/drawingml/2006/main">
            <a:r>
              <a:t>Proposal 7b5b34b7282305135f672663a3cffb0f94342ecc SHA-256 010d4c0243e7e6985284cccadb00fb7c6f7b0c5c50f22d81bb31ada960548d75</a:t>
            </a:r>
          </a:p>
          <a:p xmlns:a="http://schemas.openxmlformats.org/drawingml/2006/main">
            <a:r>
              <a:t>Immutable execution receipt SHA-256 db39bc27bc04bf7f70bfaf2e5048b085798e3ef8b72e58fa54a367a51b7b6d91</a:t>
            </a:r>
          </a:p>
          <a:p xmlns:a="http://schemas.openxmlformats.org/drawingml/2006/main">
            <a:r>
              <a:t>Source: local full proposal, receipt, analytical controls and independent audits linked from the README.</a:t>
            </a:r>
          </a:p>
          <a:p xmlns:a="http://schemas.openxmlformats.org/drawingml/2006/main">
            <a:r>
              <a:t>No group approval or exhaustive conformance claimed.</a:t>
            </a:r>
          </a:p>
          <a:p xmlns:a="http://schemas.openxmlformats.org/drawingml/2006/main">
            <a:r>
              <a:t>USD semantics: https://openusd.org/release/api/class_usd_geom_point_instancer.html and https://openusd.org/release/api/class_usd_geom_xformable.html</a:t>
            </a:r>
          </a:p>
          <a:p xmlns:a="http://schemas.openxmlformats.org/drawingml/2006/main">
            <a:r>
              <a:t>Asset structuring guidance: https://docs.omniverse.nvidia.com/usd/latest/learn-openusd/independent/asset-structure-principles.html</a:t>
            </a:r>
          </a:p>
          <a:p xmlns:a="http://schemas.openxmlformats.org/drawingml/2006/main">
            <a:r>
              <a:t>Profiles carrier: https://openusd.org/release/user_guides/schemas/UsdProfiles/overview.html</a:t>
            </a:r>
          </a:p>
          <a:p xmlns:a="http://schemas.openxmlformats.org/drawingml/2006/main">
            <a:r>
              <a:t>Eiffel mesh credit (slide 8): SDC PERFORMANCE, https://sketchfab.com/3d-models/free-la-tour-eiffel-8553f94d06e24cb4b0fde1080f281674 , CC BY 4.0 https://creativecommons.org/licenses/by/4.0/ .</a:t>
            </a:r>
          </a:p>
          <a:p xmlns:a="http://schemas.openxmlformats.org/drawingml/2006/main">
            <a:r>
              <a:t>Chart workbook records distances rounded to six decimal places in km; labels show three. Full-precision analytical values remain in story.json. Analytical metric control uses WGS 84 equatorial radius 6378137 m and explicit 400000 m height. Plots show recorded synthetic data, not surveys or photographs.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8044b55b85482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26578741f1446c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4bb62ec631407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fd2603a666c41b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4eea7850dd74c1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262e16b2779439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AE004A-ECF9-499E-93A2-C0E0BB9DE3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66D5850-5502-4EB7-A4D9-70BE0AB947A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445F4B4-9539-4452-A768-C993FBE5C80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65E879-200F-4E14-9703-0B24B9407F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36323EA-EB94-49BC-9E73-982C2C173B0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09BF28F-A2CB-46C8-8DD9-50D3CA004E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F9F485-87F7-4ECE-ACAA-F4AA6C1D0B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BE1F4D-55BD-4C49-85AE-78FE1DA6D32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3009F1-BFD7-4C60-90C8-59528985A2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893878C-4921-430F-88FC-F6B4B184B3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bd27cd5dad4f9a" /><Relationship Type="http://schemas.openxmlformats.org/officeDocument/2006/relationships/slideLayout" Target="/ppt/slideLayouts/slideLayout1.xml" Id="R7fa8806f1bcd4c1e" /><Relationship Type="http://schemas.openxmlformats.org/officeDocument/2006/relationships/slideLayout" Target="/ppt/slideLayouts/slideLayout2.xml" Id="R89747085ff6c4e11" /><Relationship Type="http://schemas.openxmlformats.org/officeDocument/2006/relationships/slideLayout" Target="/ppt/slideLayouts/slideLayout3.xml" Id="R826f3c95abd74608" /><Relationship Type="http://schemas.openxmlformats.org/officeDocument/2006/relationships/slideLayout" Target="/ppt/slideLayouts/slideLayout4.xml" Id="R3bd0771905fd43b7" /><Relationship Type="http://schemas.openxmlformats.org/officeDocument/2006/relationships/slideLayout" Target="/ppt/slideLayouts/slideLayout5.xml" Id="Rc38bec37b47c429d" /><Relationship Type="http://schemas.openxmlformats.org/officeDocument/2006/relationships/slideLayout" Target="/ppt/slideLayouts/slideLayout6.xml" Id="Rbbc0689f914c46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a8806f1bcd4c1e"/>
    <p:sldLayoutId xmlns:r="http://schemas.openxmlformats.org/officeDocument/2006/relationships" id="2147483650" r:id="R89747085ff6c4e11"/>
    <p:sldLayoutId xmlns:r="http://schemas.openxmlformats.org/officeDocument/2006/relationships" id="2147483651" r:id="R826f3c95abd74608"/>
    <p:sldLayoutId xmlns:r="http://schemas.openxmlformats.org/officeDocument/2006/relationships" id="2147483652" r:id="R3bd0771905fd43b7"/>
    <p:sldLayoutId xmlns:r="http://schemas.openxmlformats.org/officeDocument/2006/relationships" id="2147483653" r:id="Rc38bec37b47c429d"/>
    <p:sldLayoutId xmlns:r="http://schemas.openxmlformats.org/officeDocument/2006/relationships" id="2147483654" r:id="Rbbc0689f914c46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5e756de47664eec" /><Relationship Type="http://schemas.openxmlformats.org/officeDocument/2006/relationships/notesSlide" Target="/ppt/notesSlides/notesSlide1.xml" Id="R0bcbacf0484843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0bdf0eb9d424c44" /><Relationship Type="http://schemas.openxmlformats.org/officeDocument/2006/relationships/image" Target="/ppt/media/image.png" Id="Rc3f4ed530d3b4490" /><Relationship Type="http://schemas.openxmlformats.org/officeDocument/2006/relationships/notesSlide" Target="/ppt/notesSlides/notesSlide2.xml" Id="R87debdbb763e4d3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6aa1fca571340ad" /><Relationship Type="http://schemas.openxmlformats.org/officeDocument/2006/relationships/notesSlide" Target="/ppt/notesSlides/notesSlide3.xml" Id="R450cf555d8ea4a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f2abb9799494657" /><Relationship Type="http://schemas.openxmlformats.org/officeDocument/2006/relationships/notesSlide" Target="/ppt/notesSlides/notesSlide4.xml" Id="R8df782149c14489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26b0ef22ecb4941" /><Relationship Type="http://schemas.openxmlformats.org/officeDocument/2006/relationships/chart" Target="/ppt/slides/charts/chart1.xml" Id="R84c285a0c5774994" /><Relationship Type="http://schemas.openxmlformats.org/officeDocument/2006/relationships/notesSlide" Target="/ppt/notesSlides/notesSlide5.xml" Id="R6bd10134802349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78dda07901461c" /><Relationship Type="http://schemas.openxmlformats.org/officeDocument/2006/relationships/notesSlide" Target="/ppt/notesSlides/notesSlide6.xml" Id="R4b41a8604ca540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46432aa16f74d8e" /><Relationship Type="http://schemas.openxmlformats.org/officeDocument/2006/relationships/notesSlide" Target="/ppt/notesSlides/notesSlide7.xml" Id="R91226254f67d40c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c80506d332a4bb0" /><Relationship Type="http://schemas.openxmlformats.org/officeDocument/2006/relationships/image" Target="/ppt/media/image2.png" Id="Rbb6ac83b11254452" /><Relationship Type="http://schemas.openxmlformats.org/officeDocument/2006/relationships/image" Target="/ppt/media/image3.png" Id="R1a9805715f6148cf" /><Relationship Type="http://schemas.openxmlformats.org/officeDocument/2006/relationships/notesSlide" Target="/ppt/notesSlides/notesSlide8.xml" Id="R111b5f5517da4b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3ff133847d94ff8" /><Relationship Type="http://schemas.openxmlformats.org/officeDocument/2006/relationships/image" Target="/ppt/media/image4.png" Id="Rae189a82edd44bcc" /><Relationship Type="http://schemas.openxmlformats.org/officeDocument/2006/relationships/notesSlide" Target="/ppt/notesSlides/notesSlide9.xml" Id="Rfbf592fc03cf4b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b775f1950ff4aee" /><Relationship Type="http://schemas.openxmlformats.org/officeDocument/2006/relationships/notesSlide" Target="/ppt/notesSlides/notesSlide10.xml" Id="R2d119bef05ad40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6288de7dbea476a" /><Relationship Type="http://schemas.openxmlformats.org/officeDocument/2006/relationships/notesSlide" Target="/ppt/notesSlides/notesSlide11.xml" Id="R8e564526a58349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dee8fd90f88416f" /><Relationship Type="http://schemas.openxmlformats.org/officeDocument/2006/relationships/notesSlide" Target="/ppt/notesSlides/notesSlide12.xml" Id="R6c312527e0b646c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Separation</c:v>
          </c:tx>
          <c:spPr>
            <a:solidFill xmlns:a="http://schemas.openxmlformats.org/drawingml/2006/main">
              <a:srgbClr val="157C87"/>
            </a:solidFill>
          </c:spPr>
          <c:cat>
            <c:strRef>
              <c:f>'Chart Data'!$A$2:$A$3</c:f>
              <c:strCache>
                <c:ptCount val="2"/>
                <c:pt idx="0">
                  <c:v>Surface</c:v>
                </c:pt>
                <c:pt idx="1">
                  <c:v>Physical 3D</c:v>
                </c:pt>
              </c:strCache>
            </c:strRef>
          </c:cat>
          <c:val>
            <c:numRef>
              <c:f>'Chart Data'!$B$2:$B$3</c:f>
              <c:numCache>
                <c:formatCode>0</c:formatCode>
                <c:ptCount val="2"/>
                <c:pt idx="0">
                  <c:v>111.319491</c:v>
                </c:pt>
                <c:pt idx="1">
                  <c:v>118.299306</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213744"/>
                  </a:solidFill>
                  <a:latin typeface="Arial"/>
                  <a:ea typeface="Arial"/>
                  <a:cs typeface="Arial"/>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7E1E6"/>
            </a:solidFill>
          </a:ln>
        </c:spPr>
        <c:txPr>
          <a:bodyPr xmlns:a="http://schemas.openxmlformats.org/drawingml/2006/main" anchorCtr="1"/>
          <a:lstStyle xmlns:a="http://schemas.openxmlformats.org/drawingml/2006/main"/>
          <a:p xmlns:a="http://schemas.openxmlformats.org/drawingml/2006/main">
            <a:pPr>
              <a:defRPr sz="2025">
                <a:solidFill>
                  <a:srgbClr val="213744"/>
                </a:solidFill>
                <a:latin typeface="Arial"/>
                <a:ea typeface="Arial"/>
                <a:cs typeface="Arial"/>
              </a:defRPr>
            </a:pPr>
          </a:p>
        </c:txPr>
        <c:crossAx val="48672768"/>
      </c:catAx>
      <c:valAx>
        <c:axId val="48672768"/>
        <c:scaling>
          <c:orientation val="minMax"/>
          <c:max val="130"/>
          <c:min val="0"/>
        </c:scaling>
        <c:delete val="0"/>
        <c:axPos val="l"/>
        <c:majorGridlines>
          <c:spPr>
            <a:ln xmlns:a="http://schemas.openxmlformats.org/drawingml/2006/main" w="9525">
              <a:solidFill>
                <a:srgbClr val="E9EEF1"/>
              </a:solidFill>
            </a:ln>
          </c:spPr>
        </c:majorGridlines>
        <c:title>
          <c:tx>
            <c:rich>
              <a:bodyPr xmlns:a="http://schemas.openxmlformats.org/drawingml/2006/main"/>
              <a:lstStyle xmlns:a="http://schemas.openxmlformats.org/drawingml/2006/main"/>
              <a:p xmlns:a="http://schemas.openxmlformats.org/drawingml/2006/main">
                <a:r>
                  <a:rPr sz="1800">
                    <a:solidFill>
                      <a:srgbClr val="213744"/>
                    </a:solidFill>
                    <a:latin typeface="Arial"/>
                    <a:ea typeface="Arial"/>
                    <a:cs typeface="Arial"/>
                  </a:rPr>
                  <a:t>Distance (km)</a:t>
                </a:r>
              </a:p>
            </c:rich>
          </c:tx>
          <c:overlay val="0"/>
          <c:txPr>
            <a:bodyPr xmlns:a="http://schemas.openxmlformats.org/drawingml/2006/main" anchorCtr="1"/>
            <a:lstStyle xmlns:a="http://schemas.openxmlformats.org/drawingml/2006/main"/>
            <a:p xmlns:a="http://schemas.openxmlformats.org/drawingml/2006/main">
              <a:pPr>
                <a:defRPr sz="1800">
                  <a:solidFill>
                    <a:srgbClr val="213744"/>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536C7B"/>
                </a:solidFill>
                <a:latin typeface="Arial"/>
                <a:ea typeface="Arial"/>
                <a:cs typeface="Arial"/>
              </a:defRPr>
            </a:pPr>
          </a:p>
        </c:txPr>
        <c:crossAx val="48650112"/>
        <c:crossBetween val="between"/>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09B2A1F-9D62-4870-ABE4-E5476308468A}"/>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Geospatial proposal quality</a:t>
            </a:r>
          </a:p>
        </p:txBody>
      </p:sp>
      <p:sp>
        <p:nvSpPr>
          <p:cNvPr id="2" name="">
            <a:extLst xmlns:a="http://schemas.openxmlformats.org/drawingml/2006/main">
              <a:ext uri="{FF2B5EF4-FFF2-40B4-BE49-F238E27FC236}">
                <a16:creationId xmlns:a16="http://schemas.microsoft.com/office/drawing/2014/main" id="{FF959D4F-BDE2-4F4F-A143-039107137B88}"/>
              </a:ext>
            </a:extLst>
          </p:cNvPr>
          <p:cNvSpPr>
            <a:spLocks xmlns:a="http://schemas.openxmlformats.org/drawingml/2006/main" noGrp="1"/>
          </p:cNvSpPr>
          <p:nvPr/>
        </p:nvSpPr>
        <p:spPr>
          <a:xfrm xmlns:a="http://schemas.openxmlformats.org/drawingml/2006/main">
            <a:off x="609600" y="1495425"/>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700" b="0">
                <a:solidFill>
                  <a:srgbClr val="213744"/>
                </a:solidFill>
                <a:latin typeface="Arial"/>
                <a:ea typeface="Arial"/>
                <a:cs typeface="Arial"/>
              </a:defRPr>
            </a:defPPr>
          </a:lstStyle>
          <a:p xmlns:a="http://schemas.openxmlformats.org/drawingml/2006/main">
            <a:pPr>
              <a:defRPr sz="2700" b="0">
                <a:solidFill>
                  <a:srgbClr val="213744"/>
                </a:solidFill>
                <a:latin typeface="Arial"/>
                <a:ea typeface="Arial"/>
                <a:cs typeface="Arial"/>
              </a:defRPr>
            </a:pPr>
            <a:r>
              <a:rPr sz="2700" b="0">
                <a:solidFill>
                  <a:srgbClr val="213744"/>
                </a:solidFill>
                <a:latin typeface="Arial"/>
                <a:ea typeface="Arial"/>
                <a:cs typeface="Arial"/>
              </a:rPr>
              <a:t>USD holds a model's shape. A coordinate reference system (CRS) explains a position on Earth.</a:t>
            </a:r>
          </a:p>
        </p:txBody>
      </p:sp>
      <p:sp>
        <p:nvSpPr>
          <p:cNvPr id="3" name="">
            <a:extLst xmlns:a="http://schemas.openxmlformats.org/drawingml/2006/main">
              <a:ext uri="{FF2B5EF4-FFF2-40B4-BE49-F238E27FC236}">
                <a16:creationId xmlns:a16="http://schemas.microsoft.com/office/drawing/2014/main" id="{B485F198-F7DD-428A-8917-0AF87CF7EE69}"/>
              </a:ext>
            </a:extLst>
          </p:cNvPr>
          <p:cNvSpPr>
            <a:spLocks xmlns:a="http://schemas.openxmlformats.org/drawingml/2006/main" noGrp="1"/>
          </p:cNvSpPr>
          <p:nvPr/>
        </p:nvSpPr>
        <p:spPr>
          <a:xfrm xmlns:a="http://schemas.openxmlformats.org/drawingml/2006/main">
            <a:off x="609600" y="297180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700" b="1">
                <a:solidFill>
                  <a:srgbClr val="157C87"/>
                </a:solidFill>
                <a:latin typeface="Arial"/>
                <a:ea typeface="Arial"/>
                <a:cs typeface="Arial"/>
              </a:defRPr>
            </a:defPPr>
          </a:lstStyle>
          <a:p xmlns:a="http://schemas.openxmlformats.org/drawingml/2006/main">
            <a:pPr>
              <a:defRPr sz="2700" b="1">
                <a:solidFill>
                  <a:srgbClr val="157C87"/>
                </a:solidFill>
                <a:latin typeface="Arial"/>
                <a:ea typeface="Arial"/>
                <a:cs typeface="Arial"/>
              </a:defRPr>
            </a:pPr>
            <a:r>
              <a:rPr sz="2700" b="1">
                <a:solidFill>
                  <a:srgbClr val="157C87"/>
                </a:solidFill>
                <a:latin typeface="Arial"/>
                <a:ea typeface="Arial"/>
                <a:cs typeface="Arial"/>
              </a:rPr>
              <a:t>The revised draft spells out instance movement, ordinary USD bake reuse and dependency coverage.</a:t>
            </a:r>
          </a:p>
        </p:txBody>
      </p:sp>
      <p:sp>
        <p:nvSpPr>
          <p:cNvPr id="4" name="">
            <a:extLst xmlns:a="http://schemas.openxmlformats.org/drawingml/2006/main">
              <a:ext uri="{FF2B5EF4-FFF2-40B4-BE49-F238E27FC236}">
                <a16:creationId xmlns:a16="http://schemas.microsoft.com/office/drawing/2014/main" id="{3B44AC76-E851-414F-9E19-84AF70CF0740}"/>
              </a:ext>
            </a:extLst>
          </p:cNvPr>
          <p:cNvSpPr>
            <a:spLocks xmlns:a="http://schemas.openxmlformats.org/drawingml/2006/main" noGrp="1"/>
          </p:cNvSpPr>
          <p:nvPr/>
        </p:nvSpPr>
        <p:spPr>
          <a:xfrm xmlns:a="http://schemas.openxmlformats.org/drawingml/2006/main">
            <a:off x="609600" y="4714875"/>
            <a:ext cx="109728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325" b="0">
                <a:solidFill>
                  <a:srgbClr val="213744"/>
                </a:solidFill>
                <a:latin typeface="Arial"/>
                <a:ea typeface="Arial"/>
                <a:cs typeface="Arial"/>
              </a:defRPr>
            </a:defPPr>
          </a:lstStyle>
          <a:p xmlns:a="http://schemas.openxmlformats.org/drawingml/2006/main">
            <a:pPr>
              <a:defRPr sz="2325" b="0">
                <a:solidFill>
                  <a:srgbClr val="213744"/>
                </a:solidFill>
                <a:latin typeface="Arial"/>
                <a:ea typeface="Arial"/>
                <a:cs typeface="Arial"/>
              </a:defRPr>
            </a:pPr>
            <a:r>
              <a:rPr sz="2325" b="0">
                <a:solidFill>
                  <a:srgbClr val="213744"/>
                </a:solidFill>
                <a:latin typeface="Arial"/>
                <a:ea typeface="Arial"/>
                <a:cs typeface="Arial"/>
              </a:rPr>
              <a:t>Fresh evidence supports the reviewed rules. Three prototype limits remain visible. These local leans still need group review.</a:t>
            </a:r>
          </a:p>
        </p:txBody>
      </p:sp>
    </p:spTree>
    <p:extLst>
      <p:ext uri="{BB962C8B-B14F-4D97-AF65-F5344CB8AC3E}">
        <p14:creationId xmlns:p14="http://schemas.microsoft.com/office/powerpoint/2010/main" val="15343812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0A883EA-4D84-487B-958F-C63A4E55DA0F}"/>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Instance offsets retain one meaning</a:t>
            </a:r>
          </a:p>
        </p:txBody>
      </p:sp>
      <p:sp>
        <p:nvSpPr>
          <p:cNvPr id="2" name="">
            <a:extLst xmlns:a="http://schemas.openxmlformats.org/drawingml/2006/main">
              <a:ext uri="{FF2B5EF4-FFF2-40B4-BE49-F238E27FC236}">
                <a16:creationId xmlns:a16="http://schemas.microsoft.com/office/drawing/2014/main" id="{DEA7C730-8BC2-43DA-A603-C6299AD1BEE6}"/>
              </a:ext>
            </a:extLst>
          </p:cNvPr>
          <p:cNvSpPr>
            <a:spLocks xmlns:a="http://schemas.openxmlformats.org/drawingml/2006/main" noGrp="1"/>
          </p:cNvSpPr>
          <p:nvPr/>
        </p:nvSpPr>
        <p:spPr>
          <a:xfrm xmlns:a="http://schemas.openxmlformats.org/drawingml/2006/main">
            <a:off x="609600" y="13620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250" b="0">
                <a:solidFill>
                  <a:srgbClr val="213744"/>
                </a:solidFill>
                <a:latin typeface="Arial"/>
                <a:ea typeface="Arial"/>
                <a:cs typeface="Arial"/>
              </a:defRPr>
            </a:defPPr>
          </a:lstStyle>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A local +X offset moves both coincident prototypes ten metres east, whether each has its own georeference or inherits one.</a:t>
            </a:r>
          </a:p>
        </p:txBody>
      </p:sp>
      <p:pic>
        <p:nvPicPr>
          <p:cNvPr id="3" name="">
            <a:extLst xmlns:a="http://schemas.openxmlformats.org/drawingml/2006/main">
              <a:ext uri="{FF2B5EF4-FFF2-40B4-BE49-F238E27FC236}">
                <a16:creationId xmlns:a16="http://schemas.microsoft.com/office/drawing/2014/main" id="{6E35EB61-629A-489B-A7AD-D6B9046FFE04}"/>
              </a:ext>
            </a:extLst>
          </p:cNvPr>
          <p:cNvPicPr>
            <a:picLocks xmlns:a="http://schemas.openxmlformats.org/drawingml/2006/main" noChangeAspect="1"/>
          </p:cNvPicPr>
          <p:nvPr/>
        </p:nvPicPr>
        <p:blipFill>
          <a:blip xmlns:r="http://schemas.openxmlformats.org/officeDocument/2006/relationships" xmlns:a="http://schemas.openxmlformats.org/drawingml/2006/main" r:embed="Rc3f4ed530d3b4490"/>
          <a:stretch xmlns:a="http://schemas.openxmlformats.org/drawingml/2006/main"/>
        </p:blipFill>
        <p:spPr>
          <a:xfrm xmlns:a="http://schemas.openxmlformats.org/drawingml/2006/main">
            <a:off x="1482725" y="2505075"/>
            <a:ext cx="6254750" cy="37528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D045591-CD44-4353-BFE5-F2E18B15707A}"/>
              </a:ext>
            </a:extLst>
          </p:cNvPr>
          <p:cNvSpPr>
            <a:spLocks xmlns:a="http://schemas.openxmlformats.org/drawingml/2006/main" noGrp="1"/>
          </p:cNvSpPr>
          <p:nvPr/>
        </p:nvSpPr>
        <p:spPr>
          <a:xfrm xmlns:a="http://schemas.openxmlformats.org/drawingml/2006/main">
            <a:off x="8982075" y="2581275"/>
            <a:ext cx="2600325" cy="3305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00" b="0">
                <a:solidFill>
                  <a:srgbClr val="157C87"/>
                </a:solidFill>
                <a:latin typeface="Arial"/>
                <a:ea typeface="Arial"/>
                <a:cs typeface="Arial"/>
              </a:defRPr>
            </a:defPPr>
          </a:lstStyle>
          <a:p xmlns:a="http://schemas.openxmlformats.org/drawingml/2006/main">
            <a:pPr>
              <a:defRPr sz="2100" b="0">
                <a:solidFill>
                  <a:srgbClr val="157C87"/>
                </a:solidFill>
                <a:latin typeface="Arial"/>
                <a:ea typeface="Arial"/>
                <a:cs typeface="Arial"/>
              </a:defRPr>
            </a:pPr>
            <a:r>
              <a:rPr sz="2100" b="0">
                <a:solidFill>
                  <a:srgbClr val="157C87"/>
                </a:solidFill>
                <a:latin typeface="Arial"/>
                <a:ea typeface="Arial"/>
                <a:cs typeface="Arial"/>
              </a:rPr>
              <a:t>The draft specifies finite transport through the instancer frame. A required singular inverse fails.</a:t>
            </a:r>
          </a:p>
        </p:txBody>
      </p:sp>
    </p:spTree>
    <p:extLst>
      <p:ext uri="{BB962C8B-B14F-4D97-AF65-F5344CB8AC3E}">
        <p14:creationId xmlns:p14="http://schemas.microsoft.com/office/powerpoint/2010/main" val="9650087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06E1CC4-8B3F-4E5B-93EC-7A93D635B344}"/>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Ordinary USD bake reassembly</a:t>
            </a:r>
          </a:p>
        </p:txBody>
      </p:sp>
      <p:graphicFrame>
        <p:nvGraphicFramePr>
          <p:cNvPr id="2" name="">
            <a:extLst xmlns:a="http://schemas.openxmlformats.org/drawingml/2006/main">
              <a:ext uri="{FF2B5EF4-FFF2-40B4-BE49-F238E27FC236}">
                <a16:creationId xmlns:a16="http://schemas.microsoft.com/office/drawing/2014/main" id="{5DFFDDE4-E43E-4547-BC11-A1174EA09017}"/>
              </a:ext>
            </a:extLst>
          </p:cNvPr>
          <p:cNvGraphicFramePr/>
          <p:nvPr/>
        </p:nvGraphicFramePr>
        <p:xfrm>
          <a:off xmlns:a="http://schemas.openxmlformats.org/drawingml/2006/main" x="609600" y="1495425"/>
          <a:ext xmlns:a="http://schemas.openxmlformats.org/drawingml/2006/main" cx="10972800" cy="3733800"/>
        </p:xfrm>
        <a:graphic xmlns:a="http://schemas.openxmlformats.org/drawingml/2006/main">
          <a:graphicData uri="http://schemas.openxmlformats.org/drawingml/2006/table">
            <a:tbl>
              <a:tblPr/>
              <a:tblGrid>
                <a:gridCol w="3162300"/>
                <a:gridCol w="3905250"/>
                <a:gridCol w="3905250"/>
              </a:tblGrid>
              <a:tr h="1244600">
                <a:tc>
                  <a:txBody>
                    <a:bodyPr>
                      <a:noAutofit/>
                    </a:bodyPr>
                    <a:lstStyle/>
                    <a:p>
                      <a:r>
                        <a:rPr sz="2025" b="1">
                          <a:solidFill>
                            <a:srgbClr val="FFFFFF"/>
                          </a:solidFill>
                          <a:latin typeface="Arial"/>
                          <a:ea typeface="Arial"/>
                          <a:cs typeface="Arial"/>
                        </a:rPr>
                        <a:t>Intent</a:t>
                      </a:r>
                    </a:p>
                  </a:txBody>
                  <a:tcPr marL="114300" marR="114300" marT="76200" marB="76200">
                    <a:solidFill>
                      <a:srgbClr val="213744"/>
                    </a:solidFill>
                  </a:tcPr>
                </a:tc>
                <a:tc>
                  <a:txBody>
                    <a:bodyPr>
                      <a:noAutofit/>
                    </a:bodyPr>
                    <a:lstStyle/>
                    <a:p>
                      <a:r>
                        <a:rPr sz="2025" b="1">
                          <a:solidFill>
                            <a:srgbClr val="FFFFFF"/>
                          </a:solidFill>
                          <a:latin typeface="Arial"/>
                          <a:ea typeface="Arial"/>
                          <a:cs typeface="Arial"/>
                        </a:rPr>
                        <a:t>Ordinary USD X (m)</a:t>
                      </a:r>
                    </a:p>
                  </a:txBody>
                  <a:tcPr marL="114300" marR="114300" marT="76200" marB="76200">
                    <a:solidFill>
                      <a:srgbClr val="213744"/>
                    </a:solidFill>
                  </a:tcPr>
                </a:tc>
                <a:tc>
                  <a:txBody>
                    <a:bodyPr>
                      <a:noAutofit/>
                    </a:bodyPr>
                    <a:lstStyle/>
                    <a:p>
                      <a:r>
                        <a:rPr sz="2025" b="1">
                          <a:solidFill>
                            <a:srgbClr val="FFFFFF"/>
                          </a:solidFill>
                          <a:latin typeface="Arial"/>
                          <a:ea typeface="Arial"/>
                          <a:cs typeface="Arial"/>
                        </a:rPr>
                        <a:t>Python / C++ X (m)</a:t>
                      </a:r>
                    </a:p>
                  </a:txBody>
                  <a:tcPr marL="114300" marR="114300" marT="76200" marB="76200">
                    <a:solidFill>
                      <a:srgbClr val="213744"/>
                    </a:solidFill>
                  </a:tcPr>
                </a:tc>
              </a:tr>
              <a:tr h="1244600">
                <a:tc>
                  <a:txBody>
                    <a:bodyPr>
                      <a:noAutofit/>
                    </a:bodyPr>
                    <a:lstStyle/>
                    <a:p>
                      <a:r>
                        <a:rPr sz="2025" b="0">
                          <a:solidFill>
                            <a:srgbClr val="213744"/>
                          </a:solidFill>
                          <a:latin typeface="Arial"/>
                          <a:ea typeface="Arial"/>
                          <a:cs typeface="Arial"/>
                        </a:rPr>
                        <a:t>+100 m parent</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6,378,237</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6,378,237</a:t>
                      </a:r>
                    </a:p>
                  </a:txBody>
                  <a:tcPr marL="114300" marR="114300" marT="76200" marB="76200">
                    <a:solidFill>
                      <a:srgbClr val="FFFFFF"/>
                    </a:solidFill>
                  </a:tcPr>
                </a:tc>
              </a:tr>
              <a:tr h="1244600">
                <a:tc>
                  <a:txBody>
                    <a:bodyPr>
                      <a:noAutofit/>
                    </a:bodyPr>
                    <a:lstStyle/>
                    <a:p>
                      <a:r>
                        <a:rPr sz="2025" b="0">
                          <a:solidFill>
                            <a:srgbClr val="213744"/>
                          </a:solidFill>
                          <a:latin typeface="Arial"/>
                          <a:ea typeface="Arial"/>
                          <a:cs typeface="Arial"/>
                        </a:rPr>
                        <a:t>Authored reset</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6,378,137</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6,378,137</a:t>
                      </a:r>
                    </a:p>
                  </a:txBody>
                  <a:tcPr marL="114300" marR="114300" marT="76200" marB="7620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69823E0F-EEC1-475A-B9BC-B573D43099FD}"/>
              </a:ext>
            </a:extLst>
          </p:cNvPr>
          <p:cNvSpPr>
            <a:spLocks xmlns:a="http://schemas.openxmlformats.org/drawingml/2006/main" noGrp="1"/>
          </p:cNvSpPr>
          <p:nvPr/>
        </p:nvSpPr>
        <p:spPr>
          <a:xfrm xmlns:a="http://schemas.openxmlformats.org/drawingml/2006/main">
            <a:off x="609600" y="56007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75" b="0">
                <a:solidFill>
                  <a:srgbClr val="157C87"/>
                </a:solidFill>
                <a:latin typeface="Arial"/>
                <a:ea typeface="Arial"/>
                <a:cs typeface="Arial"/>
              </a:defRPr>
            </a:defPPr>
          </a:lstStyle>
          <a:p xmlns:a="http://schemas.openxmlformats.org/drawingml/2006/main">
            <a:pPr>
              <a:defRPr sz="2175" b="0">
                <a:solidFill>
                  <a:srgbClr val="157C87"/>
                </a:solidFill>
                <a:latin typeface="Arial"/>
                <a:ea typeface="Arial"/>
                <a:cs typeface="Arial"/>
              </a:defRPr>
            </a:pPr>
            <a:r>
              <a:rPr sz="2175" b="0">
                <a:solidFill>
                  <a:srgbClr val="157C87"/>
                </a:solidFill>
                <a:latin typeface="Arial"/>
                <a:ea typeface="Arial"/>
                <a:cs typeface="Arial"/>
              </a:rPr>
              <a:t>A retained CRS identifies the Cartesian context. Ordinary USD determines transform inheritance and resets.</a:t>
            </a:r>
          </a:p>
        </p:txBody>
      </p:sp>
    </p:spTree>
    <p:extLst>
      <p:ext uri="{BB962C8B-B14F-4D97-AF65-F5344CB8AC3E}">
        <p14:creationId xmlns:p14="http://schemas.microsoft.com/office/powerpoint/2010/main" val="18142200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C91B555-22C0-4FA6-9F52-0510F1565F11}"/>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Geographic adjustment context</a:t>
            </a:r>
          </a:p>
        </p:txBody>
      </p:sp>
      <p:graphicFrame>
        <p:nvGraphicFramePr>
          <p:cNvPr id="2" name="">
            <a:extLst xmlns:a="http://schemas.openxmlformats.org/drawingml/2006/main">
              <a:ext uri="{FF2B5EF4-FFF2-40B4-BE49-F238E27FC236}">
                <a16:creationId xmlns:a16="http://schemas.microsoft.com/office/drawing/2014/main" id="{AE0F709B-2546-4CDF-B63A-91DE7D337B57}"/>
              </a:ext>
            </a:extLst>
          </p:cNvPr>
          <p:cNvGraphicFramePr/>
          <p:nvPr/>
        </p:nvGraphicFramePr>
        <p:xfrm>
          <a:off xmlns:a="http://schemas.openxmlformats.org/drawingml/2006/main" x="609600" y="1495425"/>
          <a:ext xmlns:a="http://schemas.openxmlformats.org/drawingml/2006/main" cx="10972800" cy="3733800"/>
        </p:xfrm>
        <a:graphic xmlns:a="http://schemas.openxmlformats.org/drawingml/2006/main">
          <a:graphicData uri="http://schemas.openxmlformats.org/drawingml/2006/table">
            <a:tbl>
              <a:tblPr/>
              <a:tblGrid>
                <a:gridCol w="3762375"/>
                <a:gridCol w="7210425"/>
              </a:tblGrid>
              <a:tr h="933450">
                <a:tc>
                  <a:txBody>
                    <a:bodyPr>
                      <a:noAutofit/>
                    </a:bodyPr>
                    <a:lstStyle/>
                    <a:p>
                      <a:r>
                        <a:rPr sz="2025" b="1">
                          <a:solidFill>
                            <a:srgbClr val="FFFFFF"/>
                          </a:solidFill>
                          <a:latin typeface="Arial"/>
                          <a:ea typeface="Arial"/>
                          <a:cs typeface="Arial"/>
                        </a:rPr>
                        <a:t>Request</a:t>
                      </a:r>
                    </a:p>
                  </a:txBody>
                  <a:tcPr marL="114300" marR="114300" marT="76200" marB="76200">
                    <a:solidFill>
                      <a:srgbClr val="213744"/>
                    </a:solidFill>
                  </a:tcPr>
                </a:tc>
                <a:tc>
                  <a:txBody>
                    <a:bodyPr>
                      <a:noAutofit/>
                    </a:bodyPr>
                    <a:lstStyle/>
                    <a:p>
                      <a:r>
                        <a:rPr sz="2025" b="1">
                          <a:solidFill>
                            <a:srgbClr val="FFFFFF"/>
                          </a:solidFill>
                          <a:latin typeface="Arial"/>
                          <a:ea typeface="Arial"/>
                          <a:cs typeface="Arial"/>
                        </a:rPr>
                        <a:t>Proposed outcome</a:t>
                      </a:r>
                    </a:p>
                  </a:txBody>
                  <a:tcPr marL="114300" marR="114300" marT="76200" marB="76200">
                    <a:solidFill>
                      <a:srgbClr val="213744"/>
                    </a:solidFill>
                  </a:tcPr>
                </a:tc>
              </a:tr>
              <a:tr h="933450">
                <a:tc>
                  <a:txBody>
                    <a:bodyPr>
                      <a:noAutofit/>
                    </a:bodyPr>
                    <a:lstStyle/>
                    <a:p>
                      <a:r>
                        <a:rPr sz="2025" b="0">
                          <a:solidFill>
                            <a:srgbClr val="213744"/>
                          </a:solidFill>
                          <a:latin typeface="Arial"/>
                          <a:ea typeface="Arial"/>
                          <a:cs typeface="Arial"/>
                        </a:rPr>
                        <a:t>Read geographic positions</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Retain coordinates and native values</a:t>
                      </a:r>
                    </a:p>
                  </a:txBody>
                  <a:tcPr marL="114300" marR="114300" marT="76200" marB="76200">
                    <a:solidFill>
                      <a:srgbClr val="FFFFFF"/>
                    </a:solidFill>
                  </a:tcPr>
                </a:tc>
              </a:tr>
              <a:tr h="933450">
                <a:tc>
                  <a:txBody>
                    <a:bodyPr>
                      <a:noAutofit/>
                    </a:bodyPr>
                    <a:lstStyle/>
                    <a:p>
                      <a:r>
                        <a:rPr sz="2025" b="0">
                          <a:solidFill>
                            <a:srgbClr val="213744"/>
                          </a:solidFill>
                          <a:latin typeface="Arial"/>
                          <a:ea typeface="Arial"/>
                          <a:cs typeface="Arial"/>
                        </a:rPr>
                        <a:t>Adjust in an explicit Cartesian project frame</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Apply the recorded ordinary adjustment</a:t>
                      </a:r>
                    </a:p>
                  </a:txBody>
                  <a:tcPr marL="114300" marR="114300" marT="76200" marB="76200">
                    <a:solidFill>
                      <a:srgbClr val="FFFFFF"/>
                    </a:solidFill>
                  </a:tcPr>
                </a:tc>
              </a:tr>
              <a:tr h="933450">
                <a:tc>
                  <a:txBody>
                    <a:bodyPr>
                      <a:noAutofit/>
                    </a:bodyPr>
                    <a:lstStyle/>
                    <a:p>
                      <a:r>
                        <a:rPr sz="2025" b="0">
                          <a:solidFill>
                            <a:srgbClr val="213744"/>
                          </a:solidFill>
                          <a:latin typeface="Arial"/>
                          <a:ea typeface="Arial"/>
                          <a:cs typeface="Arial"/>
                        </a:rPr>
                        <a:t>Adjust without a Cartesian project frame</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Report unsupported adjustment</a:t>
                      </a:r>
                    </a:p>
                  </a:txBody>
                  <a:tcPr marL="114300" marR="114300" marT="76200" marB="7620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33624DF9-6836-4F0A-A1B1-0FBD6E121C05}"/>
              </a:ext>
            </a:extLst>
          </p:cNvPr>
          <p:cNvSpPr>
            <a:spLocks xmlns:a="http://schemas.openxmlformats.org/drawingml/2006/main" noGrp="1"/>
          </p:cNvSpPr>
          <p:nvPr/>
        </p:nvSpPr>
        <p:spPr>
          <a:xfrm xmlns:a="http://schemas.openxmlformats.org/drawingml/2006/main">
            <a:off x="609600" y="56007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75" b="0">
                <a:solidFill>
                  <a:srgbClr val="157C87"/>
                </a:solidFill>
                <a:latin typeface="Arial"/>
                <a:ea typeface="Arial"/>
                <a:cs typeface="Arial"/>
              </a:defRPr>
            </a:defPPr>
          </a:lstStyle>
          <a:p xmlns:a="http://schemas.openxmlformats.org/drawingml/2006/main">
            <a:pPr>
              <a:defRPr sz="2175" b="0">
                <a:solidFill>
                  <a:srgbClr val="157C87"/>
                </a:solidFill>
                <a:latin typeface="Arial"/>
                <a:ea typeface="Arial"/>
                <a:cs typeface="Arial"/>
              </a:defRPr>
            </a:pPr>
            <a:r>
              <a:rPr sz="2175" b="0">
                <a:solidFill>
                  <a:srgbClr val="157C87"/>
                </a:solidFill>
                <a:latin typeface="Arial"/>
                <a:ea typeface="Arial"/>
                <a:cs typeface="Arial"/>
              </a:rPr>
              <a:t>This limits one adjustment convention. Global data and analytical queries remain supported.</a:t>
            </a:r>
          </a:p>
        </p:txBody>
      </p:sp>
    </p:spTree>
    <p:extLst>
      <p:ext uri="{BB962C8B-B14F-4D97-AF65-F5344CB8AC3E}">
        <p14:creationId xmlns:p14="http://schemas.microsoft.com/office/powerpoint/2010/main" val="20013153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4A1D174-CDD2-45E5-90A4-B7A29520727D}"/>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Physical 3D and surface distance</a:t>
            </a:r>
          </a:p>
        </p:txBody>
      </p:sp>
      <p:sp>
        <p:nvSpPr>
          <p:cNvPr id="2" name="">
            <a:extLst xmlns:a="http://schemas.openxmlformats.org/drawingml/2006/main">
              <a:ext uri="{FF2B5EF4-FFF2-40B4-BE49-F238E27FC236}">
                <a16:creationId xmlns:a16="http://schemas.microsoft.com/office/drawing/2014/main" id="{1B0F8C93-5C29-4C4B-871A-79552588CFBE}"/>
              </a:ext>
            </a:extLst>
          </p:cNvPr>
          <p:cNvSpPr>
            <a:spLocks xmlns:a="http://schemas.openxmlformats.org/drawingml/2006/main" noGrp="1"/>
          </p:cNvSpPr>
          <p:nvPr/>
        </p:nvSpPr>
        <p:spPr>
          <a:xfrm xmlns:a="http://schemas.openxmlformats.org/drawingml/2006/main">
            <a:off x="609600" y="1381125"/>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250" b="0">
                <a:solidFill>
                  <a:srgbClr val="213744"/>
                </a:solidFill>
                <a:latin typeface="Arial"/>
                <a:ea typeface="Arial"/>
                <a:cs typeface="Arial"/>
              </a:defRPr>
            </a:defPPr>
          </a:lstStyle>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Two equatorial positions, one degree apart, both at 400 km ellipsoidal height.</a:t>
            </a:r>
          </a:p>
        </p:txBody>
      </p:sp>
      <p:graphicFrame>
        <p:nvGraphicFramePr>
          <p:cNvPr id="3" name="Chart">
            <a:extLst xmlns:a="http://schemas.openxmlformats.org/drawingml/2006/main">
              <a:ext uri="{FF2B5EF4-FFF2-40B4-BE49-F238E27FC236}">
                <a16:creationId xmlns:a16="http://schemas.microsoft.com/office/drawing/2014/main" id="{632F487D-1BFE-4A03-A6C2-D8FA4D2B374D}"/>
              </a:ext>
            </a:extLst>
          </p:cNvPr>
          <p:cNvGraphicFramePr/>
          <p:nvPr/>
        </p:nvGraphicFramePr>
        <p:xfrm>
          <a:off xmlns:a="http://schemas.openxmlformats.org/drawingml/2006/main" x="428625" y="2371725"/>
          <a:ext xmlns:a="http://schemas.openxmlformats.org/drawingml/2006/main" cx="7962900" cy="4067175"/>
        </p:xfrm>
        <a:graphic xmlns:a="http://schemas.openxmlformats.org/drawingml/2006/main">
          <a:graphicData uri="http://schemas.openxmlformats.org/drawingml/2006/chart">
            <c:chart xmlns:r="http://schemas.openxmlformats.org/officeDocument/2006/relationships" xmlns:c="http://schemas.openxmlformats.org/drawingml/2006/chart" r:id="R84c285a0c5774994"/>
          </a:graphicData>
        </a:graphic>
      </p:graphicFrame>
      <p:sp>
        <p:nvSpPr>
          <p:cNvPr id="4" name="">
            <a:extLst xmlns:a="http://schemas.openxmlformats.org/drawingml/2006/main">
              <a:ext uri="{FF2B5EF4-FFF2-40B4-BE49-F238E27FC236}">
                <a16:creationId xmlns:a16="http://schemas.microsoft.com/office/drawing/2014/main" id="{424750D2-B481-4A45-B3BB-0F57F3E7DC55}"/>
              </a:ext>
            </a:extLst>
          </p:cNvPr>
          <p:cNvSpPr>
            <a:spLocks xmlns:a="http://schemas.openxmlformats.org/drawingml/2006/main" noGrp="1"/>
          </p:cNvSpPr>
          <p:nvPr/>
        </p:nvSpPr>
        <p:spPr>
          <a:xfrm xmlns:a="http://schemas.openxmlformats.org/drawingml/2006/main">
            <a:off x="8791575" y="2667000"/>
            <a:ext cx="2790825"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250" b="0">
                <a:solidFill>
                  <a:srgbClr val="157C87"/>
                </a:solidFill>
                <a:latin typeface="Arial"/>
                <a:ea typeface="Arial"/>
                <a:cs typeface="Arial"/>
              </a:defRPr>
            </a:defPPr>
          </a:lstStyle>
          <a:p xmlns:a="http://schemas.openxmlformats.org/drawingml/2006/main">
            <a:pPr>
              <a:defRPr sz="2250" b="0">
                <a:solidFill>
                  <a:srgbClr val="157C87"/>
                </a:solidFill>
                <a:latin typeface="Arial"/>
                <a:ea typeface="Arial"/>
                <a:cs typeface="Arial"/>
              </a:defRPr>
            </a:pPr>
            <a:r>
              <a:rPr sz="2250" b="0">
                <a:solidFill>
                  <a:srgbClr val="157C87"/>
                </a:solidFill>
                <a:latin typeface="Arial"/>
                <a:ea typeface="Arial"/>
                <a:cs typeface="Arial"/>
              </a:rPr>
              <a:t>The draft separates physical 3D separation from horizontal surface distance. Height remains explicit.</a:t>
            </a:r>
          </a:p>
        </p:txBody>
      </p:sp>
    </p:spTree>
    <p:extLst>
      <p:ext uri="{BB962C8B-B14F-4D97-AF65-F5344CB8AC3E}">
        <p14:creationId xmlns:p14="http://schemas.microsoft.com/office/powerpoint/2010/main" val="8506161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3A3231F-B93C-4D99-87DA-9FE2F6072248}"/>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An authored rotation path</a:t>
            </a:r>
          </a:p>
        </p:txBody>
      </p:sp>
      <p:graphicFrame>
        <p:nvGraphicFramePr>
          <p:cNvPr id="2" name="">
            <a:extLst xmlns:a="http://schemas.openxmlformats.org/drawingml/2006/main">
              <a:ext uri="{FF2B5EF4-FFF2-40B4-BE49-F238E27FC236}">
                <a16:creationId xmlns:a16="http://schemas.microsoft.com/office/drawing/2014/main" id="{8AC20CAA-3887-4794-B746-A13DB1C8C340}"/>
              </a:ext>
            </a:extLst>
          </p:cNvPr>
          <p:cNvGraphicFramePr/>
          <p:nvPr/>
        </p:nvGraphicFramePr>
        <p:xfrm>
          <a:off xmlns:a="http://schemas.openxmlformats.org/drawingml/2006/main" x="609600" y="1495425"/>
          <a:ext xmlns:a="http://schemas.openxmlformats.org/drawingml/2006/main" cx="10972800" cy="3733800"/>
        </p:xfrm>
        <a:graphic xmlns:a="http://schemas.openxmlformats.org/drawingml/2006/main">
          <a:graphicData uri="http://schemas.openxmlformats.org/drawingml/2006/table">
            <a:tbl>
              <a:tblPr/>
              <a:tblGrid>
                <a:gridCol w="3762375"/>
                <a:gridCol w="7210425"/>
              </a:tblGrid>
              <a:tr h="933450">
                <a:tc>
                  <a:txBody>
                    <a:bodyPr>
                      <a:noAutofit/>
                    </a:bodyPr>
                    <a:lstStyle/>
                    <a:p>
                      <a:r>
                        <a:rPr sz="2025" b="1">
                          <a:solidFill>
                            <a:srgbClr val="FFFFFF"/>
                          </a:solidFill>
                          <a:latin typeface="Arial"/>
                          <a:ea typeface="Arial"/>
                          <a:cs typeface="Arial"/>
                        </a:rPr>
                        <a:t>Authored poses</a:t>
                      </a:r>
                    </a:p>
                  </a:txBody>
                  <a:tcPr marL="114300" marR="114300" marT="76200" marB="76200">
                    <a:solidFill>
                      <a:srgbClr val="213744"/>
                    </a:solidFill>
                  </a:tcPr>
                </a:tc>
                <a:tc>
                  <a:txBody>
                    <a:bodyPr>
                      <a:noAutofit/>
                    </a:bodyPr>
                    <a:lstStyle/>
                    <a:p>
                      <a:r>
                        <a:rPr sz="2025" b="1">
                          <a:solidFill>
                            <a:srgbClr val="FFFFFF"/>
                          </a:solidFill>
                          <a:latin typeface="Arial"/>
                          <a:ea typeface="Arial"/>
                          <a:cs typeface="Arial"/>
                        </a:rPr>
                        <a:t>Resolved outcome</a:t>
                      </a:r>
                    </a:p>
                  </a:txBody>
                  <a:tcPr marL="114300" marR="114300" marT="76200" marB="76200">
                    <a:solidFill>
                      <a:srgbClr val="213744"/>
                    </a:solidFill>
                  </a:tcPr>
                </a:tc>
              </a:tr>
              <a:tr h="933450">
                <a:tc>
                  <a:txBody>
                    <a:bodyPr>
                      <a:noAutofit/>
                    </a:bodyPr>
                    <a:lstStyle/>
                    <a:p>
                      <a:r>
                        <a:rPr sz="2025" b="0">
                          <a:solidFill>
                            <a:srgbClr val="213744"/>
                          </a:solidFill>
                          <a:latin typeface="Arial"/>
                          <a:ea typeface="Arial"/>
                          <a:cs typeface="Arial"/>
                        </a:rPr>
                        <a:t>0 and +180 or -180 degrees</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Ambiguous path fails</a:t>
                      </a:r>
                    </a:p>
                  </a:txBody>
                  <a:tcPr marL="114300" marR="114300" marT="76200" marB="76200">
                    <a:solidFill>
                      <a:srgbClr val="FFFFFF"/>
                    </a:solidFill>
                  </a:tcPr>
                </a:tc>
              </a:tr>
              <a:tr h="933450">
                <a:tc>
                  <a:txBody>
                    <a:bodyPr>
                      <a:noAutofit/>
                    </a:bodyPr>
                    <a:lstStyle/>
                    <a:p>
                      <a:r>
                        <a:rPr sz="2025" b="0">
                          <a:solidFill>
                            <a:srgbClr val="213744"/>
                          </a:solidFill>
                          <a:latin typeface="Arial"/>
                          <a:ea typeface="Arial"/>
                          <a:cs typeface="Arial"/>
                        </a:rPr>
                        <a:t>0, intermediate 90, then 180 degrees</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Intermediate pose determines the path</a:t>
                      </a:r>
                    </a:p>
                  </a:txBody>
                  <a:tcPr marL="114300" marR="114300" marT="76200" marB="76200">
                    <a:solidFill>
                      <a:srgbClr val="FFFFFF"/>
                    </a:solidFill>
                  </a:tcPr>
                </a:tc>
              </a:tr>
              <a:tr h="933450">
                <a:tc>
                  <a:txBody>
                    <a:bodyPr>
                      <a:noAutofit/>
                    </a:bodyPr>
                    <a:lstStyle/>
                    <a:p>
                      <a:r>
                        <a:rPr sz="2025" b="0">
                          <a:solidFill>
                            <a:srgbClr val="213744"/>
                          </a:solidFill>
                          <a:latin typeface="Arial"/>
                          <a:ea typeface="Arial"/>
                          <a:cs typeface="Arial"/>
                        </a:rPr>
                        <a:t>Held reader or exact sample</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Recorded pose remains defined</a:t>
                      </a:r>
                    </a:p>
                  </a:txBody>
                  <a:tcPr marL="114300" marR="114300" marT="76200" marB="7620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9B161F49-6891-4C94-BD16-5DC258B880B2}"/>
              </a:ext>
            </a:extLst>
          </p:cNvPr>
          <p:cNvSpPr>
            <a:spLocks xmlns:a="http://schemas.openxmlformats.org/drawingml/2006/main" noGrp="1"/>
          </p:cNvSpPr>
          <p:nvPr/>
        </p:nvSpPr>
        <p:spPr>
          <a:xfrm xmlns:a="http://schemas.openxmlformats.org/drawingml/2006/main">
            <a:off x="609600" y="56007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75" b="0">
                <a:solidFill>
                  <a:srgbClr val="157C87"/>
                </a:solidFill>
                <a:latin typeface="Arial"/>
                <a:ea typeface="Arial"/>
                <a:cs typeface="Arial"/>
              </a:defRPr>
            </a:defPPr>
          </a:lstStyle>
          <a:p xmlns:a="http://schemas.openxmlformats.org/drawingml/2006/main">
            <a:pPr>
              <a:defRPr sz="2175" b="0">
                <a:solidFill>
                  <a:srgbClr val="157C87"/>
                </a:solidFill>
                <a:latin typeface="Arial"/>
                <a:ea typeface="Arial"/>
                <a:cs typeface="Arial"/>
              </a:defRPr>
            </a:pPr>
            <a:r>
              <a:rPr sz="2175" b="0">
                <a:solidFill>
                  <a:srgbClr val="157C87"/>
                </a:solidFill>
                <a:latin typeface="Arial"/>
                <a:ea typeface="Arial"/>
                <a:cs typeface="Arial"/>
              </a:rPr>
              <a:t>The source stores heading, pitch and roll. The reader computes a pose. The prototype uncertainty bound still needs evidence.</a:t>
            </a:r>
          </a:p>
        </p:txBody>
      </p:sp>
    </p:spTree>
    <p:extLst>
      <p:ext uri="{BB962C8B-B14F-4D97-AF65-F5344CB8AC3E}">
        <p14:creationId xmlns:p14="http://schemas.microsoft.com/office/powerpoint/2010/main" val="17369938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99586AE-54D1-443A-9A15-6D74627AAB31}"/>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Dependency coverage with Profiles</a:t>
            </a:r>
          </a:p>
        </p:txBody>
      </p:sp>
      <p:graphicFrame>
        <p:nvGraphicFramePr>
          <p:cNvPr id="2" name="">
            <a:extLst xmlns:a="http://schemas.openxmlformats.org/drawingml/2006/main">
              <a:ext uri="{FF2B5EF4-FFF2-40B4-BE49-F238E27FC236}">
                <a16:creationId xmlns:a16="http://schemas.microsoft.com/office/drawing/2014/main" id="{1C5CF8C7-F294-4F04-9CD0-876E0C1F2EFD}"/>
              </a:ext>
            </a:extLst>
          </p:cNvPr>
          <p:cNvGraphicFramePr/>
          <p:nvPr/>
        </p:nvGraphicFramePr>
        <p:xfrm>
          <a:off xmlns:a="http://schemas.openxmlformats.org/drawingml/2006/main" x="609600" y="1495425"/>
          <a:ext xmlns:a="http://schemas.openxmlformats.org/drawingml/2006/main" cx="10972800" cy="3733800"/>
        </p:xfrm>
        <a:graphic xmlns:a="http://schemas.openxmlformats.org/drawingml/2006/main">
          <a:graphicData uri="http://schemas.openxmlformats.org/drawingml/2006/table">
            <a:tbl>
              <a:tblPr/>
              <a:tblGrid>
                <a:gridCol w="3762375"/>
                <a:gridCol w="7210425"/>
              </a:tblGrid>
              <a:tr h="933450">
                <a:tc>
                  <a:txBody>
                    <a:bodyPr>
                      <a:noAutofit/>
                    </a:bodyPr>
                    <a:lstStyle/>
                    <a:p>
                      <a:r>
                        <a:rPr sz="2025" b="1">
                          <a:solidFill>
                            <a:srgbClr val="FFFFFF"/>
                          </a:solidFill>
                          <a:latin typeface="Arial"/>
                          <a:ea typeface="Arial"/>
                          <a:cs typeface="Arial"/>
                        </a:rPr>
                        <a:t>Publisher declaration</a:t>
                      </a:r>
                    </a:p>
                  </a:txBody>
                  <a:tcPr marL="114300" marR="114300" marT="76200" marB="76200">
                    <a:solidFill>
                      <a:srgbClr val="213744"/>
                    </a:solidFill>
                  </a:tcPr>
                </a:tc>
                <a:tc>
                  <a:txBody>
                    <a:bodyPr>
                      <a:noAutofit/>
                    </a:bodyPr>
                    <a:lstStyle/>
                    <a:p>
                      <a:r>
                        <a:rPr sz="2025" b="1">
                          <a:solidFill>
                            <a:srgbClr val="FFFFFF"/>
                          </a:solidFill>
                          <a:latin typeface="Arial"/>
                          <a:ea typeface="Arial"/>
                          <a:cs typeface="Arial"/>
                        </a:rPr>
                        <a:t>Consumer interpretation</a:t>
                      </a:r>
                    </a:p>
                  </a:txBody>
                  <a:tcPr marL="114300" marR="114300" marT="76200" marB="76200">
                    <a:solidFill>
                      <a:srgbClr val="213744"/>
                    </a:solidFill>
                  </a:tcPr>
                </a:tc>
              </a:tr>
              <a:tr h="933450">
                <a:tc>
                  <a:txBody>
                    <a:bodyPr>
                      <a:noAutofit/>
                    </a:bodyPr>
                    <a:lstStyle/>
                    <a:p>
                      <a:r>
                        <a:rPr sz="2025" b="0">
                          <a:solidFill>
                            <a:srgbClr val="213744"/>
                          </a:solidFill>
                          <a:latin typeface="Arial"/>
                          <a:ea typeface="Arial"/>
                          <a:cs typeface="Arial"/>
                        </a:rPr>
                        <a:t>Complete summary, no retained use</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Known none</a:t>
                      </a:r>
                    </a:p>
                  </a:txBody>
                  <a:tcPr marL="114300" marR="114300" marT="76200" marB="76200">
                    <a:solidFill>
                      <a:srgbClr val="FFFFFF"/>
                    </a:solidFill>
                  </a:tcPr>
                </a:tc>
              </a:tr>
              <a:tr h="933450">
                <a:tc>
                  <a:txBody>
                    <a:bodyPr>
                      <a:noAutofit/>
                    </a:bodyPr>
                    <a:lstStyle/>
                    <a:p>
                      <a:r>
                        <a:rPr sz="2025" b="0">
                          <a:solidFill>
                            <a:srgbClr val="213744"/>
                          </a:solidFill>
                          <a:latin typeface="Arial"/>
                          <a:ea typeface="Arial"/>
                          <a:cs typeface="Arial"/>
                        </a:rPr>
                        <a:t>Hard capability usage</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Resolution dependency</a:t>
                      </a:r>
                    </a:p>
                  </a:txBody>
                  <a:tcPr marL="114300" marR="114300" marT="76200" marB="76200">
                    <a:solidFill>
                      <a:srgbClr val="FFFFFF"/>
                    </a:solidFill>
                  </a:tcPr>
                </a:tc>
              </a:tr>
              <a:tr h="933450">
                <a:tc>
                  <a:txBody>
                    <a:bodyPr>
                      <a:noAutofit/>
                    </a:bodyPr>
                    <a:lstStyle/>
                    <a:p>
                      <a:r>
                        <a:rPr sz="2025" b="0">
                          <a:solidFill>
                            <a:srgbClr val="213744"/>
                          </a:solidFill>
                          <a:latin typeface="Arial"/>
                          <a:ea typeface="Arial"/>
                          <a:cs typeface="Arial"/>
                        </a:rPr>
                        <a:t>Missing complete qualification</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Unknown, conservatively hard</a:t>
                      </a:r>
                    </a:p>
                  </a:txBody>
                  <a:tcPr marL="114300" marR="114300" marT="76200" marB="7620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35A7D165-141D-4BC9-88B6-BCC49EA29C9A}"/>
              </a:ext>
            </a:extLst>
          </p:cNvPr>
          <p:cNvSpPr>
            <a:spLocks xmlns:a="http://schemas.openxmlformats.org/drawingml/2006/main" noGrp="1"/>
          </p:cNvSpPr>
          <p:nvPr/>
        </p:nvSpPr>
        <p:spPr>
          <a:xfrm xmlns:a="http://schemas.openxmlformats.org/drawingml/2006/main">
            <a:off x="609600" y="56007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75" b="0">
                <a:solidFill>
                  <a:srgbClr val="157C87"/>
                </a:solidFill>
                <a:latin typeface="Arial"/>
                <a:ea typeface="Arial"/>
                <a:cs typeface="Arial"/>
              </a:defRPr>
            </a:defPPr>
          </a:lstStyle>
          <a:p xmlns:a="http://schemas.openxmlformats.org/drawingml/2006/main">
            <a:pPr>
              <a:defRPr sz="2175" b="0">
                <a:solidFill>
                  <a:srgbClr val="157C87"/>
                </a:solidFill>
                <a:latin typeface="Arial"/>
                <a:ea typeface="Arial"/>
                <a:cs typeface="Arial"/>
              </a:defRPr>
            </a:pPr>
            <a:r>
              <a:rPr sz="2175" b="0">
                <a:solidFill>
                  <a:srgbClr val="157C87"/>
                </a:solidFill>
                <a:latin typeface="Arial"/>
                <a:ea typeface="Arial"/>
                <a:cs typeface="Arial"/>
              </a:rPr>
              <a:t>Existing Profiles metadata carries a proposed publishing profile. Publisher checks must cover retained variants and unloaded content. A metadata read alone cannot establish truth.</a:t>
            </a:r>
          </a:p>
        </p:txBody>
      </p:sp>
    </p:spTree>
    <p:extLst>
      <p:ext uri="{BB962C8B-B14F-4D97-AF65-F5344CB8AC3E}">
        <p14:creationId xmlns:p14="http://schemas.microsoft.com/office/powerpoint/2010/main" val="10717262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35BFCE-2272-461C-A846-AC8808FD1ED0}"/>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Working native visualization</a:t>
            </a:r>
          </a:p>
        </p:txBody>
      </p:sp>
      <p:sp>
        <p:nvSpPr>
          <p:cNvPr id="2" name="">
            <a:extLst xmlns:a="http://schemas.openxmlformats.org/drawingml/2006/main">
              <a:ext uri="{FF2B5EF4-FFF2-40B4-BE49-F238E27FC236}">
                <a16:creationId xmlns:a16="http://schemas.microsoft.com/office/drawing/2014/main" id="{01D8DC72-405F-42DC-8C95-C6B52DD054EA}"/>
              </a:ext>
            </a:extLst>
          </p:cNvPr>
          <p:cNvSpPr>
            <a:spLocks xmlns:a="http://schemas.openxmlformats.org/drawingml/2006/main" noGrp="1"/>
          </p:cNvSpPr>
          <p:nvPr/>
        </p:nvSpPr>
        <p:spPr>
          <a:xfrm xmlns:a="http://schemas.openxmlformats.org/drawingml/2006/main">
            <a:off x="609600" y="1371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250" b="0">
                <a:solidFill>
                  <a:srgbClr val="213744"/>
                </a:solidFill>
                <a:latin typeface="Arial"/>
                <a:ea typeface="Arial"/>
                <a:cs typeface="Arial"/>
              </a:defRPr>
            </a:defPPr>
          </a:lstStyle>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Fresh native Hydra/Storm images of C++-resolved ordinary USD bakes.</a:t>
            </a:r>
          </a:p>
        </p:txBody>
      </p:sp>
      <p:pic>
        <p:nvPicPr>
          <p:cNvPr id="3" name="">
            <a:extLst xmlns:a="http://schemas.openxmlformats.org/drawingml/2006/main">
              <a:ext uri="{FF2B5EF4-FFF2-40B4-BE49-F238E27FC236}">
                <a16:creationId xmlns:a16="http://schemas.microsoft.com/office/drawing/2014/main" id="{64A8174F-5CED-4D62-A326-0E98D076CFE3}"/>
              </a:ext>
            </a:extLst>
          </p:cNvPr>
          <p:cNvPicPr>
            <a:picLocks xmlns:a="http://schemas.openxmlformats.org/drawingml/2006/main" noChangeAspect="1"/>
          </p:cNvPicPr>
          <p:nvPr/>
        </p:nvPicPr>
        <p:blipFill>
          <a:blip xmlns:r="http://schemas.openxmlformats.org/officeDocument/2006/relationships" xmlns:a="http://schemas.openxmlformats.org/drawingml/2006/main" r:embed="Rbb6ac83b11254452"/>
          <a:stretch xmlns:a="http://schemas.openxmlformats.org/drawingml/2006/main"/>
        </p:blipFill>
        <p:spPr>
          <a:xfrm xmlns:a="http://schemas.openxmlformats.org/drawingml/2006/main">
            <a:off x="609600" y="2445544"/>
            <a:ext cx="5257800" cy="2957513"/>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492DF67-32C5-45E0-B677-672FAE7B4EFB}"/>
              </a:ext>
            </a:extLst>
          </p:cNvPr>
          <p:cNvPicPr>
            <a:picLocks xmlns:a="http://schemas.openxmlformats.org/drawingml/2006/main" noChangeAspect="1"/>
          </p:cNvPicPr>
          <p:nvPr/>
        </p:nvPicPr>
        <p:blipFill>
          <a:blip xmlns:r="http://schemas.openxmlformats.org/officeDocument/2006/relationships" xmlns:a="http://schemas.openxmlformats.org/drawingml/2006/main" r:embed="R1a9805715f6148cf"/>
          <a:stretch xmlns:a="http://schemas.openxmlformats.org/drawingml/2006/main"/>
        </p:blipFill>
        <p:spPr>
          <a:xfrm xmlns:a="http://schemas.openxmlformats.org/drawingml/2006/main">
            <a:off x="6324600" y="2445544"/>
            <a:ext cx="5257800" cy="2957513"/>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03B9C6C-691B-491F-9883-98BB9F1C7C90}"/>
              </a:ext>
            </a:extLst>
          </p:cNvPr>
          <p:cNvSpPr>
            <a:spLocks xmlns:a="http://schemas.openxmlformats.org/drawingml/2006/main" noGrp="1"/>
          </p:cNvSpPr>
          <p:nvPr/>
        </p:nvSpPr>
        <p:spPr>
          <a:xfrm xmlns:a="http://schemas.openxmlformats.org/drawingml/2006/main">
            <a:off x="609600" y="561975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1725" b="1">
                <a:solidFill>
                  <a:srgbClr val="213744"/>
                </a:solidFill>
                <a:latin typeface="Arial"/>
                <a:ea typeface="Arial"/>
                <a:cs typeface="Arial"/>
              </a:defRPr>
            </a:defPPr>
          </a:lstStyle>
          <a:p xmlns:a="http://schemas.openxmlformats.org/drawingml/2006/main">
            <a:pPr>
              <a:defRPr sz="1725" b="1">
                <a:solidFill>
                  <a:srgbClr val="213744"/>
                </a:solidFill>
                <a:latin typeface="Arial"/>
                <a:ea typeface="Arial"/>
                <a:cs typeface="Arial"/>
              </a:defRPr>
            </a:pPr>
            <a:r>
              <a:rPr sz="1725" b="1">
                <a:solidFill>
                  <a:srgbClr val="213744"/>
                </a:solidFill>
                <a:latin typeface="Arial"/>
                <a:ea typeface="Arial"/>
                <a:cs typeface="Arial"/>
              </a:rPr>
              <a:t>Eiffel model</a:t>
            </a:r>
          </a:p>
        </p:txBody>
      </p:sp>
      <p:sp>
        <p:nvSpPr>
          <p:cNvPr id="6" name="">
            <a:extLst xmlns:a="http://schemas.openxmlformats.org/drawingml/2006/main">
              <a:ext uri="{FF2B5EF4-FFF2-40B4-BE49-F238E27FC236}">
                <a16:creationId xmlns:a16="http://schemas.microsoft.com/office/drawing/2014/main" id="{892329D2-4174-44F5-B50D-72969E4C72E7}"/>
              </a:ext>
            </a:extLst>
          </p:cNvPr>
          <p:cNvSpPr>
            <a:spLocks xmlns:a="http://schemas.openxmlformats.org/drawingml/2006/main" noGrp="1"/>
          </p:cNvSpPr>
          <p:nvPr/>
        </p:nvSpPr>
        <p:spPr>
          <a:xfrm xmlns:a="http://schemas.openxmlformats.org/drawingml/2006/main">
            <a:off x="6324600" y="561975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1725" b="1">
                <a:solidFill>
                  <a:srgbClr val="213744"/>
                </a:solidFill>
                <a:latin typeface="Arial"/>
                <a:ea typeface="Arial"/>
                <a:cs typeface="Arial"/>
              </a:defRPr>
            </a:defPPr>
          </a:lstStyle>
          <a:p xmlns:a="http://schemas.openxmlformats.org/drawingml/2006/main">
            <a:pPr>
              <a:defRPr sz="1725" b="1">
                <a:solidFill>
                  <a:srgbClr val="213744"/>
                </a:solidFill>
                <a:latin typeface="Arial"/>
                <a:ea typeface="Arial"/>
                <a:cs typeface="Arial"/>
              </a:defRPr>
            </a:pPr>
            <a:r>
              <a:rPr sz="1725" b="1">
                <a:solidFill>
                  <a:srgbClr val="213744"/>
                </a:solidFill>
                <a:latin typeface="Arial"/>
                <a:ea typeface="Arial"/>
                <a:cs typeface="Arial"/>
              </a:rPr>
              <a:t>Terrain</a:t>
            </a:r>
          </a:p>
        </p:txBody>
      </p:sp>
      <p:sp>
        <p:nvSpPr>
          <p:cNvPr id="7" name="">
            <a:extLst xmlns:a="http://schemas.openxmlformats.org/drawingml/2006/main">
              <a:ext uri="{FF2B5EF4-FFF2-40B4-BE49-F238E27FC236}">
                <a16:creationId xmlns:a16="http://schemas.microsoft.com/office/drawing/2014/main" id="{F662F0D4-A7B3-46F8-B7FF-537689DFB8E5}"/>
              </a:ext>
            </a:extLst>
          </p:cNvPr>
          <p:cNvSpPr>
            <a:spLocks xmlns:a="http://schemas.openxmlformats.org/drawingml/2006/main" noGrp="1"/>
          </p:cNvSpPr>
          <p:nvPr/>
        </p:nvSpPr>
        <p:spPr>
          <a:xfrm xmlns:a="http://schemas.openxmlformats.org/drawingml/2006/main">
            <a:off x="609600" y="60864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1875" b="0">
                <a:solidFill>
                  <a:srgbClr val="536C7B"/>
                </a:solidFill>
                <a:latin typeface="Arial"/>
                <a:ea typeface="Arial"/>
                <a:cs typeface="Arial"/>
              </a:defRPr>
            </a:defPPr>
          </a:lstStyle>
          <a:p xmlns:a="http://schemas.openxmlformats.org/drawingml/2006/main">
            <a:pPr>
              <a:defRPr sz="1875" b="0">
                <a:solidFill>
                  <a:srgbClr val="536C7B"/>
                </a:solidFill>
                <a:latin typeface="Arial"/>
                <a:ea typeface="Arial"/>
                <a:cs typeface="Arial"/>
              </a:defRPr>
            </a:pPr>
            <a:r>
              <a:rPr sz="1875" b="0">
                <a:solidFill>
                  <a:srgbClr val="536C7B"/>
                </a:solidFill>
                <a:latin typeface="Arial"/>
                <a:ea typeface="Arial"/>
                <a:cs typeface="Arial"/>
              </a:rPr>
              <a:t>They demonstrate the render path. Surface-normal accuracy remains a separate failed diagnostic.</a:t>
            </a:r>
          </a:p>
        </p:txBody>
      </p:sp>
    </p:spTree>
    <p:extLst>
      <p:ext uri="{BB962C8B-B14F-4D97-AF65-F5344CB8AC3E}">
        <p14:creationId xmlns:p14="http://schemas.microsoft.com/office/powerpoint/2010/main" val="13440130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FC751A5-B8E6-49A8-A9EE-0E7B5D2EFD62}"/>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Measurements retain native meaning</a:t>
            </a:r>
          </a:p>
        </p:txBody>
      </p:sp>
      <p:sp>
        <p:nvSpPr>
          <p:cNvPr id="2" name="">
            <a:extLst xmlns:a="http://schemas.openxmlformats.org/drawingml/2006/main">
              <a:ext uri="{FF2B5EF4-FFF2-40B4-BE49-F238E27FC236}">
                <a16:creationId xmlns:a16="http://schemas.microsoft.com/office/drawing/2014/main" id="{2570530C-6AE2-493D-8892-87056FBEEADD}"/>
              </a:ext>
            </a:extLst>
          </p:cNvPr>
          <p:cNvSpPr>
            <a:spLocks xmlns:a="http://schemas.openxmlformats.org/drawingml/2006/main" noGrp="1"/>
          </p:cNvSpPr>
          <p:nvPr/>
        </p:nvSpPr>
        <p:spPr>
          <a:xfrm xmlns:a="http://schemas.openxmlformats.org/drawingml/2006/main">
            <a:off x="609600" y="13620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250" b="0">
                <a:solidFill>
                  <a:srgbClr val="213744"/>
                </a:solidFill>
                <a:latin typeface="Arial"/>
                <a:ea typeface="Arial"/>
                <a:cs typeface="Arial"/>
              </a:defRPr>
            </a:defPPr>
          </a:lstStyle>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The synthetic global field retains 154 observations over two times, with explicit height.</a:t>
            </a:r>
          </a:p>
        </p:txBody>
      </p:sp>
      <p:pic>
        <p:nvPicPr>
          <p:cNvPr id="3" name="">
            <a:extLst xmlns:a="http://schemas.openxmlformats.org/drawingml/2006/main">
              <a:ext uri="{FF2B5EF4-FFF2-40B4-BE49-F238E27FC236}">
                <a16:creationId xmlns:a16="http://schemas.microsoft.com/office/drawing/2014/main" id="{E0496353-1255-4FD2-BF74-07326CE8594C}"/>
              </a:ext>
            </a:extLst>
          </p:cNvPr>
          <p:cNvPicPr>
            <a:picLocks xmlns:a="http://schemas.openxmlformats.org/drawingml/2006/main" noChangeAspect="1"/>
          </p:cNvPicPr>
          <p:nvPr/>
        </p:nvPicPr>
        <p:blipFill>
          <a:blip xmlns:r="http://schemas.openxmlformats.org/officeDocument/2006/relationships" xmlns:a="http://schemas.openxmlformats.org/drawingml/2006/main" r:embed="Rae189a82edd44bcc"/>
          <a:stretch xmlns:a="http://schemas.openxmlformats.org/drawingml/2006/main"/>
        </p:blipFill>
        <p:spPr>
          <a:xfrm xmlns:a="http://schemas.openxmlformats.org/drawingml/2006/main">
            <a:off x="609600" y="2552700"/>
            <a:ext cx="8001000" cy="36576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092406F-B6D6-43A1-85F8-79F1BF6F336A}"/>
              </a:ext>
            </a:extLst>
          </p:cNvPr>
          <p:cNvSpPr>
            <a:spLocks xmlns:a="http://schemas.openxmlformats.org/drawingml/2006/main" noGrp="1"/>
          </p:cNvSpPr>
          <p:nvPr/>
        </p:nvSpPr>
        <p:spPr>
          <a:xfrm xmlns:a="http://schemas.openxmlformats.org/drawingml/2006/main">
            <a:off x="8982075" y="2581275"/>
            <a:ext cx="2600325" cy="3305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00" b="0">
                <a:solidFill>
                  <a:srgbClr val="157C87"/>
                </a:solidFill>
                <a:latin typeface="Arial"/>
                <a:ea typeface="Arial"/>
                <a:cs typeface="Arial"/>
              </a:defRPr>
            </a:defPPr>
          </a:lstStyle>
          <a:p xmlns:a="http://schemas.openxmlformats.org/drawingml/2006/main">
            <a:pPr>
              <a:defRPr sz="2100" b="0">
                <a:solidFill>
                  <a:srgbClr val="157C87"/>
                </a:solidFill>
                <a:latin typeface="Arial"/>
                <a:ea typeface="Arial"/>
                <a:cs typeface="Arial"/>
              </a:defRPr>
            </a:pPr>
            <a:r>
              <a:rPr sz="2100" b="0">
                <a:solidFill>
                  <a:srgbClr val="157C87"/>
                </a:solidFill>
                <a:latin typeface="Arial"/>
                <a:ea typeface="Arial"/>
                <a:cs typeface="Arial"/>
              </a:rPr>
              <a:t>Geographic and Earth-centred results keep the same measurements. Named-dimension controls check the shared decoder.</a:t>
            </a:r>
          </a:p>
        </p:txBody>
      </p:sp>
    </p:spTree>
    <p:extLst>
      <p:ext uri="{BB962C8B-B14F-4D97-AF65-F5344CB8AC3E}">
        <p14:creationId xmlns:p14="http://schemas.microsoft.com/office/powerpoint/2010/main" val="12866097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26CA5E-6245-4CAA-9DA5-136664C2BA88}"/>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Both readers resolve partner controls</a:t>
            </a:r>
          </a:p>
        </p:txBody>
      </p:sp>
      <p:sp>
        <p:nvSpPr>
          <p:cNvPr id="2" name="">
            <a:extLst xmlns:a="http://schemas.openxmlformats.org/drawingml/2006/main">
              <a:ext uri="{FF2B5EF4-FFF2-40B4-BE49-F238E27FC236}">
                <a16:creationId xmlns:a16="http://schemas.microsoft.com/office/drawing/2014/main" id="{8F0E4B0E-497D-430F-B013-6FEB29748F39}"/>
              </a:ext>
            </a:extLst>
          </p:cNvPr>
          <p:cNvSpPr>
            <a:spLocks xmlns:a="http://schemas.openxmlformats.org/drawingml/2006/main" noGrp="1"/>
          </p:cNvSpPr>
          <p:nvPr/>
        </p:nvSpPr>
        <p:spPr>
          <a:xfrm xmlns:a="http://schemas.openxmlformats.org/drawingml/2006/main">
            <a:off x="609600" y="15049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00" b="1">
                <a:solidFill>
                  <a:srgbClr val="157C87"/>
                </a:solidFill>
                <a:latin typeface="Arial"/>
                <a:ea typeface="Arial"/>
                <a:cs typeface="Arial"/>
              </a:defRPr>
            </a:defPPr>
          </a:lstStyle>
          <a:p xmlns:a="http://schemas.openxmlformats.org/drawingml/2006/main">
            <a:pPr>
              <a:defRPr sz="2100" b="1">
                <a:solidFill>
                  <a:srgbClr val="157C87"/>
                </a:solidFill>
                <a:latin typeface="Arial"/>
                <a:ea typeface="Arial"/>
                <a:cs typeface="Arial"/>
              </a:defRPr>
            </a:pPr>
            <a:r>
              <a:rPr sz="2100" b="1">
                <a:solidFill>
                  <a:srgbClr val="157C87"/>
                </a:solidFill>
                <a:latin typeface="Arial"/>
                <a:ea typeface="Arial"/>
                <a:cs typeface="Arial"/>
              </a:rPr>
              <a:t>France: CC49 to Lambert-93 (m)</a:t>
            </a:r>
          </a:p>
        </p:txBody>
      </p:sp>
      <p:graphicFrame>
        <p:nvGraphicFramePr>
          <p:cNvPr id="3" name="">
            <a:extLst xmlns:a="http://schemas.openxmlformats.org/drawingml/2006/main">
              <a:ext uri="{FF2B5EF4-FFF2-40B4-BE49-F238E27FC236}">
                <a16:creationId xmlns:a16="http://schemas.microsoft.com/office/drawing/2014/main" id="{D68A7AB3-E53B-4083-B9B2-31C2F857CBBB}"/>
              </a:ext>
            </a:extLst>
          </p:cNvPr>
          <p:cNvGraphicFramePr/>
          <p:nvPr/>
        </p:nvGraphicFramePr>
        <p:xfrm>
          <a:off xmlns:a="http://schemas.openxmlformats.org/drawingml/2006/main" x="609600" y="2028825"/>
          <a:ext xmlns:a="http://schemas.openxmlformats.org/drawingml/2006/main" cx="10972800" cy="1409700"/>
        </p:xfrm>
        <a:graphic xmlns:a="http://schemas.openxmlformats.org/drawingml/2006/main">
          <a:graphicData uri="http://schemas.openxmlformats.org/drawingml/2006/table">
            <a:tbl>
              <a:tblPr/>
              <a:tblGrid>
                <a:gridCol w="2667000"/>
                <a:gridCol w="4152900"/>
                <a:gridCol w="4152900"/>
              </a:tblGrid>
              <a:tr h="352425">
                <a:tc>
                  <a:txBody>
                    <a:bodyPr>
                      <a:noAutofit/>
                    </a:bodyPr>
                    <a:lstStyle/>
                    <a:p>
                      <a:r>
                        <a:rPr sz="1875" b="1">
                          <a:solidFill>
                            <a:srgbClr val="FFFFFF"/>
                          </a:solidFill>
                          <a:latin typeface="Arial"/>
                          <a:ea typeface="Arial"/>
                          <a:cs typeface="Arial"/>
                        </a:rPr>
                        <a:t>Component</a:t>
                      </a:r>
                    </a:p>
                  </a:txBody>
                  <a:tcPr marL="114300" marR="114300" marT="76200" marB="76200">
                    <a:solidFill>
                      <a:srgbClr val="213744"/>
                    </a:solidFill>
                  </a:tcPr>
                </a:tc>
                <a:tc>
                  <a:txBody>
                    <a:bodyPr>
                      <a:noAutofit/>
                    </a:bodyPr>
                    <a:lstStyle/>
                    <a:p>
                      <a:r>
                        <a:rPr sz="1875" b="1">
                          <a:solidFill>
                            <a:srgbClr val="FFFFFF"/>
                          </a:solidFill>
                          <a:latin typeface="Arial"/>
                          <a:ea typeface="Arial"/>
                          <a:cs typeface="Arial"/>
                        </a:rPr>
                        <a:t>Python</a:t>
                      </a:r>
                    </a:p>
                  </a:txBody>
                  <a:tcPr marL="114300" marR="114300" marT="76200" marB="76200">
                    <a:solidFill>
                      <a:srgbClr val="213744"/>
                    </a:solidFill>
                  </a:tcPr>
                </a:tc>
                <a:tc>
                  <a:txBody>
                    <a:bodyPr>
                      <a:noAutofit/>
                    </a:bodyPr>
                    <a:lstStyle/>
                    <a:p>
                      <a:r>
                        <a:rPr sz="1875" b="1">
                          <a:solidFill>
                            <a:srgbClr val="FFFFFF"/>
                          </a:solidFill>
                          <a:latin typeface="Arial"/>
                          <a:ea typeface="Arial"/>
                          <a:cs typeface="Arial"/>
                        </a:rPr>
                        <a:t>C++</a:t>
                      </a:r>
                    </a:p>
                  </a:txBody>
                  <a:tcPr marL="114300" marR="114300" marT="76200" marB="76200">
                    <a:solidFill>
                      <a:srgbClr val="213744"/>
                    </a:solidFill>
                  </a:tcPr>
                </a:tc>
              </a:tr>
              <a:tr h="352425">
                <a:tc>
                  <a:txBody>
                    <a:bodyPr>
                      <a:noAutofit/>
                    </a:bodyPr>
                    <a:lstStyle/>
                    <a:p>
                      <a:r>
                        <a:rPr sz="1875" b="0">
                          <a:solidFill>
                            <a:srgbClr val="213744"/>
                          </a:solidFill>
                          <a:latin typeface="Arial"/>
                          <a:ea typeface="Arial"/>
                          <a:cs typeface="Arial"/>
                        </a:rPr>
                        <a:t>East</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661,101.109417</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661,101.109417</a:t>
                      </a:r>
                    </a:p>
                  </a:txBody>
                  <a:tcPr marL="114300" marR="114300" marT="76200" marB="76200">
                    <a:solidFill>
                      <a:srgbClr val="FFFFFF"/>
                    </a:solidFill>
                  </a:tcPr>
                </a:tc>
              </a:tr>
              <a:tr h="352425">
                <a:tc>
                  <a:txBody>
                    <a:bodyPr>
                      <a:noAutofit/>
                    </a:bodyPr>
                    <a:lstStyle/>
                    <a:p>
                      <a:r>
                        <a:rPr sz="1875" b="0">
                          <a:solidFill>
                            <a:srgbClr val="213744"/>
                          </a:solidFill>
                          <a:latin typeface="Arial"/>
                          <a:ea typeface="Arial"/>
                          <a:cs typeface="Arial"/>
                        </a:rPr>
                        <a:t>North</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6,857,834.256536</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6,857,834.256536</a:t>
                      </a:r>
                    </a:p>
                  </a:txBody>
                  <a:tcPr marL="114300" marR="114300" marT="76200" marB="76200">
                    <a:solidFill>
                      <a:srgbClr val="FFFFFF"/>
                    </a:solidFill>
                  </a:tcPr>
                </a:tc>
              </a:tr>
              <a:tr h="352425">
                <a:tc>
                  <a:txBody>
                    <a:bodyPr>
                      <a:noAutofit/>
                    </a:bodyPr>
                    <a:lstStyle/>
                    <a:p>
                      <a:r>
                        <a:rPr sz="1875" b="0">
                          <a:solidFill>
                            <a:srgbClr val="213744"/>
                          </a:solidFill>
                          <a:latin typeface="Arial"/>
                          <a:ea typeface="Arial"/>
                          <a:cs typeface="Arial"/>
                        </a:rPr>
                        <a:t>Height</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37.298000</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37.298000</a:t>
                      </a:r>
                    </a:p>
                  </a:txBody>
                  <a:tcPr marL="114300" marR="114300" marT="76200" marB="7620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5B07600-E7B9-4F72-90BB-FDAFFED8FFA5}"/>
              </a:ext>
            </a:extLst>
          </p:cNvPr>
          <p:cNvSpPr>
            <a:spLocks xmlns:a="http://schemas.openxmlformats.org/drawingml/2006/main" noGrp="1"/>
          </p:cNvSpPr>
          <p:nvPr/>
        </p:nvSpPr>
        <p:spPr>
          <a:xfrm xmlns:a="http://schemas.openxmlformats.org/drawingml/2006/main">
            <a:off x="609600" y="37338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00" b="1">
                <a:solidFill>
                  <a:srgbClr val="157C87"/>
                </a:solidFill>
                <a:latin typeface="Arial"/>
                <a:ea typeface="Arial"/>
                <a:cs typeface="Arial"/>
              </a:defRPr>
            </a:defPPr>
          </a:lstStyle>
          <a:p xmlns:a="http://schemas.openxmlformats.org/drawingml/2006/main">
            <a:pPr>
              <a:defRPr sz="2100" b="1">
                <a:solidFill>
                  <a:srgbClr val="157C87"/>
                </a:solidFill>
                <a:latin typeface="Arial"/>
                <a:ea typeface="Arial"/>
                <a:cs typeface="Arial"/>
              </a:defRPr>
            </a:pPr>
            <a:r>
              <a:rPr sz="2100" b="1">
                <a:solidFill>
                  <a:srgbClr val="157C87"/>
                </a:solidFill>
                <a:latin typeface="Arial"/>
                <a:ea typeface="Arial"/>
                <a:cs typeface="Arial"/>
              </a:rPr>
              <a:t>Colorado: State Plane to site grid (US survey ft)</a:t>
            </a:r>
          </a:p>
        </p:txBody>
      </p:sp>
      <p:graphicFrame>
        <p:nvGraphicFramePr>
          <p:cNvPr id="5" name="">
            <a:extLst xmlns:a="http://schemas.openxmlformats.org/drawingml/2006/main">
              <a:ext uri="{FF2B5EF4-FFF2-40B4-BE49-F238E27FC236}">
                <a16:creationId xmlns:a16="http://schemas.microsoft.com/office/drawing/2014/main" id="{2885462C-F7A3-407C-9D1C-34E4235F6C3B}"/>
              </a:ext>
            </a:extLst>
          </p:cNvPr>
          <p:cNvGraphicFramePr/>
          <p:nvPr/>
        </p:nvGraphicFramePr>
        <p:xfrm>
          <a:off xmlns:a="http://schemas.openxmlformats.org/drawingml/2006/main" x="609600" y="4257675"/>
          <a:ext xmlns:a="http://schemas.openxmlformats.org/drawingml/2006/main" cx="10972800" cy="1409700"/>
        </p:xfrm>
        <a:graphic xmlns:a="http://schemas.openxmlformats.org/drawingml/2006/main">
          <a:graphicData uri="http://schemas.openxmlformats.org/drawingml/2006/table">
            <a:tbl>
              <a:tblPr/>
              <a:tblGrid>
                <a:gridCol w="2667000"/>
                <a:gridCol w="4152900"/>
                <a:gridCol w="4152900"/>
              </a:tblGrid>
              <a:tr h="352425">
                <a:tc>
                  <a:txBody>
                    <a:bodyPr>
                      <a:noAutofit/>
                    </a:bodyPr>
                    <a:lstStyle/>
                    <a:p>
                      <a:r>
                        <a:rPr sz="1875" b="1">
                          <a:solidFill>
                            <a:srgbClr val="FFFFFF"/>
                          </a:solidFill>
                          <a:latin typeface="Arial"/>
                          <a:ea typeface="Arial"/>
                          <a:cs typeface="Arial"/>
                        </a:rPr>
                        <a:t>Component</a:t>
                      </a:r>
                    </a:p>
                  </a:txBody>
                  <a:tcPr marL="114300" marR="114300" marT="76200" marB="76200">
                    <a:solidFill>
                      <a:srgbClr val="213744"/>
                    </a:solidFill>
                  </a:tcPr>
                </a:tc>
                <a:tc>
                  <a:txBody>
                    <a:bodyPr>
                      <a:noAutofit/>
                    </a:bodyPr>
                    <a:lstStyle/>
                    <a:p>
                      <a:r>
                        <a:rPr sz="1875" b="1">
                          <a:solidFill>
                            <a:srgbClr val="FFFFFF"/>
                          </a:solidFill>
                          <a:latin typeface="Arial"/>
                          <a:ea typeface="Arial"/>
                          <a:cs typeface="Arial"/>
                        </a:rPr>
                        <a:t>Python</a:t>
                      </a:r>
                    </a:p>
                  </a:txBody>
                  <a:tcPr marL="114300" marR="114300" marT="76200" marB="76200">
                    <a:solidFill>
                      <a:srgbClr val="213744"/>
                    </a:solidFill>
                  </a:tcPr>
                </a:tc>
                <a:tc>
                  <a:txBody>
                    <a:bodyPr>
                      <a:noAutofit/>
                    </a:bodyPr>
                    <a:lstStyle/>
                    <a:p>
                      <a:r>
                        <a:rPr sz="1875" b="1">
                          <a:solidFill>
                            <a:srgbClr val="FFFFFF"/>
                          </a:solidFill>
                          <a:latin typeface="Arial"/>
                          <a:ea typeface="Arial"/>
                          <a:cs typeface="Arial"/>
                        </a:rPr>
                        <a:t>C++</a:t>
                      </a:r>
                    </a:p>
                  </a:txBody>
                  <a:tcPr marL="114300" marR="114300" marT="76200" marB="76200">
                    <a:solidFill>
                      <a:srgbClr val="213744"/>
                    </a:solidFill>
                  </a:tcPr>
                </a:tc>
              </a:tr>
              <a:tr h="352425">
                <a:tc>
                  <a:txBody>
                    <a:bodyPr>
                      <a:noAutofit/>
                    </a:bodyPr>
                    <a:lstStyle/>
                    <a:p>
                      <a:r>
                        <a:rPr sz="1875" b="0">
                          <a:solidFill>
                            <a:srgbClr val="213744"/>
                          </a:solidFill>
                          <a:latin typeface="Arial"/>
                          <a:ea typeface="Arial"/>
                          <a:cs typeface="Arial"/>
                        </a:rPr>
                        <a:t>East</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3,108,871.450101</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3,108,871.450101</a:t>
                      </a:r>
                    </a:p>
                  </a:txBody>
                  <a:tcPr marL="114300" marR="114300" marT="76200" marB="76200">
                    <a:solidFill>
                      <a:srgbClr val="FFFFFF"/>
                    </a:solidFill>
                  </a:tcPr>
                </a:tc>
              </a:tr>
              <a:tr h="352425">
                <a:tc>
                  <a:txBody>
                    <a:bodyPr>
                      <a:noAutofit/>
                    </a:bodyPr>
                    <a:lstStyle/>
                    <a:p>
                      <a:r>
                        <a:rPr sz="1875" b="0">
                          <a:solidFill>
                            <a:srgbClr val="213744"/>
                          </a:solidFill>
                          <a:latin typeface="Arial"/>
                          <a:ea typeface="Arial"/>
                          <a:cs typeface="Arial"/>
                        </a:rPr>
                        <a:t>North</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1,206,317.469403</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1,206,317.469403</a:t>
                      </a:r>
                    </a:p>
                  </a:txBody>
                  <a:tcPr marL="114300" marR="114300" marT="76200" marB="76200">
                    <a:solidFill>
                      <a:srgbClr val="FFFFFF"/>
                    </a:solidFill>
                  </a:tcPr>
                </a:tc>
              </a:tr>
              <a:tr h="352425">
                <a:tc>
                  <a:txBody>
                    <a:bodyPr>
                      <a:noAutofit/>
                    </a:bodyPr>
                    <a:lstStyle/>
                    <a:p>
                      <a:r>
                        <a:rPr sz="1875" b="0">
                          <a:solidFill>
                            <a:srgbClr val="213744"/>
                          </a:solidFill>
                          <a:latin typeface="Arial"/>
                          <a:ea typeface="Arial"/>
                          <a:cs typeface="Arial"/>
                        </a:rPr>
                        <a:t>Height</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5,484.677949</a:t>
                      </a:r>
                    </a:p>
                  </a:txBody>
                  <a:tcPr marL="114300" marR="114300" marT="76200" marB="76200">
                    <a:solidFill>
                      <a:srgbClr val="FFFFFF"/>
                    </a:solidFill>
                  </a:tcPr>
                </a:tc>
                <a:tc>
                  <a:txBody>
                    <a:bodyPr>
                      <a:noAutofit/>
                    </a:bodyPr>
                    <a:lstStyle/>
                    <a:p>
                      <a:r>
                        <a:rPr sz="1875" b="0">
                          <a:solidFill>
                            <a:srgbClr val="213744"/>
                          </a:solidFill>
                          <a:latin typeface="Arial"/>
                          <a:ea typeface="Arial"/>
                          <a:cs typeface="Arial"/>
                        </a:rPr>
                        <a:t>5,484.677949</a:t>
                      </a:r>
                    </a:p>
                  </a:txBody>
                  <a:tcPr marL="114300" marR="114300" marT="76200" marB="7620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E970C904-BE32-48F1-BF3C-6C5ADCF8F10F}"/>
              </a:ext>
            </a:extLst>
          </p:cNvPr>
          <p:cNvSpPr>
            <a:spLocks xmlns:a="http://schemas.openxmlformats.org/drawingml/2006/main" noGrp="1"/>
          </p:cNvSpPr>
          <p:nvPr/>
        </p:nvSpPr>
        <p:spPr>
          <a:xfrm xmlns:a="http://schemas.openxmlformats.org/drawingml/2006/main">
            <a:off x="609600" y="60864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1875" b="0">
                <a:solidFill>
                  <a:srgbClr val="536C7B"/>
                </a:solidFill>
                <a:latin typeface="Arial"/>
                <a:ea typeface="Arial"/>
                <a:cs typeface="Arial"/>
              </a:defRPr>
            </a:defPPr>
          </a:lstStyle>
          <a:p xmlns:a="http://schemas.openxmlformats.org/drawingml/2006/main">
            <a:pPr>
              <a:defRPr sz="1875" b="0">
                <a:solidFill>
                  <a:srgbClr val="536C7B"/>
                </a:solidFill>
                <a:latin typeface="Arial"/>
                <a:ea typeface="Arial"/>
                <a:cs typeface="Arial"/>
              </a:defRPr>
            </a:pPr>
            <a:r>
              <a:rPr sz="1875" b="0">
                <a:solidFill>
                  <a:srgbClr val="536C7B"/>
                </a:solidFill>
                <a:latin typeface="Arial"/>
                <a:ea typeface="Arial"/>
                <a:cs typeface="Arial"/>
              </a:rPr>
              <a:t>Recorded components in the declared output units. Both placement readers share PROJ and external-data decoding.</a:t>
            </a:r>
          </a:p>
        </p:txBody>
      </p:sp>
    </p:spTree>
    <p:extLst>
      <p:ext uri="{BB962C8B-B14F-4D97-AF65-F5344CB8AC3E}">
        <p14:creationId xmlns:p14="http://schemas.microsoft.com/office/powerpoint/2010/main" val="57525798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D9373EA-BE27-410D-B98D-5A683E502318}"/>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Remaining prototype limits</a:t>
            </a:r>
          </a:p>
        </p:txBody>
      </p:sp>
      <p:graphicFrame>
        <p:nvGraphicFramePr>
          <p:cNvPr id="2" name="">
            <a:extLst xmlns:a="http://schemas.openxmlformats.org/drawingml/2006/main">
              <a:ext uri="{FF2B5EF4-FFF2-40B4-BE49-F238E27FC236}">
                <a16:creationId xmlns:a16="http://schemas.microsoft.com/office/drawing/2014/main" id="{7836C4BD-E92A-42C2-B8B3-DFB068988FAD}"/>
              </a:ext>
            </a:extLst>
          </p:cNvPr>
          <p:cNvGraphicFramePr/>
          <p:nvPr/>
        </p:nvGraphicFramePr>
        <p:xfrm>
          <a:off xmlns:a="http://schemas.openxmlformats.org/drawingml/2006/main" x="609600" y="1495425"/>
          <a:ext xmlns:a="http://schemas.openxmlformats.org/drawingml/2006/main" cx="10972800" cy="3733800"/>
        </p:xfrm>
        <a:graphic xmlns:a="http://schemas.openxmlformats.org/drawingml/2006/main">
          <a:graphicData uri="http://schemas.openxmlformats.org/drawingml/2006/table">
            <a:tbl>
              <a:tblPr/>
              <a:tblGrid>
                <a:gridCol w="3762375"/>
                <a:gridCol w="7210425"/>
              </a:tblGrid>
              <a:tr h="746760">
                <a:tc>
                  <a:txBody>
                    <a:bodyPr>
                      <a:noAutofit/>
                    </a:bodyPr>
                    <a:lstStyle/>
                    <a:p>
                      <a:r>
                        <a:rPr sz="2025" b="1">
                          <a:solidFill>
                            <a:srgbClr val="FFFFFF"/>
                          </a:solidFill>
                          <a:latin typeface="Arial"/>
                          <a:ea typeface="Arial"/>
                          <a:cs typeface="Arial"/>
                        </a:rPr>
                        <a:t>Finding</a:t>
                      </a:r>
                    </a:p>
                  </a:txBody>
                  <a:tcPr marL="114300" marR="114300" marT="76200" marB="76200">
                    <a:solidFill>
                      <a:srgbClr val="213744"/>
                    </a:solidFill>
                  </a:tcPr>
                </a:tc>
                <a:tc>
                  <a:txBody>
                    <a:bodyPr>
                      <a:noAutofit/>
                    </a:bodyPr>
                    <a:lstStyle/>
                    <a:p>
                      <a:r>
                        <a:rPr sz="2025" b="1">
                          <a:solidFill>
                            <a:srgbClr val="FFFFFF"/>
                          </a:solidFill>
                          <a:latin typeface="Arial"/>
                          <a:ea typeface="Arial"/>
                          <a:cs typeface="Arial"/>
                        </a:rPr>
                        <a:t>Assessment</a:t>
                      </a:r>
                    </a:p>
                  </a:txBody>
                  <a:tcPr marL="114300" marR="114300" marT="76200" marB="76200">
                    <a:solidFill>
                      <a:srgbClr val="213744"/>
                    </a:solidFill>
                  </a:tcPr>
                </a:tc>
              </a:tr>
              <a:tr h="746760">
                <a:tc>
                  <a:txBody>
                    <a:bodyPr>
                      <a:noAutofit/>
                    </a:bodyPr>
                    <a:lstStyle/>
                    <a:p>
                      <a:r>
                        <a:rPr sz="2025" b="0">
                          <a:solidFill>
                            <a:srgbClr val="213744"/>
                          </a:solidFill>
                          <a:latin typeface="Arial"/>
                          <a:ea typeface="Arial"/>
                          <a:cs typeface="Arial"/>
                        </a:rPr>
                        <a:t>Surface lighting directions</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1.24 degrees across one large projected face. Current sampling lacks an error bound.</a:t>
                      </a:r>
                    </a:p>
                  </a:txBody>
                  <a:tcPr marL="114300" marR="114300" marT="76200" marB="76200">
                    <a:solidFill>
                      <a:srgbClr val="FFFFFF"/>
                    </a:solidFill>
                  </a:tcPr>
                </a:tc>
              </a:tr>
              <a:tr h="746760">
                <a:tc>
                  <a:txBody>
                    <a:bodyPr>
                      <a:noAutofit/>
                    </a:bodyPr>
                    <a:lstStyle/>
                    <a:p>
                      <a:r>
                        <a:rPr sz="2025" b="0">
                          <a:solidFill>
                            <a:srgbClr val="213744"/>
                          </a:solidFill>
                          <a:latin typeface="Arial"/>
                          <a:ea typeface="Arial"/>
                          <a:cs typeface="Arial"/>
                        </a:rPr>
                        <a:t>Near-half-turn numerical guard</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Correct failure, incomplete rotational uncertainty evidence</a:t>
                      </a:r>
                    </a:p>
                  </a:txBody>
                  <a:tcPr marL="114300" marR="114300" marT="76200" marB="76200">
                    <a:solidFill>
                      <a:srgbClr val="FFFFFF"/>
                    </a:solidFill>
                  </a:tcPr>
                </a:tc>
              </a:tr>
              <a:tr h="746760">
                <a:tc>
                  <a:txBody>
                    <a:bodyPr>
                      <a:noAutofit/>
                    </a:bodyPr>
                    <a:lstStyle/>
                    <a:p>
                      <a:r>
                        <a:rPr sz="2025" b="0">
                          <a:solidFill>
                            <a:srgbClr val="213744"/>
                          </a:solidFill>
                          <a:latin typeface="Arial"/>
                          <a:ea typeface="Arial"/>
                          <a:cs typeface="Arial"/>
                        </a:rPr>
                        <a:t>WKT quoted text</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Both readers mistake a quoted name for a deferred epoch wrapper</a:t>
                      </a:r>
                    </a:p>
                  </a:txBody>
                  <a:tcPr marL="114300" marR="114300" marT="76200" marB="76200">
                    <a:solidFill>
                      <a:srgbClr val="FFFFFF"/>
                    </a:solidFill>
                  </a:tcPr>
                </a:tc>
              </a:tr>
              <a:tr h="746760">
                <a:tc>
                  <a:txBody>
                    <a:bodyPr>
                      <a:noAutofit/>
                    </a:bodyPr>
                    <a:lstStyle/>
                    <a:p>
                      <a:r>
                        <a:rPr sz="2025" b="0">
                          <a:solidFill>
                            <a:srgbClr val="213744"/>
                          </a:solidFill>
                          <a:latin typeface="Arial"/>
                          <a:ea typeface="Arial"/>
                          <a:cs typeface="Arial"/>
                        </a:rPr>
                        <a:t>Publication and consumer coverage</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Selected controls pass. Broader composition and continuous coverage remains unverified</a:t>
                      </a:r>
                    </a:p>
                  </a:txBody>
                  <a:tcPr marL="114300" marR="114300" marT="76200" marB="7620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06DB9051-C458-463E-B675-7B816419D1AC}"/>
              </a:ext>
            </a:extLst>
          </p:cNvPr>
          <p:cNvSpPr>
            <a:spLocks xmlns:a="http://schemas.openxmlformats.org/drawingml/2006/main" noGrp="1"/>
          </p:cNvSpPr>
          <p:nvPr/>
        </p:nvSpPr>
        <p:spPr>
          <a:xfrm xmlns:a="http://schemas.openxmlformats.org/drawingml/2006/main">
            <a:off x="609600" y="56007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75" b="0">
                <a:solidFill>
                  <a:srgbClr val="A25D20"/>
                </a:solidFill>
                <a:latin typeface="Arial"/>
                <a:ea typeface="Arial"/>
                <a:cs typeface="Arial"/>
              </a:defRPr>
            </a:defPPr>
          </a:lstStyle>
          <a:p xmlns:a="http://schemas.openxmlformats.org/drawingml/2006/main">
            <a:pPr>
              <a:defRPr sz="2175" b="0">
                <a:solidFill>
                  <a:srgbClr val="A25D20"/>
                </a:solidFill>
                <a:latin typeface="Arial"/>
                <a:ea typeface="Arial"/>
                <a:cs typeface="Arial"/>
              </a:defRPr>
            </a:pPr>
            <a:r>
              <a:rPr sz="2175" b="0">
                <a:solidFill>
                  <a:srgbClr val="A25D20"/>
                </a:solidFill>
                <a:latin typeface="Arial"/>
                <a:ea typeface="Arial"/>
                <a:cs typeface="Arial"/>
              </a:rPr>
              <a:t>The proposal supplies rules for these outcomes. Passing prototype tests cannot establish exhaustive proposal quality.</a:t>
            </a:r>
          </a:p>
        </p:txBody>
      </p:sp>
    </p:spTree>
    <p:extLst>
      <p:ext uri="{BB962C8B-B14F-4D97-AF65-F5344CB8AC3E}">
        <p14:creationId xmlns:p14="http://schemas.microsoft.com/office/powerpoint/2010/main" val="20842043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B3A5B7C-28FD-47E0-98D2-DDBFB4960E09}"/>
              </a:ext>
            </a:extLst>
          </p:cNvPr>
          <p:cNvSpPr>
            <a:spLocks xmlns:a="http://schemas.openxmlformats.org/drawingml/2006/main" noGrp="1"/>
          </p:cNvSpPr>
          <p:nvPr/>
        </p:nvSpPr>
        <p:spPr>
          <a:xfrm xmlns:a="http://schemas.openxmlformats.org/drawingml/2006/main">
            <a:off x="609600" y="3333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3300" b="1">
                <a:solidFill>
                  <a:srgbClr val="213744"/>
                </a:solidFill>
                <a:latin typeface="Arial"/>
                <a:ea typeface="Arial"/>
                <a:cs typeface="Arial"/>
              </a:defRPr>
            </a:defPPr>
          </a:lstStyle>
          <a:p xmlns:a="http://schemas.openxmlformats.org/drawingml/2006/main">
            <a:pPr>
              <a:defRPr sz="3300" b="1">
                <a:solidFill>
                  <a:srgbClr val="213744"/>
                </a:solidFill>
                <a:latin typeface="Arial"/>
                <a:ea typeface="Arial"/>
                <a:cs typeface="Arial"/>
              </a:defRPr>
            </a:pPr>
            <a:r>
              <a:rPr sz="3300" b="1">
                <a:solidFill>
                  <a:srgbClr val="213744"/>
                </a:solidFill>
                <a:latin typeface="Arial"/>
                <a:ea typeface="Arial"/>
                <a:cs typeface="Arial"/>
              </a:rPr>
              <a:t>Review choices and fresh evidence</a:t>
            </a:r>
          </a:p>
        </p:txBody>
      </p:sp>
      <p:graphicFrame>
        <p:nvGraphicFramePr>
          <p:cNvPr id="2" name="">
            <a:extLst xmlns:a="http://schemas.openxmlformats.org/drawingml/2006/main">
              <a:ext uri="{FF2B5EF4-FFF2-40B4-BE49-F238E27FC236}">
                <a16:creationId xmlns:a16="http://schemas.microsoft.com/office/drawing/2014/main" id="{6ACE114D-3035-476D-B08A-A65724389764}"/>
              </a:ext>
            </a:extLst>
          </p:cNvPr>
          <p:cNvGraphicFramePr/>
          <p:nvPr/>
        </p:nvGraphicFramePr>
        <p:xfrm>
          <a:off xmlns:a="http://schemas.openxmlformats.org/drawingml/2006/main" x="609600" y="1495425"/>
          <a:ext xmlns:a="http://schemas.openxmlformats.org/drawingml/2006/main" cx="10972800" cy="3257550"/>
        </p:xfrm>
        <a:graphic xmlns:a="http://schemas.openxmlformats.org/drawingml/2006/main">
          <a:graphicData uri="http://schemas.openxmlformats.org/drawingml/2006/table">
            <a:tbl>
              <a:tblPr/>
              <a:tblGrid>
                <a:gridCol w="3762375"/>
                <a:gridCol w="7210425"/>
              </a:tblGrid>
              <a:tr h="651510">
                <a:tc>
                  <a:txBody>
                    <a:bodyPr>
                      <a:noAutofit/>
                    </a:bodyPr>
                    <a:lstStyle/>
                    <a:p>
                      <a:r>
                        <a:rPr sz="2025" b="1">
                          <a:solidFill>
                            <a:srgbClr val="FFFFFF"/>
                          </a:solidFill>
                          <a:latin typeface="Arial"/>
                          <a:ea typeface="Arial"/>
                          <a:cs typeface="Arial"/>
                        </a:rPr>
                        <a:t>Evidence</a:t>
                      </a:r>
                    </a:p>
                  </a:txBody>
                  <a:tcPr marL="114300" marR="114300" marT="76200" marB="76200">
                    <a:solidFill>
                      <a:srgbClr val="213744"/>
                    </a:solidFill>
                  </a:tcPr>
                </a:tc>
                <a:tc>
                  <a:txBody>
                    <a:bodyPr>
                      <a:noAutofit/>
                    </a:bodyPr>
                    <a:lstStyle/>
                    <a:p>
                      <a:r>
                        <a:rPr sz="2025" b="1">
                          <a:solidFill>
                            <a:srgbClr val="FFFFFF"/>
                          </a:solidFill>
                          <a:latin typeface="Arial"/>
                          <a:ea typeface="Arial"/>
                          <a:cs typeface="Arial"/>
                        </a:rPr>
                        <a:t>Result</a:t>
                      </a:r>
                    </a:p>
                  </a:txBody>
                  <a:tcPr marL="114300" marR="114300" marT="76200" marB="76200">
                    <a:solidFill>
                      <a:srgbClr val="213744"/>
                    </a:solidFill>
                  </a:tcPr>
                </a:tc>
              </a:tr>
              <a:tr h="651510">
                <a:tc>
                  <a:txBody>
                    <a:bodyPr>
                      <a:noAutofit/>
                    </a:bodyPr>
                    <a:lstStyle/>
                    <a:p>
                      <a:r>
                        <a:rPr sz="2025" b="0">
                          <a:solidFill>
                            <a:srgbClr val="213744"/>
                          </a:solidFill>
                          <a:latin typeface="Arial"/>
                          <a:ea typeface="Arial"/>
                          <a:cs typeface="Arial"/>
                        </a:rPr>
                        <a:t>Contract tests</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113 passed</a:t>
                      </a:r>
                    </a:p>
                  </a:txBody>
                  <a:tcPr marL="114300" marR="114300" marT="76200" marB="76200">
                    <a:solidFill>
                      <a:srgbClr val="FFFFFF"/>
                    </a:solidFill>
                  </a:tcPr>
                </a:tc>
              </a:tr>
              <a:tr h="651510">
                <a:tc>
                  <a:txBody>
                    <a:bodyPr>
                      <a:noAutofit/>
                    </a:bodyPr>
                    <a:lstStyle/>
                    <a:p>
                      <a:r>
                        <a:rPr sz="2025" b="0">
                          <a:solidFill>
                            <a:srgbClr val="213744"/>
                          </a:solidFill>
                          <a:latin typeface="Arial"/>
                          <a:ea typeface="Arial"/>
                          <a:cs typeface="Arial"/>
                        </a:rPr>
                        <a:t>Coordinates compared per reader</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213,243</a:t>
                      </a:r>
                    </a:p>
                  </a:txBody>
                  <a:tcPr marL="114300" marR="114300" marT="76200" marB="76200">
                    <a:solidFill>
                      <a:srgbClr val="FFFFFF"/>
                    </a:solidFill>
                  </a:tcPr>
                </a:tc>
              </a:tr>
              <a:tr h="651510">
                <a:tc>
                  <a:txBody>
                    <a:bodyPr>
                      <a:noAutofit/>
                    </a:bodyPr>
                    <a:lstStyle/>
                    <a:p>
                      <a:r>
                        <a:rPr sz="2025" b="0">
                          <a:solidFill>
                            <a:srgbClr val="213744"/>
                          </a:solidFill>
                          <a:latin typeface="Arial"/>
                          <a:ea typeface="Arial"/>
                          <a:cs typeface="Arial"/>
                        </a:rPr>
                        <a:t>Prior cases</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No unexpected numerical regression</a:t>
                      </a:r>
                    </a:p>
                  </a:txBody>
                  <a:tcPr marL="114300" marR="114300" marT="76200" marB="76200">
                    <a:solidFill>
                      <a:srgbClr val="FFFFFF"/>
                    </a:solidFill>
                  </a:tcPr>
                </a:tc>
              </a:tr>
              <a:tr h="651510">
                <a:tc>
                  <a:txBody>
                    <a:bodyPr>
                      <a:noAutofit/>
                    </a:bodyPr>
                    <a:lstStyle/>
                    <a:p>
                      <a:r>
                        <a:rPr sz="2025" b="0">
                          <a:solidFill>
                            <a:srgbClr val="213744"/>
                          </a:solidFill>
                          <a:latin typeface="Arial"/>
                          <a:ea typeface="Arial"/>
                          <a:cs typeface="Arial"/>
                        </a:rPr>
                        <a:t>Omniverse writeback</a:t>
                      </a:r>
                    </a:p>
                  </a:txBody>
                  <a:tcPr marL="114300" marR="114300" marT="76200" marB="76200">
                    <a:solidFill>
                      <a:srgbClr val="FFFFFF"/>
                    </a:solidFill>
                  </a:tcPr>
                </a:tc>
                <a:tc>
                  <a:txBody>
                    <a:bodyPr>
                      <a:noAutofit/>
                    </a:bodyPr>
                    <a:lstStyle/>
                    <a:p>
                      <a:r>
                        <a:rPr sz="2025" b="0">
                          <a:solidFill>
                            <a:srgbClr val="213744"/>
                          </a:solidFill>
                          <a:latin typeface="Arial"/>
                          <a:ea typeface="Arial"/>
                          <a:cs typeface="Arial"/>
                        </a:rPr>
                        <a:t>177,872 vertices and 48 edit checks</a:t>
                      </a:r>
                    </a:p>
                  </a:txBody>
                  <a:tcPr marL="114300" marR="114300" marT="76200" marB="7620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AC9AA7B3-61C7-48CF-8D38-F1DC31B15257}"/>
              </a:ext>
            </a:extLst>
          </p:cNvPr>
          <p:cNvSpPr>
            <a:spLocks xmlns:a="http://schemas.openxmlformats.org/drawingml/2006/main" noGrp="1"/>
          </p:cNvSpPr>
          <p:nvPr/>
        </p:nvSpPr>
        <p:spPr>
          <a:xfrm xmlns:a="http://schemas.openxmlformats.org/drawingml/2006/main">
            <a:off x="609600" y="5076825"/>
            <a:ext cx="109728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defRPr sz="2175" b="0">
                <a:solidFill>
                  <a:srgbClr val="157C87"/>
                </a:solidFill>
                <a:latin typeface="Arial"/>
                <a:ea typeface="Arial"/>
                <a:cs typeface="Arial"/>
              </a:defRPr>
            </a:defPPr>
          </a:lstStyle>
          <a:p xmlns:a="http://schemas.openxmlformats.org/drawingml/2006/main">
            <a:pPr>
              <a:defRPr sz="2175" b="0">
                <a:solidFill>
                  <a:srgbClr val="157C87"/>
                </a:solidFill>
                <a:latin typeface="Arial"/>
                <a:ea typeface="Arial"/>
                <a:cs typeface="Arial"/>
              </a:defRPr>
            </a:pPr>
            <a:r>
              <a:rPr sz="2175" b="0">
                <a:solidFill>
                  <a:srgbClr val="157C87"/>
                </a:solidFill>
                <a:latin typeface="Arial"/>
                <a:ea typeface="Arial"/>
                <a:cs typeface="Arial"/>
              </a:rPr>
              <a:t>Review instance transport, Cartesian adjustment context and the publishing-profile contract. HPR, the half-turn policy and comparison conventions remain proposed.</a:t>
            </a:r>
          </a:p>
        </p:txBody>
      </p:sp>
    </p:spTree>
    <p:extLst>
      <p:ext uri="{BB962C8B-B14F-4D97-AF65-F5344CB8AC3E}">
        <p14:creationId xmlns:p14="http://schemas.microsoft.com/office/powerpoint/2010/main" val="11899028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2026-10-09T02:20:45.1270000Z</dcterms:created>
  <dcterms:modified xsi:type="dcterms:W3CDTF">2026-10-09T02:20:45.1270000Z</dcterms:modified>
</coreProperties>
</file>