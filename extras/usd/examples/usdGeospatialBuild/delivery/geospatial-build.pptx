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be3c3b3c5047b3" /><Relationship Type="http://schemas.openxmlformats.org/officeDocument/2006/relationships/extended-properties" Target="/docProps/app.xml" Id="Rc6e0dcf1bdd04c46" /><Relationship Type="http://schemas.openxmlformats.org/officeDocument/2006/relationships/officeDocument" Target="/ppt/presentation.xml" Id="R01ce209f8e524de3" /></Relationships>
</file>

<file path=ppt/presentation.xml><?xml version="1.0" encoding="utf-8"?>
<p:presentation xmlns:p="http://schemas.openxmlformats.org/presentationml/2006/main">
  <p:sldMasterIdLst>
    <p:sldMasterId xmlns:r="http://schemas.openxmlformats.org/officeDocument/2006/relationships" id="2147483648" r:id="R1dd0eece0c7846f5"/>
  </p:sldMasterIdLst>
  <p:notesMasterIdLst>
    <p:notesMasterId xmlns:r="http://schemas.openxmlformats.org/officeDocument/2006/relationships" r:id="Rd0787b643d004cc3"/>
  </p:notesMasterIdLst>
  <p:sldIdLst>
    <p:sldId xmlns:r="http://schemas.openxmlformats.org/officeDocument/2006/relationships" id="256" r:id="Rc6f66e6d36054b89"/>
    <p:sldId xmlns:r="http://schemas.openxmlformats.org/officeDocument/2006/relationships" id="257" r:id="R22c475efa875491e"/>
    <p:sldId xmlns:r="http://schemas.openxmlformats.org/officeDocument/2006/relationships" id="258" r:id="Rd7ec1ece282f4808"/>
    <p:sldId xmlns:r="http://schemas.openxmlformats.org/officeDocument/2006/relationships" id="259" r:id="R8cd7d225c56e4713"/>
    <p:sldId xmlns:r="http://schemas.openxmlformats.org/officeDocument/2006/relationships" id="260" r:id="R39f2e07d80964dea"/>
    <p:sldId xmlns:r="http://schemas.openxmlformats.org/officeDocument/2006/relationships" id="261" r:id="R86354ad13d81458d"/>
    <p:sldId xmlns:r="http://schemas.openxmlformats.org/officeDocument/2006/relationships" id="262" r:id="Rc1e0844b6d9747e1"/>
    <p:sldId xmlns:r="http://schemas.openxmlformats.org/officeDocument/2006/relationships" id="263" r:id="R38a2cf3ef80c4f4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5ebc20c3f2e4e5c" /><Relationship Type="http://schemas.openxmlformats.org/officeDocument/2006/relationships/slideMaster" Target="/ppt/slideMasters/slideMaster1.xml" Id="R1dd0eece0c7846f5" /><Relationship Type="http://schemas.openxmlformats.org/officeDocument/2006/relationships/notesMaster" Target="/ppt/notesMasters/notesMaster1.xml" Id="Rd0787b643d004cc3" /><Relationship Type="http://schemas.openxmlformats.org/officeDocument/2006/relationships/presProps" Target="/ppt/presProps.xml" Id="R754bb692842142a9" /><Relationship Type="http://schemas.openxmlformats.org/officeDocument/2006/relationships/tableStyles" Target="/ppt/tableStyles.xml" Id="R5a5d115bcd914aef" /><Relationship Type="http://schemas.openxmlformats.org/officeDocument/2006/relationships/slide" Target="/ppt/slides/slide1.xml" Id="Rc6f66e6d36054b89" /><Relationship Type="http://schemas.openxmlformats.org/officeDocument/2006/relationships/slide" Target="/ppt/slides/slide2.xml" Id="R22c475efa875491e" /><Relationship Type="http://schemas.openxmlformats.org/officeDocument/2006/relationships/slide" Target="/ppt/slides/slide3.xml" Id="Rd7ec1ece282f4808" /><Relationship Type="http://schemas.openxmlformats.org/officeDocument/2006/relationships/slide" Target="/ppt/slides/slide4.xml" Id="R8cd7d225c56e4713" /><Relationship Type="http://schemas.openxmlformats.org/officeDocument/2006/relationships/slide" Target="/ppt/slides/slide5.xml" Id="R39f2e07d80964dea" /><Relationship Type="http://schemas.openxmlformats.org/officeDocument/2006/relationships/slide" Target="/ppt/slides/slide6.xml" Id="R86354ad13d81458d" /><Relationship Type="http://schemas.openxmlformats.org/officeDocument/2006/relationships/slide" Target="/ppt/slides/slide7.xml" Id="Rc1e0844b6d9747e1" /><Relationship Type="http://schemas.openxmlformats.org/officeDocument/2006/relationships/slide" Target="/ppt/slides/slide8.xml" Id="R38a2cf3ef80c4f4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9f11c91e514d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f6676222e94a48" /><Relationship Type="http://schemas.openxmlformats.org/officeDocument/2006/relationships/notesMaster" Target="/ppt/notesMasters/notesMaster1.xml" Id="R841e4046366740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7633b3d92d41c4" /><Relationship Type="http://schemas.openxmlformats.org/officeDocument/2006/relationships/notesMaster" Target="/ppt/notesMasters/notesMaster1.xml" Id="Rb0bcf6d5f09d42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92574faf6e49f9" /><Relationship Type="http://schemas.openxmlformats.org/officeDocument/2006/relationships/notesMaster" Target="/ppt/notesMasters/notesMaster1.xml" Id="R07ecd1b1c82b4f40"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421207b2e2445f" /><Relationship Type="http://schemas.openxmlformats.org/officeDocument/2006/relationships/notesMaster" Target="/ppt/notesMasters/notesMaster1.xml" Id="R01246900c35349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38e1e655fa5480b" /><Relationship Type="http://schemas.openxmlformats.org/officeDocument/2006/relationships/notesMaster" Target="/ppt/notesMasters/notesMaster1.xml" Id="Rc7188d91b60a45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071ac2ff6294ab3" /><Relationship Type="http://schemas.openxmlformats.org/officeDocument/2006/relationships/notesMaster" Target="/ppt/notesMasters/notesMaster1.xml" Id="Rda7472a3a2d749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b8fd3c0f2c6448f" /><Relationship Type="http://schemas.openxmlformats.org/officeDocument/2006/relationships/notesMaster" Target="/ppt/notesMasters/notesMaster1.xml" Id="Rf70b6a034c1845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087854d8314f51" /><Relationship Type="http://schemas.openxmlformats.org/officeDocument/2006/relationships/notesMaster" Target="/ppt/notesMasters/notesMaster1.xml" Id="R5cfcb78e7b1a4b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Opening</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Four contracts still block complete model placement. The local candidate supplies concrete answers for five former gaps.</a:t>
            </a:r>
          </a:p>
          <a:p xmlns:a="http://schemas.openxmlformats.org/drawingml/2006/main">
            <a:r>
              <a:t/>
            </a:r>
          </a:p>
          <a:p xmlns:a="http://schemas.openxmlformats.org/drawingml/2006/main">
            <a:r>
              <a:t>64 tests passed. 37 cases and 168 queries per reader, with source data unchanged.</a:t>
            </a:r>
          </a:p>
          <a:p xmlns:a="http://schemas.openxmlformats.org/drawingml/2006/main">
            <a:r>
              <a:t/>
            </a:r>
          </a:p>
          <a:p xmlns:a="http://schemas.openxmlformats.org/drawingml/2006/main">
            <a:r>
              <a:t>Headless OpenUSD, native OpenUSD and live OV resolve direct anchor origins. Full model placement remains stopped.</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Concrete candidate answers</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Reference-based binding, ordinary transforms after CRS placement, source preservation and writer-authored unit/up-axis conformance retain their existing direction. Coordinate epochs remain roadmap work. No private epoch, coordinate-role relationship or dependency flag is introduced.</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Four contracts still required</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Question 9 separately concerns geographic scene geometry, frames and bounds. Geographic coordinate queries already belong to initial scope. The candidate closes former field-definition, lexical-normalization, result-comparison, sampling-record and 2D-illustration gaps for this derivation. Adoption review is separate from derivability.</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WKT string normalization evidence</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The 24 WKT tests use hand-specified lexical expectations. Padding, keyword case, preferred aliases, delimiters and exponent spelling converge. Quoted spaces, escaped quotes, metadata and frame epochs survive. The decimal **6378137.12345678912345** survives exactly. A PROJ writer round trip is a negative preservation control because it rounds that value.</a:t>
            </a:r>
          </a:p>
          <a:p xmlns:a="http://schemas.openxmlformats.org/drawingml/2006/main">
            <a:r>
              <a:t/>
            </a:r>
          </a:p>
          <a:p xmlns:a="http://schemas.openxmlformats.org/drawingml/2006/main">
            <a:r>
              <a:t>Different CRS names remain different tokens even when an engine establishes equivalent coordinate meaning. Fixed-point validation rejects non-normalized authored text. Coordinate-epoch wrappers and unknown syntax fail explicitly. Context-dependent legacy UNIT aliases are unsupported, and one strict parser is not proof of all OGC grammar coverage. Normalization and complete scene validation are separate claims.</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Executed reader coverage</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Composition controls cover references, stronger layers, variants, class inheritance, equivalent composed data, independent binding and unavailable unloaded content. Source controls cover requiredness, blocks, types, variability, finite values, singular signed scale, defaults, held/linear interpolation and quaternion slerp. Longitude 179 to -179 interpolates to zero without invented unwrapping.</a:t>
            </a:r>
          </a:p>
          <a:p xmlns:a="http://schemas.openxmlformats.org/drawingml/2006/main">
            <a:r>
              <a:t/>
            </a:r>
          </a:p>
          <a:p xmlns:a="http://schemas.openxmlformats.org/drawingml/2006/main">
            <a:r>
              <a:t>Origin controls accept only directly bound top-level anchors without ordinary adjustments or geometry offsets. They cover France projections, Colorado site calibration, source-first geographic-to-ECEF conversion and defaultPrim output selection. Nested/descendant frame requests and ordinary adjustments stop while dependent model contracts are missing. Invalid latitude and absent default output fail without a substitute.</a:t>
            </a:r>
          </a:p>
          <a:p xmlns:a="http://schemas.openxmlformats.org/drawingml/2006/main">
            <a:r>
              <a:t/>
            </a:r>
          </a:p>
          <a:p xmlns:a="http://schemas.openxmlformats.org/drawingml/2006/main">
            <a:r>
              <a:t>Provider CSVs are PROJ-generated intake/rounding references, not survey truth. All readers use PROJ: native 9.4.1, headless and OV 9.8.1. Matching pipeline tokens are checked before comparing these results. Cases meet a predeclared 2 mm reference distance; analytic equatorial ECEF cases meet a separate 20 nm computational allowance. Neither threshold is geodetic accuracy. The geographic identity query is checked component-for-component in its declared units, without an angle-as-length metric.</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Same France origin in each runtime</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France point 0 serves as an illustrative model-anchor origin. Source: RGF93 v2b / CC49 with NGF-IGN69 height. Output: Lambert-93 with the same height reference. Every displayed component is in metres.</a:t>
            </a:r>
          </a:p>
          <a:p xmlns:a="http://schemas.openxmlformats.org/drawingml/2006/main">
            <a:r>
              <a:t/>
            </a:r>
          </a:p>
          <a:p xmlns:a="http://schemas.openxmlformats.org/drawingml/2006/main">
            <a:r>
              <a:t>All 59 origins are checked in both directions. Source values and definitions remain unchanged. This resolves coordinates only and supplies no measurement-coordinate carrier or Hydra/OV geometry ingestion. Unchanged height in this pair does not test a vertical-datum conversion.</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Source interpolation and the sampling record</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A WGS84 anchor moves from longitude -1 degree to +1 degree on the equator at zero height. At time 5, Core linear source interpolation yields longitude zero before ECEF conversion. Each reader returns X = 6378137 m, Y = 0 m, Z = 0 m.</a:t>
            </a:r>
          </a:p>
          <a:p xmlns:a="http://schemas.openxmlformats.org/drawingml/2006/main">
            <a:r>
              <a:t/>
            </a:r>
          </a:p>
          <a:p xmlns:a="http://schemas.openxmlformats.org/drawingml/2006/main">
            <a:r>
              <a:t>Interpolating only the converted endpoints instead puts the midpoint **971.421158 m** away. A standalone USD coordinate record writes sample keys 0, 5 and 10 with explicit timeCodesPerSecond = 48; a fresh reader verifies both. This is a sampling-record control, not a resolved-scene export or a guarantee between export samples.</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README section: Postimplementation audit and delivery boundary</a:t>
            </a:r>
          </a:p>
          <a:p xmlns:a="http://schemas.openxmlformats.org/drawingml/2006/main">
            <a:r>
              <a:t>README SHA-256: a6550b6c7f648584c331248ac1f10e122034e919e9e160ea2c58fc571e2ae9b5</a:t>
            </a:r>
          </a:p>
          <a:p xmlns:a="http://schemas.openxmlformats.org/drawingml/2006/main">
            <a:r>
              <a:t>Execution receipt SHA-256: 0bd771677c2dccde1727cb9e53d93fcbb3e4b8b0cd3a99fc963f40e2b32dea7a</a:t>
            </a:r>
          </a:p>
          <a:p xmlns:a="http://schemas.openxmlformats.org/drawingml/2006/main">
            <a:r>
              <a:t>Executed source: 6d8323764ad44953887cac9781375b7c7176e928</a:t>
            </a:r>
          </a:p>
          <a:p xmlns:a="http://schemas.openxmlformats.org/drawingml/2006/main">
            <a:r>
              <a:t/>
            </a:r>
          </a:p>
          <a:p xmlns:a="http://schemas.openxmlformats.org/drawingml/2006/main">
            <a:r>
              <a:t>The audit tightened the partial origin adapter to reject nested/descendant frame requests rather than applying an incomplete model. It also corrected geographic identity reporting to use exact component comparison instead of a length metric. These repairs change consumer support/reporting, add no scene fact and do not amend the proposal to match code. Source fixtures author only crs:wkt and the three candidate placement fields. Resolution rewrites no source xformOps, resetXformStack, definitions, bindings or sampling keys.</a:t>
            </a:r>
          </a:p>
          <a:p xmlns:a="http://schemas.openxmlformats.org/drawingml/2006/main">
            <a:r>
              <a:t/>
            </a:r>
          </a:p>
          <a:p xmlns:a="http://schemas.openxmlformats.org/drawingml/2006/main">
            <a:r>
              <a:t>Full model frames, project-adjusted placement, geometry and bounds, Hydra/OV resolved geometry, measurement-associated data and conservative resolved-scene export depend on the four missing contracts. These partial tests do not certify near-unit quaternion validation policy or geographic-distance controls. Group adoption and geodetic accuracy remain distinct from passing execution.</a:t>
            </a:r>
          </a:p>
          <a:p xmlns:a="http://schemas.openxmlformats.org/drawingml/2006/main">
            <a:r>
              <a:t/>
            </a:r>
          </a:p>
          <a:p xmlns:a="http://schemas.openxmlformats.org/drawingml/2006/main">
            <a:r>
              <a:t>Candidate choices are under review. Partial controls do not certify full placement or geodetic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d505c576174a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722f41997146cd" /><Relationship Type="http://schemas.openxmlformats.org/officeDocument/2006/relationships/slideLayout" Target="/ppt/slideLayouts/slideLayout1.xml" Id="Rcd37ab972c5c43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37ab972c5c43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a753a6d46b4441f" /><Relationship Type="http://schemas.openxmlformats.org/officeDocument/2006/relationships/notesSlide" Target="/ppt/notesSlides/notesSlide1.xml" Id="R3067a9ca85ed4b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62712113708411b" /><Relationship Type="http://schemas.openxmlformats.org/officeDocument/2006/relationships/notesSlide" Target="/ppt/notesSlides/notesSlide2.xml" Id="R71e9f7e4592447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7b81f913702467d" /><Relationship Type="http://schemas.openxmlformats.org/officeDocument/2006/relationships/notesSlide" Target="/ppt/notesSlides/notesSlide3.xml" Id="R932e128a60554e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fa4a18a05ed4470" /><Relationship Type="http://schemas.openxmlformats.org/officeDocument/2006/relationships/notesSlide" Target="/ppt/notesSlides/notesSlide4.xml" Id="Rc1b343cbc4624cb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08a914b7d8a4ffa" /><Relationship Type="http://schemas.openxmlformats.org/officeDocument/2006/relationships/notesSlide" Target="/ppt/notesSlides/notesSlide5.xml" Id="R1ba8c177569c4f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cb89f8b1004495e" /><Relationship Type="http://schemas.openxmlformats.org/officeDocument/2006/relationships/notesSlide" Target="/ppt/notesSlides/notesSlide6.xml" Id="Ra95178d3d0a6438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8b07c92d41d4695" /><Relationship Type="http://schemas.openxmlformats.org/officeDocument/2006/relationships/notesSlide" Target="/ppt/notesSlides/notesSlide7.xml" Id="Rb2fd381fcb4d4c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5f70954c3304176" /><Relationship Type="http://schemas.openxmlformats.org/officeDocument/2006/relationships/notesSlide" Target="/ppt/notesSlides/notesSlide8.xml" Id="R1425ae59eb55488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38AC88D-572C-4E6C-86E0-D89B446D12AE}"/>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Geospatial proposal readiness</a:t>
            </a:r>
          </a:p>
        </p:txBody>
      </p:sp>
      <p:sp>
        <p:nvSpPr>
          <p:cNvPr id="2" name="">
            <a:extLst xmlns:a="http://schemas.openxmlformats.org/drawingml/2006/main">
              <a:ext uri="{FF2B5EF4-FFF2-40B4-BE49-F238E27FC236}">
                <a16:creationId xmlns:a16="http://schemas.microsoft.com/office/drawing/2014/main" id="{D533467E-C677-4F07-A7E7-7EED90D02341}"/>
              </a:ext>
            </a:extLst>
          </p:cNvPr>
          <p:cNvSpPr>
            <a:spLocks xmlns:a="http://schemas.openxmlformats.org/drawingml/2006/main" noGrp="1"/>
          </p:cNvSpPr>
          <p:nvPr/>
        </p:nvSpPr>
        <p:spPr>
          <a:xfrm xmlns:a="http://schemas.openxmlformats.org/drawingml/2006/main">
            <a:off x="609600" y="1676400"/>
            <a:ext cx="109728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233542"/>
                </a:solidFill>
                <a:latin typeface="Arial"/>
                <a:ea typeface="Arial"/>
                <a:cs typeface="Arial"/>
              </a:defRPr>
            </a:pPr>
            <a:r>
              <a:rPr sz="2850" b="1">
                <a:solidFill>
                  <a:srgbClr val="233542"/>
                </a:solidFill>
                <a:latin typeface="Arial"/>
                <a:ea typeface="Arial"/>
                <a:cs typeface="Arial"/>
              </a:rPr>
              <a:t>Four contracts still block complete model placement. The local candidate supplies concrete answers for five former gaps.</a:t>
            </a:r>
          </a:p>
        </p:txBody>
      </p:sp>
      <p:sp>
        <p:nvSpPr>
          <p:cNvPr id="3" name="">
            <a:extLst xmlns:a="http://schemas.openxmlformats.org/drawingml/2006/main">
              <a:ext uri="{FF2B5EF4-FFF2-40B4-BE49-F238E27FC236}">
                <a16:creationId xmlns:a16="http://schemas.microsoft.com/office/drawing/2014/main" id="{CF0156A7-D787-4474-93EA-A542BEB4FAAC}"/>
              </a:ext>
            </a:extLst>
          </p:cNvPr>
          <p:cNvSpPr>
            <a:spLocks xmlns:a="http://schemas.openxmlformats.org/drawingml/2006/main" noGrp="1"/>
          </p:cNvSpPr>
          <p:nvPr/>
        </p:nvSpPr>
        <p:spPr>
          <a:xfrm xmlns:a="http://schemas.openxmlformats.org/drawingml/2006/main">
            <a:off x="609600" y="36195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17E89"/>
                </a:solidFill>
                <a:latin typeface="Arial"/>
                <a:ea typeface="Arial"/>
                <a:cs typeface="Arial"/>
              </a:defRPr>
            </a:pPr>
            <a:r>
              <a:rPr sz="2325" b="0">
                <a:solidFill>
                  <a:srgbClr val="117E89"/>
                </a:solidFill>
                <a:latin typeface="Arial"/>
                <a:ea typeface="Arial"/>
                <a:cs typeface="Arial"/>
              </a:rPr>
              <a:t>64 tests passed. 37 cases and 168 queries per reader, with source data unchanged.</a:t>
            </a:r>
          </a:p>
        </p:txBody>
      </p:sp>
      <p:sp>
        <p:nvSpPr>
          <p:cNvPr id="4" name="">
            <a:extLst xmlns:a="http://schemas.openxmlformats.org/drawingml/2006/main">
              <a:ext uri="{FF2B5EF4-FFF2-40B4-BE49-F238E27FC236}">
                <a16:creationId xmlns:a16="http://schemas.microsoft.com/office/drawing/2014/main" id="{E48B182B-B3A5-4F52-A078-F6DD2E4A59CC}"/>
              </a:ext>
            </a:extLst>
          </p:cNvPr>
          <p:cNvSpPr>
            <a:spLocks xmlns:a="http://schemas.openxmlformats.org/drawingml/2006/main" noGrp="1"/>
          </p:cNvSpPr>
          <p:nvPr/>
        </p:nvSpPr>
        <p:spPr>
          <a:xfrm xmlns:a="http://schemas.openxmlformats.org/drawingml/2006/main">
            <a:off x="609600" y="52387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3542"/>
                </a:solidFill>
                <a:latin typeface="Arial"/>
                <a:ea typeface="Arial"/>
                <a:cs typeface="Arial"/>
              </a:defRPr>
            </a:pPr>
            <a:r>
              <a:rPr sz="2100" b="0">
                <a:solidFill>
                  <a:srgbClr val="233542"/>
                </a:solidFill>
                <a:latin typeface="Arial"/>
                <a:ea typeface="Arial"/>
                <a:cs typeface="Arial"/>
              </a:rPr>
              <a:t>Headless OpenUSD, native OpenUSD and live OV resolve direct anchor origins. Full model placement remains stopped.</a:t>
            </a:r>
          </a:p>
        </p:txBody>
      </p:sp>
    </p:spTree>
    <p:extLst>
      <p:ext uri="{BB962C8B-B14F-4D97-AF65-F5344CB8AC3E}">
        <p14:creationId xmlns:p14="http://schemas.microsoft.com/office/powerpoint/2010/main" val="10990067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EC1F7C91-5F22-4E40-8F34-43D506E7EE5C}"/>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Concrete candidate answers</a:t>
            </a:r>
          </a:p>
        </p:txBody>
      </p:sp>
      <p:graphicFrame>
        <p:nvGraphicFramePr>
          <p:cNvPr id="4" name=""/>
          <p:cNvGraphicFramePr/>
          <p:nvPr/>
        </p:nvGraphicFramePr>
        <p:xfrm>
          <a:off xmlns:a="http://schemas.openxmlformats.org/drawingml/2006/main" x="609600" y="1428750"/>
          <a:ext xmlns:a="http://schemas.openxmlformats.org/drawingml/2006/main" cx="10972800" cy="4762500"/>
        </p:xfrm>
        <a:graphic xmlns:a="http://schemas.openxmlformats.org/drawingml/2006/main">
          <a:graphicData uri="http://schemas.openxmlformats.org/drawingml/2006/table">
            <a:tbl>
              <a:tblPr/>
              <a:tblGrid>
                <a:gridCol w="2647950"/>
                <a:gridCol w="8324850"/>
              </a:tblGrid>
              <a:tr h="793750">
                <a:tc>
                  <a:txBody>
                    <a:bodyPr>
                      <a:noAutofit/>
                    </a:bodyPr>
                    <a:lstStyle/>
                    <a:p>
                      <a:r>
                        <a:rPr sz="1725" b="1">
                          <a:solidFill>
                            <a:srgbClr val="FFFFFF"/>
                          </a:solidFill>
                          <a:latin typeface="Arial"/>
                          <a:ea typeface="Arial"/>
                          <a:cs typeface="Arial"/>
                        </a:rPr>
                        <a:t>Subject</a:t>
                      </a:r>
                    </a:p>
                  </a:txBody>
                  <a:tcPr marL="91440" marR="91440" marT="45720" marB="45720">
                    <a:solidFill>
                      <a:srgbClr val="233542"/>
                    </a:solidFill>
                  </a:tcPr>
                </a:tc>
                <a:tc>
                  <a:txBody>
                    <a:bodyPr>
                      <a:noAutofit/>
                    </a:bodyPr>
                    <a:lstStyle/>
                    <a:p>
                      <a:r>
                        <a:rPr sz="1725" b="1">
                          <a:solidFill>
                            <a:srgbClr val="FFFFFF"/>
                          </a:solidFill>
                          <a:latin typeface="Arial"/>
                          <a:ea typeface="Arial"/>
                          <a:cs typeface="Arial"/>
                        </a:rPr>
                        <a:t>Proposed contract</a:t>
                      </a:r>
                    </a:p>
                  </a:txBody>
                  <a:tcPr marL="91440" marR="91440" marT="45720" marB="45720">
                    <a:solidFill>
                      <a:srgbClr val="233542"/>
                    </a:solidFill>
                  </a:tcPr>
                </a:tc>
              </a:tr>
              <a:tr h="793750">
                <a:tc>
                  <a:txBody>
                    <a:bodyPr>
                      <a:noAutofit/>
                    </a:bodyPr>
                    <a:lstStyle/>
                    <a:p>
                      <a:r>
                        <a:rPr sz="1725" b="0">
                          <a:solidFill>
                            <a:srgbClr val="233542"/>
                          </a:solidFill>
                          <a:latin typeface="Arial"/>
                          <a:ea typeface="Arial"/>
                          <a:cs typeface="Arial"/>
                        </a:rPr>
                        <a:t>Placement fields</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Varying crs:position double3 has no fallback. crs:orientation quatd defaults to identity. crs:scale double3 defaults to (1,1,1). Explicit blocks remain unavailable.</a:t>
                      </a:r>
                    </a:p>
                  </a:txBody>
                  <a:tcPr marL="91440" marR="91440" marT="45720" marB="45720">
                    <a:solidFill>
                      <a:srgbClr val="FFFFFF"/>
                    </a:solidFill>
                  </a:tcPr>
                </a:tc>
              </a:tr>
              <a:tr h="793750">
                <a:tc>
                  <a:txBody>
                    <a:bodyPr>
                      <a:noAutofit/>
                    </a:bodyPr>
                    <a:lstStyle/>
                    <a:p>
                      <a:r>
                        <a:rPr sz="1725" b="0">
                          <a:solidFill>
                            <a:srgbClr val="233542"/>
                          </a:solidFill>
                          <a:latin typeface="Arial"/>
                          <a:ea typeface="Arial"/>
                          <a:cs typeface="Arial"/>
                        </a:rPr>
                        <a:t>Coordinate components</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Easting/northing/up, longitude/latitude/height, or geocentric XYZ. Use declared WKT units and height reference. Scene upAxis does not relabel the tuple.</a:t>
                      </a:r>
                    </a:p>
                  </a:txBody>
                  <a:tcPr marL="91440" marR="91440" marT="45720" marB="45720">
                    <a:solidFill>
                      <a:srgbClr val="FFFFFF"/>
                    </a:solidFill>
                  </a:tcPr>
                </a:tc>
              </a:tr>
              <a:tr h="793750">
                <a:tc>
                  <a:txBody>
                    <a:bodyPr>
                      <a:noAutofit/>
                    </a:bodyPr>
                    <a:lstStyle/>
                    <a:p>
                      <a:r>
                        <a:rPr sz="1725" b="0">
                          <a:solidFill>
                            <a:srgbClr val="233542"/>
                          </a:solidFill>
                          <a:latin typeface="Arial"/>
                          <a:ea typeface="Arial"/>
                          <a:cs typeface="Arial"/>
                        </a:rPr>
                        <a:t>Orientation and scale</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Model scale precedes orientation. Source bases are projected grid axes, geographic geodetic ENU or geocentric XYZ. The stage-axis adapter still needs specification.</a:t>
                      </a:r>
                    </a:p>
                  </a:txBody>
                  <a:tcPr marL="91440" marR="91440" marT="45720" marB="45720">
                    <a:solidFill>
                      <a:srgbClr val="FFFFFF"/>
                    </a:solidFill>
                  </a:tcPr>
                </a:tc>
              </a:tr>
              <a:tr h="793750">
                <a:tc>
                  <a:txBody>
                    <a:bodyPr>
                      <a:noAutofit/>
                    </a:bodyPr>
                    <a:lstStyle/>
                    <a:p>
                      <a:r>
                        <a:rPr sz="1725" b="0">
                          <a:solidFill>
                            <a:srgbClr val="233542"/>
                          </a:solidFill>
                          <a:latin typeface="Arial"/>
                          <a:ea typeface="Arial"/>
                          <a:cs typeface="Arial"/>
                        </a:rPr>
                        <a:t>WKT string normalization</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OGC preferred spelling and delimiters, preserved quoted content and node order, W3C exact canonical decimal/integer spelling. Token identity differs from CRS equivalence.</a:t>
                      </a:r>
                    </a:p>
                  </a:txBody>
                  <a:tcPr marL="91440" marR="91440" marT="45720" marB="45720">
                    <a:solidFill>
                      <a:srgbClr val="FFFFFF"/>
                    </a:solidFill>
                  </a:tcPr>
                </a:tc>
              </a:tr>
              <a:tr h="793750">
                <a:tc>
                  <a:txBody>
                    <a:bodyPr>
                      <a:noAutofit/>
                    </a:bodyPr>
                    <a:lstStyle/>
                    <a:p>
                      <a:r>
                        <a:rPr sz="1725" b="0">
                          <a:solidFill>
                            <a:srgbClr val="233542"/>
                          </a:solidFill>
                          <a:latin typeface="Arial"/>
                          <a:ea typeface="Arial"/>
                          <a:cs typeface="Arial"/>
                        </a:rPr>
                        <a:t>Comparison and sampling</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Separate operation accuracy, approximation error and reader agreement. Actual timeSamples and explicit timeCodesPerSecond record the sampling schedule.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495353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3E1A522-0859-4D01-A90A-D6ACAB05A1CD}"/>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Four contracts still required</a:t>
            </a:r>
          </a:p>
        </p:txBody>
      </p:sp>
      <p:graphicFrame>
        <p:nvGraphicFramePr>
          <p:cNvPr id="5" name=""/>
          <p:cNvGraphicFramePr/>
          <p:nvPr/>
        </p:nvGraphicFramePr>
        <p:xfrm>
          <a:off xmlns:a="http://schemas.openxmlformats.org/drawingml/2006/main" x="609600" y="1428750"/>
          <a:ext xmlns:a="http://schemas.openxmlformats.org/drawingml/2006/main" cx="10972800" cy="4457700"/>
        </p:xfrm>
        <a:graphic xmlns:a="http://schemas.openxmlformats.org/drawingml/2006/main">
          <a:graphicData uri="http://schemas.openxmlformats.org/drawingml/2006/table">
            <a:tbl>
              <a:tblPr/>
              <a:tblGrid>
                <a:gridCol w="3286125"/>
                <a:gridCol w="7686675"/>
              </a:tblGrid>
              <a:tr h="891540">
                <a:tc>
                  <a:txBody>
                    <a:bodyPr>
                      <a:noAutofit/>
                    </a:bodyPr>
                    <a:lstStyle/>
                    <a:p>
                      <a:r>
                        <a:rPr sz="1800" b="1">
                          <a:solidFill>
                            <a:srgbClr val="FFFFFF"/>
                          </a:solidFill>
                          <a:latin typeface="Arial"/>
                          <a:ea typeface="Arial"/>
                          <a:cs typeface="Arial"/>
                        </a:rPr>
                        <a:t>Contract</a:t>
                      </a:r>
                    </a:p>
                  </a:txBody>
                  <a:tcPr marL="91440" marR="91440" marT="45720" marB="45720">
                    <a:solidFill>
                      <a:srgbClr val="233542"/>
                    </a:solidFill>
                  </a:tcPr>
                </a:tc>
                <a:tc>
                  <a:txBody>
                    <a:bodyPr>
                      <a:noAutofit/>
                    </a:bodyPr>
                    <a:lstStyle/>
                    <a:p>
                      <a:r>
                        <a:rPr sz="1800" b="1">
                          <a:solidFill>
                            <a:srgbClr val="FFFFFF"/>
                          </a:solidFill>
                          <a:latin typeface="Arial"/>
                          <a:ea typeface="Arial"/>
                          <a:cs typeface="Arial"/>
                        </a:rPr>
                        <a:t>What remains unspecified</a:t>
                      </a:r>
                    </a:p>
                  </a:txBody>
                  <a:tcPr marL="91440" marR="91440" marT="45720" marB="45720">
                    <a:solidFill>
                      <a:srgbClr val="233542"/>
                    </a:solidFill>
                  </a:tcPr>
                </a:tc>
              </a:tr>
              <a:tr h="891540">
                <a:tc>
                  <a:txBody>
                    <a:bodyPr>
                      <a:noAutofit/>
                    </a:bodyPr>
                    <a:lstStyle/>
                    <a:p>
                      <a:r>
                        <a:rPr sz="1800" b="0">
                          <a:solidFill>
                            <a:srgbClr val="233542"/>
                          </a:solidFill>
                          <a:latin typeface="Arial"/>
                          <a:ea typeface="Arial"/>
                          <a:cs typeface="Arial"/>
                        </a:rPr>
                        <a:t>G03 / Q3: project-adjustment frame</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Axes, units, pivot and controlling composed context for ordinary project adjustments, including nested bindings and output changes. Post-placement order is settled.</a:t>
                      </a:r>
                    </a:p>
                  </a:txBody>
                  <a:tcPr marL="91440" marR="91440" marT="45720" marB="45720">
                    <a:solidFill>
                      <a:srgbClr val="FFFFFF"/>
                    </a:solidFill>
                  </a:tcPr>
                </a:tc>
              </a:tr>
              <a:tr h="891540">
                <a:tc>
                  <a:txBody>
                    <a:bodyPr>
                      <a:noAutofit/>
                    </a:bodyPr>
                    <a:lstStyle/>
                    <a:p>
                      <a:r>
                        <a:rPr sz="1800" b="0">
                          <a:solidFill>
                            <a:srgbClr val="233542"/>
                          </a:solidFill>
                          <a:latin typeface="Arial"/>
                          <a:ea typeface="Arial"/>
                          <a:cs typeface="Arial"/>
                        </a:rPr>
                        <a:t>G04 / Q6: stage and placement bases</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Exact mapping between stage axes/distances, the proposed source placement bases and resolved result bases. Coordinate tuples do not supply that mapping.</a:t>
                      </a:r>
                    </a:p>
                  </a:txBody>
                  <a:tcPr marL="91440" marR="91440" marT="45720" marB="45720">
                    <a:solidFill>
                      <a:srgbClr val="FFFFFF"/>
                    </a:solidFill>
                  </a:tcPr>
                </a:tc>
              </a:tr>
              <a:tr h="891540">
                <a:tc>
                  <a:txBody>
                    <a:bodyPr>
                      <a:noAutofit/>
                    </a:bodyPr>
                    <a:lstStyle/>
                    <a:p>
                      <a:r>
                        <a:rPr sz="1800" b="0">
                          <a:solidFill>
                            <a:srgbClr val="233542"/>
                          </a:solidFill>
                          <a:latin typeface="Arial"/>
                          <a:ea typeface="Arial"/>
                          <a:cs typeface="Arial"/>
                        </a:rPr>
                        <a:t>G06 / Q11: measurement association</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Authored coordinate roles/domains for USD properties and external assets, including multiple domains and conflicting external CRS metadata.</a:t>
                      </a:r>
                    </a:p>
                  </a:txBody>
                  <a:tcPr marL="91440" marR="91440" marT="45720" marB="45720">
                    <a:solidFill>
                      <a:srgbClr val="FFFFFF"/>
                    </a:solidFill>
                  </a:tcPr>
                </a:tc>
              </a:tr>
              <a:tr h="891540">
                <a:tc>
                  <a:txBody>
                    <a:bodyPr>
                      <a:noAutofit/>
                    </a:bodyPr>
                    <a:lstStyle/>
                    <a:p>
                      <a:r>
                        <a:rPr sz="1800" b="0">
                          <a:solidFill>
                            <a:srgbClr val="233542"/>
                          </a:solidFill>
                          <a:latin typeface="Arial"/>
                          <a:ea typeface="Arial"/>
                          <a:cs typeface="Arial"/>
                        </a:rPr>
                        <a:t>G07 / Q12: dependency declaration</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Authored carrier and conservative assembly/export maintenance through references, unloaded payloads and composition, readable without traversal.</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EAE6F0EE-016A-47A5-A36E-EDCF3531F011}"/>
              </a:ext>
            </a:extLst>
          </p:cNvPr>
          <p:cNvSpPr>
            <a:spLocks xmlns:a="http://schemas.openxmlformats.org/drawingml/2006/main" noGrp="1"/>
          </p:cNvSpPr>
          <p:nvPr/>
        </p:nvSpPr>
        <p:spPr>
          <a:xfrm xmlns:a="http://schemas.openxmlformats.org/drawingml/2006/main">
            <a:off x="609600" y="61341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33542"/>
                </a:solidFill>
                <a:latin typeface="Arial"/>
                <a:ea typeface="Arial"/>
                <a:cs typeface="Arial"/>
              </a:defRPr>
            </a:pPr>
            <a:r>
              <a:rPr sz="1650" b="0">
                <a:solidFill>
                  <a:srgbClr val="233542"/>
                </a:solidFill>
                <a:latin typeface="Arial"/>
                <a:ea typeface="Arial"/>
                <a:cs typeface="Arial"/>
              </a:rPr>
              <a:t>Question 9 separately concerns geographic scene geometry, frames and bounds. Geographic coordinate queries already belong to initial scope.</a:t>
            </a:r>
          </a:p>
        </p:txBody>
      </p:sp>
    </p:spTree>
    <p:extLst>
      <p:ext uri="{BB962C8B-B14F-4D97-AF65-F5344CB8AC3E}">
        <p14:creationId xmlns:p14="http://schemas.microsoft.com/office/powerpoint/2010/main" val="8853621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A8BDE36-C783-44BB-9161-BF1CE088ECA8}"/>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WKT string normalization</a:t>
            </a:r>
          </a:p>
        </p:txBody>
      </p:sp>
      <p:sp>
        <p:nvSpPr>
          <p:cNvPr id="2" name="">
            <a:extLst xmlns:a="http://schemas.openxmlformats.org/drawingml/2006/main">
              <a:ext uri="{FF2B5EF4-FFF2-40B4-BE49-F238E27FC236}">
                <a16:creationId xmlns:a16="http://schemas.microsoft.com/office/drawing/2014/main" id="{8530EC61-A5B0-4739-A78B-9D3ADB1D8F37}"/>
              </a:ext>
            </a:extLst>
          </p:cNvPr>
          <p:cNvSpPr>
            <a:spLocks xmlns:a="http://schemas.openxmlformats.org/drawingml/2006/main" noGrp="1"/>
          </p:cNvSpPr>
          <p:nvPr/>
        </p:nvSpPr>
        <p:spPr>
          <a:xfrm xmlns:a="http://schemas.openxmlformats.org/drawingml/2006/main">
            <a:off x="609600" y="1466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3542"/>
                </a:solidFill>
                <a:latin typeface="Arial"/>
                <a:ea typeface="Arial"/>
                <a:cs typeface="Arial"/>
              </a:defRPr>
            </a:pPr>
            <a:r>
              <a:rPr sz="2100" b="0">
                <a:solidFill>
                  <a:srgbClr val="233542"/>
                </a:solidFill>
                <a:latin typeface="Arial"/>
                <a:ea typeface="Arial"/>
                <a:cs typeface="Arial"/>
              </a:rPr>
              <a:t>24 tests check lexical identity while preserving represented information.</a:t>
            </a:r>
          </a:p>
        </p:txBody>
      </p:sp>
      <p:graphicFrame>
        <p:nvGraphicFramePr>
          <p:cNvPr id="8" name=""/>
          <p:cNvGraphicFramePr/>
          <p:nvPr/>
        </p:nvGraphicFramePr>
        <p:xfrm>
          <a:off xmlns:a="http://schemas.openxmlformats.org/drawingml/2006/main" x="609600" y="2400300"/>
          <a:ext xmlns:a="http://schemas.openxmlformats.org/drawingml/2006/main" cx="10972800" cy="2667000"/>
        </p:xfrm>
        <a:graphic xmlns:a="http://schemas.openxmlformats.org/drawingml/2006/main">
          <a:graphicData uri="http://schemas.openxmlformats.org/drawingml/2006/table">
            <a:tbl>
              <a:tblPr/>
              <a:tblGrid>
                <a:gridCol w="2238375"/>
                <a:gridCol w="4362450"/>
                <a:gridCol w="4371975"/>
              </a:tblGrid>
              <a:tr h="666750">
                <a:tc>
                  <a:txBody>
                    <a:bodyPr>
                      <a:noAutofit/>
                    </a:bodyPr>
                    <a:lstStyle/>
                    <a:p>
                      <a:r>
                        <a:rPr sz="1725" b="1">
                          <a:solidFill>
                            <a:srgbClr val="FFFFFF"/>
                          </a:solidFill>
                          <a:latin typeface="Arial"/>
                          <a:ea typeface="Arial"/>
                          <a:cs typeface="Arial"/>
                        </a:rPr>
                        <a:t>WKT fragment</a:t>
                      </a:r>
                    </a:p>
                  </a:txBody>
                  <a:tcPr marL="91440" marR="91440" marT="45720" marB="45720">
                    <a:solidFill>
                      <a:srgbClr val="233542"/>
                    </a:solidFill>
                  </a:tcPr>
                </a:tc>
                <a:tc>
                  <a:txBody>
                    <a:bodyPr>
                      <a:noAutofit/>
                    </a:bodyPr>
                    <a:lstStyle/>
                    <a:p>
                      <a:r>
                        <a:rPr sz="1725" b="1">
                          <a:solidFill>
                            <a:srgbClr val="FFFFFF"/>
                          </a:solidFill>
                          <a:latin typeface="Arial"/>
                          <a:ea typeface="Arial"/>
                          <a:cs typeface="Arial"/>
                        </a:rPr>
                        <a:t>Before</a:t>
                      </a:r>
                    </a:p>
                  </a:txBody>
                  <a:tcPr marL="91440" marR="91440" marT="45720" marB="45720">
                    <a:solidFill>
                      <a:srgbClr val="233542"/>
                    </a:solidFill>
                  </a:tcPr>
                </a:tc>
                <a:tc>
                  <a:txBody>
                    <a:bodyPr>
                      <a:noAutofit/>
                    </a:bodyPr>
                    <a:lstStyle/>
                    <a:p>
                      <a:r>
                        <a:rPr sz="1725" b="1">
                          <a:solidFill>
                            <a:srgbClr val="FFFFFF"/>
                          </a:solidFill>
                          <a:latin typeface="Arial"/>
                          <a:ea typeface="Arial"/>
                          <a:cs typeface="Arial"/>
                        </a:rPr>
                        <a:t>Normalized</a:t>
                      </a:r>
                    </a:p>
                  </a:txBody>
                  <a:tcPr marL="91440" marR="91440" marT="45720" marB="45720">
                    <a:solidFill>
                      <a:srgbClr val="233542"/>
                    </a:solidFill>
                  </a:tcPr>
                </a:tc>
              </a:tr>
              <a:tr h="666750">
                <a:tc>
                  <a:txBody>
                    <a:bodyPr>
                      <a:noAutofit/>
                    </a:bodyPr>
                    <a:lstStyle/>
                    <a:p>
                      <a:r>
                        <a:rPr sz="1725" b="0">
                          <a:solidFill>
                            <a:srgbClr val="233542"/>
                          </a:solidFill>
                          <a:latin typeface="Arial"/>
                          <a:ea typeface="Arial"/>
                          <a:cs typeface="Arial"/>
                        </a:rPr>
                        <a:t>Numeric spelling</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LENGTHUNIT["metre",1E0]</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LENGTHUNIT["metre",1.0]</a:t>
                      </a:r>
                    </a:p>
                  </a:txBody>
                  <a:tcPr marL="91440" marR="91440" marT="45720" marB="45720">
                    <a:solidFill>
                      <a:srgbClr val="FFFFFF"/>
                    </a:solidFill>
                  </a:tcPr>
                </a:tc>
              </a:tr>
              <a:tr h="666750">
                <a:tc>
                  <a:txBody>
                    <a:bodyPr>
                      <a:noAutofit/>
                    </a:bodyPr>
                    <a:lstStyle/>
                    <a:p>
                      <a:r>
                        <a:rPr sz="1725" b="0">
                          <a:solidFill>
                            <a:srgbClr val="233542"/>
                          </a:solidFill>
                          <a:latin typeface="Arial"/>
                          <a:ea typeface="Arial"/>
                          <a:cs typeface="Arial"/>
                        </a:rPr>
                        <a:t>Exact decimal</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6378137.12345678912345</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6378137.12345678912345</a:t>
                      </a:r>
                    </a:p>
                  </a:txBody>
                  <a:tcPr marL="91440" marR="91440" marT="45720" marB="45720">
                    <a:solidFill>
                      <a:srgbClr val="FFFFFF"/>
                    </a:solidFill>
                  </a:tcPr>
                </a:tc>
              </a:tr>
              <a:tr h="666750">
                <a:tc>
                  <a:txBody>
                    <a:bodyPr>
                      <a:noAutofit/>
                    </a:bodyPr>
                    <a:lstStyle/>
                    <a:p>
                      <a:r>
                        <a:rPr sz="1725" b="0">
                          <a:solidFill>
                            <a:srgbClr val="233542"/>
                          </a:solidFill>
                          <a:latin typeface="Arial"/>
                          <a:ea typeface="Arial"/>
                          <a:cs typeface="Arial"/>
                        </a:rPr>
                        <a:t>Quoted content</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REMARK["Keep  spaces"]</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REMARK["Keep  spaces"]</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EFCD270-81A6-45D6-92FC-817B42FE48A8}"/>
              </a:ext>
            </a:extLst>
          </p:cNvPr>
          <p:cNvSpPr>
            <a:spLocks xmlns:a="http://schemas.openxmlformats.org/drawingml/2006/main" noGrp="1"/>
          </p:cNvSpPr>
          <p:nvPr/>
        </p:nvSpPr>
        <p:spPr>
          <a:xfrm xmlns:a="http://schemas.openxmlformats.org/drawingml/2006/main">
            <a:off x="609600" y="5381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33542"/>
                </a:solidFill>
                <a:latin typeface="Arial"/>
                <a:ea typeface="Arial"/>
                <a:cs typeface="Arial"/>
              </a:defRPr>
            </a:pPr>
            <a:r>
              <a:rPr sz="2025" b="0">
                <a:solidFill>
                  <a:srgbClr val="233542"/>
                </a:solidFill>
                <a:latin typeface="Arial"/>
                <a:ea typeface="Arial"/>
                <a:cs typeface="Arial"/>
              </a:rPr>
              <a:t>Different display names retain different tokens. CRS equivalence requires a separate engine comparison.</a:t>
            </a:r>
          </a:p>
        </p:txBody>
      </p:sp>
      <p:sp>
        <p:nvSpPr>
          <p:cNvPr id="5" name="">
            <a:extLst xmlns:a="http://schemas.openxmlformats.org/drawingml/2006/main">
              <a:ext uri="{FF2B5EF4-FFF2-40B4-BE49-F238E27FC236}">
                <a16:creationId xmlns:a16="http://schemas.microsoft.com/office/drawing/2014/main" id="{45F7D35E-9A2E-47F4-878C-478D8FA04527}"/>
              </a:ext>
            </a:extLst>
          </p:cNvPr>
          <p:cNvSpPr>
            <a:spLocks xmlns:a="http://schemas.openxmlformats.org/drawingml/2006/main" noGrp="1"/>
          </p:cNvSpPr>
          <p:nvPr/>
        </p:nvSpPr>
        <p:spPr>
          <a:xfrm xmlns:a="http://schemas.openxmlformats.org/drawingml/2006/main">
            <a:off x="609600" y="62674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233542"/>
                </a:solidFill>
                <a:latin typeface="Arial"/>
                <a:ea typeface="Arial"/>
                <a:cs typeface="Arial"/>
              </a:defRPr>
            </a:pPr>
            <a:r>
              <a:rPr sz="1500" b="0">
                <a:solidFill>
                  <a:srgbClr val="233542"/>
                </a:solidFill>
                <a:latin typeface="Arial"/>
                <a:ea typeface="Arial"/>
                <a:cs typeface="Arial"/>
              </a:rPr>
              <a:t>Illustrative fragments from the tested lexical rules. Context-sensitive legacy UNIT aliases are unsupported.</a:t>
            </a:r>
          </a:p>
        </p:txBody>
      </p:sp>
    </p:spTree>
    <p:extLst>
      <p:ext uri="{BB962C8B-B14F-4D97-AF65-F5344CB8AC3E}">
        <p14:creationId xmlns:p14="http://schemas.microsoft.com/office/powerpoint/2010/main" val="3434200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AC68655-A247-4C9B-8F67-9A8BA099889E}"/>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Executed reader coverage</a:t>
            </a:r>
          </a:p>
        </p:txBody>
      </p:sp>
      <p:graphicFrame>
        <p:nvGraphicFramePr>
          <p:cNvPr id="6" name=""/>
          <p:cNvGraphicFramePr/>
          <p:nvPr/>
        </p:nvGraphicFramePr>
        <p:xfrm>
          <a:off xmlns:a="http://schemas.openxmlformats.org/drawingml/2006/main" x="609600" y="1524000"/>
          <a:ext xmlns:a="http://schemas.openxmlformats.org/drawingml/2006/main" cx="10972800" cy="2667000"/>
        </p:xfrm>
        <a:graphic xmlns:a="http://schemas.openxmlformats.org/drawingml/2006/main">
          <a:graphicData uri="http://schemas.openxmlformats.org/drawingml/2006/table">
            <a:tbl>
              <a:tblPr/>
              <a:tblGrid>
                <a:gridCol w="4714875"/>
                <a:gridCol w="2085975"/>
                <a:gridCol w="2085975"/>
                <a:gridCol w="2085975"/>
              </a:tblGrid>
              <a:tr h="666750">
                <a:tc>
                  <a:txBody>
                    <a:bodyPr>
                      <a:noAutofit/>
                    </a:bodyPr>
                    <a:lstStyle/>
                    <a:p>
                      <a:r>
                        <a:rPr sz="1875" b="1">
                          <a:solidFill>
                            <a:srgbClr val="FFFFFF"/>
                          </a:solidFill>
                          <a:latin typeface="Arial"/>
                          <a:ea typeface="Arial"/>
                          <a:cs typeface="Arial"/>
                        </a:rPr>
                        <a:t>Control family</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Cases per reader</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Queries per reader</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Expected failures</a:t>
                      </a:r>
                    </a:p>
                  </a:txBody>
                  <a:tcPr marL="91440" marR="91440" marT="45720" marB="45720">
                    <a:solidFill>
                      <a:srgbClr val="233542"/>
                    </a:solidFill>
                  </a:tcPr>
                </a:tc>
              </a:tr>
              <a:tr h="666750">
                <a:tc>
                  <a:txBody>
                    <a:bodyPr>
                      <a:noAutofit/>
                    </a:bodyPr>
                    <a:lstStyle/>
                    <a:p>
                      <a:r>
                        <a:rPr sz="1875" b="0">
                          <a:solidFill>
                            <a:srgbClr val="233542"/>
                          </a:solidFill>
                          <a:latin typeface="Arial"/>
                          <a:ea typeface="Arial"/>
                          <a:cs typeface="Arial"/>
                        </a:rPr>
                        <a:t>Binding and composition</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12</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19</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a:t>
                      </a:r>
                    </a:p>
                  </a:txBody>
                  <a:tcPr marL="91440" marR="91440" marT="45720" marB="45720">
                    <a:solidFill>
                      <a:srgbClr val="FFFFFF"/>
                    </a:solidFill>
                  </a:tcPr>
                </a:tc>
              </a:tr>
              <a:tr h="666750">
                <a:tc>
                  <a:txBody>
                    <a:bodyPr>
                      <a:noAutofit/>
                    </a:bodyPr>
                    <a:lstStyle/>
                    <a:p>
                      <a:r>
                        <a:rPr sz="1875" b="0">
                          <a:solidFill>
                            <a:srgbClr val="233542"/>
                          </a:solidFill>
                          <a:latin typeface="Arial"/>
                          <a:ea typeface="Arial"/>
                          <a:cs typeface="Arial"/>
                        </a:rPr>
                        <a:t>Source placement values</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12</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12</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a:t>
                      </a:r>
                    </a:p>
                  </a:txBody>
                  <a:tcPr marL="91440" marR="91440" marT="45720" marB="45720">
                    <a:solidFill>
                      <a:srgbClr val="FFFFFF"/>
                    </a:solidFill>
                  </a:tcPr>
                </a:tc>
              </a:tr>
              <a:tr h="666750">
                <a:tc>
                  <a:txBody>
                    <a:bodyPr>
                      <a:noAutofit/>
                    </a:bodyPr>
                    <a:lstStyle/>
                    <a:p>
                      <a:r>
                        <a:rPr sz="1875" b="0">
                          <a:solidFill>
                            <a:srgbClr val="233542"/>
                          </a:solidFill>
                          <a:latin typeface="Arial"/>
                          <a:ea typeface="Arial"/>
                          <a:cs typeface="Arial"/>
                        </a:rPr>
                        <a:t>Direct anchor-origin coordinates</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13</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137</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5</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70B3864F-FEFC-4EC0-A8B7-4659F9066A8B}"/>
              </a:ext>
            </a:extLst>
          </p:cNvPr>
          <p:cNvSpPr>
            <a:spLocks xmlns:a="http://schemas.openxmlformats.org/drawingml/2006/main" noGrp="1"/>
          </p:cNvSpPr>
          <p:nvPr/>
        </p:nvSpPr>
        <p:spPr>
          <a:xfrm xmlns:a="http://schemas.openxmlformats.org/drawingml/2006/main">
            <a:off x="609600" y="4600575"/>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33542"/>
                </a:solidFill>
                <a:latin typeface="Arial"/>
                <a:ea typeface="Arial"/>
                <a:cs typeface="Arial"/>
              </a:defRPr>
            </a:pPr>
            <a:r>
              <a:rPr sz="2025" b="0">
                <a:solidFill>
                  <a:srgbClr val="233542"/>
                </a:solidFill>
                <a:latin typeface="Arial"/>
                <a:ea typeface="Arial"/>
                <a:cs typeface="Arial"/>
              </a:rPr>
              <a:t>Every reader checks the same authored scenes. Direct origins include France projections, Colorado site calibration and analytic ECEF conversions.</a:t>
            </a:r>
          </a:p>
        </p:txBody>
      </p:sp>
      <p:sp>
        <p:nvSpPr>
          <p:cNvPr id="4" name="">
            <a:extLst xmlns:a="http://schemas.openxmlformats.org/drawingml/2006/main">
              <a:ext uri="{FF2B5EF4-FFF2-40B4-BE49-F238E27FC236}">
                <a16:creationId xmlns:a16="http://schemas.microsoft.com/office/drawing/2014/main" id="{907B1A33-0781-40F2-B0C4-8C4AB26D0838}"/>
              </a:ext>
            </a:extLst>
          </p:cNvPr>
          <p:cNvSpPr>
            <a:spLocks xmlns:a="http://schemas.openxmlformats.org/drawingml/2006/main" noGrp="1"/>
          </p:cNvSpPr>
          <p:nvPr/>
        </p:nvSpPr>
        <p:spPr>
          <a:xfrm xmlns:a="http://schemas.openxmlformats.org/drawingml/2006/main">
            <a:off x="609600" y="58007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33542"/>
                </a:solidFill>
                <a:latin typeface="Arial"/>
                <a:ea typeface="Arial"/>
                <a:cs typeface="Arial"/>
              </a:defRPr>
            </a:pPr>
            <a:r>
              <a:rPr sz="1725" b="0">
                <a:solidFill>
                  <a:srgbClr val="233542"/>
                </a:solidFill>
                <a:latin typeface="Arial"/>
                <a:ea typeface="Arial"/>
                <a:cs typeface="Arial"/>
              </a:rPr>
              <a:t>Expected failures include unsupported frame requests. Source data stays unchanged. PROJ is shared across readers.</a:t>
            </a:r>
          </a:p>
        </p:txBody>
      </p:sp>
    </p:spTree>
    <p:extLst>
      <p:ext uri="{BB962C8B-B14F-4D97-AF65-F5344CB8AC3E}">
        <p14:creationId xmlns:p14="http://schemas.microsoft.com/office/powerpoint/2010/main" val="20616718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432FCC3-38BC-4060-9DA5-E4373F9D3852}"/>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Same France origin in each runtime</a:t>
            </a:r>
          </a:p>
        </p:txBody>
      </p:sp>
      <p:sp>
        <p:nvSpPr>
          <p:cNvPr id="2" name="">
            <a:extLst xmlns:a="http://schemas.openxmlformats.org/drawingml/2006/main">
              <a:ext uri="{FF2B5EF4-FFF2-40B4-BE49-F238E27FC236}">
                <a16:creationId xmlns:a16="http://schemas.microsoft.com/office/drawing/2014/main" id="{D2DD38FB-7BE3-4EE1-9868-F320D2D700E1}"/>
              </a:ext>
            </a:extLst>
          </p:cNvPr>
          <p:cNvSpPr>
            <a:spLocks xmlns:a="http://schemas.openxmlformats.org/drawingml/2006/main" noGrp="1"/>
          </p:cNvSpPr>
          <p:nvPr/>
        </p:nvSpPr>
        <p:spPr>
          <a:xfrm xmlns:a="http://schemas.openxmlformats.org/drawingml/2006/main">
            <a:off x="609600" y="144780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33542"/>
                </a:solidFill>
                <a:latin typeface="Arial"/>
                <a:ea typeface="Arial"/>
                <a:cs typeface="Arial"/>
              </a:defRPr>
            </a:pPr>
            <a:r>
              <a:rPr sz="2025" b="0">
                <a:solidFill>
                  <a:srgbClr val="233542"/>
                </a:solidFill>
                <a:latin typeface="Arial"/>
                <a:ea typeface="Arial"/>
                <a:cs typeface="Arial"/>
              </a:rPr>
              <a:t>France point 0 serves as an illustrative model-anchor origin. Source: RGF93 v2b / CC49 with NGF-IGN69 height. Output: Lambert-93 with the same height reference. Every displayed component is in metres.</a:t>
            </a:r>
          </a:p>
        </p:txBody>
      </p:sp>
      <p:graphicFrame>
        <p:nvGraphicFramePr>
          <p:cNvPr id="7" name=""/>
          <p:cNvGraphicFramePr/>
          <p:nvPr/>
        </p:nvGraphicFramePr>
        <p:xfrm>
          <a:off xmlns:a="http://schemas.openxmlformats.org/drawingml/2006/main" x="609600" y="3114675"/>
          <a:ext xmlns:a="http://schemas.openxmlformats.org/drawingml/2006/main" cx="10972800" cy="2057400"/>
        </p:xfrm>
        <a:graphic xmlns:a="http://schemas.openxmlformats.org/drawingml/2006/main">
          <a:graphicData uri="http://schemas.openxmlformats.org/drawingml/2006/table">
            <a:tbl>
              <a:tblPr/>
              <a:tblGrid>
                <a:gridCol w="1733550"/>
                <a:gridCol w="2333625"/>
                <a:gridCol w="2333625"/>
                <a:gridCol w="2286000"/>
                <a:gridCol w="2286000"/>
              </a:tblGrid>
              <a:tr h="514350">
                <a:tc>
                  <a:txBody>
                    <a:bodyPr>
                      <a:noAutofit/>
                    </a:bodyPr>
                    <a:lstStyle/>
                    <a:p>
                      <a:r>
                        <a:rPr sz="1875" b="1">
                          <a:solidFill>
                            <a:srgbClr val="FFFFFF"/>
                          </a:solidFill>
                          <a:latin typeface="Arial"/>
                          <a:ea typeface="Arial"/>
                          <a:cs typeface="Arial"/>
                        </a:rPr>
                        <a:t>Component</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Source CC49</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Headless USD</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Native USD</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Live OV</a:t>
                      </a:r>
                    </a:p>
                  </a:txBody>
                  <a:tcPr marL="91440" marR="91440" marT="45720" marB="45720">
                    <a:solidFill>
                      <a:srgbClr val="233542"/>
                    </a:solidFill>
                  </a:tcPr>
                </a:tc>
              </a:tr>
              <a:tr h="514350">
                <a:tc>
                  <a:txBody>
                    <a:bodyPr>
                      <a:noAutofit/>
                    </a:bodyPr>
                    <a:lstStyle/>
                    <a:p>
                      <a:r>
                        <a:rPr sz="1875" b="0">
                          <a:solidFill>
                            <a:srgbClr val="233542"/>
                          </a:solidFill>
                          <a:latin typeface="Arial"/>
                          <a:ea typeface="Arial"/>
                          <a:cs typeface="Arial"/>
                        </a:rPr>
                        <a:t>Easting</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1661099.0390</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661101.1094</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661101.1094</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661101.1094</a:t>
                      </a:r>
                    </a:p>
                  </a:txBody>
                  <a:tcPr marL="91440" marR="91440" marT="45720" marB="45720">
                    <a:solidFill>
                      <a:srgbClr val="FFFFFF"/>
                    </a:solidFill>
                  </a:tcPr>
                </a:tc>
              </a:tr>
              <a:tr h="514350">
                <a:tc>
                  <a:txBody>
                    <a:bodyPr>
                      <a:noAutofit/>
                    </a:bodyPr>
                    <a:lstStyle/>
                    <a:p>
                      <a:r>
                        <a:rPr sz="1875" b="0">
                          <a:solidFill>
                            <a:srgbClr val="233542"/>
                          </a:solidFill>
                          <a:latin typeface="Arial"/>
                          <a:ea typeface="Arial"/>
                          <a:cs typeface="Arial"/>
                        </a:rPr>
                        <a:t>Northing</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8180053.1170</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6857834.2565</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6857834.2565</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6857834.2565</a:t>
                      </a:r>
                    </a:p>
                  </a:txBody>
                  <a:tcPr marL="91440" marR="91440" marT="45720" marB="45720">
                    <a:solidFill>
                      <a:srgbClr val="FFFFFF"/>
                    </a:solidFill>
                  </a:tcPr>
                </a:tc>
              </a:tr>
              <a:tr h="514350">
                <a:tc>
                  <a:txBody>
                    <a:bodyPr>
                      <a:noAutofit/>
                    </a:bodyPr>
                    <a:lstStyle/>
                    <a:p>
                      <a:r>
                        <a:rPr sz="1875" b="0">
                          <a:solidFill>
                            <a:srgbClr val="233542"/>
                          </a:solidFill>
                          <a:latin typeface="Arial"/>
                          <a:ea typeface="Arial"/>
                          <a:cs typeface="Arial"/>
                        </a:rPr>
                        <a:t>Height</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37.2980</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37.2980</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37.2980</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37.2980</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44B2907-89B4-453B-8AB9-3FA3BE73436E}"/>
              </a:ext>
            </a:extLst>
          </p:cNvPr>
          <p:cNvSpPr>
            <a:spLocks xmlns:a="http://schemas.openxmlformats.org/drawingml/2006/main" noGrp="1"/>
          </p:cNvSpPr>
          <p:nvPr/>
        </p:nvSpPr>
        <p:spPr>
          <a:xfrm xmlns:a="http://schemas.openxmlformats.org/drawingml/2006/main">
            <a:off x="609600" y="56197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33542"/>
                </a:solidFill>
                <a:latin typeface="Arial"/>
                <a:ea typeface="Arial"/>
                <a:cs typeface="Arial"/>
              </a:defRPr>
            </a:pPr>
            <a:r>
              <a:rPr sz="1950" b="0">
                <a:solidFill>
                  <a:srgbClr val="233542"/>
                </a:solidFill>
                <a:latin typeface="Arial"/>
                <a:ea typeface="Arial"/>
                <a:cs typeface="Arial"/>
              </a:rPr>
              <a:t>All 59 France origins pass in both directions. Coordinates only, with no geometry or measurement-domain claim.</a:t>
            </a:r>
          </a:p>
        </p:txBody>
      </p:sp>
    </p:spTree>
    <p:extLst>
      <p:ext uri="{BB962C8B-B14F-4D97-AF65-F5344CB8AC3E}">
        <p14:creationId xmlns:p14="http://schemas.microsoft.com/office/powerpoint/2010/main" val="12458535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1183DC-BF4A-494A-AA64-C9CFC6303745}"/>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Source interpolation and export samples</a:t>
            </a:r>
          </a:p>
        </p:txBody>
      </p:sp>
      <p:sp>
        <p:nvSpPr>
          <p:cNvPr id="2" name="">
            <a:extLst xmlns:a="http://schemas.openxmlformats.org/drawingml/2006/main">
              <a:ext uri="{FF2B5EF4-FFF2-40B4-BE49-F238E27FC236}">
                <a16:creationId xmlns:a16="http://schemas.microsoft.com/office/drawing/2014/main" id="{78212309-E2F0-4919-B50C-2F4D5EDC2B3C}"/>
              </a:ext>
            </a:extLst>
          </p:cNvPr>
          <p:cNvSpPr>
            <a:spLocks xmlns:a="http://schemas.openxmlformats.org/drawingml/2006/main" noGrp="1"/>
          </p:cNvSpPr>
          <p:nvPr/>
        </p:nvSpPr>
        <p:spPr>
          <a:xfrm xmlns:a="http://schemas.openxmlformats.org/drawingml/2006/main">
            <a:off x="609600" y="1466850"/>
            <a:ext cx="10972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33542"/>
                </a:solidFill>
                <a:latin typeface="Arial"/>
                <a:ea typeface="Arial"/>
                <a:cs typeface="Arial"/>
              </a:defRPr>
            </a:pPr>
            <a:r>
              <a:rPr sz="2025" b="0">
                <a:solidFill>
                  <a:srgbClr val="233542"/>
                </a:solidFill>
                <a:latin typeface="Arial"/>
                <a:ea typeface="Arial"/>
                <a:cs typeface="Arial"/>
              </a:rPr>
              <a:t>A WGS84 anchor moves from longitude -1 degree to +1 degree on the equator at zero height. At time 5, Core linear source interpolation yields longitude zero before ECEF conversion. Each reader returns X = 6378137 m, Y = 0 m, Z = 0 m.</a:t>
            </a:r>
          </a:p>
        </p:txBody>
      </p:sp>
      <p:graphicFrame>
        <p:nvGraphicFramePr>
          <p:cNvPr id="8" name=""/>
          <p:cNvGraphicFramePr/>
          <p:nvPr/>
        </p:nvGraphicFramePr>
        <p:xfrm>
          <a:off xmlns:a="http://schemas.openxmlformats.org/drawingml/2006/main" x="609600" y="2981325"/>
          <a:ext xmlns:a="http://schemas.openxmlformats.org/drawingml/2006/main" cx="10972800" cy="1952625"/>
        </p:xfrm>
        <a:graphic xmlns:a="http://schemas.openxmlformats.org/drawingml/2006/main">
          <a:graphicData uri="http://schemas.openxmlformats.org/drawingml/2006/table">
            <a:tbl>
              <a:tblPr/>
              <a:tblGrid>
                <a:gridCol w="2190750"/>
                <a:gridCol w="4572000"/>
                <a:gridCol w="4210050"/>
              </a:tblGrid>
              <a:tr h="488156">
                <a:tc>
                  <a:txBody>
                    <a:bodyPr>
                      <a:noAutofit/>
                    </a:bodyPr>
                    <a:lstStyle/>
                    <a:p>
                      <a:r>
                        <a:rPr sz="1950" b="1">
                          <a:solidFill>
                            <a:srgbClr val="FFFFFF"/>
                          </a:solidFill>
                          <a:latin typeface="Arial"/>
                          <a:ea typeface="Arial"/>
                          <a:cs typeface="Arial"/>
                        </a:rPr>
                        <a:t>Time code</a:t>
                      </a:r>
                    </a:p>
                  </a:txBody>
                  <a:tcPr marL="91440" marR="91440" marT="45720" marB="45720">
                    <a:solidFill>
                      <a:srgbClr val="233542"/>
                    </a:solidFill>
                  </a:tcPr>
                </a:tc>
                <a:tc>
                  <a:txBody>
                    <a:bodyPr>
                      <a:noAutofit/>
                    </a:bodyPr>
                    <a:lstStyle/>
                    <a:p>
                      <a:r>
                        <a:rPr sz="1950" b="1">
                          <a:solidFill>
                            <a:srgbClr val="FFFFFF"/>
                          </a:solidFill>
                          <a:latin typeface="Arial"/>
                          <a:ea typeface="Arial"/>
                          <a:cs typeface="Arial"/>
                        </a:rPr>
                        <a:t>Source longitude (degrees)</a:t>
                      </a:r>
                    </a:p>
                  </a:txBody>
                  <a:tcPr marL="91440" marR="91440" marT="45720" marB="45720">
                    <a:solidFill>
                      <a:srgbClr val="233542"/>
                    </a:solidFill>
                  </a:tcPr>
                </a:tc>
                <a:tc>
                  <a:txBody>
                    <a:bodyPr>
                      <a:noAutofit/>
                    </a:bodyPr>
                    <a:lstStyle/>
                    <a:p>
                      <a:r>
                        <a:rPr sz="1950" b="1">
                          <a:solidFill>
                            <a:srgbClr val="FFFFFF"/>
                          </a:solidFill>
                          <a:latin typeface="Arial"/>
                          <a:ea typeface="Arial"/>
                          <a:cs typeface="Arial"/>
                        </a:rPr>
                        <a:t>Resolved ECEF X (m)</a:t>
                      </a:r>
                    </a:p>
                  </a:txBody>
                  <a:tcPr marL="91440" marR="91440" marT="45720" marB="45720">
                    <a:solidFill>
                      <a:srgbClr val="233542"/>
                    </a:solidFill>
                  </a:tcPr>
                </a:tc>
              </a:tr>
              <a:tr h="488156">
                <a:tc>
                  <a:txBody>
                    <a:bodyPr>
                      <a:noAutofit/>
                    </a:bodyPr>
                    <a:lstStyle/>
                    <a:p>
                      <a:r>
                        <a:rPr sz="1950" b="0">
                          <a:solidFill>
                            <a:srgbClr val="233542"/>
                          </a:solidFill>
                          <a:latin typeface="Arial"/>
                          <a:ea typeface="Arial"/>
                          <a:cs typeface="Arial"/>
                        </a:rPr>
                        <a:t>0</a:t>
                      </a:r>
                    </a:p>
                  </a:txBody>
                  <a:tcPr marL="91440" marR="91440" marT="45720" marB="45720">
                    <a:solidFill>
                      <a:srgbClr val="FFFFFF"/>
                    </a:solidFill>
                  </a:tcPr>
                </a:tc>
                <a:tc>
                  <a:txBody>
                    <a:bodyPr>
                      <a:noAutofit/>
                    </a:bodyPr>
                    <a:lstStyle/>
                    <a:p>
                      <a:r>
                        <a:rPr sz="1950" b="0">
                          <a:solidFill>
                            <a:srgbClr val="233542"/>
                          </a:solidFill>
                          <a:latin typeface="Arial"/>
                          <a:ea typeface="Arial"/>
                          <a:cs typeface="Arial"/>
                        </a:rPr>
                        <a:t>-1</a:t>
                      </a:r>
                    </a:p>
                  </a:txBody>
                  <a:tcPr marL="91440" marR="91440" marT="45720" marB="45720">
                    <a:solidFill>
                      <a:srgbClr val="FFFFFF"/>
                    </a:solidFill>
                  </a:tcPr>
                </a:tc>
                <a:tc>
                  <a:txBody>
                    <a:bodyPr>
                      <a:noAutofit/>
                    </a:bodyPr>
                    <a:lstStyle/>
                    <a:p>
                      <a:r>
                        <a:rPr sz="1950" b="0">
                          <a:solidFill>
                            <a:srgbClr val="233542"/>
                          </a:solidFill>
                          <a:latin typeface="Arial"/>
                          <a:ea typeface="Arial"/>
                          <a:cs typeface="Arial"/>
                        </a:rPr>
                        <a:t>6377165.578842</a:t>
                      </a:r>
                    </a:p>
                  </a:txBody>
                  <a:tcPr marL="91440" marR="91440" marT="45720" marB="45720">
                    <a:solidFill>
                      <a:srgbClr val="FFFFFF"/>
                    </a:solidFill>
                  </a:tcPr>
                </a:tc>
              </a:tr>
              <a:tr h="488156">
                <a:tc>
                  <a:txBody>
                    <a:bodyPr>
                      <a:noAutofit/>
                    </a:bodyPr>
                    <a:lstStyle/>
                    <a:p>
                      <a:r>
                        <a:rPr sz="1950" b="0">
                          <a:solidFill>
                            <a:srgbClr val="233542"/>
                          </a:solidFill>
                          <a:latin typeface="Arial"/>
                          <a:ea typeface="Arial"/>
                          <a:cs typeface="Arial"/>
                        </a:rPr>
                        <a:t>5</a:t>
                      </a:r>
                    </a:p>
                  </a:txBody>
                  <a:tcPr marL="91440" marR="91440" marT="45720" marB="45720">
                    <a:solidFill>
                      <a:srgbClr val="FFFFFF"/>
                    </a:solidFill>
                  </a:tcPr>
                </a:tc>
                <a:tc>
                  <a:txBody>
                    <a:bodyPr>
                      <a:noAutofit/>
                    </a:bodyPr>
                    <a:lstStyle/>
                    <a:p>
                      <a:r>
                        <a:rPr sz="1950" b="0">
                          <a:solidFill>
                            <a:srgbClr val="233542"/>
                          </a:solidFill>
                          <a:latin typeface="Arial"/>
                          <a:ea typeface="Arial"/>
                          <a:cs typeface="Arial"/>
                        </a:rPr>
                        <a:t>0</a:t>
                      </a:r>
                    </a:p>
                  </a:txBody>
                  <a:tcPr marL="91440" marR="91440" marT="45720" marB="45720">
                    <a:solidFill>
                      <a:srgbClr val="FFFFFF"/>
                    </a:solidFill>
                  </a:tcPr>
                </a:tc>
                <a:tc>
                  <a:txBody>
                    <a:bodyPr>
                      <a:noAutofit/>
                    </a:bodyPr>
                    <a:lstStyle/>
                    <a:p>
                      <a:r>
                        <a:rPr sz="1950" b="0">
                          <a:solidFill>
                            <a:srgbClr val="233542"/>
                          </a:solidFill>
                          <a:latin typeface="Arial"/>
                          <a:ea typeface="Arial"/>
                          <a:cs typeface="Arial"/>
                        </a:rPr>
                        <a:t>6378137.000000</a:t>
                      </a:r>
                    </a:p>
                  </a:txBody>
                  <a:tcPr marL="91440" marR="91440" marT="45720" marB="45720">
                    <a:solidFill>
                      <a:srgbClr val="FFFFFF"/>
                    </a:solidFill>
                  </a:tcPr>
                </a:tc>
              </a:tr>
              <a:tr h="488156">
                <a:tc>
                  <a:txBody>
                    <a:bodyPr>
                      <a:noAutofit/>
                    </a:bodyPr>
                    <a:lstStyle/>
                    <a:p>
                      <a:r>
                        <a:rPr sz="1950" b="0">
                          <a:solidFill>
                            <a:srgbClr val="233542"/>
                          </a:solidFill>
                          <a:latin typeface="Arial"/>
                          <a:ea typeface="Arial"/>
                          <a:cs typeface="Arial"/>
                        </a:rPr>
                        <a:t>10</a:t>
                      </a:r>
                    </a:p>
                  </a:txBody>
                  <a:tcPr marL="91440" marR="91440" marT="45720" marB="45720">
                    <a:solidFill>
                      <a:srgbClr val="FFFFFF"/>
                    </a:solidFill>
                  </a:tcPr>
                </a:tc>
                <a:tc>
                  <a:txBody>
                    <a:bodyPr>
                      <a:noAutofit/>
                    </a:bodyPr>
                    <a:lstStyle/>
                    <a:p>
                      <a:r>
                        <a:rPr sz="1950" b="0">
                          <a:solidFill>
                            <a:srgbClr val="233542"/>
                          </a:solidFill>
                          <a:latin typeface="Arial"/>
                          <a:ea typeface="Arial"/>
                          <a:cs typeface="Arial"/>
                        </a:rPr>
                        <a:t>1</a:t>
                      </a:r>
                    </a:p>
                  </a:txBody>
                  <a:tcPr marL="91440" marR="91440" marT="45720" marB="45720">
                    <a:solidFill>
                      <a:srgbClr val="FFFFFF"/>
                    </a:solidFill>
                  </a:tcPr>
                </a:tc>
                <a:tc>
                  <a:txBody>
                    <a:bodyPr>
                      <a:noAutofit/>
                    </a:bodyPr>
                    <a:lstStyle/>
                    <a:p>
                      <a:r>
                        <a:rPr sz="1950" b="0">
                          <a:solidFill>
                            <a:srgbClr val="233542"/>
                          </a:solidFill>
                          <a:latin typeface="Arial"/>
                          <a:ea typeface="Arial"/>
                          <a:cs typeface="Arial"/>
                        </a:rPr>
                        <a:t>6377165.578842</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14BC048D-1A89-4379-8775-C93736667323}"/>
              </a:ext>
            </a:extLst>
          </p:cNvPr>
          <p:cNvSpPr>
            <a:spLocks xmlns:a="http://schemas.openxmlformats.org/drawingml/2006/main" noGrp="1"/>
          </p:cNvSpPr>
          <p:nvPr/>
        </p:nvSpPr>
        <p:spPr>
          <a:xfrm xmlns:a="http://schemas.openxmlformats.org/drawingml/2006/main">
            <a:off x="609600" y="52292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17E89"/>
                </a:solidFill>
                <a:latin typeface="Arial"/>
                <a:ea typeface="Arial"/>
                <a:cs typeface="Arial"/>
              </a:defRPr>
            </a:pPr>
            <a:r>
              <a:rPr sz="2175" b="1">
                <a:solidFill>
                  <a:srgbClr val="117E89"/>
                </a:solidFill>
                <a:latin typeface="Arial"/>
                <a:ea typeface="Arial"/>
                <a:cs typeface="Arial"/>
              </a:rPr>
              <a:t>Interpolating only the converted endpoints misses the midpoint by 971.421158 m.</a:t>
            </a:r>
          </a:p>
        </p:txBody>
      </p:sp>
      <p:sp>
        <p:nvSpPr>
          <p:cNvPr id="5" name="">
            <a:extLst xmlns:a="http://schemas.openxmlformats.org/drawingml/2006/main">
              <a:ext uri="{FF2B5EF4-FFF2-40B4-BE49-F238E27FC236}">
                <a16:creationId xmlns:a16="http://schemas.microsoft.com/office/drawing/2014/main" id="{1D3775A4-D4FE-4EEB-B3C3-AA30B86204EF}"/>
              </a:ext>
            </a:extLst>
          </p:cNvPr>
          <p:cNvSpPr>
            <a:spLocks xmlns:a="http://schemas.openxmlformats.org/drawingml/2006/main" noGrp="1"/>
          </p:cNvSpPr>
          <p:nvPr/>
        </p:nvSpPr>
        <p:spPr>
          <a:xfrm xmlns:a="http://schemas.openxmlformats.org/drawingml/2006/main">
            <a:off x="609600" y="613410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33542"/>
                </a:solidFill>
                <a:latin typeface="Arial"/>
                <a:ea typeface="Arial"/>
                <a:cs typeface="Arial"/>
              </a:defRPr>
            </a:pPr>
            <a:r>
              <a:rPr sz="1650" b="0">
                <a:solidFill>
                  <a:srgbClr val="233542"/>
                </a:solidFill>
                <a:latin typeface="Arial"/>
                <a:ea typeface="Arial"/>
                <a:cs typeface="Arial"/>
              </a:rPr>
              <a:t>Fresh USD sampling record: keys 0, 5, 10 and explicit timeCodesPerSecond 48. This is not a resolved-scene export.</a:t>
            </a:r>
          </a:p>
        </p:txBody>
      </p:sp>
    </p:spTree>
    <p:extLst>
      <p:ext uri="{BB962C8B-B14F-4D97-AF65-F5344CB8AC3E}">
        <p14:creationId xmlns:p14="http://schemas.microsoft.com/office/powerpoint/2010/main" val="5758336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200D392-AFC4-48D1-9ED7-7BA212F6A2E9}"/>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Postimplementation audit</a:t>
            </a:r>
          </a:p>
        </p:txBody>
      </p:sp>
      <p:sp>
        <p:nvSpPr>
          <p:cNvPr id="2" name="">
            <a:extLst xmlns:a="http://schemas.openxmlformats.org/drawingml/2006/main">
              <a:ext uri="{FF2B5EF4-FFF2-40B4-BE49-F238E27FC236}">
                <a16:creationId xmlns:a16="http://schemas.microsoft.com/office/drawing/2014/main" id="{24136973-6413-4886-B3A5-DD8C6B6A3647}"/>
              </a:ext>
            </a:extLst>
          </p:cNvPr>
          <p:cNvSpPr>
            <a:spLocks xmlns:a="http://schemas.openxmlformats.org/drawingml/2006/main" noGrp="1"/>
          </p:cNvSpPr>
          <p:nvPr/>
        </p:nvSpPr>
        <p:spPr>
          <a:xfrm xmlns:a="http://schemas.openxmlformats.org/drawingml/2006/main">
            <a:off x="609600" y="1543050"/>
            <a:ext cx="10972800"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3542"/>
                </a:solidFill>
                <a:latin typeface="Arial"/>
                <a:ea typeface="Arial"/>
                <a:cs typeface="Arial"/>
              </a:defRPr>
            </a:pPr>
            <a:r>
              <a:rPr sz="2175" b="0">
                <a:solidFill>
                  <a:srgbClr val="233542"/>
                </a:solidFill>
                <a:latin typeface="Arial"/>
                <a:ea typeface="Arial"/>
                <a:cs typeface="Arial"/>
              </a:rPr>
              <a:t>The audit tightened the partial origin adapter to reject nested/descendant frame requests rather than applying an incomplete model. It also corrected geographic identity reporting to use exact component comparison instead of a length metric. These repairs change consumer support/reporting, add no scene fact and do not amend the proposal to match code. Source fixtures author only crs:wkt and the three candidate placement fields. Resolution rewrites no source xformOps, resetXformStack, definitions, bindings or sampling keys.</a:t>
            </a:r>
          </a:p>
        </p:txBody>
      </p:sp>
      <p:sp>
        <p:nvSpPr>
          <p:cNvPr id="3" name="">
            <a:extLst xmlns:a="http://schemas.openxmlformats.org/drawingml/2006/main">
              <a:ext uri="{FF2B5EF4-FFF2-40B4-BE49-F238E27FC236}">
                <a16:creationId xmlns:a16="http://schemas.microsoft.com/office/drawing/2014/main" id="{202F0503-142B-4A0E-A635-635C2FAD874F}"/>
              </a:ext>
            </a:extLst>
          </p:cNvPr>
          <p:cNvSpPr>
            <a:spLocks xmlns:a="http://schemas.openxmlformats.org/drawingml/2006/main" noGrp="1"/>
          </p:cNvSpPr>
          <p:nvPr/>
        </p:nvSpPr>
        <p:spPr>
          <a:xfrm xmlns:a="http://schemas.openxmlformats.org/drawingml/2006/main">
            <a:off x="609600" y="4257675"/>
            <a:ext cx="10972800"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33542"/>
                </a:solidFill>
                <a:latin typeface="Arial"/>
                <a:ea typeface="Arial"/>
                <a:cs typeface="Arial"/>
              </a:defRPr>
            </a:pPr>
            <a:r>
              <a:rPr sz="2025" b="0">
                <a:solidFill>
                  <a:srgbClr val="233542"/>
                </a:solidFill>
                <a:latin typeface="Arial"/>
                <a:ea typeface="Arial"/>
                <a:cs typeface="Arial"/>
              </a:rPr>
              <a:t>Full model frames, project-adjusted placement, geometry and bounds, Hydra/OV resolved geometry, measurement-associated data and conservative resolved-scene export depend on the four missing contracts. These partial tests do not certify near-unit quaternion validation policy or geographic-distance controls. Group adoption and geodetic accuracy remain distinct from passing execution.</a:t>
            </a:r>
          </a:p>
        </p:txBody>
      </p:sp>
    </p:spTree>
    <p:extLst>
      <p:ext uri="{BB962C8B-B14F-4D97-AF65-F5344CB8AC3E}">
        <p14:creationId xmlns:p14="http://schemas.microsoft.com/office/powerpoint/2010/main" val="408319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2026-10-05T01:18:39.9600000Z</dcterms:created>
  <dcterms:modified xsi:type="dcterms:W3CDTF">2026-10-05T01:18:39.9600000Z</dcterms:modified>
</coreProperties>
</file>