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069a5d3ed074b73" /><Relationship Type="http://schemas.openxmlformats.org/officeDocument/2006/relationships/extended-properties" Target="/docProps/app.xml" Id="R398a5c5feb664877" /><Relationship Type="http://schemas.openxmlformats.org/officeDocument/2006/relationships/officeDocument" Target="/ppt/presentation.xml" Id="R52dbbf733f9a4f34" /></Relationships>
</file>

<file path=ppt/presentation.xml><?xml version="1.0" encoding="utf-8"?>
<p:presentation xmlns:p="http://schemas.openxmlformats.org/presentationml/2006/main">
  <p:sldMasterIdLst>
    <p:sldMasterId xmlns:r="http://schemas.openxmlformats.org/officeDocument/2006/relationships" id="2147483648" r:id="R8901746ec3dd4c8e"/>
  </p:sldMasterIdLst>
  <p:notesMasterIdLst>
    <p:notesMasterId xmlns:r="http://schemas.openxmlformats.org/officeDocument/2006/relationships" r:id="R5d6a9f9e9810472e"/>
  </p:notesMasterIdLst>
  <p:sldIdLst>
    <p:sldId xmlns:r="http://schemas.openxmlformats.org/officeDocument/2006/relationships" id="256" r:id="R991b8ac733be4a8d"/>
    <p:sldId xmlns:r="http://schemas.openxmlformats.org/officeDocument/2006/relationships" id="257" r:id="R509a829bc7d84e2c"/>
    <p:sldId xmlns:r="http://schemas.openxmlformats.org/officeDocument/2006/relationships" id="258" r:id="R688a28a404aa48e7"/>
    <p:sldId xmlns:r="http://schemas.openxmlformats.org/officeDocument/2006/relationships" id="259" r:id="Rd87e6c00a0b64f21"/>
    <p:sldId xmlns:r="http://schemas.openxmlformats.org/officeDocument/2006/relationships" id="260" r:id="Rec7135b852a949be"/>
    <p:sldId xmlns:r="http://schemas.openxmlformats.org/officeDocument/2006/relationships" id="261" r:id="R1fb6548ecec347f8"/>
    <p:sldId xmlns:r="http://schemas.openxmlformats.org/officeDocument/2006/relationships" id="262" r:id="R1bfd4317d2614b46"/>
    <p:sldId xmlns:r="http://schemas.openxmlformats.org/officeDocument/2006/relationships" id="263" r:id="R6bf3c1e34af54b7f"/>
    <p:sldId xmlns:r="http://schemas.openxmlformats.org/officeDocument/2006/relationships" id="264" r:id="Rb0800cc21dbe4995"/>
    <p:sldId xmlns:r="http://schemas.openxmlformats.org/officeDocument/2006/relationships" id="265" r:id="Rba1ef84558434f35"/>
    <p:sldId xmlns:r="http://schemas.openxmlformats.org/officeDocument/2006/relationships" id="266" r:id="R2d0dfe7959554bb7"/>
    <p:sldId xmlns:r="http://schemas.openxmlformats.org/officeDocument/2006/relationships" id="267" r:id="R8f07bc0b168c4da3"/>
    <p:sldId xmlns:r="http://schemas.openxmlformats.org/officeDocument/2006/relationships" id="268" r:id="Ra8d3a7c4d66f4fee"/>
    <p:sldId xmlns:r="http://schemas.openxmlformats.org/officeDocument/2006/relationships" id="269" r:id="R91d990e0db6f4ec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e82d4f730dc4ca1" /><Relationship Type="http://schemas.openxmlformats.org/officeDocument/2006/relationships/slideMaster" Target="/ppt/slideMasters/slideMaster1.xml" Id="R8901746ec3dd4c8e" /><Relationship Type="http://schemas.openxmlformats.org/officeDocument/2006/relationships/notesMaster" Target="/ppt/notesMasters/notesMaster1.xml" Id="R5d6a9f9e9810472e" /><Relationship Type="http://schemas.openxmlformats.org/officeDocument/2006/relationships/presProps" Target="/ppt/presProps.xml" Id="R1bec58c8e02042a6" /><Relationship Type="http://schemas.openxmlformats.org/officeDocument/2006/relationships/tableStyles" Target="/ppt/tableStyles.xml" Id="Readb4b659c6348c2" /><Relationship Type="http://schemas.openxmlformats.org/officeDocument/2006/relationships/slide" Target="/ppt/slides/slide1.xml" Id="R991b8ac733be4a8d" /><Relationship Type="http://schemas.openxmlformats.org/officeDocument/2006/relationships/slide" Target="/ppt/slides/slide2.xml" Id="R509a829bc7d84e2c" /><Relationship Type="http://schemas.openxmlformats.org/officeDocument/2006/relationships/slide" Target="/ppt/slides/slide3.xml" Id="R688a28a404aa48e7" /><Relationship Type="http://schemas.openxmlformats.org/officeDocument/2006/relationships/slide" Target="/ppt/slides/slide4.xml" Id="Rd87e6c00a0b64f21" /><Relationship Type="http://schemas.openxmlformats.org/officeDocument/2006/relationships/slide" Target="/ppt/slides/slide5.xml" Id="Rec7135b852a949be" /><Relationship Type="http://schemas.openxmlformats.org/officeDocument/2006/relationships/slide" Target="/ppt/slides/slide6.xml" Id="R1fb6548ecec347f8" /><Relationship Type="http://schemas.openxmlformats.org/officeDocument/2006/relationships/slide" Target="/ppt/slides/slide7.xml" Id="R1bfd4317d2614b46" /><Relationship Type="http://schemas.openxmlformats.org/officeDocument/2006/relationships/slide" Target="/ppt/slides/slide8.xml" Id="R6bf3c1e34af54b7f" /><Relationship Type="http://schemas.openxmlformats.org/officeDocument/2006/relationships/slide" Target="/ppt/slides/slide9.xml" Id="Rb0800cc21dbe4995" /><Relationship Type="http://schemas.openxmlformats.org/officeDocument/2006/relationships/slide" Target="/ppt/slides/slide10.xml" Id="Rba1ef84558434f35" /><Relationship Type="http://schemas.openxmlformats.org/officeDocument/2006/relationships/slide" Target="/ppt/slides/slide11.xml" Id="R2d0dfe7959554bb7" /><Relationship Type="http://schemas.openxmlformats.org/officeDocument/2006/relationships/slide" Target="/ppt/slides/slide12.xml" Id="R8f07bc0b168c4da3" /><Relationship Type="http://schemas.openxmlformats.org/officeDocument/2006/relationships/slide" Target="/ppt/slides/slide13.xml" Id="Ra8d3a7c4d66f4fee" /><Relationship Type="http://schemas.openxmlformats.org/officeDocument/2006/relationships/slide" Target="/ppt/slides/slide14.xml" Id="R91d990e0db6f4ec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d1db28ba83e48d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d22f48a5ba749f8" /><Relationship Type="http://schemas.openxmlformats.org/officeDocument/2006/relationships/notesMaster" Target="/ppt/notesMasters/notesMaster1.xml" Id="R42271fd0bd5f47a4" /></Relationships>
</file>

<file path=ppt/notesSlides/_rels/notesSlide2.xml.rels>&#65279;<?xml version="1.0" encoding="utf-8"?><Relationships xmlns="http://schemas.openxmlformats.org/package/2006/relationships"><Relationship Type="http://schemas.openxmlformats.org/officeDocument/2006/relationships/slide" Target="/ppt/slides/slide2.xml" Id="R1fa15b4c8d3348a9" /><Relationship Type="http://schemas.openxmlformats.org/officeDocument/2006/relationships/notesMaster" Target="/ppt/notesMasters/notesMaster1.xml" Id="R08dcd1ec940b45a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9a1c20bec544b32" /><Relationship Type="http://schemas.openxmlformats.org/officeDocument/2006/relationships/notesMaster" Target="/ppt/notesMasters/notesMaster1.xml" Id="R794dbf31dc9c4893" /></Relationships>
</file>

<file path=ppt/notesSlides/_rels/notesSlide4.xml.rels>&#65279;<?xml version="1.0" encoding="utf-8"?><Relationships xmlns="http://schemas.openxmlformats.org/package/2006/relationships"><Relationship Type="http://schemas.openxmlformats.org/officeDocument/2006/relationships/slide" Target="/ppt/slides/slide4.xml" Id="Reb9a6e8a7d864117" /><Relationship Type="http://schemas.openxmlformats.org/officeDocument/2006/relationships/notesMaster" Target="/ppt/notesMasters/notesMaster1.xml" Id="Rd67de3cbf5b5486a" /></Relationships>
</file>

<file path=ppt/notesSlides/_rels/notesSlide5.xml.rels>&#65279;<?xml version="1.0" encoding="utf-8"?><Relationships xmlns="http://schemas.openxmlformats.org/package/2006/relationships"><Relationship Type="http://schemas.openxmlformats.org/officeDocument/2006/relationships/slide" Target="/ppt/slides/slide5.xml" Id="Rb915642a00654a54" /><Relationship Type="http://schemas.openxmlformats.org/officeDocument/2006/relationships/notesMaster" Target="/ppt/notesMasters/notesMaster1.xml" Id="R1c75aeda6c8446ba" /></Relationships>
</file>

<file path=ppt/notesSlides/_rels/notesSlide6.xml.rels>&#65279;<?xml version="1.0" encoding="utf-8"?><Relationships xmlns="http://schemas.openxmlformats.org/package/2006/relationships"><Relationship Type="http://schemas.openxmlformats.org/officeDocument/2006/relationships/slide" Target="/ppt/slides/slide6.xml" Id="R6d073aaed6264461" /><Relationship Type="http://schemas.openxmlformats.org/officeDocument/2006/relationships/notesMaster" Target="/ppt/notesMasters/notesMaster1.xml" Id="R951433ca72de4ba7" /></Relationships>
</file>

<file path=ppt/notesSlides/_rels/notesSlide7.xml.rels>&#65279;<?xml version="1.0" encoding="utf-8"?><Relationships xmlns="http://schemas.openxmlformats.org/package/2006/relationships"><Relationship Type="http://schemas.openxmlformats.org/officeDocument/2006/relationships/slide" Target="/ppt/slides/slide7.xml" Id="R48c9a74be22647b5" /><Relationship Type="http://schemas.openxmlformats.org/officeDocument/2006/relationships/notesMaster" Target="/ppt/notesMasters/notesMaster1.xml" Id="R51da8634f5954c46" /></Relationships>
</file>

<file path=ppt/notesSlides/_rels/notesSlide8.xml.rels>&#65279;<?xml version="1.0" encoding="utf-8"?><Relationships xmlns="http://schemas.openxmlformats.org/package/2006/relationships"><Relationship Type="http://schemas.openxmlformats.org/officeDocument/2006/relationships/slide" Target="/ppt/slides/slide8.xml" Id="Rafc3d5ef268240e6" /><Relationship Type="http://schemas.openxmlformats.org/officeDocument/2006/relationships/notesMaster" Target="/ppt/notesMasters/notesMaster1.xml" Id="R6c0f201ccb9848f9" /></Relationships>
</file>

<file path=ppt/notesSlides/_rels/notesSlide9.xml.rels>&#65279;<?xml version="1.0" encoding="utf-8"?><Relationships xmlns="http://schemas.openxmlformats.org/package/2006/relationships"><Relationship Type="http://schemas.openxmlformats.org/officeDocument/2006/relationships/slide" Target="/ppt/slides/slide9.xml" Id="Rc26114c985444bb9" /><Relationship Type="http://schemas.openxmlformats.org/officeDocument/2006/relationships/notesMaster" Target="/ppt/notesMasters/notesMaster1.xml" Id="Rae669aa1e1b84c6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defe936e39748e8" /><Relationship Type="http://schemas.openxmlformats.org/officeDocument/2006/relationships/notesMaster" Target="/ppt/notesMasters/notesMaster1.xml" Id="R69f64eba068849d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ea7cad8130a4023" /><Relationship Type="http://schemas.openxmlformats.org/officeDocument/2006/relationships/notesMaster" Target="/ppt/notesMasters/notesMaster1.xml" Id="R2744b473b08847e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e183a19fa194bca" /><Relationship Type="http://schemas.openxmlformats.org/officeDocument/2006/relationships/notesMaster" Target="/ppt/notesMasters/notesMaster1.xml" Id="R8e9f98bd6f524d5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b7d9b8958794ed4" /><Relationship Type="http://schemas.openxmlformats.org/officeDocument/2006/relationships/notesMaster" Target="/ppt/notesMasters/notesMaster1.xml" Id="Rd7e30098645044e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9ad727079794dd1" /><Relationship Type="http://schemas.openxmlformats.org/officeDocument/2006/relationships/notesMaster" Target="/ppt/notesMasters/notesMaster1.xml" Id="R3c4aef899e9c44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{"section":"Assessment of the proposal","status":[["Proposal definitions","The candidate specifies inputs and evaluation rules for the displayed cases. Detailed choices still need group review."],["Newly confirmed model gap","This audit established no additional data-model blocker. It does not establish an exhaustive search for missing meaning."],["Implementation evidence","The selected cases work. 7 later audit issues remain failed or unverified."],["Deferred capabilities","Coordinate epochs and scene-authored transformation resources remain on the roadmap. Initial choices must preserve a path to adding them."]]}</a:t>
            </a:r>
          </a:p>
          <a:p xmlns:a="http://schemas.openxmlformats.org/drawingml/2006/main">
            <a:r>
              <a:t>Main explanation: 1–8. Supporting evidence and review choices: 9–14.</a:t>
            </a:r>
          </a:p>
          <a:p xmlns:a="http://schemas.openxmlformats.org/drawingml/2006/main">
            <a:r>
              <a:t>README SHA-256 a45f759d69e14f28301cce5931f6578c8a64ebc8262403a6c8cc3b15b9a0b069</a:t>
            </a:r>
          </a:p>
          <a:p xmlns:a="http://schemas.openxmlformats.org/drawingml/2006/main">
            <a:r>
              <a:t>Proposal SHA-256 1727a552053cfdcdf202e2c84ad1209d1a898fe2eab2e322d51e9c7b4ad7c7c0</a:t>
            </a:r>
          </a:p>
          <a:p xmlns:a="http://schemas.openxmlformats.org/drawingml/2006/main">
            <a:r>
              <a:t>Immutable execution receipt SHA-256 3baf0e2c215e8ac2ea30fb41197242b663469cd51f31ba48dc9e6c0d7b76833c</a:t>
            </a:r>
          </a:p>
          <a:p xmlns:a="http://schemas.openxmlformats.org/drawingml/2006/main">
            <a:r>
              <a:t>Later audit SHA-256 9456363dd93059d7884c0b71a7942f5eed5454ee0d0628e567c2f4856b60a00b</a:t>
            </a:r>
          </a:p>
          <a:p xmlns:a="http://schemas.openxmlformats.org/drawingml/2006/main">
            <a:r>
              <a:t>Explanatory delivery refresh of the same frozen execution, with later audit disclosure. No new runtime execution or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Can a reader distinguish the model's shape from its location on Earth?</a:t>
            </a:r>
          </a:p>
          <a:p xmlns:a="http://schemas.openxmlformats.org/drawingml/2006/main">
            <a:r>
              <a:t>Proposed rule: The scene records local geometry separately from its geographic origin and physical orientation. A coordinate reference system (CRS) defines how to interpret the origin's axes, units and height.</a:t>
            </a:r>
          </a:p>
          <a:p xmlns:a="http://schemas.openxmlformats.org/drawingml/2006/main">
            <a:r>
              <a:t>Expected: A reader has enough source information to place the model, without interpreting longitude or latitude as a distance or adding computed results to the source schema.</a:t>
            </a:r>
          </a:p>
          <a:p xmlns:a="http://schemas.openxmlformats.org/drawingml/2006/main">
            <a:r>
              <a:t>Observed: The candidate defines position and orientation inputs, with concrete component, unit, default and evaluation rules. Ordinary model transforms remain separate.</a:t>
            </a:r>
          </a:p>
          <a:p xmlns:a="http://schemas.openxmlformats.org/drawingml/2006/main">
            <a:r>
              <a:t>Implication for proposal quality: These definitions make the intended inputs explicit. Their usefulness depends on the agreed meanings, not on choosing a particular implementation library.</a:t>
            </a:r>
          </a:p>
          <a:p xmlns:a="http://schemas.openxmlformats.org/drawingml/2006/main">
            <a:r>
              <a:t>Limit: This is an explanation of proposed definitions. The group still needs to review them.</a:t>
            </a:r>
          </a:p>
          <a:p xmlns:a="http://schemas.openxmlformats.org/drawingml/2006/main">
            <a:r>
              <a:t>Proposal: #### Authored properties at proposal/proposal-source.txt:1476</a:t>
            </a:r>
          </a:p>
          <a:p xmlns:a="http://schemas.openxmlformats.org/drawingml/2006/main">
            <a:r>
              <a:t>Functional requirements: [{"id":9,"title":"Positions, and offsets from them.","line":736},{"id":10,"title":"Offsets along the axes of their position.","line":754},{"id":12,"title":"No angle read as a length.","line":790},{"id":14,"title":"Scene conventions stay the scene's.","line":821},{"id":15,"title":"Placement separate from conformance.","line":834}]</a:t>
            </a:r>
          </a:p>
          <a:p xmlns:a="http://schemas.openxmlformats.org/drawingml/2006/main">
            <a:r>
              <a:t>Image role: Recorded numerical evidence</a:t>
            </a:r>
          </a:p>
          <a:p xmlns:a="http://schemas.openxmlformats.org/drawingml/2006/main">
            <a:r>
              <a:t/>
            </a:r>
          </a:p>
          <a:p xmlns:a="http://schemas.openxmlformats.org/drawingml/2006/main">
            <a:r>
              <a:t>README SHA-256 a45f759d69e14f28301cce5931f6578c8a64ebc8262403a6c8cc3b15b9a0b069</a:t>
            </a:r>
          </a:p>
          <a:p xmlns:a="http://schemas.openxmlformats.org/drawingml/2006/main">
            <a:r>
              <a:t>Proposal SHA-256 1727a552053cfdcdf202e2c84ad1209d1a898fe2eab2e322d51e9c7b4ad7c7c0</a:t>
            </a:r>
          </a:p>
          <a:p xmlns:a="http://schemas.openxmlformats.org/drawingml/2006/main">
            <a:r>
              <a:t>Immutable execution receipt SHA-256 3baf0e2c215e8ac2ea30fb41197242b663469cd51f31ba48dc9e6c0d7b76833c</a:t>
            </a:r>
          </a:p>
          <a:p xmlns:a="http://schemas.openxmlformats.org/drawingml/2006/main">
            <a:r>
              <a:t>Later audit SHA-256 9456363dd93059d7884c0b71a7942f5eed5454ee0d0628e567c2f4856b60a00b</a:t>
            </a:r>
          </a:p>
          <a:p xmlns:a="http://schemas.openxmlformats.org/drawingml/2006/main">
            <a:r>
              <a:t>Explanatory delivery refresh of the same frozen execution, with later audit disclosure. No new runtime execution or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Does changing coordinate systems preserve physical placement?</a:t>
            </a:r>
          </a:p>
          <a:p xmlns:a="http://schemas.openxmlformats.org/drawingml/2006/main">
            <a:r>
              <a:t>Proposed rule: CRS conversion expresses the same physical placement using different coordinates. The reader computes projection effects instead of recording them as additional source properties.</a:t>
            </a:r>
          </a:p>
          <a:p xmlns:a="http://schemas.openxmlformats.org/drawingml/2006/main">
            <a:r>
              <a:t>Expected: Longitude and latitude can become map east and north coordinates while the tower stays at the same physical place.</a:t>
            </a:r>
          </a:p>
          <a:p xmlns:a="http://schemas.openxmlformats.org/drawingml/2006/main">
            <a:r>
              <a:t>Observed: The illustration converts longitude, latitude and height into map coordinates. The physical site stays the same; map north and local scale can differ.</a:t>
            </a:r>
          </a:p>
          <a:p xmlns:a="http://schemas.openxmlformats.org/drawingml/2006/main">
            <a:r>
              <a:t>Implication for proposal quality: The proposed rules distinguish a new coordinate representation from a physical move. An image explains this distinction; numerical controls must test it.</a:t>
            </a:r>
          </a:p>
          <a:p xmlns:a="http://schemas.openxmlformats.org/drawingml/2006/main">
            <a:r>
              <a:t>Limit: The location, height and orientation are illustrative. This image explains the proposed math and does not verify surveyed Paris placement.</a:t>
            </a:r>
          </a:p>
          <a:p xmlns:a="http://schemas.openxmlformats.org/drawingml/2006/main">
            <a:r>
              <a:t>Proposal: ### Source placement evaluation and transform order at proposal/proposal-source.txt:1750</a:t>
            </a:r>
          </a:p>
          <a:p xmlns:a="http://schemas.openxmlformats.org/drawingml/2006/main">
            <a:r>
              <a:t>Functional requirements: [{"id":9,"title":"Positions, and offsets from them.","line":736},{"id":12,"title":"No angle read as a length.","line":790},{"id":13,"title":"One axis mapping.","line":804},{"id":16,"title":"One CRS out.","line":846},{"id":19,"title":"Resolution leaves the scene as authored.","line":894}]</a:t>
            </a:r>
          </a:p>
          <a:p xmlns:a="http://schemas.openxmlformats.org/drawingml/2006/main">
            <a:r>
              <a:t>Image role: informative illustration</a:t>
            </a:r>
          </a:p>
          <a:p xmlns:a="http://schemas.openxmlformats.org/drawingml/2006/main">
            <a:r>
              <a:t/>
            </a:r>
          </a:p>
          <a:p xmlns:a="http://schemas.openxmlformats.org/drawingml/2006/main">
            <a:r>
              <a:t>README SHA-256 a45f759d69e14f28301cce5931f6578c8a64ebc8262403a6c8cc3b15b9a0b069</a:t>
            </a:r>
          </a:p>
          <a:p xmlns:a="http://schemas.openxmlformats.org/drawingml/2006/main">
            <a:r>
              <a:t>Proposal SHA-256 1727a552053cfdcdf202e2c84ad1209d1a898fe2eab2e322d51e9c7b4ad7c7c0</a:t>
            </a:r>
          </a:p>
          <a:p xmlns:a="http://schemas.openxmlformats.org/drawingml/2006/main">
            <a:r>
              <a:t>Immutable execution receipt SHA-256 3baf0e2c215e8ac2ea30fb41197242b663469cd51f31ba48dc9e6c0d7b76833c</a:t>
            </a:r>
          </a:p>
          <a:p xmlns:a="http://schemas.openxmlformats.org/drawingml/2006/main">
            <a:r>
              <a:t>Later audit SHA-256 9456363dd93059d7884c0b71a7942f5eed5454ee0d0628e567c2f4856b60a00b</a:t>
            </a:r>
          </a:p>
          <a:p xmlns:a="http://schemas.openxmlformats.org/drawingml/2006/main">
            <a:r>
              <a:t>Explanatory delivery refresh of the same frozen execution, with later audit disclosure. No new runtime execution or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In which coordinates do an author's scale, rotation and translation operate?</a:t>
            </a:r>
          </a:p>
          <a:p xmlns:a="http://schemas.openxmlformats.org/drawingml/2006/main">
            <a:r>
              <a:t>Proposed rule: On an object with its own CRS binding, ordinary USD transforms (xformOps) adjust the resolved placement in a fixed project working frame. The requested output CRS does not reinterpret those adjustment values.</a:t>
            </a:r>
          </a:p>
          <a:p xmlns:a="http://schemas.openxmlformats.org/drawingml/2006/main">
            <a:r>
              <a:t>Expected: A project adjustment moves or resizes the placed model while its source geospatial inputs remain unchanged. The proposal separately specifies how child transforms retain model-local meaning.</a:t>
            </a:r>
          </a:p>
          <a:p xmlns:a="http://schemas.openxmlformats.org/drawingml/2006/main">
            <a:r>
              <a:t>Observed: The illustration applies scale 1.15, rotation 20 degrees, then moves 120 m east and 60 m south. A child-transform control separates two interpretations by 4.222 m.</a:t>
            </a:r>
          </a:p>
          <a:p xmlns:a="http://schemas.openxmlformats.org/drawingml/2006/main">
            <a:r>
              <a:t>Implication for proposal quality: Order changes the result. The control makes the proposed child-transform choice reviewable; matching readers do not establish agreement.</a:t>
            </a:r>
          </a:p>
          <a:p xmlns:a="http://schemas.openxmlformats.org/drawingml/2006/main">
            <a:r>
              <a:t>Limit: The image is informative. The child-transform rule is a proposed clarification, not a claim that the call settled every descendant case.</a:t>
            </a:r>
          </a:p>
          <a:p xmlns:a="http://schemas.openxmlformats.org/drawingml/2006/main">
            <a:r>
              <a:t>Proposal: #### Evaluation at proposal/proposal-source.txt:1788</a:t>
            </a:r>
          </a:p>
          <a:p xmlns:a="http://schemas.openxmlformats.org/drawingml/2006/main">
            <a:r>
              <a:t>Functional requirements: [{"id":9,"title":"Positions, and offsets from them.","line":736},{"id":14,"title":"Scene conventions stay the scene's.","line":821},{"id":15,"title":"Placement separate from conformance.","line":834},{"id":17,"title":"The same answer for every consumer.","line":866},{"id":19,"title":"Resolution leaves the scene as authored.","line":894}]</a:t>
            </a:r>
          </a:p>
          <a:p xmlns:a="http://schemas.openxmlformats.org/drawingml/2006/main">
            <a:r>
              <a:t>Image role: informative illustration</a:t>
            </a:r>
          </a:p>
          <a:p xmlns:a="http://schemas.openxmlformats.org/drawingml/2006/main">
            <a:r>
              <a:t/>
            </a:r>
          </a:p>
          <a:p xmlns:a="http://schemas.openxmlformats.org/drawingml/2006/main">
            <a:r>
              <a:t>README SHA-256 a45f759d69e14f28301cce5931f6578c8a64ebc8262403a6c8cc3b15b9a0b069</a:t>
            </a:r>
          </a:p>
          <a:p xmlns:a="http://schemas.openxmlformats.org/drawingml/2006/main">
            <a:r>
              <a:t>Proposal SHA-256 1727a552053cfdcdf202e2c84ad1209d1a898fe2eab2e322d51e9c7b4ad7c7c0</a:t>
            </a:r>
          </a:p>
          <a:p xmlns:a="http://schemas.openxmlformats.org/drawingml/2006/main">
            <a:r>
              <a:t>Immutable execution receipt SHA-256 3baf0e2c215e8ac2ea30fb41197242b663469cd51f31ba48dc9e6c0d7b76833c</a:t>
            </a:r>
          </a:p>
          <a:p xmlns:a="http://schemas.openxmlformats.org/drawingml/2006/main">
            <a:r>
              <a:t>Later audit SHA-256 9456363dd93059d7884c0b71a7942f5eed5454ee0d0628e567c2f4856b60a00b</a:t>
            </a:r>
          </a:p>
          <a:p xmlns:a="http://schemas.openxmlformats.org/drawingml/2006/main">
            <a:r>
              <a:t>Explanatory delivery refresh of the same frozen execution, with later audit disclosure. No new runtime execution or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Can separate implementations derive the same coordinates from the proposed inputs and rules?</a:t>
            </a:r>
          </a:p>
          <a:p xmlns:a="http://schemas.openxmlformats.org/drawingml/2006/main">
            <a:r>
              <a:t>Proposed rule: Consumers use the same declared coordinate meanings and resolution rules for a requested output. Agreement must be assessed with declared units and numerical evidence.</a:t>
            </a:r>
          </a:p>
          <a:p xmlns:a="http://schemas.openxmlformats.org/drawingml/2006/main">
            <a:r>
              <a:t>Expected: Python and C++ readers resolve the same partner points into matching output coordinates within the recorded tolerance.</a:t>
            </a:r>
          </a:p>
          <a:p xmlns:a="http://schemas.openxmlformats.org/drawingml/2006/main">
            <a:r>
              <a:t>Observed: France and Colorado points resolve through both readers. The maximum measured difference over the recorded coordinates is 3.39e-08 m.</a:t>
            </a:r>
          </a:p>
          <a:p xmlns:a="http://schemas.openxmlformats.org/drawingml/2006/main">
            <a:r>
              <a:t>Implication for proposal quality: The compared cases support reproducible interpretation of the proposed placement rules. They do not establish coverage of every rule or every input layout.</a:t>
            </a:r>
          </a:p>
          <a:p xmlns:a="http://schemas.openxmlformats.org/drawingml/2006/main">
            <a:r>
              <a:t>Limit: Both readers use PROJ, the same CRS conversion library, and share native dataset decoding. Agreement therefore does not independently verify geodetic accuracy or detect shared mistakes. The later audit also finds incomplete per-component and angular error reporting.</a:t>
            </a:r>
          </a:p>
          <a:p xmlns:a="http://schemas.openxmlformats.org/drawingml/2006/main">
            <a:r>
              <a:t>Proposal: ### Extent and result comparison at proposal/proposal-source.txt:1919</a:t>
            </a:r>
          </a:p>
          <a:p xmlns:a="http://schemas.openxmlformats.org/drawingml/2006/main">
            <a:r>
              <a:t>Functional requirements: [{"id":4,"title":"A site's own grid is a CRS like any other.","line":633},{"id":13,"title":"One axis mapping.","line":804},{"id":16,"title":"One CRS out.","line":846},{"id":17,"title":"The same answer for every consumer.","line":866},{"id":18,"title":"Coordinates back out.","line":879},{"id":28,"title":"A result says what produced it.","line":1052},{"id":29,"title":"Implementable from the text alone.","line":1070}]</a:t>
            </a:r>
          </a:p>
          <a:p xmlns:a="http://schemas.openxmlformats.org/drawingml/2006/main">
            <a:r>
              <a:t>Image role: Recorded numerical evidence</a:t>
            </a:r>
          </a:p>
          <a:p xmlns:a="http://schemas.openxmlformats.org/drawingml/2006/main">
            <a:r>
              <a:t>The tables round one point per dataset to six decimals in their declared units. Shared PROJ and decoding limit independence. Required component/angular reports remain incomplete (audit A6). {"France_01":{"source":[1661099.039,8180053.117,37.298],"source_label":"CC49","target_label":"Lambert-93","unit":"m","python":[661101.1094171533,6857834.256535667,37.297999998112694],"native":[661101.1094171533,6857834.256535667,37.298000000906654],"ov":[661101.1094171533,6857834.256535667,37.297999998112694]},"Colorado_02":{"source":[3108002.1122,1752265.0666,5482.9424],"source_label":"State Plane","target_label":"Westminster site grid","unit":"ftUS","python":[3108871.450100667,1206317.4694031866,5484.677949332321],"native":[3108871.450100667,1206317.469403112,5484.677949268161],"ov":[3108871.450100667,1206317.4694031866,5484.677949332321]}}</a:t>
            </a:r>
          </a:p>
          <a:p xmlns:a="http://schemas.openxmlformats.org/drawingml/2006/main">
            <a:r>
              <a:t>README SHA-256 a45f759d69e14f28301cce5931f6578c8a64ebc8262403a6c8cc3b15b9a0b069</a:t>
            </a:r>
          </a:p>
          <a:p xmlns:a="http://schemas.openxmlformats.org/drawingml/2006/main">
            <a:r>
              <a:t>Proposal SHA-256 1727a552053cfdcdf202e2c84ad1209d1a898fe2eab2e322d51e9c7b4ad7c7c0</a:t>
            </a:r>
          </a:p>
          <a:p xmlns:a="http://schemas.openxmlformats.org/drawingml/2006/main">
            <a:r>
              <a:t>Immutable execution receipt SHA-256 3baf0e2c215e8ac2ea30fb41197242b663469cd51f31ba48dc9e6c0d7b76833c</a:t>
            </a:r>
          </a:p>
          <a:p xmlns:a="http://schemas.openxmlformats.org/drawingml/2006/main">
            <a:r>
              <a:t>Later audit SHA-256 9456363dd93059d7884c0b71a7942f5eed5454ee0d0628e567c2f4856b60a00b</a:t>
            </a:r>
          </a:p>
          <a:p xmlns:a="http://schemas.openxmlformats.org/drawingml/2006/main">
            <a:r>
              <a:t>Explanatory delivery refresh of the same frozen execution, with later audit disclosure. No new runtime execution or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Can a renderer use the result without implementing geospatial evaluation?</a:t>
            </a:r>
          </a:p>
          <a:p xmlns:a="http://schemas.openxmlformats.org/drawingml/2006/main">
            <a:r>
              <a:t>Proposed rule: An explicit bake creates a derived copy containing resolved geometry and ordinary transforms. It retains the output coordinate context and applies each placement effect once.</a:t>
            </a:r>
          </a:p>
          <a:p xmlns:a="http://schemas.openxmlformats.org/drawingml/2006/main">
            <a:r>
              <a:t>Expected: A USD renderer reads the derived copy as ordinary geometry while the source scene keeps its authored geospatial inputs.</a:t>
            </a:r>
          </a:p>
          <a:p xmlns:a="http://schemas.openxmlformats.org/drawingml/2006/main">
            <a:r>
              <a:t>Observed: The C++ reader's resolved Eiffel copy reaches Hydra/Storm, a USD rendering path. This image is actual output from the recorded run.</a:t>
            </a:r>
          </a:p>
          <a:p xmlns:a="http://schemas.openxmlformats.org/drawingml/2006/main">
            <a:r>
              <a:t>Implication for proposal quality: This case shows compatibility with an ordinary USD renderer. A separate nested-geometry failure prevents a claim that every bake is correct.</a:t>
            </a:r>
          </a:p>
          <a:p xmlns:a="http://schemas.openxmlformats.org/drawingml/2006/main">
            <a:r>
              <a:t>Limit: The ground plane is illustrative, without surveyed Paris context. This run has no geospatial Hydra filter or Omniverse render proof. Other bake diagnostics fail, as listed below.</a:t>
            </a:r>
          </a:p>
          <a:p xmlns:a="http://schemas.openxmlformats.org/drawingml/2006/main">
            <a:r>
              <a:t>Proposal: ### Explicit export and sampling at proposal/proposal-source.txt:1972</a:t>
            </a:r>
          </a:p>
          <a:p xmlns:a="http://schemas.openxmlformats.org/drawingml/2006/main">
            <a:r>
              <a:t>Functional requirements: [{"id":17,"title":"The same answer for every consumer.","line":866},{"id":19,"title":"Resolution leaves the scene as authored.","line":894},{"id":23,"title":"Detail that does not depend on location.","line":992},{"id":25,"title":"Additive for consumers that ignore it.","line":1016},{"id":29,"title":"Implementable from the text alone.","line":1070}]</a:t>
            </a:r>
          </a:p>
          <a:p xmlns:a="http://schemas.openxmlformats.org/drawingml/2006/main">
            <a:r>
              <a:t>Image role: recorded native render</a:t>
            </a:r>
          </a:p>
          <a:p xmlns:a="http://schemas.openxmlformats.org/drawingml/2006/main">
            <a:r>
              <a:t/>
            </a:r>
          </a:p>
          <a:p xmlns:a="http://schemas.openxmlformats.org/drawingml/2006/main">
            <a:r>
              <a:t>README SHA-256 a45f759d69e14f28301cce5931f6578c8a64ebc8262403a6c8cc3b15b9a0b069</a:t>
            </a:r>
          </a:p>
          <a:p xmlns:a="http://schemas.openxmlformats.org/drawingml/2006/main">
            <a:r>
              <a:t>Proposal SHA-256 1727a552053cfdcdf202e2c84ad1209d1a898fe2eab2e322d51e9c7b4ad7c7c0</a:t>
            </a:r>
          </a:p>
          <a:p xmlns:a="http://schemas.openxmlformats.org/drawingml/2006/main">
            <a:r>
              <a:t>Immutable execution receipt SHA-256 3baf0e2c215e8ac2ea30fb41197242b663469cd51f31ba48dc9e6c0d7b76833c</a:t>
            </a:r>
          </a:p>
          <a:p xmlns:a="http://schemas.openxmlformats.org/drawingml/2006/main">
            <a:r>
              <a:t>Later audit SHA-256 9456363dd93059d7884c0b71a7942f5eed5454ee0d0628e567c2f4856b60a00b</a:t>
            </a:r>
          </a:p>
          <a:p xmlns:a="http://schemas.openxmlformats.org/drawingml/2006/main">
            <a:r>
              <a:t>Explanatory delivery refresh of the same frozen execution, with later audit disclosure. No new runtime execution or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Can the scene make a native measurement dataset usable without rewriting its values or guessing what its coordinates mean?</a:t>
            </a:r>
          </a:p>
          <a:p xmlns:a="http://schemas.openxmlformats.org/drawingml/2006/main">
            <a:r>
              <a:t>Proposed rule: The scene identifies the asset, field and coordinate domain. The reader resolves sample locations while preserving their association with values, missing-data masks and observation times.</a:t>
            </a:r>
          </a:p>
          <a:p xmlns:a="http://schemas.openxmlformats.org/drawingml/2006/main">
            <a:r>
              <a:t>Expected: The same sample keeps the same measurement value and observation time whether its location is returned as longitude/latitude/height or Earth-centred Cartesian coordinates.</a:t>
            </a:r>
          </a:p>
          <a:p xmlns:a="http://schemas.openxmlformats.org/drawingml/2006/main">
            <a:r>
              <a:t>Observed: The synthetic global temperature case returns both coordinate forms for 154 samples and preserves the native values and two observation times.</a:t>
            </a:r>
          </a:p>
          <a:p xmlns:a="http://schemas.openxmlformats.org/drawingml/2006/main">
            <a:r>
              <a:t>Implication for proposal quality: The example exercises larger-scale analytical use, beyond model rendering. The proposal's association rule also identifies the later shared-decoder mistake as a failure.</a:t>
            </a:r>
          </a:p>
          <a:p xmlns:a="http://schemas.openxmlformats.org/drawingml/2006/main">
            <a:r>
              <a:t>Limit: The heatmap contains synthetic temperatures in kelvin. A different array layout mispairs four of six values and locations. This passing case does not establish support for every layout.</a:t>
            </a:r>
          </a:p>
          <a:p xmlns:a="http://schemas.openxmlformats.org/drawingml/2006/main">
            <a:r>
              <a:t>Proposal: ### External measurement association at proposal/proposal-source.txt:1558</a:t>
            </a:r>
          </a:p>
          <a:p xmlns:a="http://schemas.openxmlformats.org/drawingml/2006/main">
            <a:r>
              <a:t>Functional requirements: [{"id":8,"title":"Brought-in data keeps its coordinates and its CRS.","line":710},{"id":12,"title":"No angle read as a length.","line":790},{"id":18,"title":"Coordinates back out.","line":879},{"id":19,"title":"Resolution leaves the scene as authored.","line":894},{"id":21,"title":"Never placed by a guess.","line":930},{"id":30,"title":"Measurements remain usable as data.","line":962}]</a:t>
            </a:r>
          </a:p>
          <a:p xmlns:a="http://schemas.openxmlformats.org/drawingml/2006/main">
            <a:r>
              <a:t>Image role: plot of recorded synthetic data</a:t>
            </a:r>
          </a:p>
          <a:p xmlns:a="http://schemas.openxmlformats.org/drawingml/2006/main">
            <a:r>
              <a:t/>
            </a:r>
          </a:p>
          <a:p xmlns:a="http://schemas.openxmlformats.org/drawingml/2006/main">
            <a:r>
              <a:t>README SHA-256 a45f759d69e14f28301cce5931f6578c8a64ebc8262403a6c8cc3b15b9a0b069</a:t>
            </a:r>
          </a:p>
          <a:p xmlns:a="http://schemas.openxmlformats.org/drawingml/2006/main">
            <a:r>
              <a:t>Proposal SHA-256 1727a552053cfdcdf202e2c84ad1209d1a898fe2eab2e322d51e9c7b4ad7c7c0</a:t>
            </a:r>
          </a:p>
          <a:p xmlns:a="http://schemas.openxmlformats.org/drawingml/2006/main">
            <a:r>
              <a:t>Immutable execution receipt SHA-256 3baf0e2c215e8ac2ea30fb41197242b663469cd51f31ba48dc9e6c0d7b76833c</a:t>
            </a:r>
          </a:p>
          <a:p xmlns:a="http://schemas.openxmlformats.org/drawingml/2006/main">
            <a:r>
              <a:t>Later audit SHA-256 9456363dd93059d7884c0b71a7942f5eed5454ee0d0628e567c2f4856b60a00b</a:t>
            </a:r>
          </a:p>
          <a:p xmlns:a="http://schemas.openxmlformats.org/drawingml/2006/main">
            <a:r>
              <a:t>Explanatory delivery refresh of the same frozen execution, with later audit disclosure. No new runtime execution or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{"section":"What the later audit changes","status":[["Proposal definitions","The candidate specifies inputs and evaluation rules for the displayed cases. Detailed choices still need group review."],["Newly confirmed model gap","This audit established no additional data-model blocker. It does not establish an exhaustive search for missing meaning."],["Implementation evidence","The selected cases work. 7 later audit issues remain failed or unverified."],["Deferred capabilities","Coordinate epochs and scene-authored transformation resources remain on the roadmap. Initial choices must preserve a path to adding them."]],"issues":[["Surface lighting directions","A private sampling shortcut has no justified error bound. One projected case differs by about 1.24 degrees."],["Repeated models","A referenced model outside the bound subtree fails instead of receiving the instancer's placement."],["Baked geometry","Two source triangles become three output triangles. The check misses the extra geometry."],["Measurement locations","A different array dimension order pairs four of six values with the wrong locations. Both readers share this decoder."],["Other scene information","The bake removes an unrelated MotionAPI schema application, changing other scene meaning."],["Error reporting","Reports omit required per-component errors and separate angular errors."],["Invalid input detection","An invalid placement attribute on an inherited-only child is silently ignored."]]}</a:t>
            </a:r>
          </a:p>
          <a:p xmlns:a="http://schemas.openxmlformats.org/drawingml/2006/main">
            <a:r>
              <a:t>No additional model blocker was established by this audit; this is not an exhaustive finding. R1 remains unreproduced.</a:t>
            </a:r>
          </a:p>
          <a:p xmlns:a="http://schemas.openxmlformats.org/drawingml/2006/main">
            <a:r>
              <a:t>README SHA-256 a45f759d69e14f28301cce5931f6578c8a64ebc8262403a6c8cc3b15b9a0b069</a:t>
            </a:r>
          </a:p>
          <a:p xmlns:a="http://schemas.openxmlformats.org/drawingml/2006/main">
            <a:r>
              <a:t>Proposal SHA-256 1727a552053cfdcdf202e2c84ad1209d1a898fe2eab2e322d51e9c7b4ad7c7c0</a:t>
            </a:r>
          </a:p>
          <a:p xmlns:a="http://schemas.openxmlformats.org/drawingml/2006/main">
            <a:r>
              <a:t>Immutable execution receipt SHA-256 3baf0e2c215e8ac2ea30fb41197242b663469cd51f31ba48dc9e6c0d7b76833c</a:t>
            </a:r>
          </a:p>
          <a:p xmlns:a="http://schemas.openxmlformats.org/drawingml/2006/main">
            <a:r>
              <a:t>Later audit SHA-256 9456363dd93059d7884c0b71a7942f5eed5454ee0d0628e567c2f4856b60a00b</a:t>
            </a:r>
          </a:p>
          <a:p xmlns:a="http://schemas.openxmlformats.org/drawingml/2006/main">
            <a:r>
              <a:t>Explanatory delivery refresh of the same frozen execution, with later audit disclosure. No new runtime execution or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Can a project's local survey grid participate as a defined CRS?</a:t>
            </a:r>
          </a:p>
          <a:p xmlns:a="http://schemas.openxmlformats.org/drawingml/2006/main">
            <a:r>
              <a:t>Proposed rule: Site calibration records how a local survey grid relates to a broader coordinate system. The source WKT, a standard text description, carries that relationship and its units.</a:t>
            </a:r>
          </a:p>
          <a:p xmlns:a="http://schemas.openxmlformats.org/drawingml/2006/main">
            <a:r>
              <a:t>Expected: The partner survey resolves into the calibrated site grid using US survey feet, separately from the scene's model units and up direction.</a:t>
            </a:r>
          </a:p>
          <a:p xmlns:a="http://schemas.openxmlformats.org/drawingml/2006/main">
            <a:r>
              <a:t>Observed: The original LandXML survey breaklines resolve and reach an ordinary USD bake rendered by Storm.</a:t>
            </a:r>
          </a:p>
          <a:p xmlns:a="http://schemas.openxmlformats.org/drawingml/2006/main">
            <a:r>
              <a:t>Implication for proposal quality: The case supports a site's calibrated CRS using partner survey lines. It does not establish independent survey accuracy.</a:t>
            </a:r>
          </a:p>
          <a:p xmlns:a="http://schemas.openxmlformats.org/drawingml/2006/main">
            <a:r>
              <a:t>Limit: The image shows survey breaklines. It does not independently validate the survey or certify a continuous terrain surface.</a:t>
            </a:r>
          </a:p>
          <a:p xmlns:a="http://schemas.openxmlformats.org/drawingml/2006/main">
            <a:r>
              <a:t>Proposal: #### Decision on question 7: site calibration at proposal/proposal-source.txt:1247</a:t>
            </a:r>
          </a:p>
          <a:p xmlns:a="http://schemas.openxmlformats.org/drawingml/2006/main">
            <a:r>
              <a:t>Functional requirements: [{"id":4,"title":"A site's own grid is a CRS like any other.","line":633},{"id":14,"title":"Scene conventions stay the scene's.","line":821},{"id":15,"title":"Placement separate from conformance.","line":834},{"id":17,"title":"The same answer for every consumer.","line":866}]</a:t>
            </a:r>
          </a:p>
          <a:p xmlns:a="http://schemas.openxmlformats.org/drawingml/2006/main">
            <a:r>
              <a:t>Image role: recorded native render</a:t>
            </a:r>
          </a:p>
          <a:p xmlns:a="http://schemas.openxmlformats.org/drawingml/2006/main">
            <a:r>
              <a:t/>
            </a:r>
          </a:p>
          <a:p xmlns:a="http://schemas.openxmlformats.org/drawingml/2006/main">
            <a:r>
              <a:t>README SHA-256 a45f759d69e14f28301cce5931f6578c8a64ebc8262403a6c8cc3b15b9a0b069</a:t>
            </a:r>
          </a:p>
          <a:p xmlns:a="http://schemas.openxmlformats.org/drawingml/2006/main">
            <a:r>
              <a:t>Proposal SHA-256 1727a552053cfdcdf202e2c84ad1209d1a898fe2eab2e322d51e9c7b4ad7c7c0</a:t>
            </a:r>
          </a:p>
          <a:p xmlns:a="http://schemas.openxmlformats.org/drawingml/2006/main">
            <a:r>
              <a:t>Immutable execution receipt SHA-256 3baf0e2c215e8ac2ea30fb41197242b663469cd51f31ba48dc9e6c0d7b76833c</a:t>
            </a:r>
          </a:p>
          <a:p xmlns:a="http://schemas.openxmlformats.org/drawingml/2006/main">
            <a:r>
              <a:t>Later audit SHA-256 9456363dd93059d7884c0b71a7942f5eed5454ee0d0628e567c2f4856b60a00b</a:t>
            </a:r>
          </a:p>
          <a:p xmlns:a="http://schemas.openxmlformats.org/drawingml/2006/main">
            <a:r>
              <a:t>Explanatory delivery refresh of the same frozen execution, with later audit disclosure. No new runtime execution or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Can incomplete source metadata still support an honestly limited workflow?</a:t>
            </a:r>
          </a:p>
          <a:p xmlns:a="http://schemas.openxmlformats.org/drawingml/2006/main">
            <a:r>
              <a:t>Proposed rule: A consumer does not invent missing coordinate meaning. An explicitly horizontal association can support horizontal resolution while leaving uninterpreted third components unchanged.</a:t>
            </a:r>
          </a:p>
          <a:p xmlns:a="http://schemas.openxmlformats.org/drawingml/2006/main">
            <a:r>
              <a:t>Expected: The horizontal copy resolves into the UTM 32 map system. The original GeoJSON remains unchanged, and no height reference is guessed.</a:t>
            </a:r>
          </a:p>
          <a:p xmlns:a="http://schemas.openxmlformats.org/drawingml/2006/main">
            <a:r>
              <a:t>Observed: The horizontal railway copy resolves 15,822 vertices across 2,386 parts. The plot uses display-only offsets.</a:t>
            </a:r>
          </a:p>
          <a:p xmlns:a="http://schemas.openxmlformats.org/drawingml/2006/main">
            <a:r>
              <a:t>Implication for proposal quality: This case exercises visible limits on interpretation, not a silent assumption that every three-number tuple is a valid geographic 3D position.</a:t>
            </a:r>
          </a:p>
          <a:p xmlns:a="http://schemas.openxmlformats.org/drawingml/2006/main">
            <a:r>
              <a:t>Limit: The original third components remain uninterpreted. This demonstration supports horizontal placement only.</a:t>
            </a:r>
          </a:p>
          <a:p xmlns:a="http://schemas.openxmlformats.org/drawingml/2006/main">
            <a:r>
              <a:t>Proposal: ### External measurement association at proposal/proposal-source.txt:1558</a:t>
            </a:r>
          </a:p>
          <a:p xmlns:a="http://schemas.openxmlformats.org/drawingml/2006/main">
            <a:r>
              <a:t>Functional requirements: [{"id":8,"title":"Brought-in data keeps its coordinates and its CRS.","line":710},{"id":12,"title":"No angle read as a length.","line":790},{"id":19,"title":"Resolution leaves the scene as authored.","line":894},{"id":21,"title":"Never placed by a guess.","line":930}]</a:t>
            </a:r>
          </a:p>
          <a:p xmlns:a="http://schemas.openxmlformats.org/drawingml/2006/main">
            <a:r>
              <a:t>Image role: plot of recorded resolved geometry</a:t>
            </a:r>
          </a:p>
          <a:p xmlns:a="http://schemas.openxmlformats.org/drawingml/2006/main">
            <a:r>
              <a:t/>
            </a:r>
          </a:p>
          <a:p xmlns:a="http://schemas.openxmlformats.org/drawingml/2006/main">
            <a:r>
              <a:t>README SHA-256 a45f759d69e14f28301cce5931f6578c8a64ebc8262403a6c8cc3b15b9a0b069</a:t>
            </a:r>
          </a:p>
          <a:p xmlns:a="http://schemas.openxmlformats.org/drawingml/2006/main">
            <a:r>
              <a:t>Proposal SHA-256 1727a552053cfdcdf202e2c84ad1209d1a898fe2eab2e322d51e9c7b4ad7c7c0</a:t>
            </a:r>
          </a:p>
          <a:p xmlns:a="http://schemas.openxmlformats.org/drawingml/2006/main">
            <a:r>
              <a:t>Immutable execution receipt SHA-256 3baf0e2c215e8ac2ea30fb41197242b663469cd51f31ba48dc9e6c0d7b76833c</a:t>
            </a:r>
          </a:p>
          <a:p xmlns:a="http://schemas.openxmlformats.org/drawingml/2006/main">
            <a:r>
              <a:t>Later audit SHA-256 9456363dd93059d7884c0b71a7942f5eed5454ee0d0628e567c2f4856b60a00b</a:t>
            </a:r>
          </a:p>
          <a:p xmlns:a="http://schemas.openxmlformats.org/drawingml/2006/main">
            <a:r>
              <a:t>Explanatory delivery refresh of the same frozen execution, with later audit disclosure. No new runtime execution or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Does the proposal say how to resolve positions between authored moments?</a:t>
            </a:r>
          </a:p>
          <a:p xmlns:a="http://schemas.openxmlformats.org/drawingml/2006/main">
            <a:r>
              <a:t>Proposed rule: Interpolate the authored source location first, then convert coordinates. Interpolating already-converted endpoints can produce a different path.</a:t>
            </a:r>
          </a:p>
          <a:p xmlns:a="http://schemas.openxmlformats.org/drawingml/2006/main">
            <a:r>
              <a:t>Expected: At the middle sample, both readers return the converted source-interpolated position. An ordinary bake states exactly which samples it preserves.</a:t>
            </a:r>
          </a:p>
          <a:p xmlns:a="http://schemas.openxmlformats.org/drawingml/2006/main">
            <a:r>
              <a:t>Observed: In the equatorial test, the source longitude spans 0 to 2 degrees. Interpolating converted endpoints misses the source-first midpoint by 971.421 m.</a:t>
            </a:r>
          </a:p>
          <a:p xmlns:a="http://schemas.openxmlformats.org/drawingml/2006/main">
            <a:r>
              <a:t>Implication for proposal quality: The distinguishing control makes the ordering rule testable. Preserving sample times alone cannot prove preservation of the original trajectory between samples.</a:t>
            </a:r>
          </a:p>
          <a:p xmlns:a="http://schemas.openxmlformats.org/drawingml/2006/main">
            <a:r>
              <a:t>Limit: The bake preserves time codes 0, 5, 10 and 48 time codes per second. It provides no original-trajectory guarantee between those samples.</a:t>
            </a:r>
          </a:p>
          <a:p xmlns:a="http://schemas.openxmlformats.org/drawingml/2006/main">
            <a:r>
              <a:t>Proposal: #### Evaluation at proposal/proposal-source.txt:1788</a:t>
            </a:r>
          </a:p>
          <a:p xmlns:a="http://schemas.openxmlformats.org/drawingml/2006/main">
            <a:r>
              <a:t>Functional requirements: [{"id":20,"title":"Positions between recorded moments.","line":913},{"id":29,"title":"Implementable from the text alone.","line":1070}]</a:t>
            </a:r>
          </a:p>
          <a:p xmlns:a="http://schemas.openxmlformats.org/drawingml/2006/main">
            <a:r>
              <a:t>Image role: Recorded numerical evidence</a:t>
            </a:r>
          </a:p>
          <a:p xmlns:a="http://schemas.openxmlformats.org/drawingml/2006/main">
            <a:r>
              <a:t>The chart uses literal values from frozen source samples [[6378137,0,0],[6377165.5788417,111313.83923667613,0],[6374251.6112710945,222593.77119959943,0]]; midpoint difference 971.4211583005459 m. Whole-metre chart labels; six-decimal workbook values. No continuous error curve is claimed.</a:t>
            </a:r>
          </a:p>
          <a:p xmlns:a="http://schemas.openxmlformats.org/drawingml/2006/main">
            <a:r>
              <a:t>README SHA-256 a45f759d69e14f28301cce5931f6578c8a64ebc8262403a6c8cc3b15b9a0b069</a:t>
            </a:r>
          </a:p>
          <a:p xmlns:a="http://schemas.openxmlformats.org/drawingml/2006/main">
            <a:r>
              <a:t>Proposal SHA-256 1727a552053cfdcdf202e2c84ad1209d1a898fe2eab2e322d51e9c7b4ad7c7c0</a:t>
            </a:r>
          </a:p>
          <a:p xmlns:a="http://schemas.openxmlformats.org/drawingml/2006/main">
            <a:r>
              <a:t>Immutable execution receipt SHA-256 3baf0e2c215e8ac2ea30fb41197242b663469cd51f31ba48dc9e6c0d7b76833c</a:t>
            </a:r>
          </a:p>
          <a:p xmlns:a="http://schemas.openxmlformats.org/drawingml/2006/main">
            <a:r>
              <a:t>Later audit SHA-256 9456363dd93059d7884c0b71a7942f5eed5454ee0d0628e567c2f4856b60a00b</a:t>
            </a:r>
          </a:p>
          <a:p xmlns:a="http://schemas.openxmlformats.org/drawingml/2006/main">
            <a:r>
              <a:t>Explanatory delivery refresh of the same frozen execution, with later audit disclosure. No new runtime execution or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{"section":"Proposed choices awaiting agreement","status":[["Proposal definitions","The candidate specifies inputs and evaluation rules for the displayed cases. Detailed choices still need group review."],["Newly confirmed model gap","This audit established no additional data-model blocker. It does not establish an exhaustive search for missing meaning."],["Implementation evidence","The selected cases work. 7 later audit issues remain failed or unverified."],["Deferred capabilities","Coordinate epochs and scene-authored transformation resources remain on the roadmap. Initial choices must preserve a path to adding them."]]}</a:t>
            </a:r>
          </a:p>
          <a:p xmlns:a="http://schemas.openxmlformats.org/drawingml/2006/main">
            <a:r>
              <a:t>[["Physical orientation","Record model orientation relative to local east, north and up. A different map projection does not redefine it."],["The object with its own georeference","Its ordinary scale, rotation and translation adjust placed geometry in a fixed project frame."],["Child objects","Child transforms define model-local geometry. Their offsets follow model axes instead of being silently reinterpreted as map axes."],["Independently georeferenced repeated models","Keep a prototype's own geographic placement and apply each instance effect once."],["Geographic queries and scene geometry","Return longitude/latitude/height for geographic queries. Cartesian geometry and bounds use the datum's Earth-centred frame."]]</a:t>
            </a:r>
          </a:p>
          <a:p xmlns:a="http://schemas.openxmlformats.org/drawingml/2006/main">
            <a:r>
              <a:t>README SHA-256 a45f759d69e14f28301cce5931f6578c8a64ebc8262403a6c8cc3b15b9a0b069</a:t>
            </a:r>
          </a:p>
          <a:p xmlns:a="http://schemas.openxmlformats.org/drawingml/2006/main">
            <a:r>
              <a:t>Proposal SHA-256 1727a552053cfdcdf202e2c84ad1209d1a898fe2eab2e322d51e9c7b4ad7c7c0</a:t>
            </a:r>
          </a:p>
          <a:p xmlns:a="http://schemas.openxmlformats.org/drawingml/2006/main">
            <a:r>
              <a:t>Immutable execution receipt SHA-256 3baf0e2c215e8ac2ea30fb41197242b663469cd51f31ba48dc9e6c0d7b76833c</a:t>
            </a:r>
          </a:p>
          <a:p xmlns:a="http://schemas.openxmlformats.org/drawingml/2006/main">
            <a:r>
              <a:t>Later audit SHA-256 9456363dd93059d7884c0b71a7942f5eed5454ee0d0628e567c2f4856b60a00b</a:t>
            </a:r>
          </a:p>
          <a:p xmlns:a="http://schemas.openxmlformats.org/drawingml/2006/main">
            <a:r>
              <a:t>Explanatory delivery refresh of the same frozen execution, with later audit disclosure. No new runtime execution or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{"section":"Proposed choices awaiting agreement","status":[["Proposal definitions","The candidate specifies inputs and evaluation rules for the displayed cases. Detailed choices still need group review."],["Newly confirmed model gap","This audit established no additional data-model blocker. It does not establish an exhaustive search for missing meaning."],["Implementation evidence","The selected cases work. 7 later audit issues remain failed or unverified."],["Deferred capabilities","Coordinate epochs and scene-authored transformation resources remain on the roadmap. Initial choices must preserve a path to adding them."]]}</a:t>
            </a:r>
          </a:p>
          <a:p xmlns:a="http://schemas.openxmlformats.org/drawingml/2006/main">
            <a:r>
              <a:t>[["Native data association","Name the asset, format, field and coordinate domain. Preserve the association between values, locations and observation times."],["WKT string normalization","A prescribed text form supports token comparison. Different normalized texts can still describe equivalent CRSs."],["Semantic CRS comparison","Specify equivalence criteria and the comparison domain, accounting for relevant axes, units and metadata."],["Dependency declaration using Profiles","Declare the composed scene's need for geospatial interpretation, including unloaded content. Writers and assemblers maintain the declaration."],["Baked output context","Keep a Cartesian CRS context without an active placement binding, so readers do not apply georeferencing a second time."]]</a:t>
            </a:r>
          </a:p>
          <a:p xmlns:a="http://schemas.openxmlformats.org/drawingml/2006/main">
            <a:r>
              <a:t>README SHA-256 a45f759d69e14f28301cce5931f6578c8a64ebc8262403a6c8cc3b15b9a0b069</a:t>
            </a:r>
          </a:p>
          <a:p xmlns:a="http://schemas.openxmlformats.org/drawingml/2006/main">
            <a:r>
              <a:t>Proposal SHA-256 1727a552053cfdcdf202e2c84ad1209d1a898fe2eab2e322d51e9c7b4ad7c7c0</a:t>
            </a:r>
          </a:p>
          <a:p xmlns:a="http://schemas.openxmlformats.org/drawingml/2006/main">
            <a:r>
              <a:t>Immutable execution receipt SHA-256 3baf0e2c215e8ac2ea30fb41197242b663469cd51f31ba48dc9e6c0d7b76833c</a:t>
            </a:r>
          </a:p>
          <a:p xmlns:a="http://schemas.openxmlformats.org/drawingml/2006/main">
            <a:r>
              <a:t>Later audit SHA-256 9456363dd93059d7884c0b71a7942f5eed5454ee0d0628e567c2f4856b60a00b</a:t>
            </a:r>
          </a:p>
          <a:p xmlns:a="http://schemas.openxmlformats.org/drawingml/2006/main">
            <a:r>
              <a:t>Explanatory delivery refresh of the same frozen execution, with later audit disclosure. No new runtime execution or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{"section":"Detailed evidence","status":[["Proposal definitions","The candidate specifies inputs and evaluation rules for the displayed cases. Detailed choices still need group review."],["Newly confirmed model gap","This audit established no additional data-model blocker. It does not establish an exhaustive search for missing meaning."],["Implementation evidence","The selected cases work. 7 later audit issues remain failed or unverified."],["Deferred capabilities","Coordinate epochs and scene-authored transformation resources remain on the roadmap. Initial choices must preserve a path to adding them."]]}</a:t>
            </a:r>
          </a:p>
          <a:p xmlns:a="http://schemas.openxmlformats.org/drawingml/2006/main">
            <a:r>
              <a:t>[["Python and C++ readers","213,231 coordinate results per reader. Maximum measured difference 3.39e-08 m. They share PROJ and native dataset decoding."],["Omniverse stage geometry integration","Reuses Python placement. Recorded readback covers 177,864 geometry vertices and 36 edit, failure and recovery checks, across 35 jobs."],["Hydra / Storm","Two selected ordinary USD bakes reach native rendering. This consumer path uses the C++ placement results."],["Recorded tests","64 regressions and 61 distinguishing controls passed. The later audit exposes cases the suite missed."],["Source preservation","Original inputs and 40 executed source-file hashes remain unchanged. The immutable receipt identifies the executed content."],["Bake readbacks","11 selected exports were checked. The later nested-geometry case demonstrates that the original inventory check was incomplete."]]</a:t>
            </a:r>
          </a:p>
          <a:p xmlns:a="http://schemas.openxmlformats.org/drawingml/2006/main">
            <a:r>
              <a:t>README SHA-256 a45f759d69e14f28301cce5931f6578c8a64ebc8262403a6c8cc3b15b9a0b069</a:t>
            </a:r>
          </a:p>
          <a:p xmlns:a="http://schemas.openxmlformats.org/drawingml/2006/main">
            <a:r>
              <a:t>Proposal SHA-256 1727a552053cfdcdf202e2c84ad1209d1a898fe2eab2e322d51e9c7b4ad7c7c0</a:t>
            </a:r>
          </a:p>
          <a:p xmlns:a="http://schemas.openxmlformats.org/drawingml/2006/main">
            <a:r>
              <a:t>Immutable execution receipt SHA-256 3baf0e2c215e8ac2ea30fb41197242b663469cd51f31ba48dc9e6c0d7b76833c</a:t>
            </a:r>
          </a:p>
          <a:p xmlns:a="http://schemas.openxmlformats.org/drawingml/2006/main">
            <a:r>
              <a:t>Later audit SHA-256 9456363dd93059d7884c0b71a7942f5eed5454ee0d0628e567c2f4856b60a00b</a:t>
            </a:r>
          </a:p>
          <a:p xmlns:a="http://schemas.openxmlformats.org/drawingml/2006/main">
            <a:r>
              <a:t>Explanatory delivery refresh of the same frozen execution, with later audit disclosure. No new runtime execution or repairs.</a:t>
            </a:r>
          </a:p>
          <a:p xmlns:a="http://schemas.openxmlformats.org/drawingml/2006/main">
            <a:r>
              <a:t>Eiffel mesh credit: SDC PERFORMANCE, https://sketchfab.com/3d-models/free-la-tour-eiffel-8553f94d06e24cb4b0fde1080f281674 ; CC BY 4.0 https://creativecommons.org/licenses/by/4.0/ . Illustrative context is not surveyed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820b13c2bc54e0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726d8b15f14343" /><Relationship Type="http://schemas.openxmlformats.org/officeDocument/2006/relationships/slideLayout" Target="/ppt/slideLayouts/slideLayout1.xml" Id="R63993a8ec42f4b9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3993a8ec42f4b9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d484ff3aa284622" /><Relationship Type="http://schemas.openxmlformats.org/officeDocument/2006/relationships/notesSlide" Target="/ppt/notesSlides/notesSlide1.xml" Id="R427206fd931f4ba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ecabb1740c54d3c" /><Relationship Type="http://schemas.openxmlformats.org/officeDocument/2006/relationships/notesSlide" Target="/ppt/notesSlides/notesSlide2.xml" Id="R41bcf7f06c6d419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6774a79f86f4232" /><Relationship Type="http://schemas.openxmlformats.org/officeDocument/2006/relationships/image" Target="/ppt/media/image.png" Id="R0a86b55bcb1d4937" /><Relationship Type="http://schemas.openxmlformats.org/officeDocument/2006/relationships/notesSlide" Target="/ppt/notesSlides/notesSlide3.xml" Id="R81cd39359303497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d189c182bfa43d4" /><Relationship Type="http://schemas.openxmlformats.org/officeDocument/2006/relationships/image" Target="/ppt/media/image2.png" Id="R89afa665a7ce42a7" /><Relationship Type="http://schemas.openxmlformats.org/officeDocument/2006/relationships/notesSlide" Target="/ppt/notesSlides/notesSlide4.xml" Id="R34b95254ea56470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4bba0470da9447c" /><Relationship Type="http://schemas.openxmlformats.org/officeDocument/2006/relationships/notesSlide" Target="/ppt/notesSlides/notesSlide5.xml" Id="Rf687b9ed19bb458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b005b168ac74ef7" /><Relationship Type="http://schemas.openxmlformats.org/officeDocument/2006/relationships/image" Target="/ppt/media/image3.png" Id="Redf0e614e70e4045" /><Relationship Type="http://schemas.openxmlformats.org/officeDocument/2006/relationships/notesSlide" Target="/ppt/notesSlides/notesSlide6.xml" Id="Rd4c729ceb4564b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99aa7c9da4c4a09" /><Relationship Type="http://schemas.openxmlformats.org/officeDocument/2006/relationships/image" Target="/ppt/media/image4.png" Id="R897db4e78b664be4" /><Relationship Type="http://schemas.openxmlformats.org/officeDocument/2006/relationships/notesSlide" Target="/ppt/notesSlides/notesSlide7.xml" Id="Rffdd75880f3a497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8108b66580047ca" /><Relationship Type="http://schemas.openxmlformats.org/officeDocument/2006/relationships/notesSlide" Target="/ppt/notesSlides/notesSlide8.xml" Id="R8eac465a1174490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3a0bcc2296a4a94" /><Relationship Type="http://schemas.openxmlformats.org/officeDocument/2006/relationships/image" Target="/ppt/media/image5.png" Id="R870ab05cce7a4d3b" /><Relationship Type="http://schemas.openxmlformats.org/officeDocument/2006/relationships/notesSlide" Target="/ppt/notesSlides/notesSlide9.xml" Id="R86f93bd8ed4c4e7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6b024e3ed7f4786" /><Relationship Type="http://schemas.openxmlformats.org/officeDocument/2006/relationships/image" Target="/ppt/media/image6.png" Id="R66bbf444a85f4034" /><Relationship Type="http://schemas.openxmlformats.org/officeDocument/2006/relationships/notesSlide" Target="/ppt/notesSlides/notesSlide10.xml" Id="R11d499cf5d594b8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c935591bc754145" /><Relationship Type="http://schemas.openxmlformats.org/officeDocument/2006/relationships/chart" Target="/ppt/slides/charts/chart1.xml" Id="Rf9b45f0bca1849bf" /><Relationship Type="http://schemas.openxmlformats.org/officeDocument/2006/relationships/notesSlide" Target="/ppt/notesSlides/notesSlide11.xml" Id="Ra239b72cf2984af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b7024ee114e490a" /><Relationship Type="http://schemas.openxmlformats.org/officeDocument/2006/relationships/notesSlide" Target="/ppt/notesSlides/notesSlide12.xml" Id="Rd5b89c90e7cf4f0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19bc6f58b9d4352" /><Relationship Type="http://schemas.openxmlformats.org/officeDocument/2006/relationships/notesSlide" Target="/ppt/notesSlides/notesSlide13.xml" Id="R3d52ec939e044ca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2405c851c014e94" /><Relationship Type="http://schemas.openxmlformats.org/officeDocument/2006/relationships/notesSlide" Target="/ppt/notesSlides/notesSlide14.xml" Id="R0b5f89dddf774c2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Error from interpolating converted endpoints</c:v>
          </c:tx>
          <c:spPr>
            <a:solidFill xmlns:a="http://schemas.openxmlformats.org/drawingml/2006/main">
              <a:srgbClr val="A25D20"/>
            </a:solidFill>
          </c:spPr>
          <c:cat>
            <c:numRef>
              <c:f>'Chart Data'!$A$2:$A$4</c:f>
              <c:numCache>
                <c:formatCode>General</c:formatCode>
                <c:ptCount val="3"/>
                <c:pt idx="0">
                  <c:v>0</c:v>
                </c:pt>
                <c:pt idx="1">
                  <c:v>5</c:v>
                </c:pt>
                <c:pt idx="2">
                  <c:v>10</c:v>
                </c:pt>
              </c:numCache>
            </c:numRef>
          </c:cat>
          <c:val>
            <c:numRef>
              <c:f>'Chart Data'!$B$2:$B$4</c:f>
              <c:numCache>
                <c:formatCode>0</c:formatCode>
                <c:ptCount val="3"/>
                <c:pt idx="0">
                  <c:v>0</c:v>
                </c:pt>
                <c:pt idx="1">
                  <c:v>971.421158</c:v>
                </c:pt>
                <c:pt idx="2">
                  <c:v>0</c:v>
                </c:pt>
              </c:numCache>
            </c:numRef>
          </c:val>
        </c:ser>
        <c:dLbls>
          <c:txPr>
            <a:bodyPr xmlns:a="http://schemas.openxmlformats.org/drawingml/2006/main" anchorCtr="1"/>
            <a:lstStyle xmlns:a="http://schemas.openxmlformats.org/drawingml/2006/main"/>
            <a:p xmlns:a="http://schemas.openxmlformats.org/drawingml/2006/main">
              <a:pPr>
                <a:defRPr sz="1875" b="1">
                  <a:solidFill>
                    <a:srgbClr val="213744"/>
                  </a:solidFill>
                  <a:latin typeface="Arial"/>
                  <a:ea typeface="Arial"/>
                  <a:cs typeface="Arial"/>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75">
                    <a:solidFill>
                      <a:srgbClr val="213744"/>
                    </a:solidFill>
                    <a:latin typeface="Arial"/>
                    <a:ea typeface="Arial"/>
                    <a:cs typeface="Arial"/>
                  </a:rPr>
                  <a:t>USD sample time code</a:t>
                </a:r>
              </a:p>
            </c:rich>
          </c:tx>
          <c:overlay val="0"/>
          <c:txPr>
            <a:bodyPr xmlns:a="http://schemas.openxmlformats.org/drawingml/2006/main" anchorCtr="1"/>
            <a:lstStyle xmlns:a="http://schemas.openxmlformats.org/drawingml/2006/main"/>
            <a:p xmlns:a="http://schemas.openxmlformats.org/drawingml/2006/main">
              <a:pPr>
                <a:defRPr sz="1575">
                  <a:solidFill>
                    <a:srgbClr val="213744"/>
                  </a:solidFill>
                  <a:latin typeface="Arial"/>
                  <a:ea typeface="Arial"/>
                  <a:cs typeface="Arial"/>
                </a:defRPr>
              </a:pPr>
            </a:p>
          </c:txPr>
        </c:title>
        <c:numFmt formatCode="General"/>
        <c:majorTickMark val="none"/>
        <c:minorTickMark val="none"/>
        <c:spPr>
          <a:ln xmlns:a="http://schemas.openxmlformats.org/drawingml/2006/main" w="9525">
            <a:solidFill>
              <a:srgbClr val="D7E1E6"/>
            </a:solidFill>
          </a:ln>
        </c:spPr>
        <c:txPr>
          <a:bodyPr xmlns:a="http://schemas.openxmlformats.org/drawingml/2006/main" anchorCtr="1"/>
          <a:lstStyle xmlns:a="http://schemas.openxmlformats.org/drawingml/2006/main"/>
          <a:p xmlns:a="http://schemas.openxmlformats.org/drawingml/2006/main">
            <a:pPr>
              <a:defRPr sz="1725">
                <a:solidFill>
                  <a:srgbClr val="213744"/>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E9EEF1"/>
              </a:solidFill>
            </a:ln>
          </c:spPr>
        </c:majorGridlines>
        <c:title>
          <c:tx>
            <c:rich>
              <a:bodyPr xmlns:a="http://schemas.openxmlformats.org/drawingml/2006/main"/>
              <a:lstStyle xmlns:a="http://schemas.openxmlformats.org/drawingml/2006/main"/>
              <a:p xmlns:a="http://schemas.openxmlformats.org/drawingml/2006/main">
                <a:r>
                  <a:rPr sz="1575">
                    <a:solidFill>
                      <a:srgbClr val="213744"/>
                    </a:solidFill>
                    <a:latin typeface="Arial"/>
                    <a:ea typeface="Arial"/>
                    <a:cs typeface="Arial"/>
                  </a:rPr>
                  <a:t>Distance from source-first result (m)</a:t>
                </a:r>
              </a:p>
            </c:rich>
          </c:tx>
          <c:overlay val="0"/>
          <c:txPr>
            <a:bodyPr xmlns:a="http://schemas.openxmlformats.org/drawingml/2006/main" anchorCtr="1"/>
            <a:lstStyle xmlns:a="http://schemas.openxmlformats.org/drawingml/2006/main"/>
            <a:p xmlns:a="http://schemas.openxmlformats.org/drawingml/2006/main">
              <a:pPr>
                <a:defRPr sz="1575">
                  <a:solidFill>
                    <a:srgbClr val="213744"/>
                  </a:solidFill>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26B79"/>
                </a:solidFill>
                <a:latin typeface="Arial"/>
                <a:ea typeface="Arial"/>
                <a:cs typeface="Aria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5404368-CA0A-4ED6-84A0-FAF0F330019C}"/>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Geospatial proposal assessment</a:t>
            </a:r>
          </a:p>
        </p:txBody>
      </p:sp>
      <p:sp>
        <p:nvSpPr>
          <p:cNvPr id="2" name="">
            <a:extLst xmlns:a="http://schemas.openxmlformats.org/drawingml/2006/main">
              <a:ext uri="{FF2B5EF4-FFF2-40B4-BE49-F238E27FC236}">
                <a16:creationId xmlns:a16="http://schemas.microsoft.com/office/drawing/2014/main" id="{EEC180C0-43E7-4493-B47D-58521CAE435F}"/>
              </a:ext>
            </a:extLst>
          </p:cNvPr>
          <p:cNvSpPr>
            <a:spLocks xmlns:a="http://schemas.openxmlformats.org/drawingml/2006/main" noGrp="1"/>
          </p:cNvSpPr>
          <p:nvPr/>
        </p:nvSpPr>
        <p:spPr>
          <a:xfrm xmlns:a="http://schemas.openxmlformats.org/drawingml/2006/main">
            <a:off x="609600" y="1457325"/>
            <a:ext cx="10972800" cy="15525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2325" b="0">
                <a:solidFill>
                  <a:srgbClr val="213744"/>
                </a:solidFill>
                <a:latin typeface="Arial"/>
                <a:ea typeface="Arial"/>
                <a:cs typeface="Arial"/>
              </a:defRPr>
            </a:pPr>
            <a:r>
              <a:rPr sz="2325" b="0">
                <a:solidFill>
                  <a:srgbClr val="213744"/>
                </a:solidFill>
                <a:latin typeface="Arial"/>
                <a:ea typeface="Arial"/>
                <a:cs typeface="Arial"/>
              </a:rPr>
              <a:t>USD describes a 3D model's shape and size. Geospatial information says where it belongs on Earth, so models, surveys and measurements can work together.</a:t>
            </a:r>
          </a:p>
        </p:txBody>
      </p:sp>
      <p:sp>
        <p:nvSpPr>
          <p:cNvPr id="3" name="">
            <a:extLst xmlns:a="http://schemas.openxmlformats.org/drawingml/2006/main">
              <a:ext uri="{FF2B5EF4-FFF2-40B4-BE49-F238E27FC236}">
                <a16:creationId xmlns:a16="http://schemas.microsoft.com/office/drawing/2014/main" id="{A4AFE987-6D67-4F6C-8CF5-FAA68E94516E}"/>
              </a:ext>
            </a:extLst>
          </p:cNvPr>
          <p:cNvSpPr>
            <a:spLocks xmlns:a="http://schemas.openxmlformats.org/drawingml/2006/main" noGrp="1"/>
          </p:cNvSpPr>
          <p:nvPr/>
        </p:nvSpPr>
        <p:spPr>
          <a:xfrm xmlns:a="http://schemas.openxmlformats.org/drawingml/2006/main">
            <a:off x="609600" y="3305175"/>
            <a:ext cx="10972800" cy="17240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2325" b="0">
                <a:solidFill>
                  <a:srgbClr val="157C87"/>
                </a:solidFill>
                <a:latin typeface="Arial"/>
                <a:ea typeface="Arial"/>
                <a:cs typeface="Arial"/>
              </a:defRPr>
            </a:pPr>
            <a:r>
              <a:rPr sz="2325" b="0">
                <a:solidFill>
                  <a:srgbClr val="157C87"/>
                </a:solidFill>
                <a:latin typeface="Arial"/>
                <a:ea typeface="Arial"/>
                <a:cs typeface="Arial"/>
              </a:rPr>
              <a:t>The question: can another implementer derive the behavior without guessing? The draft now defines the tested inputs and rules. Those choices still need group review.</a:t>
            </a:r>
          </a:p>
        </p:txBody>
      </p:sp>
      <p:sp>
        <p:nvSpPr>
          <p:cNvPr id="4" name="">
            <a:extLst xmlns:a="http://schemas.openxmlformats.org/drawingml/2006/main">
              <a:ext uri="{FF2B5EF4-FFF2-40B4-BE49-F238E27FC236}">
                <a16:creationId xmlns:a16="http://schemas.microsoft.com/office/drawing/2014/main" id="{6BD85FDD-38D6-4BA2-A29A-1E4CA473BE92}"/>
              </a:ext>
            </a:extLst>
          </p:cNvPr>
          <p:cNvSpPr>
            <a:spLocks xmlns:a="http://schemas.openxmlformats.org/drawingml/2006/main" noGrp="1"/>
          </p:cNvSpPr>
          <p:nvPr/>
        </p:nvSpPr>
        <p:spPr>
          <a:xfrm xmlns:a="http://schemas.openxmlformats.org/drawingml/2006/main">
            <a:off x="609600" y="5476875"/>
            <a:ext cx="10972800" cy="12096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2025" b="0">
                <a:solidFill>
                  <a:srgbClr val="526B79"/>
                </a:solidFill>
                <a:latin typeface="Arial"/>
                <a:ea typeface="Arial"/>
                <a:cs typeface="Arial"/>
              </a:defRPr>
            </a:pPr>
            <a:r>
              <a:rPr sz="2025" b="0">
                <a:solidFill>
                  <a:srgbClr val="526B79"/>
                </a:solidFill>
                <a:latin typeface="Arial"/>
                <a:ea typeface="Arial"/>
                <a:cs typeface="Arial"/>
              </a:rPr>
              <a:t>Selected demonstrations work. A later audit found seven prototype issues. No additional model blocker was confirmed; this does not establish complete coverage.</a:t>
            </a:r>
          </a:p>
        </p:txBody>
      </p:sp>
    </p:spTree>
    <p:extLst>
      <p:ext uri="{BB962C8B-B14F-4D97-AF65-F5344CB8AC3E}">
        <p14:creationId xmlns:p14="http://schemas.microsoft.com/office/powerpoint/2010/main" val="132989886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9199EB5-27C0-4B6E-9A1B-AB8064662C93}"/>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A geographic location for a 3D model</a:t>
            </a:r>
          </a:p>
        </p:txBody>
      </p:sp>
      <p:sp>
        <p:nvSpPr>
          <p:cNvPr id="2" name="">
            <a:extLst xmlns:a="http://schemas.openxmlformats.org/drawingml/2006/main">
              <a:ext uri="{FF2B5EF4-FFF2-40B4-BE49-F238E27FC236}">
                <a16:creationId xmlns:a16="http://schemas.microsoft.com/office/drawing/2014/main" id="{A1EE7CC0-0196-4325-A82D-427C94BE25A1}"/>
              </a:ext>
            </a:extLst>
          </p:cNvPr>
          <p:cNvSpPr>
            <a:spLocks xmlns:a="http://schemas.openxmlformats.org/drawingml/2006/main" noGrp="1"/>
          </p:cNvSpPr>
          <p:nvPr/>
        </p:nvSpPr>
        <p:spPr>
          <a:xfrm xmlns:a="http://schemas.openxmlformats.org/drawingml/2006/main">
            <a:off x="609600" y="1428750"/>
            <a:ext cx="10972800" cy="7524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2325" b="0">
                <a:solidFill>
                  <a:srgbClr val="213744"/>
                </a:solidFill>
                <a:latin typeface="Arial"/>
                <a:ea typeface="Arial"/>
                <a:cs typeface="Arial"/>
              </a:defRPr>
            </a:pPr>
            <a:r>
              <a:rPr sz="2325" b="0">
                <a:solidFill>
                  <a:srgbClr val="213744"/>
                </a:solidFill>
                <a:latin typeface="Arial"/>
                <a:ea typeface="Arial"/>
                <a:cs typeface="Arial"/>
              </a:rPr>
              <a:t>Can a reader distinguish the model's shape from its location on Earth?</a:t>
            </a:r>
          </a:p>
        </p:txBody>
      </p:sp>
      <p:graphicFrame>
        <p:nvGraphicFramePr>
          <p:cNvPr id="7" name=""/>
          <p:cNvGraphicFramePr/>
          <p:nvPr/>
        </p:nvGraphicFramePr>
        <p:xfrm>
          <a:off xmlns:a="http://schemas.openxmlformats.org/drawingml/2006/main" x="609600" y="2419350"/>
          <a:ext xmlns:a="http://schemas.openxmlformats.org/drawingml/2006/main" cx="10972800" cy="3171825"/>
        </p:xfrm>
        <a:graphic xmlns:a="http://schemas.openxmlformats.org/drawingml/2006/main">
          <a:graphicData uri="http://schemas.openxmlformats.org/drawingml/2006/table">
            <a:tbl>
              <a:tblPr/>
              <a:tblGrid>
                <a:gridCol w="3143250"/>
                <a:gridCol w="7829550"/>
              </a:tblGrid>
              <a:tr h="634365">
                <a:tc>
                  <a:txBody>
                    <a:bodyPr>
                      <a:noAutofit/>
                    </a:bodyPr>
                    <a:lstStyle/>
                    <a:p>
                      <a:r>
                        <a:rPr sz="1875" b="1">
                          <a:solidFill>
                            <a:srgbClr val="FFFFFF"/>
                          </a:solidFill>
                          <a:latin typeface="Arial"/>
                          <a:ea typeface="Arial"/>
                          <a:cs typeface="Arial"/>
                        </a:rPr>
                        <a:t>Source information</a:t>
                      </a:r>
                    </a:p>
                  </a:txBody>
                  <a:tcPr marL="95250" marR="95250" marT="19050" marB="19050">
                    <a:solidFill>
                      <a:srgbClr val="213744"/>
                    </a:solidFill>
                  </a:tcPr>
                </a:tc>
                <a:tc>
                  <a:txBody>
                    <a:bodyPr>
                      <a:noAutofit/>
                    </a:bodyPr>
                    <a:lstStyle/>
                    <a:p>
                      <a:r>
                        <a:rPr sz="1875" b="1">
                          <a:solidFill>
                            <a:srgbClr val="FFFFFF"/>
                          </a:solidFill>
                          <a:latin typeface="Arial"/>
                          <a:ea typeface="Arial"/>
                          <a:cs typeface="Arial"/>
                        </a:rPr>
                        <a:t>Plain meaning</a:t>
                      </a:r>
                    </a:p>
                  </a:txBody>
                  <a:tcPr marL="95250" marR="95250" marT="19050" marB="19050">
                    <a:solidFill>
                      <a:srgbClr val="213744"/>
                    </a:solidFill>
                  </a:tcPr>
                </a:tc>
              </a:tr>
              <a:tr h="634365">
                <a:tc>
                  <a:txBody>
                    <a:bodyPr>
                      <a:noAutofit/>
                    </a:bodyPr>
                    <a:lstStyle/>
                    <a:p>
                      <a:r>
                        <a:rPr sz="1875" b="0">
                          <a:solidFill>
                            <a:srgbClr val="213744"/>
                          </a:solidFill>
                          <a:latin typeface="Arial"/>
                          <a:ea typeface="Arial"/>
                          <a:cs typeface="Arial"/>
                        </a:rPr>
                        <a:t>Model geometry</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Shape and local distances, with declared model units and up direction. In USD: points, metersPerUnit and upAxis.</a:t>
                      </a:r>
                    </a:p>
                  </a:txBody>
                  <a:tcPr marL="95250" marR="95250" marT="19050" marB="19050">
                    <a:solidFill>
                      <a:srgbClr val="FFFFFF"/>
                    </a:solidFill>
                  </a:tcPr>
                </a:tc>
              </a:tr>
              <a:tr h="634365">
                <a:tc>
                  <a:txBody>
                    <a:bodyPr>
                      <a:noAutofit/>
                    </a:bodyPr>
                    <a:lstStyle/>
                    <a:p>
                      <a:r>
                        <a:rPr sz="1875" b="0">
                          <a:solidFill>
                            <a:srgbClr val="213744"/>
                          </a:solidFill>
                          <a:latin typeface="Arial"/>
                          <a:ea typeface="Arial"/>
                          <a:cs typeface="Arial"/>
                        </a:rPr>
                        <a:t>Coordinate reference</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A CRS binding refers to WKT, the standard text description of the location's axes, units and height meaning.</a:t>
                      </a:r>
                    </a:p>
                  </a:txBody>
                  <a:tcPr marL="95250" marR="95250" marT="19050" marB="19050">
                    <a:solidFill>
                      <a:srgbClr val="FFFFFF"/>
                    </a:solidFill>
                  </a:tcPr>
                </a:tc>
              </a:tr>
              <a:tr h="634365">
                <a:tc>
                  <a:txBody>
                    <a:bodyPr>
                      <a:noAutofit/>
                    </a:bodyPr>
                    <a:lstStyle/>
                    <a:p>
                      <a:r>
                        <a:rPr sz="1875" b="0">
                          <a:solidFill>
                            <a:srgbClr val="213744"/>
                          </a:solidFill>
                          <a:latin typeface="Arial"/>
                          <a:ea typeface="Arial"/>
                          <a:cs typeface="Arial"/>
                        </a:rPr>
                        <a:t>Geographic origin</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crs:position locates the model origin. The illustrative example uses longitude 2.2945 degrees, latitude 48.8584 degrees and ellipsoidal height 80 m.</a:t>
                      </a:r>
                    </a:p>
                  </a:txBody>
                  <a:tcPr marL="95250" marR="95250" marT="19050" marB="19050">
                    <a:solidFill>
                      <a:srgbClr val="FFFFFF"/>
                    </a:solidFill>
                  </a:tcPr>
                </a:tc>
              </a:tr>
              <a:tr h="634365">
                <a:tc>
                  <a:txBody>
                    <a:bodyPr>
                      <a:noAutofit/>
                    </a:bodyPr>
                    <a:lstStyle/>
                    <a:p>
                      <a:r>
                        <a:rPr sz="1875" b="0">
                          <a:solidFill>
                            <a:srgbClr val="213744"/>
                          </a:solidFill>
                          <a:latin typeface="Arial"/>
                          <a:ea typeface="Arial"/>
                          <a:cs typeface="Arial"/>
                        </a:rPr>
                        <a:t>Physical orientation</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crs:orientation says which way the model faces and tilts relative to local east, north and up at its origin.</a:t>
                      </a:r>
                    </a:p>
                  </a:txBody>
                  <a:tcPr marL="95250" marR="95250" marT="19050" marB="1905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73D176F9-FF4E-4005-9001-608D76CF5949}"/>
              </a:ext>
            </a:extLst>
          </p:cNvPr>
          <p:cNvSpPr>
            <a:spLocks xmlns:a="http://schemas.openxmlformats.org/drawingml/2006/main" noGrp="1"/>
          </p:cNvSpPr>
          <p:nvPr/>
        </p:nvSpPr>
        <p:spPr>
          <a:xfrm xmlns:a="http://schemas.openxmlformats.org/drawingml/2006/main">
            <a:off x="609600" y="5924550"/>
            <a:ext cx="10972800" cy="8001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2025" b="0">
                <a:solidFill>
                  <a:srgbClr val="157C87"/>
                </a:solidFill>
                <a:latin typeface="Arial"/>
                <a:ea typeface="Arial"/>
                <a:cs typeface="Arial"/>
              </a:defRPr>
            </a:pPr>
            <a:r>
              <a:rPr sz="2025" b="0">
                <a:solidFill>
                  <a:srgbClr val="157C87"/>
                </a:solidFill>
                <a:latin typeface="Arial"/>
                <a:ea typeface="Arial"/>
                <a:cs typeface="Arial"/>
              </a:rPr>
              <a:t>A reader has enough source information to place the model, without interpreting longitude or latitude as a distance or adding computed results to the source schema.</a:t>
            </a:r>
          </a:p>
        </p:txBody>
      </p:sp>
    </p:spTree>
    <p:extLst>
      <p:ext uri="{BB962C8B-B14F-4D97-AF65-F5344CB8AC3E}">
        <p14:creationId xmlns:p14="http://schemas.microsoft.com/office/powerpoint/2010/main" val="1702470801"/>
      </p:ext>
    </p:extLst>
  </p:cSld>
</p:sld>
</file>

<file path=ppt/slides/slide3.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FFFFF"/>
        </ns1:solidFill>
      </ns0:bgPr>
    </ns0:bg>
    <ns0:spTree>
      <ns0:nvGrpSpPr>
        <ns0:cNvPr id="1" name=""/>
        <ns0:cNvGrpSpPr/>
        <ns0:nvPr/>
      </ns0:nvGrpSpPr>
      <ns0:grpSpPr>
        <ns1:xfrm/>
      </ns0:grpSpPr>
      <ns0:sp>
        <ns0:nvSpPr>
          <ns0:cNvPr id="9" name="">
            <ns1:extLst>
              <ns1:ext uri="{FF2B5EF4-FFF2-40B4-BE49-F238E27FC236}">
                <ns2:creationId id="{1F0BDE01-7AF1-4660-85A6-40F7ED3F9B45}"/>
              </ns1:ext>
            </ns1:extLst>
          </ns0:cNvPr>
          <ns0:cNvSpPr>
            <ns1:spLocks noGrp="1"/>
          </ns0:cNvSpPr>
          <ns0:nvPr/>
        </ns0:nvSpPr>
        <ns0:spPr>
          <ns1:xfrm>
            <ns1:off x="609600" y="323850"/>
            <ns1:ext cx="10972800" cy="990600"/>
          </ns1:xfrm>
          <ns1:prstGeom prst="rect">
            <ns1:avLst/>
          </ns1:prstGeom>
          <ns1:solidFill>
            <ns1:srgbClr val="FFFFFF"/>
          </ns1:solidFill>
          <ns1:ln w="0">
            <ns1:solidFill>
              <ns1:srgbClr val="FFFFFF"/>
            </ns1:solidFill>
          </ns1:ln>
        </ns0:spPr>
        <ns0:txBody>
          <ns1:bodyPr anchor="t">
            <ns1:noAutofit/>
          </ns1:bodyPr>
          <ns1:lstStyle/>
          <ns1:p>
            <ns1:pPr>
              <ns1:defRPr sz="3150" b="1">
                <ns1:solidFill>
                  <ns1:srgbClr val="213744"/>
                </ns1:solidFill>
                <ns1:latin typeface="Arial"/>
                <ns1:ea typeface="Arial"/>
                <ns1:cs typeface="Arial"/>
              </ns1:defRPr>
            </ns1:pPr>
            <ns1:r>
              <ns1:rPr sz="3150" b="1">
                <ns1:solidFill>
                  <ns1:srgbClr val="213744"/>
                </ns1:solidFill>
                <ns1:latin typeface="Arial"/>
                <ns1:ea typeface="Arial"/>
                <ns1:cs typeface="Arial"/>
              </ns1:rPr>
              <ns1:t>One physical place, different coordinates</ns1:t>
            </ns1:r>
          </ns1:p>
        </ns0:txBody>
      </ns0:sp>
      <ns0:sp>
        <ns0:nvSpPr>
          <ns0:cNvPr id="2" name="">
            <ns1:extLst>
              <ns1:ext uri="{FF2B5EF4-FFF2-40B4-BE49-F238E27FC236}">
                <ns2:creationId id="{A1A630AD-CBCB-4482-8963-EBEF2595E6EA}"/>
              </ns1:ext>
            </ns1:extLst>
          </ns0:cNvPr>
          <ns0:cNvSpPr>
            <ns1:spLocks noGrp="1"/>
          </ns0:cNvSpPr>
          <ns0:nvPr/>
        </ns0:nvSpPr>
        <ns0:spPr>
          <ns1:xfrm>
            <ns1:off x="609600" y="1400175"/>
            <ns1:ext cx="10972800" cy="771525"/>
          </ns1:xfrm>
          <ns1:prstGeom prst="rect">
            <ns1:avLst/>
          </ns1:prstGeom>
          <ns1:solidFill>
            <ns1:srgbClr val="FFFFFF"/>
          </ns1:solidFill>
          <ns1:ln w="0">
            <ns1:solidFill>
              <ns1:srgbClr val="FFFFFF"/>
            </ns1:solidFill>
          </ns1:ln>
        </ns0:spPr>
        <ns0:txBody>
          <ns1:bodyPr anchor="t">
            <ns1:noAutofit/>
          </ns1:bodyPr>
          <ns1:lstStyle/>
          <ns1:p>
            <ns1:pPr>
              <ns1:defRPr sz="2325" b="1">
                <ns1:solidFill>
                  <ns1:srgbClr val="157C87"/>
                </ns1:solidFill>
                <ns1:latin typeface="Arial"/>
                <ns1:ea typeface="Arial"/>
                <ns1:cs typeface="Arial"/>
              </ns1:defRPr>
            </ns1:pPr>
            <ns1:r>
              <ns1:rPr sz="2325" b="1">
                <ns1:solidFill>
                  <ns1:srgbClr val="157C87"/>
                </ns1:solidFill>
                <ns1:latin typeface="Arial"/>
                <ns1:ea typeface="Arial"/>
                <ns1:cs typeface="Arial"/>
              </ns1:rPr>
              <ns1:t>Does changing coordinate systems preserve physical placement?</ns1:t>
            </ns1:r>
          </ns1:p>
        </ns0:txBody>
      </ns0:sp>
      <ns0:pic>
        <ns0:nvPicPr>
          <ns0:cNvPr id="11" name=""/>
          <ns0:cNvPicPr>
            <ns1:picLocks noChangeAspect="1"/>
          </ns0:cNvPicPr>
          <ns0:nvPr/>
        </ns0:nvPicPr>
        <ns0:blipFill>
          <ns1:blip ns3:embed="R0a86b55bcb1d4937"/>
          <ns1:srcRect l="0" t="8974" r="0" b="33333"/>
          <ns1:stretch>
            <ns1:fillRect l="0" t="0" r="0" b="0"/>
          </ns1:stretch>
        </ns0:blipFill>
        <ns0:spPr>
          <ns1:xfrm>
            <ns1:off x="609600" y="2381250"/>
            <ns1:ext cx="7258050" cy="4086225"/>
          </ns1:xfrm>
          <ns1:prstGeom prst="rect">
            <ns1:avLst/>
          </ns1:prstGeom>
        </ns0:spPr>
      </ns0:pic>
      <ns0:sp>
        <ns0:nvSpPr>
          <ns0:cNvPr id="4" name="">
            <ns1:extLst>
              <ns1:ext uri="{FF2B5EF4-FFF2-40B4-BE49-F238E27FC236}">
                <ns2:creationId id="{5E48D08A-A045-4D3A-9BAC-4B9A46661E0F}"/>
              </ns1:ext>
            </ns1:extLst>
          </ns0:cNvPr>
          <ns0:cNvSpPr>
            <ns1:spLocks noGrp="1"/>
          </ns0:cNvSpPr>
          <ns0:nvPr/>
        </ns0:nvSpPr>
        <ns0:spPr>
          <ns1:xfrm>
            <ns1:off x="8239125" y="2381250"/>
            <ns1:ext cx="3343275" cy="304800"/>
          </ns1:xfrm>
          <ns1:prstGeom prst="rect">
            <ns1:avLst/>
          </ns1:prstGeom>
          <ns1:solidFill>
            <ns1:srgbClr val="FFFFFF"/>
          </ns1:solidFill>
          <ns1:ln w="0">
            <ns1:solidFill>
              <ns1:srgbClr val="FFFFFF"/>
            </ns1:solidFill>
          </ns1:ln>
        </ns0:spPr>
        <ns0:txBody>
          <ns1:bodyPr anchor="t">
            <ns1:noAutofit/>
          </ns1:bodyPr>
          <ns1:lstStyle/>
          <ns1:p>
            <ns1:pPr>
              <ns1:defRPr sz="1650" b="1">
                <ns1:solidFill>
                  <ns1:srgbClr val="157C87"/>
                </ns1:solidFill>
                <ns1:latin typeface="Arial"/>
                <ns1:ea typeface="Arial"/>
                <ns1:cs typeface="Arial"/>
              </ns1:defRPr>
            </ns1:pPr>
            <ns1:r>
              <ns1:rPr sz="1650" b="1">
                <ns1:solidFill>
                  <ns1:srgbClr val="157C87"/>
                </ns1:solidFill>
                <ns1:latin typeface="Arial"/>
                <ns1:ea typeface="Arial"/>
                <ns1:cs typeface="Arial"/>
              </ns1:rPr>
              <ns1:t>Observed</ns1:t>
            </ns1:r>
          </ns1:p>
        </ns0:txBody>
      </ns0:sp>
      <ns0:sp>
        <ns0:nvSpPr>
          <ns0:cNvPr id="5" name="">
            <ns1:extLst>
              <ns1:ext uri="{FF2B5EF4-FFF2-40B4-BE49-F238E27FC236}">
                <ns2:creationId id="{C5C3DED6-1B0B-45EB-93DF-5C1CFAE423A7}"/>
              </ns1:ext>
            </ns1:extLst>
          </ns0:cNvPr>
          <ns0:cNvSpPr>
            <ns1:spLocks noGrp="1"/>
          </ns0:cNvSpPr>
          <ns0:nvPr/>
        </ns0:nvSpPr>
        <ns0:spPr>
          <ns1:xfrm>
            <ns1:off x="8239125" y="2733675"/>
            <ns1:ext cx="3343275" cy="1600200"/>
          </ns1:xfrm>
          <ns1:prstGeom prst="rect">
            <ns1:avLst/>
          </ns1:prstGeom>
          <ns1:solidFill>
            <ns1:srgbClr val="FFFFFF"/>
          </ns1:solidFill>
          <ns1:ln w="0">
            <ns1:solidFill>
              <ns1:srgbClr val="FFFFFF"/>
            </ns1:solidFill>
          </ns1:ln>
        </ns0:spPr>
        <ns0:txBody>
          <ns1:bodyPr anchor="t">
            <ns1:noAutofit/>
          </ns1:bodyPr>
          <ns1:lstStyle/>
          <ns1:p>
            <ns1:pPr>
              <ns1:defRPr sz="1800" b="0">
                <ns1:solidFill>
                  <ns1:srgbClr val="213744"/>
                </ns1:solidFill>
                <ns1:latin typeface="Arial"/>
                <ns1:ea typeface="Arial"/>
                <ns1:cs typeface="Arial"/>
              </ns1:defRPr>
            </ns1:pPr>
            <ns1:r>
              <ns1:rPr sz="1800" b="0">
                <ns1:solidFill>
                  <ns1:srgbClr val="213744"/>
                </ns1:solidFill>
                <ns1:latin typeface="Arial"/>
                <ns1:ea typeface="Arial"/>
                <ns1:cs typeface="Arial"/>
              </ns1:rPr>
              <ns1:t>The illustration converts longitude, latitude and height into map coordinates. The physical site stays the same; map north and local scale can differ.</ns1:t>
            </ns1:r>
          </ns1:p>
        </ns0:txBody>
      </ns0:sp>
      <ns0:sp>
        <ns0:nvSpPr>
          <ns0:cNvPr id="6" name="">
            <ns1:extLst>
              <ns1:ext uri="{FF2B5EF4-FFF2-40B4-BE49-F238E27FC236}">
                <ns2:creationId id="{BECA3207-1A8E-4156-A0BA-786419882077}"/>
              </ns1:ext>
            </ns1:extLst>
          </ns0:cNvPr>
          <ns0:cNvSpPr>
            <ns1:spLocks noGrp="1"/>
          </ns0:cNvSpPr>
          <ns0:nvPr/>
        </ns0:nvSpPr>
        <ns0:spPr>
          <ns1:xfrm>
            <ns1:off x="8239125" y="4429125"/>
            <ns1:ext cx="3343275" cy="314325"/>
          </ns1:xfrm>
          <ns1:prstGeom prst="rect">
            <ns1:avLst/>
          </ns1:prstGeom>
          <ns1:solidFill>
            <ns1:srgbClr val="FFFFFF"/>
          </ns1:solidFill>
          <ns1:ln w="0">
            <ns1:solidFill>
              <ns1:srgbClr val="FFFFFF"/>
            </ns1:solidFill>
          </ns1:ln>
        </ns0:spPr>
        <ns0:txBody>
          <ns1:bodyPr anchor="t">
            <ns1:noAutofit/>
          </ns1:bodyPr>
          <ns1:lstStyle/>
          <ns1:p>
            <ns1:pPr>
              <ns1:defRPr sz="1650" b="1">
                <ns1:solidFill>
                  <ns1:srgbClr val="157C87"/>
                </ns1:solidFill>
                <ns1:latin typeface="Arial"/>
                <ns1:ea typeface="Arial"/>
                <ns1:cs typeface="Arial"/>
              </ns1:defRPr>
            </ns1:pPr>
            <ns1:r>
              <ns1:rPr sz="1650" b="1">
                <ns1:solidFill>
                  <ns1:srgbClr val="157C87"/>
                </ns1:solidFill>
                <ns1:latin typeface="Arial"/>
                <ns1:ea typeface="Arial"/>
                <ns1:cs typeface="Arial"/>
              </ns1:rPr>
              <ns1:t>What it establishes</ns1:t>
            </ns1:r>
          </ns1:p>
        </ns0:txBody>
      </ns0:sp>
      <ns0:sp>
        <ns0:nvSpPr>
          <ns0:cNvPr id="7" name="">
            <ns1:extLst>
              <ns1:ext uri="{FF2B5EF4-FFF2-40B4-BE49-F238E27FC236}">
                <ns2:creationId id="{09510A33-8CFE-40FC-88C7-EA923125CAFE}"/>
              </ns1:ext>
            </ns1:extLst>
          </ns0:cNvPr>
          <ns0:cNvSpPr>
            <ns1:spLocks noGrp="1"/>
          </ns0:cNvSpPr>
          <ns0:nvPr/>
        </ns0:nvSpPr>
        <ns0:spPr>
          <ns1:xfrm>
            <ns1:off x="8239125" y="4791075"/>
            <ns1:ext cx="3343275" cy="1800225"/>
          </ns1:xfrm>
          <ns1:prstGeom prst="rect">
            <ns1:avLst/>
          </ns1:prstGeom>
          <ns1:solidFill>
            <ns1:srgbClr val="FFFFFF"/>
          </ns1:solidFill>
          <ns1:ln w="0">
            <ns1:solidFill>
              <ns1:srgbClr val="FFFFFF"/>
            </ns1:solidFill>
          </ns1:ln>
        </ns0:spPr>
        <ns0:txBody>
          <ns1:bodyPr anchor="t">
            <ns1:noAutofit/>
          </ns1:bodyPr>
          <ns1:lstStyle/>
          <ns1:p>
            <ns1:pPr>
              <ns1:defRPr sz="1800" b="0">
                <ns1:solidFill>
                  <ns1:srgbClr val="213744"/>
                </ns1:solidFill>
                <ns1:latin typeface="Arial"/>
                <ns1:ea typeface="Arial"/>
                <ns1:cs typeface="Arial"/>
              </ns1:defRPr>
            </ns1:pPr>
            <ns1:r>
              <ns1:rPr sz="1800" b="0">
                <ns1:solidFill>
                  <ns1:srgbClr val="213744"/>
                </ns1:solidFill>
                <ns1:latin typeface="Arial"/>
                <ns1:ea typeface="Arial"/>
                <ns1:cs typeface="Arial"/>
              </ns1:rPr>
              <ns1:t>The proposed rules distinguish a new coordinate representation from a physical move. An image explains this distinction; numerical controls must test it.</ns1:t>
            </ns1:r>
          </ns1:p>
        </ns0:txBody>
      </ns0:sp>
      <ns0:sp>
        <ns0:nvSpPr>
          <ns0:cNvPr id="8" name="">
            <ns1:extLst>
              <ns1:ext uri="{FF2B5EF4-FFF2-40B4-BE49-F238E27FC236}">
                <ns2:creationId id="{77721CDB-FDDF-4B8C-A959-C946CE78599A}"/>
              </ns1:ext>
            </ns1:extLst>
          </ns0:cNvPr>
          <ns0:cNvSpPr>
            <ns1:spLocks noGrp="1"/>
          </ns0:cNvSpPr>
          <ns0:nvPr/>
        </ns0:nvSpPr>
        <ns0:spPr>
          <ns1:xfrm>
            <ns1:off x="609600" y="6534150"/>
            <ns1:ext cx="7258050" cy="238125"/>
          </ns1:xfrm>
          <ns1:prstGeom prst="rect">
            <ns1:avLst/>
          </ns1:prstGeom>
          <ns1:solidFill>
            <ns1:srgbClr val="FFFFFF"/>
          </ns1:solidFill>
          <ns1:ln w="0">
            <ns1:solidFill>
              <ns1:srgbClr val="FFFFFF"/>
            </ns1:solidFill>
          </ns1:ln>
        </ns0:spPr>
        <ns0:txBody>
          <ns1:bodyPr anchor="t">
            <ns1:noAutofit/>
          </ns1:bodyPr>
          <ns1:lstStyle/>
          <ns1:p>
            <ns1:pPr>
              <ns1:defRPr sz="1350" b="0">
                <ns1:solidFill>
                  <ns1:srgbClr val="526B79"/>
                </ns1:solidFill>
                <ns1:latin typeface="Arial"/>
                <ns1:ea typeface="Arial"/>
                <ns1:cs typeface="Arial"/>
              </ns1:defRPr>
            </ns1:pPr>
            <ns1:r>
              <ns1:rPr sz="1350" b="0">
                <ns1:solidFill>
                  <ns1:srgbClr val="526B79"/>
                </ns1:solidFill>
                <ns1:latin typeface="Arial"/>
                <ns1:ea typeface="Arial"/>
                <ns1:cs typeface="Arial"/>
              </ns1:rPr>
              <ns1:t>Informative illustration. Limits in the notes and README.</ns1:t>
            </ns1:r>
          </ns1:p>
        </ns0:txBody>
      </ns0:sp>
    </ns0:spTree>
    <ns0:extLst>
      <ns0:ext uri="{BB962C8B-B14F-4D97-AF65-F5344CB8AC3E}">
        <ns4:creationId val="1465094394"/>
      </ns0:ext>
    </ns0:extLst>
  </ns0:cSld>
</ns0:sld>
</file>

<file path=ppt/slides/slide4.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FFFFF"/>
        </ns1:solidFill>
      </ns0:bgPr>
    </ns0:bg>
    <ns0:spTree>
      <ns0:nvGrpSpPr>
        <ns0:cNvPr id="1" name=""/>
        <ns0:cNvGrpSpPr/>
        <ns0:nvPr/>
      </ns0:nvGrpSpPr>
      <ns0:grpSpPr>
        <ns1:xfrm/>
      </ns0:grpSpPr>
      <ns0:sp>
        <ns0:nvSpPr>
          <ns0:cNvPr id="9" name="">
            <ns1:extLst>
              <ns1:ext uri="{FF2B5EF4-FFF2-40B4-BE49-F238E27FC236}">
                <ns2:creationId id="{1D47866D-759F-41D1-82C8-3A1A98332431}"/>
              </ns1:ext>
            </ns1:extLst>
          </ns0:cNvPr>
          <ns0:cNvSpPr>
            <ns1:spLocks noGrp="1"/>
          </ns0:cNvSpPr>
          <ns0:nvPr/>
        </ns0:nvSpPr>
        <ns0:spPr>
          <ns1:xfrm>
            <ns1:off x="609600" y="323850"/>
            <ns1:ext cx="10972800" cy="990600"/>
          </ns1:xfrm>
          <ns1:prstGeom prst="rect">
            <ns1:avLst/>
          </ns1:prstGeom>
          <ns1:solidFill>
            <ns1:srgbClr val="FFFFFF"/>
          </ns1:solidFill>
          <ns1:ln w="0">
            <ns1:solidFill>
              <ns1:srgbClr val="FFFFFF"/>
            </ns1:solidFill>
          </ns1:ln>
        </ns0:spPr>
        <ns0:txBody>
          <ns1:bodyPr anchor="t">
            <ns1:noAutofit/>
          </ns1:bodyPr>
          <ns1:lstStyle/>
          <ns1:p>
            <ns1:pPr>
              <ns1:defRPr sz="3150" b="1">
                <ns1:solidFill>
                  <ns1:srgbClr val="213744"/>
                </ns1:solidFill>
                <ns1:latin typeface="Arial"/>
                <ns1:ea typeface="Arial"/>
                <ns1:cs typeface="Arial"/>
              </ns1:defRPr>
            </ns1:pPr>
            <ns1:r>
              <ns1:rPr sz="3150" b="1">
                <ns1:solidFill>
                  <ns1:srgbClr val="213744"/>
                </ns1:solidFill>
                <ns1:latin typeface="Arial"/>
                <ns1:ea typeface="Arial"/>
                <ns1:cs typeface="Arial"/>
              </ns1:rPr>
              <ns1:t>Ordinary model adjustments after placement</ns1:t>
            </ns1:r>
          </ns1:p>
        </ns0:txBody>
      </ns0:sp>
      <ns0:sp>
        <ns0:nvSpPr>
          <ns0:cNvPr id="2" name="">
            <ns1:extLst>
              <ns1:ext uri="{FF2B5EF4-FFF2-40B4-BE49-F238E27FC236}">
                <ns2:creationId id="{F94DD4E3-18AF-44CA-B060-7E434F9767CA}"/>
              </ns1:ext>
            </ns1:extLst>
          </ns0:cNvPr>
          <ns0:cNvSpPr>
            <ns1:spLocks noGrp="1"/>
          </ns0:cNvSpPr>
          <ns0:nvPr/>
        </ns0:nvSpPr>
        <ns0:spPr>
          <ns1:xfrm>
            <ns1:off x="609600" y="1400175"/>
            <ns1:ext cx="10972800" cy="771525"/>
          </ns1:xfrm>
          <ns1:prstGeom prst="rect">
            <ns1:avLst/>
          </ns1:prstGeom>
          <ns1:solidFill>
            <ns1:srgbClr val="FFFFFF"/>
          </ns1:solidFill>
          <ns1:ln w="0">
            <ns1:solidFill>
              <ns1:srgbClr val="FFFFFF"/>
            </ns1:solidFill>
          </ns1:ln>
        </ns0:spPr>
        <ns0:txBody>
          <ns1:bodyPr anchor="t">
            <ns1:noAutofit/>
          </ns1:bodyPr>
          <ns1:lstStyle/>
          <ns1:p>
            <ns1:pPr>
              <ns1:defRPr sz="2325" b="1">
                <ns1:solidFill>
                  <ns1:srgbClr val="157C87"/>
                </ns1:solidFill>
                <ns1:latin typeface="Arial"/>
                <ns1:ea typeface="Arial"/>
                <ns1:cs typeface="Arial"/>
              </ns1:defRPr>
            </ns1:pPr>
            <ns1:r>
              <ns1:rPr sz="2325" b="1">
                <ns1:solidFill>
                  <ns1:srgbClr val="157C87"/>
                </ns1:solidFill>
                <ns1:latin typeface="Arial"/>
                <ns1:ea typeface="Arial"/>
                <ns1:cs typeface="Arial"/>
              </ns1:rPr>
              <ns1:t>In which coordinates do an author's scale, rotation and translation operate?</ns1:t>
            </ns1:r>
          </ns1:p>
        </ns0:txBody>
      </ns0:sp>
      <ns0:pic>
        <ns0:nvPicPr>
          <ns0:cNvPr id="11" name=""/>
          <ns0:cNvPicPr>
            <ns1:picLocks noChangeAspect="1"/>
          </ns0:cNvPicPr>
          <ns0:nvPr/>
        </ns0:nvPicPr>
        <ns0:blipFill>
          <ns1:blip ns3:embed="R89afa665a7ce42a7"/>
          <ns1:srcRect l="0" t="8974" r="0" b="33333"/>
          <ns1:stretch>
            <ns1:fillRect l="0" t="0" r="0" b="0"/>
          </ns1:stretch>
        </ns0:blipFill>
        <ns0:spPr>
          <ns1:xfrm>
            <ns1:off x="609600" y="2381250"/>
            <ns1:ext cx="7258050" cy="4086225"/>
          </ns1:xfrm>
          <ns1:prstGeom prst="rect">
            <ns1:avLst/>
          </ns1:prstGeom>
        </ns0:spPr>
      </ns0:pic>
      <ns0:sp>
        <ns0:nvSpPr>
          <ns0:cNvPr id="4" name="">
            <ns1:extLst>
              <ns1:ext uri="{FF2B5EF4-FFF2-40B4-BE49-F238E27FC236}">
                <ns2:creationId id="{45B4C72B-528D-4599-AC97-3E9D1573258F}"/>
              </ns1:ext>
            </ns1:extLst>
          </ns0:cNvPr>
          <ns0:cNvSpPr>
            <ns1:spLocks noGrp="1"/>
          </ns0:cNvSpPr>
          <ns0:nvPr/>
        </ns0:nvSpPr>
        <ns0:spPr>
          <ns1:xfrm>
            <ns1:off x="8239125" y="2381250"/>
            <ns1:ext cx="3343275" cy="304800"/>
          </ns1:xfrm>
          <ns1:prstGeom prst="rect">
            <ns1:avLst/>
          </ns1:prstGeom>
          <ns1:solidFill>
            <ns1:srgbClr val="FFFFFF"/>
          </ns1:solidFill>
          <ns1:ln w="0">
            <ns1:solidFill>
              <ns1:srgbClr val="FFFFFF"/>
            </ns1:solidFill>
          </ns1:ln>
        </ns0:spPr>
        <ns0:txBody>
          <ns1:bodyPr anchor="t">
            <ns1:noAutofit/>
          </ns1:bodyPr>
          <ns1:lstStyle/>
          <ns1:p>
            <ns1:pPr>
              <ns1:defRPr sz="1650" b="1">
                <ns1:solidFill>
                  <ns1:srgbClr val="157C87"/>
                </ns1:solidFill>
                <ns1:latin typeface="Arial"/>
                <ns1:ea typeface="Arial"/>
                <ns1:cs typeface="Arial"/>
              </ns1:defRPr>
            </ns1:pPr>
            <ns1:r>
              <ns1:rPr sz="1650" b="1">
                <ns1:solidFill>
                  <ns1:srgbClr val="157C87"/>
                </ns1:solidFill>
                <ns1:latin typeface="Arial"/>
                <ns1:ea typeface="Arial"/>
                <ns1:cs typeface="Arial"/>
              </ns1:rPr>
              <ns1:t>Observed</ns1:t>
            </ns1:r>
          </ns1:p>
        </ns0:txBody>
      </ns0:sp>
      <ns0:sp>
        <ns0:nvSpPr>
          <ns0:cNvPr id="5" name="">
            <ns1:extLst>
              <ns1:ext uri="{FF2B5EF4-FFF2-40B4-BE49-F238E27FC236}">
                <ns2:creationId id="{160DD388-3033-44F2-A719-09DCA7E6D876}"/>
              </ns1:ext>
            </ns1:extLst>
          </ns0:cNvPr>
          <ns0:cNvSpPr>
            <ns1:spLocks noGrp="1"/>
          </ns0:cNvSpPr>
          <ns0:nvPr/>
        </ns0:nvSpPr>
        <ns0:spPr>
          <ns1:xfrm>
            <ns1:off x="8239125" y="2733675"/>
            <ns1:ext cx="3343275" cy="1600200"/>
          </ns1:xfrm>
          <ns1:prstGeom prst="rect">
            <ns1:avLst/>
          </ns1:prstGeom>
          <ns1:solidFill>
            <ns1:srgbClr val="FFFFFF"/>
          </ns1:solidFill>
          <ns1:ln w="0">
            <ns1:solidFill>
              <ns1:srgbClr val="FFFFFF"/>
            </ns1:solidFill>
          </ns1:ln>
        </ns0:spPr>
        <ns0:txBody>
          <ns1:bodyPr anchor="t">
            <ns1:noAutofit/>
          </ns1:bodyPr>
          <ns1:lstStyle/>
          <ns1:p>
            <ns1:pPr>
              <ns1:defRPr sz="1800" b="0">
                <ns1:solidFill>
                  <ns1:srgbClr val="213744"/>
                </ns1:solidFill>
                <ns1:latin typeface="Arial"/>
                <ns1:ea typeface="Arial"/>
                <ns1:cs typeface="Arial"/>
              </ns1:defRPr>
            </ns1:pPr>
            <ns1:r>
              <ns1:rPr sz="1800" b="0">
                <ns1:solidFill>
                  <ns1:srgbClr val="213744"/>
                </ns1:solidFill>
                <ns1:latin typeface="Arial"/>
                <ns1:ea typeface="Arial"/>
                <ns1:cs typeface="Arial"/>
              </ns1:rPr>
              <ns1:t>The illustration applies scale 1.15, rotation 20 degrees, then moves 120 m east and 60 m south. A child-transform control separates two interpretations by 4.222 m.</ns1:t>
            </ns1:r>
          </ns1:p>
        </ns0:txBody>
      </ns0:sp>
      <ns0:sp>
        <ns0:nvSpPr>
          <ns0:cNvPr id="6" name="">
            <ns1:extLst>
              <ns1:ext uri="{FF2B5EF4-FFF2-40B4-BE49-F238E27FC236}">
                <ns2:creationId id="{B3D3A38C-2F28-4328-BC82-F5F2BC2FED87}"/>
              </ns1:ext>
            </ns1:extLst>
          </ns0:cNvPr>
          <ns0:cNvSpPr>
            <ns1:spLocks noGrp="1"/>
          </ns0:cNvSpPr>
          <ns0:nvPr/>
        </ns0:nvSpPr>
        <ns0:spPr>
          <ns1:xfrm>
            <ns1:off x="8239125" y="4429125"/>
            <ns1:ext cx="3343275" cy="314325"/>
          </ns1:xfrm>
          <ns1:prstGeom prst="rect">
            <ns1:avLst/>
          </ns1:prstGeom>
          <ns1:solidFill>
            <ns1:srgbClr val="FFFFFF"/>
          </ns1:solidFill>
          <ns1:ln w="0">
            <ns1:solidFill>
              <ns1:srgbClr val="FFFFFF"/>
            </ns1:solidFill>
          </ns1:ln>
        </ns0:spPr>
        <ns0:txBody>
          <ns1:bodyPr anchor="t">
            <ns1:noAutofit/>
          </ns1:bodyPr>
          <ns1:lstStyle/>
          <ns1:p>
            <ns1:pPr>
              <ns1:defRPr sz="1650" b="1">
                <ns1:solidFill>
                  <ns1:srgbClr val="157C87"/>
                </ns1:solidFill>
                <ns1:latin typeface="Arial"/>
                <ns1:ea typeface="Arial"/>
                <ns1:cs typeface="Arial"/>
              </ns1:defRPr>
            </ns1:pPr>
            <ns1:r>
              <ns1:rPr sz="1650" b="1">
                <ns1:solidFill>
                  <ns1:srgbClr val="157C87"/>
                </ns1:solidFill>
                <ns1:latin typeface="Arial"/>
                <ns1:ea typeface="Arial"/>
                <ns1:cs typeface="Arial"/>
              </ns1:rPr>
              <ns1:t>What it establishes</ns1:t>
            </ns1:r>
          </ns1:p>
        </ns0:txBody>
      </ns0:sp>
      <ns0:sp>
        <ns0:nvSpPr>
          <ns0:cNvPr id="7" name="">
            <ns1:extLst>
              <ns1:ext uri="{FF2B5EF4-FFF2-40B4-BE49-F238E27FC236}">
                <ns2:creationId id="{721F031B-8FD0-4558-A388-A73DB8B33D3F}"/>
              </ns1:ext>
            </ns1:extLst>
          </ns0:cNvPr>
          <ns0:cNvSpPr>
            <ns1:spLocks noGrp="1"/>
          </ns0:cNvSpPr>
          <ns0:nvPr/>
        </ns0:nvSpPr>
        <ns0:spPr>
          <ns1:xfrm>
            <ns1:off x="8239125" y="4791075"/>
            <ns1:ext cx="3343275" cy="1800225"/>
          </ns1:xfrm>
          <ns1:prstGeom prst="rect">
            <ns1:avLst/>
          </ns1:prstGeom>
          <ns1:solidFill>
            <ns1:srgbClr val="FFFFFF"/>
          </ns1:solidFill>
          <ns1:ln w="0">
            <ns1:solidFill>
              <ns1:srgbClr val="FFFFFF"/>
            </ns1:solidFill>
          </ns1:ln>
        </ns0:spPr>
        <ns0:txBody>
          <ns1:bodyPr anchor="t">
            <ns1:noAutofit/>
          </ns1:bodyPr>
          <ns1:lstStyle/>
          <ns1:p>
            <ns1:pPr>
              <ns1:defRPr sz="1800" b="0">
                <ns1:solidFill>
                  <ns1:srgbClr val="213744"/>
                </ns1:solidFill>
                <ns1:latin typeface="Arial"/>
                <ns1:ea typeface="Arial"/>
                <ns1:cs typeface="Arial"/>
              </ns1:defRPr>
            </ns1:pPr>
            <ns1:r>
              <ns1:rPr sz="1800" b="0">
                <ns1:solidFill>
                  <ns1:srgbClr val="213744"/>
                </ns1:solidFill>
                <ns1:latin typeface="Arial"/>
                <ns1:ea typeface="Arial"/>
                <ns1:cs typeface="Arial"/>
              </ns1:rPr>
              <ns1:t>Order changes the result. The control makes the proposed child-transform choice reviewable; matching readers do not establish agreement.</ns1:t>
            </ns1:r>
          </ns1:p>
        </ns0:txBody>
      </ns0:sp>
      <ns0:sp>
        <ns0:nvSpPr>
          <ns0:cNvPr id="8" name="">
            <ns1:extLst>
              <ns1:ext uri="{FF2B5EF4-FFF2-40B4-BE49-F238E27FC236}">
                <ns2:creationId id="{7C0F9179-650B-4F6F-9376-6B18B27173B8}"/>
              </ns1:ext>
            </ns1:extLst>
          </ns0:cNvPr>
          <ns0:cNvSpPr>
            <ns1:spLocks noGrp="1"/>
          </ns0:cNvSpPr>
          <ns0:nvPr/>
        </ns0:nvSpPr>
        <ns0:spPr>
          <ns1:xfrm>
            <ns1:off x="609600" y="6534150"/>
            <ns1:ext cx="7258050" cy="238125"/>
          </ns1:xfrm>
          <ns1:prstGeom prst="rect">
            <ns1:avLst/>
          </ns1:prstGeom>
          <ns1:solidFill>
            <ns1:srgbClr val="FFFFFF"/>
          </ns1:solidFill>
          <ns1:ln w="0">
            <ns1:solidFill>
              <ns1:srgbClr val="FFFFFF"/>
            </ns1:solidFill>
          </ns1:ln>
        </ns0:spPr>
        <ns0:txBody>
          <ns1:bodyPr anchor="t">
            <ns1:noAutofit/>
          </ns1:bodyPr>
          <ns1:lstStyle/>
          <ns1:p>
            <ns1:pPr>
              <ns1:defRPr sz="1350" b="0">
                <ns1:solidFill>
                  <ns1:srgbClr val="526B79"/>
                </ns1:solidFill>
                <ns1:latin typeface="Arial"/>
                <ns1:ea typeface="Arial"/>
                <ns1:cs typeface="Arial"/>
              </ns1:defRPr>
            </ns1:pPr>
            <ns1:r>
              <ns1:rPr sz="1350" b="0">
                <ns1:solidFill>
                  <ns1:srgbClr val="526B79"/>
                </ns1:solidFill>
                <ns1:latin typeface="Arial"/>
                <ns1:ea typeface="Arial"/>
                <ns1:cs typeface="Arial"/>
              </ns1:rPr>
              <ns1:t>Informative illustration. Limits in the notes and README.</ns1:t>
            </ns1:r>
          </ns1:p>
        </ns0:txBody>
      </ns0:sp>
    </ns0:spTree>
    <ns0:extLst>
      <ns0:ext uri="{BB962C8B-B14F-4D97-AF65-F5344CB8AC3E}">
        <ns4:creationId val="866545666"/>
      </ns0:ext>
    </ns0:extLst>
  </ns0:cSld>
</ns0: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DDC8E45-3EDF-4367-83AF-C4D81A51BAE0}"/>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The same rules in two placement readers</a:t>
            </a:r>
          </a:p>
        </p:txBody>
      </p:sp>
      <p:sp>
        <p:nvSpPr>
          <p:cNvPr id="2" name="">
            <a:extLst xmlns:a="http://schemas.openxmlformats.org/drawingml/2006/main">
              <a:ext uri="{FF2B5EF4-FFF2-40B4-BE49-F238E27FC236}">
                <a16:creationId xmlns:a16="http://schemas.microsoft.com/office/drawing/2014/main" id="{0EC0BCFA-550B-42CD-AEA1-5016A1D6D922}"/>
              </a:ext>
            </a:extLst>
          </p:cNvPr>
          <p:cNvSpPr>
            <a:spLocks xmlns:a="http://schemas.openxmlformats.org/drawingml/2006/main" noGrp="1"/>
          </p:cNvSpPr>
          <p:nvPr/>
        </p:nvSpPr>
        <p:spPr>
          <a:xfrm xmlns:a="http://schemas.openxmlformats.org/drawingml/2006/main">
            <a:off x="609600" y="1390650"/>
            <a:ext cx="10972800" cy="762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2325" b="0">
                <a:solidFill>
                  <a:srgbClr val="213744"/>
                </a:solidFill>
                <a:latin typeface="Arial"/>
                <a:ea typeface="Arial"/>
                <a:cs typeface="Arial"/>
              </a:defRPr>
            </a:pPr>
            <a:r>
              <a:rPr sz="2325" b="0">
                <a:solidFill>
                  <a:srgbClr val="213744"/>
                </a:solidFill>
                <a:latin typeface="Arial"/>
                <a:ea typeface="Arial"/>
                <a:cs typeface="Arial"/>
              </a:rPr>
              <a:t>Can separate implementations derive the same coordinates from the proposed inputs and rules?</a:t>
            </a:r>
          </a:p>
        </p:txBody>
      </p:sp>
      <p:sp>
        <p:nvSpPr>
          <p:cNvPr id="3" name="">
            <a:extLst xmlns:a="http://schemas.openxmlformats.org/drawingml/2006/main">
              <a:ext uri="{FF2B5EF4-FFF2-40B4-BE49-F238E27FC236}">
                <a16:creationId xmlns:a16="http://schemas.microsoft.com/office/drawing/2014/main" id="{332A35C9-60B7-4621-A27C-2ECB3E992B12}"/>
              </a:ext>
            </a:extLst>
          </p:cNvPr>
          <p:cNvSpPr>
            <a:spLocks xmlns:a="http://schemas.openxmlformats.org/drawingml/2006/main" noGrp="1"/>
          </p:cNvSpPr>
          <p:nvPr/>
        </p:nvSpPr>
        <p:spPr>
          <a:xfrm xmlns:a="http://schemas.openxmlformats.org/drawingml/2006/main">
            <a:off x="609600" y="2305050"/>
            <a:ext cx="10972800" cy="3524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875" b="1">
                <a:solidFill>
                  <a:srgbClr val="157C87"/>
                </a:solidFill>
                <a:latin typeface="Arial"/>
                <a:ea typeface="Arial"/>
                <a:cs typeface="Arial"/>
              </a:defRPr>
            </a:pPr>
            <a:r>
              <a:rPr sz="1875" b="1">
                <a:solidFill>
                  <a:srgbClr val="157C87"/>
                </a:solidFill>
                <a:latin typeface="Arial"/>
                <a:ea typeface="Arial"/>
                <a:cs typeface="Arial"/>
              </a:rPr>
              <a:t>France: CC49 to Lambert-93, metres</a:t>
            </a:r>
          </a:p>
        </p:txBody>
      </p:sp>
      <p:graphicFrame>
        <p:nvGraphicFramePr>
          <p:cNvPr id="11" name=""/>
          <p:cNvGraphicFramePr/>
          <p:nvPr/>
        </p:nvGraphicFramePr>
        <p:xfrm>
          <a:off xmlns:a="http://schemas.openxmlformats.org/drawingml/2006/main" x="609600" y="2733675"/>
          <a:ext xmlns:a="http://schemas.openxmlformats.org/drawingml/2006/main" cx="10972800" cy="1352550"/>
        </p:xfrm>
        <a:graphic xmlns:a="http://schemas.openxmlformats.org/drawingml/2006/main">
          <a:graphicData uri="http://schemas.openxmlformats.org/drawingml/2006/table">
            <a:tbl>
              <a:tblPr/>
              <a:tblGrid>
                <a:gridCol w="3352800"/>
                <a:gridCol w="3810000"/>
                <a:gridCol w="3810000"/>
              </a:tblGrid>
              <a:tr h="338138">
                <a:tc>
                  <a:txBody>
                    <a:bodyPr>
                      <a:noAutofit/>
                    </a:bodyPr>
                    <a:lstStyle/>
                    <a:p>
                      <a:r>
                        <a:rPr sz="1800" b="1">
                          <a:solidFill>
                            <a:srgbClr val="FFFFFF"/>
                          </a:solidFill>
                          <a:latin typeface="Arial"/>
                          <a:ea typeface="Arial"/>
                          <a:cs typeface="Arial"/>
                        </a:rPr>
                        <a:t>Resolved component</a:t>
                      </a:r>
                    </a:p>
                  </a:txBody>
                  <a:tcPr marL="95250" marR="95250" marT="19050" marB="19050">
                    <a:solidFill>
                      <a:srgbClr val="213744"/>
                    </a:solidFill>
                  </a:tcPr>
                </a:tc>
                <a:tc>
                  <a:txBody>
                    <a:bodyPr>
                      <a:noAutofit/>
                    </a:bodyPr>
                    <a:lstStyle/>
                    <a:p>
                      <a:r>
                        <a:rPr sz="1800" b="1">
                          <a:solidFill>
                            <a:srgbClr val="FFFFFF"/>
                          </a:solidFill>
                          <a:latin typeface="Arial"/>
                          <a:ea typeface="Arial"/>
                          <a:cs typeface="Arial"/>
                        </a:rPr>
                        <a:t>Python reader</a:t>
                      </a:r>
                    </a:p>
                  </a:txBody>
                  <a:tcPr marL="95250" marR="95250" marT="19050" marB="19050">
                    <a:solidFill>
                      <a:srgbClr val="213744"/>
                    </a:solidFill>
                  </a:tcPr>
                </a:tc>
                <a:tc>
                  <a:txBody>
                    <a:bodyPr>
                      <a:noAutofit/>
                    </a:bodyPr>
                    <a:lstStyle/>
                    <a:p>
                      <a:r>
                        <a:rPr sz="1800" b="1">
                          <a:solidFill>
                            <a:srgbClr val="FFFFFF"/>
                          </a:solidFill>
                          <a:latin typeface="Arial"/>
                          <a:ea typeface="Arial"/>
                          <a:cs typeface="Arial"/>
                        </a:rPr>
                        <a:t>C++ reader</a:t>
                      </a:r>
                    </a:p>
                  </a:txBody>
                  <a:tcPr marL="95250" marR="95250" marT="19050" marB="19050">
                    <a:solidFill>
                      <a:srgbClr val="213744"/>
                    </a:solidFill>
                  </a:tcPr>
                </a:tc>
              </a:tr>
              <a:tr h="338138">
                <a:tc>
                  <a:txBody>
                    <a:bodyPr>
                      <a:noAutofit/>
                    </a:bodyPr>
                    <a:lstStyle/>
                    <a:p>
                      <a:r>
                        <a:rPr sz="1800" b="0">
                          <a:solidFill>
                            <a:srgbClr val="213744"/>
                          </a:solidFill>
                          <a:latin typeface="Arial"/>
                          <a:ea typeface="Arial"/>
                          <a:cs typeface="Arial"/>
                        </a:rPr>
                        <a:t>Map east coordinate</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661,101.109417</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661,101.109417</a:t>
                      </a:r>
                    </a:p>
                  </a:txBody>
                  <a:tcPr marL="95250" marR="95250" marT="19050" marB="19050">
                    <a:solidFill>
                      <a:srgbClr val="FFFFFF"/>
                    </a:solidFill>
                  </a:tcPr>
                </a:tc>
              </a:tr>
              <a:tr h="338138">
                <a:tc>
                  <a:txBody>
                    <a:bodyPr>
                      <a:noAutofit/>
                    </a:bodyPr>
                    <a:lstStyle/>
                    <a:p>
                      <a:r>
                        <a:rPr sz="1800" b="0">
                          <a:solidFill>
                            <a:srgbClr val="213744"/>
                          </a:solidFill>
                          <a:latin typeface="Arial"/>
                          <a:ea typeface="Arial"/>
                          <a:cs typeface="Arial"/>
                        </a:rPr>
                        <a:t>Map north coordinate</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6,857,834.256536</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6,857,834.256536</a:t>
                      </a:r>
                    </a:p>
                  </a:txBody>
                  <a:tcPr marL="95250" marR="95250" marT="19050" marB="19050">
                    <a:solidFill>
                      <a:srgbClr val="FFFFFF"/>
                    </a:solidFill>
                  </a:tcPr>
                </a:tc>
              </a:tr>
              <a:tr h="338138">
                <a:tc>
                  <a:txBody>
                    <a:bodyPr>
                      <a:noAutofit/>
                    </a:bodyPr>
                    <a:lstStyle/>
                    <a:p>
                      <a:r>
                        <a:rPr sz="1800" b="0">
                          <a:solidFill>
                            <a:srgbClr val="213744"/>
                          </a:solidFill>
                          <a:latin typeface="Arial"/>
                          <a:ea typeface="Arial"/>
                          <a:cs typeface="Arial"/>
                        </a:rPr>
                        <a:t>Height</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37.298000</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37.298000</a:t>
                      </a:r>
                    </a:p>
                  </a:txBody>
                  <a:tcPr marL="95250" marR="95250" marT="19050" marB="1905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545969C-4C7C-4A06-A467-CCEEB07FBD8B}"/>
              </a:ext>
            </a:extLst>
          </p:cNvPr>
          <p:cNvSpPr>
            <a:spLocks xmlns:a="http://schemas.openxmlformats.org/drawingml/2006/main" noGrp="1"/>
          </p:cNvSpPr>
          <p:nvPr/>
        </p:nvSpPr>
        <p:spPr>
          <a:xfrm xmlns:a="http://schemas.openxmlformats.org/drawingml/2006/main">
            <a:off x="609600" y="4238625"/>
            <a:ext cx="10972800" cy="3524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875" b="1">
                <a:solidFill>
                  <a:srgbClr val="157C87"/>
                </a:solidFill>
                <a:latin typeface="Arial"/>
                <a:ea typeface="Arial"/>
                <a:cs typeface="Arial"/>
              </a:defRPr>
            </a:pPr>
            <a:r>
              <a:rPr sz="1875" b="1">
                <a:solidFill>
                  <a:srgbClr val="157C87"/>
                </a:solidFill>
                <a:latin typeface="Arial"/>
                <a:ea typeface="Arial"/>
                <a:cs typeface="Arial"/>
              </a:rPr>
              <a:t>Colorado: State Plane to site grid, US survey feet</a:t>
            </a:r>
          </a:p>
        </p:txBody>
      </p:sp>
      <p:graphicFrame>
        <p:nvGraphicFramePr>
          <p:cNvPr id="13" name=""/>
          <p:cNvGraphicFramePr/>
          <p:nvPr/>
        </p:nvGraphicFramePr>
        <p:xfrm>
          <a:off xmlns:a="http://schemas.openxmlformats.org/drawingml/2006/main" x="609600" y="4667250"/>
          <a:ext xmlns:a="http://schemas.openxmlformats.org/drawingml/2006/main" cx="10972800" cy="1352550"/>
        </p:xfrm>
        <a:graphic xmlns:a="http://schemas.openxmlformats.org/drawingml/2006/main">
          <a:graphicData uri="http://schemas.openxmlformats.org/drawingml/2006/table">
            <a:tbl>
              <a:tblPr/>
              <a:tblGrid>
                <a:gridCol w="3352800"/>
                <a:gridCol w="3810000"/>
                <a:gridCol w="3810000"/>
              </a:tblGrid>
              <a:tr h="338138">
                <a:tc>
                  <a:txBody>
                    <a:bodyPr>
                      <a:noAutofit/>
                    </a:bodyPr>
                    <a:lstStyle/>
                    <a:p>
                      <a:r>
                        <a:rPr sz="1800" b="1">
                          <a:solidFill>
                            <a:srgbClr val="FFFFFF"/>
                          </a:solidFill>
                          <a:latin typeface="Arial"/>
                          <a:ea typeface="Arial"/>
                          <a:cs typeface="Arial"/>
                        </a:rPr>
                        <a:t>Resolved component</a:t>
                      </a:r>
                    </a:p>
                  </a:txBody>
                  <a:tcPr marL="95250" marR="95250" marT="19050" marB="19050">
                    <a:solidFill>
                      <a:srgbClr val="213744"/>
                    </a:solidFill>
                  </a:tcPr>
                </a:tc>
                <a:tc>
                  <a:txBody>
                    <a:bodyPr>
                      <a:noAutofit/>
                    </a:bodyPr>
                    <a:lstStyle/>
                    <a:p>
                      <a:r>
                        <a:rPr sz="1800" b="1">
                          <a:solidFill>
                            <a:srgbClr val="FFFFFF"/>
                          </a:solidFill>
                          <a:latin typeface="Arial"/>
                          <a:ea typeface="Arial"/>
                          <a:cs typeface="Arial"/>
                        </a:rPr>
                        <a:t>Python reader</a:t>
                      </a:r>
                    </a:p>
                  </a:txBody>
                  <a:tcPr marL="95250" marR="95250" marT="19050" marB="19050">
                    <a:solidFill>
                      <a:srgbClr val="213744"/>
                    </a:solidFill>
                  </a:tcPr>
                </a:tc>
                <a:tc>
                  <a:txBody>
                    <a:bodyPr>
                      <a:noAutofit/>
                    </a:bodyPr>
                    <a:lstStyle/>
                    <a:p>
                      <a:r>
                        <a:rPr sz="1800" b="1">
                          <a:solidFill>
                            <a:srgbClr val="FFFFFF"/>
                          </a:solidFill>
                          <a:latin typeface="Arial"/>
                          <a:ea typeface="Arial"/>
                          <a:cs typeface="Arial"/>
                        </a:rPr>
                        <a:t>C++ reader</a:t>
                      </a:r>
                    </a:p>
                  </a:txBody>
                  <a:tcPr marL="95250" marR="95250" marT="19050" marB="19050">
                    <a:solidFill>
                      <a:srgbClr val="213744"/>
                    </a:solidFill>
                  </a:tcPr>
                </a:tc>
              </a:tr>
              <a:tr h="338138">
                <a:tc>
                  <a:txBody>
                    <a:bodyPr>
                      <a:noAutofit/>
                    </a:bodyPr>
                    <a:lstStyle/>
                    <a:p>
                      <a:r>
                        <a:rPr sz="1800" b="0">
                          <a:solidFill>
                            <a:srgbClr val="213744"/>
                          </a:solidFill>
                          <a:latin typeface="Arial"/>
                          <a:ea typeface="Arial"/>
                          <a:cs typeface="Arial"/>
                        </a:rPr>
                        <a:t>Map east coordinate</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3,108,871.450101</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3,108,871.450101</a:t>
                      </a:r>
                    </a:p>
                  </a:txBody>
                  <a:tcPr marL="95250" marR="95250" marT="19050" marB="19050">
                    <a:solidFill>
                      <a:srgbClr val="FFFFFF"/>
                    </a:solidFill>
                  </a:tcPr>
                </a:tc>
              </a:tr>
              <a:tr h="338138">
                <a:tc>
                  <a:txBody>
                    <a:bodyPr>
                      <a:noAutofit/>
                    </a:bodyPr>
                    <a:lstStyle/>
                    <a:p>
                      <a:r>
                        <a:rPr sz="1800" b="0">
                          <a:solidFill>
                            <a:srgbClr val="213744"/>
                          </a:solidFill>
                          <a:latin typeface="Arial"/>
                          <a:ea typeface="Arial"/>
                          <a:cs typeface="Arial"/>
                        </a:rPr>
                        <a:t>Map north coordinate</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1,206,317.469403</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1,206,317.469403</a:t>
                      </a:r>
                    </a:p>
                  </a:txBody>
                  <a:tcPr marL="95250" marR="95250" marT="19050" marB="19050">
                    <a:solidFill>
                      <a:srgbClr val="FFFFFF"/>
                    </a:solidFill>
                  </a:tcPr>
                </a:tc>
              </a:tr>
              <a:tr h="338138">
                <a:tc>
                  <a:txBody>
                    <a:bodyPr>
                      <a:noAutofit/>
                    </a:bodyPr>
                    <a:lstStyle/>
                    <a:p>
                      <a:r>
                        <a:rPr sz="1800" b="0">
                          <a:solidFill>
                            <a:srgbClr val="213744"/>
                          </a:solidFill>
                          <a:latin typeface="Arial"/>
                          <a:ea typeface="Arial"/>
                          <a:cs typeface="Arial"/>
                        </a:rPr>
                        <a:t>Height</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5,484.677949</a:t>
                      </a:r>
                    </a:p>
                  </a:txBody>
                  <a:tcPr marL="95250" marR="95250" marT="19050" marB="19050">
                    <a:solidFill>
                      <a:srgbClr val="FFFFFF"/>
                    </a:solidFill>
                  </a:tcPr>
                </a:tc>
                <a:tc>
                  <a:txBody>
                    <a:bodyPr>
                      <a:noAutofit/>
                    </a:bodyPr>
                    <a:lstStyle/>
                    <a:p>
                      <a:r>
                        <a:rPr sz="1800" b="0">
                          <a:solidFill>
                            <a:srgbClr val="213744"/>
                          </a:solidFill>
                          <a:latin typeface="Arial"/>
                          <a:ea typeface="Arial"/>
                          <a:cs typeface="Arial"/>
                        </a:rPr>
                        <a:t>5,484.677949</a:t>
                      </a:r>
                    </a:p>
                  </a:txBody>
                  <a:tcPr marL="95250" marR="95250" marT="19050" marB="1905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60636990-EED8-4C09-ACC8-B14B6B99A8C9}"/>
              </a:ext>
            </a:extLst>
          </p:cNvPr>
          <p:cNvSpPr>
            <a:spLocks xmlns:a="http://schemas.openxmlformats.org/drawingml/2006/main" noGrp="1"/>
          </p:cNvSpPr>
          <p:nvPr/>
        </p:nvSpPr>
        <p:spPr>
          <a:xfrm xmlns:a="http://schemas.openxmlformats.org/drawingml/2006/main">
            <a:off x="609600" y="6229350"/>
            <a:ext cx="109728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725" b="0">
                <a:solidFill>
                  <a:srgbClr val="526B79"/>
                </a:solidFill>
                <a:latin typeface="Arial"/>
                <a:ea typeface="Arial"/>
                <a:cs typeface="Arial"/>
              </a:defRPr>
            </a:pPr>
            <a:r>
              <a:rPr sz="1725" b="0">
                <a:solidFill>
                  <a:srgbClr val="526B79"/>
                </a:solidFill>
                <a:latin typeface="Arial"/>
                <a:ea typeface="Arial"/>
                <a:cs typeface="Arial"/>
              </a:rPr>
              <a:t>Both readers use PROJ, the same CRS conversion library, and share native dataset decoding.</a:t>
            </a:r>
          </a:p>
        </p:txBody>
      </p:sp>
    </p:spTree>
    <p:extLst>
      <p:ext uri="{BB962C8B-B14F-4D97-AF65-F5344CB8AC3E}">
        <p14:creationId xmlns:p14="http://schemas.microsoft.com/office/powerpoint/2010/main" val="167353703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BCDAC36-B3EC-46F0-B0CD-981978FB2DFC}"/>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Ordinary USD geometry for rendering</a:t>
            </a:r>
          </a:p>
        </p:txBody>
      </p:sp>
      <p:sp>
        <p:nvSpPr>
          <p:cNvPr id="2" name="">
            <a:extLst xmlns:a="http://schemas.openxmlformats.org/drawingml/2006/main">
              <a:ext uri="{FF2B5EF4-FFF2-40B4-BE49-F238E27FC236}">
                <a16:creationId xmlns:a16="http://schemas.microsoft.com/office/drawing/2014/main" id="{FA210D90-EDBA-4F16-809D-3687A9918C24}"/>
              </a:ext>
            </a:extLst>
          </p:cNvPr>
          <p:cNvSpPr>
            <a:spLocks xmlns:a="http://schemas.openxmlformats.org/drawingml/2006/main" noGrp="1"/>
          </p:cNvSpPr>
          <p:nvPr/>
        </p:nvSpPr>
        <p:spPr>
          <a:xfrm xmlns:a="http://schemas.openxmlformats.org/drawingml/2006/main">
            <a:off x="609600" y="1400175"/>
            <a:ext cx="10972800" cy="771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2325" b="1">
                <a:solidFill>
                  <a:srgbClr val="157C87"/>
                </a:solidFill>
                <a:latin typeface="Arial"/>
                <a:ea typeface="Arial"/>
                <a:cs typeface="Arial"/>
              </a:defRPr>
            </a:pPr>
            <a:r>
              <a:rPr sz="2325" b="1">
                <a:solidFill>
                  <a:srgbClr val="157C87"/>
                </a:solidFill>
                <a:latin typeface="Arial"/>
                <a:ea typeface="Arial"/>
                <a:cs typeface="Arial"/>
              </a:rPr>
              <a:t>Can a renderer use the result without implementing geospatial evaluation?</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edf0e614e70e4045"/>
          <a:stretch xmlns:a="http://schemas.openxmlformats.org/drawingml/2006/main"/>
        </p:blipFill>
        <p:spPr>
          <a:xfrm xmlns:a="http://schemas.openxmlformats.org/drawingml/2006/main">
            <a:off x="609600" y="2383036"/>
            <a:ext cx="7258050" cy="4082653"/>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F297252-5C92-44C5-B5FC-8626F1E6F663}"/>
              </a:ext>
            </a:extLst>
          </p:cNvPr>
          <p:cNvSpPr>
            <a:spLocks xmlns:a="http://schemas.openxmlformats.org/drawingml/2006/main" noGrp="1"/>
          </p:cNvSpPr>
          <p:nvPr/>
        </p:nvSpPr>
        <p:spPr>
          <a:xfrm xmlns:a="http://schemas.openxmlformats.org/drawingml/2006/main">
            <a:off x="8239125" y="2381250"/>
            <a:ext cx="3343275" cy="3048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650" b="1">
                <a:solidFill>
                  <a:srgbClr val="157C87"/>
                </a:solidFill>
                <a:latin typeface="Arial"/>
                <a:ea typeface="Arial"/>
                <a:cs typeface="Arial"/>
              </a:defRPr>
            </a:pPr>
            <a:r>
              <a:rPr sz="1650" b="1">
                <a:solidFill>
                  <a:srgbClr val="157C87"/>
                </a:solidFill>
                <a:latin typeface="Arial"/>
                <a:ea typeface="Arial"/>
                <a:cs typeface="Arial"/>
              </a:rPr>
              <a:t>Observed</a:t>
            </a:r>
          </a:p>
        </p:txBody>
      </p:sp>
      <p:sp>
        <p:nvSpPr>
          <p:cNvPr id="5" name="">
            <a:extLst xmlns:a="http://schemas.openxmlformats.org/drawingml/2006/main">
              <a:ext uri="{FF2B5EF4-FFF2-40B4-BE49-F238E27FC236}">
                <a16:creationId xmlns:a16="http://schemas.microsoft.com/office/drawing/2014/main" id="{6A4D40E1-2C6D-48CD-8AFD-4729A9320DBE}"/>
              </a:ext>
            </a:extLst>
          </p:cNvPr>
          <p:cNvSpPr>
            <a:spLocks xmlns:a="http://schemas.openxmlformats.org/drawingml/2006/main" noGrp="1"/>
          </p:cNvSpPr>
          <p:nvPr/>
        </p:nvSpPr>
        <p:spPr>
          <a:xfrm xmlns:a="http://schemas.openxmlformats.org/drawingml/2006/main">
            <a:off x="8239125" y="2733675"/>
            <a:ext cx="3343275" cy="1600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800" b="0">
                <a:solidFill>
                  <a:srgbClr val="213744"/>
                </a:solidFill>
                <a:latin typeface="Arial"/>
                <a:ea typeface="Arial"/>
                <a:cs typeface="Arial"/>
              </a:defRPr>
            </a:pPr>
            <a:r>
              <a:rPr sz="1800" b="0">
                <a:solidFill>
                  <a:srgbClr val="213744"/>
                </a:solidFill>
                <a:latin typeface="Arial"/>
                <a:ea typeface="Arial"/>
                <a:cs typeface="Arial"/>
              </a:rPr>
              <a:t>The C++ reader's resolved Eiffel copy reaches Hydra/Storm, a USD rendering path. This image is actual output from the recorded run.</a:t>
            </a:r>
          </a:p>
        </p:txBody>
      </p:sp>
      <p:sp>
        <p:nvSpPr>
          <p:cNvPr id="6" name="">
            <a:extLst xmlns:a="http://schemas.openxmlformats.org/drawingml/2006/main">
              <a:ext uri="{FF2B5EF4-FFF2-40B4-BE49-F238E27FC236}">
                <a16:creationId xmlns:a16="http://schemas.microsoft.com/office/drawing/2014/main" id="{82BE0FB3-CDFD-4E6D-B69C-C8797F8839C9}"/>
              </a:ext>
            </a:extLst>
          </p:cNvPr>
          <p:cNvSpPr>
            <a:spLocks xmlns:a="http://schemas.openxmlformats.org/drawingml/2006/main" noGrp="1"/>
          </p:cNvSpPr>
          <p:nvPr/>
        </p:nvSpPr>
        <p:spPr>
          <a:xfrm xmlns:a="http://schemas.openxmlformats.org/drawingml/2006/main">
            <a:off x="8239125" y="4429125"/>
            <a:ext cx="3343275" cy="3143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650" b="1">
                <a:solidFill>
                  <a:srgbClr val="157C87"/>
                </a:solidFill>
                <a:latin typeface="Arial"/>
                <a:ea typeface="Arial"/>
                <a:cs typeface="Arial"/>
              </a:defRPr>
            </a:pPr>
            <a:r>
              <a:rPr sz="1650" b="1">
                <a:solidFill>
                  <a:srgbClr val="157C87"/>
                </a:solidFill>
                <a:latin typeface="Arial"/>
                <a:ea typeface="Arial"/>
                <a:cs typeface="Arial"/>
              </a:rPr>
              <a:t>What it establishes</a:t>
            </a:r>
          </a:p>
        </p:txBody>
      </p:sp>
      <p:sp>
        <p:nvSpPr>
          <p:cNvPr id="7" name="">
            <a:extLst xmlns:a="http://schemas.openxmlformats.org/drawingml/2006/main">
              <a:ext uri="{FF2B5EF4-FFF2-40B4-BE49-F238E27FC236}">
                <a16:creationId xmlns:a16="http://schemas.microsoft.com/office/drawing/2014/main" id="{0518B390-8E26-4DB1-9860-DA22F79FF516}"/>
              </a:ext>
            </a:extLst>
          </p:cNvPr>
          <p:cNvSpPr>
            <a:spLocks xmlns:a="http://schemas.openxmlformats.org/drawingml/2006/main" noGrp="1"/>
          </p:cNvSpPr>
          <p:nvPr/>
        </p:nvSpPr>
        <p:spPr>
          <a:xfrm xmlns:a="http://schemas.openxmlformats.org/drawingml/2006/main">
            <a:off x="8239125" y="4791075"/>
            <a:ext cx="3343275" cy="18002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800" b="0">
                <a:solidFill>
                  <a:srgbClr val="213744"/>
                </a:solidFill>
                <a:latin typeface="Arial"/>
                <a:ea typeface="Arial"/>
                <a:cs typeface="Arial"/>
              </a:defRPr>
            </a:pPr>
            <a:r>
              <a:rPr sz="1800" b="0">
                <a:solidFill>
                  <a:srgbClr val="213744"/>
                </a:solidFill>
                <a:latin typeface="Arial"/>
                <a:ea typeface="Arial"/>
                <a:cs typeface="Arial"/>
              </a:rPr>
              <a:t>This case shows compatibility with an ordinary USD renderer. A separate nested-geometry failure prevents a claim that every bake is correct.</a:t>
            </a:r>
          </a:p>
        </p:txBody>
      </p:sp>
      <p:sp>
        <p:nvSpPr>
          <p:cNvPr id="8" name="">
            <a:extLst xmlns:a="http://schemas.openxmlformats.org/drawingml/2006/main">
              <a:ext uri="{FF2B5EF4-FFF2-40B4-BE49-F238E27FC236}">
                <a16:creationId xmlns:a16="http://schemas.microsoft.com/office/drawing/2014/main" id="{FCC34774-083A-4083-92C2-DCEED74F4C35}"/>
              </a:ext>
            </a:extLst>
          </p:cNvPr>
          <p:cNvSpPr>
            <a:spLocks xmlns:a="http://schemas.openxmlformats.org/drawingml/2006/main" noGrp="1"/>
          </p:cNvSpPr>
          <p:nvPr/>
        </p:nvSpPr>
        <p:spPr>
          <a:xfrm xmlns:a="http://schemas.openxmlformats.org/drawingml/2006/main">
            <a:off x="609600" y="6534150"/>
            <a:ext cx="7258050" cy="2381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350" b="0">
                <a:solidFill>
                  <a:srgbClr val="526B79"/>
                </a:solidFill>
                <a:latin typeface="Arial"/>
                <a:ea typeface="Arial"/>
                <a:cs typeface="Arial"/>
              </a:defRPr>
            </a:pPr>
            <a:r>
              <a:rPr sz="1350" b="0">
                <a:solidFill>
                  <a:srgbClr val="526B79"/>
                </a:solidFill>
                <a:latin typeface="Arial"/>
                <a:ea typeface="Arial"/>
                <a:cs typeface="Arial"/>
              </a:rPr>
              <a:t>Recorded native render. Limits in the notes and README.</a:t>
            </a:r>
          </a:p>
        </p:txBody>
      </p:sp>
    </p:spTree>
    <p:extLst>
      <p:ext uri="{BB962C8B-B14F-4D97-AF65-F5344CB8AC3E}">
        <p14:creationId xmlns:p14="http://schemas.microsoft.com/office/powerpoint/2010/main" val="2193680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7A1D6BF-29F3-4921-9653-80B7E93B38DB}"/>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Measurements stay paired with their locations</a:t>
            </a:r>
          </a:p>
        </p:txBody>
      </p:sp>
      <p:sp>
        <p:nvSpPr>
          <p:cNvPr id="2" name="">
            <a:extLst xmlns:a="http://schemas.openxmlformats.org/drawingml/2006/main">
              <a:ext uri="{FF2B5EF4-FFF2-40B4-BE49-F238E27FC236}">
                <a16:creationId xmlns:a16="http://schemas.microsoft.com/office/drawing/2014/main" id="{E941A44C-6538-493D-965B-44751BFE3B85}"/>
              </a:ext>
            </a:extLst>
          </p:cNvPr>
          <p:cNvSpPr>
            <a:spLocks xmlns:a="http://schemas.openxmlformats.org/drawingml/2006/main" noGrp="1"/>
          </p:cNvSpPr>
          <p:nvPr/>
        </p:nvSpPr>
        <p:spPr>
          <a:xfrm xmlns:a="http://schemas.openxmlformats.org/drawingml/2006/main">
            <a:off x="609600" y="1381125"/>
            <a:ext cx="10972800" cy="9048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2250" b="0">
                <a:solidFill>
                  <a:srgbClr val="213744"/>
                </a:solidFill>
                <a:latin typeface="Arial"/>
                <a:ea typeface="Arial"/>
                <a:cs typeface="Arial"/>
              </a:defRPr>
            </a:pPr>
            <a:r>
              <a:rPr sz="2250" b="0">
                <a:solidFill>
                  <a:srgbClr val="213744"/>
                </a:solidFill>
                <a:latin typeface="Arial"/>
                <a:ea typeface="Arial"/>
                <a:cs typeface="Arial"/>
              </a:rPr>
              <a:t>Can the scene make a native measurement dataset usable without rewriting its values or guessing what its coordinates mean?</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897db4e78b664be4"/>
          <a:stretch xmlns:a="http://schemas.openxmlformats.org/drawingml/2006/main"/>
        </p:blipFill>
        <p:spPr>
          <a:xfrm xmlns:a="http://schemas.openxmlformats.org/drawingml/2006/main">
            <a:off x="2801937" y="2371725"/>
            <a:ext cx="6588125" cy="31623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6AA60C4-8265-423A-A194-DF0B059B5E91}"/>
              </a:ext>
            </a:extLst>
          </p:cNvPr>
          <p:cNvSpPr>
            <a:spLocks xmlns:a="http://schemas.openxmlformats.org/drawingml/2006/main" noGrp="1"/>
          </p:cNvSpPr>
          <p:nvPr/>
        </p:nvSpPr>
        <p:spPr>
          <a:xfrm xmlns:a="http://schemas.openxmlformats.org/drawingml/2006/main">
            <a:off x="609600" y="5657850"/>
            <a:ext cx="10972800" cy="6000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875" b="0">
                <a:solidFill>
                  <a:srgbClr val="157C87"/>
                </a:solidFill>
                <a:latin typeface="Arial"/>
                <a:ea typeface="Arial"/>
                <a:cs typeface="Arial"/>
              </a:defRPr>
            </a:pPr>
            <a:r>
              <a:rPr sz="1875" b="0">
                <a:solidFill>
                  <a:srgbClr val="157C87"/>
                </a:solidFill>
                <a:latin typeface="Arial"/>
                <a:ea typeface="Arial"/>
                <a:cs typeface="Arial"/>
              </a:rPr>
              <a:t>The synthetic global temperature case returns both coordinate forms for 154 samples and preserves the native values and two observation times.</a:t>
            </a:r>
          </a:p>
        </p:txBody>
      </p:sp>
      <p:sp>
        <p:nvSpPr>
          <p:cNvPr id="5" name="">
            <a:extLst xmlns:a="http://schemas.openxmlformats.org/drawingml/2006/main">
              <a:ext uri="{FF2B5EF4-FFF2-40B4-BE49-F238E27FC236}">
                <a16:creationId xmlns:a16="http://schemas.microsoft.com/office/drawing/2014/main" id="{32E456A4-0744-49E6-B920-240DB7F858AC}"/>
              </a:ext>
            </a:extLst>
          </p:cNvPr>
          <p:cNvSpPr>
            <a:spLocks xmlns:a="http://schemas.openxmlformats.org/drawingml/2006/main" noGrp="1"/>
          </p:cNvSpPr>
          <p:nvPr/>
        </p:nvSpPr>
        <p:spPr>
          <a:xfrm xmlns:a="http://schemas.openxmlformats.org/drawingml/2006/main">
            <a:off x="609600" y="6315075"/>
            <a:ext cx="10972800" cy="457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575" b="0">
                <a:solidFill>
                  <a:srgbClr val="526B79"/>
                </a:solidFill>
                <a:latin typeface="Arial"/>
                <a:ea typeface="Arial"/>
                <a:cs typeface="Arial"/>
              </a:defRPr>
            </a:pPr>
            <a:r>
              <a:rPr sz="1575" b="0">
                <a:solidFill>
                  <a:srgbClr val="526B79"/>
                </a:solidFill>
                <a:latin typeface="Arial"/>
                <a:ea typeface="Arial"/>
                <a:cs typeface="Arial"/>
              </a:rPr>
              <a:t>The heatmap contains synthetic temperatures in kelvin. A different array layout mispairs four of six values and locations. This passing case does not establish support for every layout.</a:t>
            </a:r>
          </a:p>
        </p:txBody>
      </p:sp>
    </p:spTree>
    <p:extLst>
      <p:ext uri="{BB962C8B-B14F-4D97-AF65-F5344CB8AC3E}">
        <p14:creationId xmlns:p14="http://schemas.microsoft.com/office/powerpoint/2010/main" val="148392766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45606DD-E85F-4439-A659-D7F37649D321}"/>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What the later audit changes</a:t>
            </a:r>
          </a:p>
        </p:txBody>
      </p:sp>
      <p:sp>
        <p:nvSpPr>
          <p:cNvPr id="2" name="">
            <a:extLst xmlns:a="http://schemas.openxmlformats.org/drawingml/2006/main">
              <a:ext uri="{FF2B5EF4-FFF2-40B4-BE49-F238E27FC236}">
                <a16:creationId xmlns:a16="http://schemas.microsoft.com/office/drawing/2014/main" id="{A31959C9-7C79-4230-9BAB-F0E5BDF73203}"/>
              </a:ext>
            </a:extLst>
          </p:cNvPr>
          <p:cNvSpPr>
            <a:spLocks xmlns:a="http://schemas.openxmlformats.org/drawingml/2006/main" noGrp="1"/>
          </p:cNvSpPr>
          <p:nvPr/>
        </p:nvSpPr>
        <p:spPr>
          <a:xfrm xmlns:a="http://schemas.openxmlformats.org/drawingml/2006/main">
            <a:off x="609600" y="1381125"/>
            <a:ext cx="10972800" cy="6477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2250" b="0">
                <a:solidFill>
                  <a:srgbClr val="213744"/>
                </a:solidFill>
                <a:latin typeface="Arial"/>
                <a:ea typeface="Arial"/>
                <a:cs typeface="Arial"/>
              </a:defRPr>
            </a:pPr>
            <a:r>
              <a:rPr sz="2250" b="0">
                <a:solidFill>
                  <a:srgbClr val="213744"/>
                </a:solidFill>
                <a:latin typeface="Arial"/>
                <a:ea typeface="Arial"/>
                <a:cs typeface="Arial"/>
              </a:rPr>
              <a:t>The recorded suite passed, then the audit exercised cases it had missed.</a:t>
            </a:r>
          </a:p>
        </p:txBody>
      </p:sp>
      <p:graphicFrame>
        <p:nvGraphicFramePr>
          <p:cNvPr id="7" name=""/>
          <p:cNvGraphicFramePr/>
          <p:nvPr/>
        </p:nvGraphicFramePr>
        <p:xfrm>
          <a:off xmlns:a="http://schemas.openxmlformats.org/drawingml/2006/main" x="609600" y="2181225"/>
          <a:ext xmlns:a="http://schemas.openxmlformats.org/drawingml/2006/main" cx="10972800" cy="3524250"/>
        </p:xfrm>
        <a:graphic xmlns:a="http://schemas.openxmlformats.org/drawingml/2006/main">
          <a:graphicData uri="http://schemas.openxmlformats.org/drawingml/2006/table">
            <a:tbl>
              <a:tblPr/>
              <a:tblGrid>
                <a:gridCol w="3143250"/>
                <a:gridCol w="7829550"/>
              </a:tblGrid>
              <a:tr h="440531">
                <a:tc>
                  <a:txBody>
                    <a:bodyPr>
                      <a:noAutofit/>
                    </a:bodyPr>
                    <a:lstStyle/>
                    <a:p>
                      <a:r>
                        <a:rPr sz="1650" b="1">
                          <a:solidFill>
                            <a:srgbClr val="FFFFFF"/>
                          </a:solidFill>
                          <a:latin typeface="Arial"/>
                          <a:ea typeface="Arial"/>
                          <a:cs typeface="Arial"/>
                        </a:rPr>
                        <a:t>Affected behavior</a:t>
                      </a:r>
                    </a:p>
                  </a:txBody>
                  <a:tcPr marL="95250" marR="95250" marT="19050" marB="19050">
                    <a:solidFill>
                      <a:srgbClr val="213744"/>
                    </a:solidFill>
                  </a:tcPr>
                </a:tc>
                <a:tc>
                  <a:txBody>
                    <a:bodyPr>
                      <a:noAutofit/>
                    </a:bodyPr>
                    <a:lstStyle/>
                    <a:p>
                      <a:r>
                        <a:rPr sz="1650" b="1">
                          <a:solidFill>
                            <a:srgbClr val="FFFFFF"/>
                          </a:solidFill>
                          <a:latin typeface="Arial"/>
                          <a:ea typeface="Arial"/>
                          <a:cs typeface="Arial"/>
                        </a:rPr>
                        <a:t>Confirmed issue</a:t>
                      </a:r>
                    </a:p>
                  </a:txBody>
                  <a:tcPr marL="95250" marR="95250" marT="19050" marB="19050">
                    <a:solidFill>
                      <a:srgbClr val="213744"/>
                    </a:solidFill>
                  </a:tcPr>
                </a:tc>
              </a:tr>
              <a:tr h="440531">
                <a:tc>
                  <a:txBody>
                    <a:bodyPr>
                      <a:noAutofit/>
                    </a:bodyPr>
                    <a:lstStyle/>
                    <a:p>
                      <a:r>
                        <a:rPr sz="1650" b="0">
                          <a:solidFill>
                            <a:srgbClr val="213744"/>
                          </a:solidFill>
                          <a:latin typeface="Arial"/>
                          <a:ea typeface="Arial"/>
                          <a:cs typeface="Arial"/>
                        </a:rPr>
                        <a:t>Surface lighting directions</a:t>
                      </a:r>
                    </a:p>
                  </a:txBody>
                  <a:tcPr marL="95250" marR="95250" marT="19050" marB="19050">
                    <a:solidFill>
                      <a:srgbClr val="FFFFFF"/>
                    </a:solidFill>
                  </a:tcPr>
                </a:tc>
                <a:tc>
                  <a:txBody>
                    <a:bodyPr>
                      <a:noAutofit/>
                    </a:bodyPr>
                    <a:lstStyle/>
                    <a:p>
                      <a:r>
                        <a:rPr sz="1650" b="0">
                          <a:solidFill>
                            <a:srgbClr val="213744"/>
                          </a:solidFill>
                          <a:latin typeface="Arial"/>
                          <a:ea typeface="Arial"/>
                          <a:cs typeface="Arial"/>
                        </a:rPr>
                        <a:t>A private sampling shortcut has no justified error bound. One projected case differs by about 1.24 degrees.</a:t>
                      </a:r>
                    </a:p>
                  </a:txBody>
                  <a:tcPr marL="95250" marR="95250" marT="19050" marB="19050">
                    <a:solidFill>
                      <a:srgbClr val="FFFFFF"/>
                    </a:solidFill>
                  </a:tcPr>
                </a:tc>
              </a:tr>
              <a:tr h="440531">
                <a:tc>
                  <a:txBody>
                    <a:bodyPr>
                      <a:noAutofit/>
                    </a:bodyPr>
                    <a:lstStyle/>
                    <a:p>
                      <a:r>
                        <a:rPr sz="1650" b="0">
                          <a:solidFill>
                            <a:srgbClr val="213744"/>
                          </a:solidFill>
                          <a:latin typeface="Arial"/>
                          <a:ea typeface="Arial"/>
                          <a:cs typeface="Arial"/>
                        </a:rPr>
                        <a:t>Repeated models</a:t>
                      </a:r>
                    </a:p>
                  </a:txBody>
                  <a:tcPr marL="95250" marR="95250" marT="19050" marB="19050">
                    <a:solidFill>
                      <a:srgbClr val="FFFFFF"/>
                    </a:solidFill>
                  </a:tcPr>
                </a:tc>
                <a:tc>
                  <a:txBody>
                    <a:bodyPr>
                      <a:noAutofit/>
                    </a:bodyPr>
                    <a:lstStyle/>
                    <a:p>
                      <a:r>
                        <a:rPr sz="1650" b="0">
                          <a:solidFill>
                            <a:srgbClr val="213744"/>
                          </a:solidFill>
                          <a:latin typeface="Arial"/>
                          <a:ea typeface="Arial"/>
                          <a:cs typeface="Arial"/>
                        </a:rPr>
                        <a:t>A referenced model outside the bound subtree fails instead of receiving the instancer's placement.</a:t>
                      </a:r>
                    </a:p>
                  </a:txBody>
                  <a:tcPr marL="95250" marR="95250" marT="19050" marB="19050">
                    <a:solidFill>
                      <a:srgbClr val="FFFFFF"/>
                    </a:solidFill>
                  </a:tcPr>
                </a:tc>
              </a:tr>
              <a:tr h="440531">
                <a:tc>
                  <a:txBody>
                    <a:bodyPr>
                      <a:noAutofit/>
                    </a:bodyPr>
                    <a:lstStyle/>
                    <a:p>
                      <a:r>
                        <a:rPr sz="1650" b="0">
                          <a:solidFill>
                            <a:srgbClr val="213744"/>
                          </a:solidFill>
                          <a:latin typeface="Arial"/>
                          <a:ea typeface="Arial"/>
                          <a:cs typeface="Arial"/>
                        </a:rPr>
                        <a:t>Baked geometry</a:t>
                      </a:r>
                    </a:p>
                  </a:txBody>
                  <a:tcPr marL="95250" marR="95250" marT="19050" marB="19050">
                    <a:solidFill>
                      <a:srgbClr val="FFFFFF"/>
                    </a:solidFill>
                  </a:tcPr>
                </a:tc>
                <a:tc>
                  <a:txBody>
                    <a:bodyPr>
                      <a:noAutofit/>
                    </a:bodyPr>
                    <a:lstStyle/>
                    <a:p>
                      <a:r>
                        <a:rPr sz="1650" b="0">
                          <a:solidFill>
                            <a:srgbClr val="213744"/>
                          </a:solidFill>
                          <a:latin typeface="Arial"/>
                          <a:ea typeface="Arial"/>
                          <a:cs typeface="Arial"/>
                        </a:rPr>
                        <a:t>Two source triangles become three output triangles. The check misses the extra geometry.</a:t>
                      </a:r>
                    </a:p>
                  </a:txBody>
                  <a:tcPr marL="95250" marR="95250" marT="19050" marB="19050">
                    <a:solidFill>
                      <a:srgbClr val="FFFFFF"/>
                    </a:solidFill>
                  </a:tcPr>
                </a:tc>
              </a:tr>
              <a:tr h="440531">
                <a:tc>
                  <a:txBody>
                    <a:bodyPr>
                      <a:noAutofit/>
                    </a:bodyPr>
                    <a:lstStyle/>
                    <a:p>
                      <a:r>
                        <a:rPr sz="1650" b="0">
                          <a:solidFill>
                            <a:srgbClr val="213744"/>
                          </a:solidFill>
                          <a:latin typeface="Arial"/>
                          <a:ea typeface="Arial"/>
                          <a:cs typeface="Arial"/>
                        </a:rPr>
                        <a:t>Measurement locations</a:t>
                      </a:r>
                    </a:p>
                  </a:txBody>
                  <a:tcPr marL="95250" marR="95250" marT="19050" marB="19050">
                    <a:solidFill>
                      <a:srgbClr val="FFFFFF"/>
                    </a:solidFill>
                  </a:tcPr>
                </a:tc>
                <a:tc>
                  <a:txBody>
                    <a:bodyPr>
                      <a:noAutofit/>
                    </a:bodyPr>
                    <a:lstStyle/>
                    <a:p>
                      <a:r>
                        <a:rPr sz="1650" b="0">
                          <a:solidFill>
                            <a:srgbClr val="213744"/>
                          </a:solidFill>
                          <a:latin typeface="Arial"/>
                          <a:ea typeface="Arial"/>
                          <a:cs typeface="Arial"/>
                        </a:rPr>
                        <a:t>A different array dimension order pairs four of six values with the wrong locations. Both readers share this decoder.</a:t>
                      </a:r>
                    </a:p>
                  </a:txBody>
                  <a:tcPr marL="95250" marR="95250" marT="19050" marB="19050">
                    <a:solidFill>
                      <a:srgbClr val="FFFFFF"/>
                    </a:solidFill>
                  </a:tcPr>
                </a:tc>
              </a:tr>
              <a:tr h="440531">
                <a:tc>
                  <a:txBody>
                    <a:bodyPr>
                      <a:noAutofit/>
                    </a:bodyPr>
                    <a:lstStyle/>
                    <a:p>
                      <a:r>
                        <a:rPr sz="1650" b="0">
                          <a:solidFill>
                            <a:srgbClr val="213744"/>
                          </a:solidFill>
                          <a:latin typeface="Arial"/>
                          <a:ea typeface="Arial"/>
                          <a:cs typeface="Arial"/>
                        </a:rPr>
                        <a:t>Other scene information</a:t>
                      </a:r>
                    </a:p>
                  </a:txBody>
                  <a:tcPr marL="95250" marR="95250" marT="19050" marB="19050">
                    <a:solidFill>
                      <a:srgbClr val="FFFFFF"/>
                    </a:solidFill>
                  </a:tcPr>
                </a:tc>
                <a:tc>
                  <a:txBody>
                    <a:bodyPr>
                      <a:noAutofit/>
                    </a:bodyPr>
                    <a:lstStyle/>
                    <a:p>
                      <a:r>
                        <a:rPr sz="1650" b="0">
                          <a:solidFill>
                            <a:srgbClr val="213744"/>
                          </a:solidFill>
                          <a:latin typeface="Arial"/>
                          <a:ea typeface="Arial"/>
                          <a:cs typeface="Arial"/>
                        </a:rPr>
                        <a:t>The bake removes an unrelated MotionAPI schema application, changing other scene meaning.</a:t>
                      </a:r>
                    </a:p>
                  </a:txBody>
                  <a:tcPr marL="95250" marR="95250" marT="19050" marB="19050">
                    <a:solidFill>
                      <a:srgbClr val="FFFFFF"/>
                    </a:solidFill>
                  </a:tcPr>
                </a:tc>
              </a:tr>
              <a:tr h="440531">
                <a:tc>
                  <a:txBody>
                    <a:bodyPr>
                      <a:noAutofit/>
                    </a:bodyPr>
                    <a:lstStyle/>
                    <a:p>
                      <a:r>
                        <a:rPr sz="1650" b="0">
                          <a:solidFill>
                            <a:srgbClr val="213744"/>
                          </a:solidFill>
                          <a:latin typeface="Arial"/>
                          <a:ea typeface="Arial"/>
                          <a:cs typeface="Arial"/>
                        </a:rPr>
                        <a:t>Error reporting</a:t>
                      </a:r>
                    </a:p>
                  </a:txBody>
                  <a:tcPr marL="95250" marR="95250" marT="19050" marB="19050">
                    <a:solidFill>
                      <a:srgbClr val="FFFFFF"/>
                    </a:solidFill>
                  </a:tcPr>
                </a:tc>
                <a:tc>
                  <a:txBody>
                    <a:bodyPr>
                      <a:noAutofit/>
                    </a:bodyPr>
                    <a:lstStyle/>
                    <a:p>
                      <a:r>
                        <a:rPr sz="1650" b="0">
                          <a:solidFill>
                            <a:srgbClr val="213744"/>
                          </a:solidFill>
                          <a:latin typeface="Arial"/>
                          <a:ea typeface="Arial"/>
                          <a:cs typeface="Arial"/>
                        </a:rPr>
                        <a:t>Reports omit required per-component errors and separate angular errors.</a:t>
                      </a:r>
                    </a:p>
                  </a:txBody>
                  <a:tcPr marL="95250" marR="95250" marT="19050" marB="19050">
                    <a:solidFill>
                      <a:srgbClr val="FFFFFF"/>
                    </a:solidFill>
                  </a:tcPr>
                </a:tc>
              </a:tr>
              <a:tr h="440531">
                <a:tc>
                  <a:txBody>
                    <a:bodyPr>
                      <a:noAutofit/>
                    </a:bodyPr>
                    <a:lstStyle/>
                    <a:p>
                      <a:r>
                        <a:rPr sz="1650" b="0">
                          <a:solidFill>
                            <a:srgbClr val="213744"/>
                          </a:solidFill>
                          <a:latin typeface="Arial"/>
                          <a:ea typeface="Arial"/>
                          <a:cs typeface="Arial"/>
                        </a:rPr>
                        <a:t>Invalid input detection</a:t>
                      </a:r>
                    </a:p>
                  </a:txBody>
                  <a:tcPr marL="95250" marR="95250" marT="19050" marB="19050">
                    <a:solidFill>
                      <a:srgbClr val="FFFFFF"/>
                    </a:solidFill>
                  </a:tcPr>
                </a:tc>
                <a:tc>
                  <a:txBody>
                    <a:bodyPr>
                      <a:noAutofit/>
                    </a:bodyPr>
                    <a:lstStyle/>
                    <a:p>
                      <a:r>
                        <a:rPr sz="1650" b="0">
                          <a:solidFill>
                            <a:srgbClr val="213744"/>
                          </a:solidFill>
                          <a:latin typeface="Arial"/>
                          <a:ea typeface="Arial"/>
                          <a:cs typeface="Arial"/>
                        </a:rPr>
                        <a:t>An invalid placement attribute on an inherited-only child is silently ignored.</a:t>
                      </a:r>
                    </a:p>
                  </a:txBody>
                  <a:tcPr marL="95250" marR="95250" marT="19050" marB="1905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5DB8D73B-D817-4713-A8BF-E8F880D3ACBB}"/>
              </a:ext>
            </a:extLst>
          </p:cNvPr>
          <p:cNvSpPr>
            <a:spLocks xmlns:a="http://schemas.openxmlformats.org/drawingml/2006/main" noGrp="1"/>
          </p:cNvSpPr>
          <p:nvPr/>
        </p:nvSpPr>
        <p:spPr>
          <a:xfrm xmlns:a="http://schemas.openxmlformats.org/drawingml/2006/main">
            <a:off x="609600" y="6229350"/>
            <a:ext cx="10972800" cy="5429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800" b="0">
                <a:solidFill>
                  <a:srgbClr val="A25D20"/>
                </a:solidFill>
                <a:latin typeface="Arial"/>
                <a:ea typeface="Arial"/>
                <a:cs typeface="Arial"/>
              </a:defRPr>
            </a:pPr>
            <a:r>
              <a:rPr sz="1800" b="0">
                <a:solidFill>
                  <a:srgbClr val="A25D20"/>
                </a:solidFill>
                <a:latin typeface="Arial"/>
                <a:ea typeface="Arial"/>
                <a:cs typeface="Arial"/>
              </a:rPr>
              <a:t>Repair these against the existing proposed rules. If repair reveals truly unspecified meaning, flag that separately.</a:t>
            </a:r>
          </a:p>
        </p:txBody>
      </p:sp>
    </p:spTree>
    <p:extLst>
      <p:ext uri="{BB962C8B-B14F-4D97-AF65-F5344CB8AC3E}">
        <p14:creationId xmlns:p14="http://schemas.microsoft.com/office/powerpoint/2010/main" val="2077303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25B002-EAD8-4B23-BA99-32CE8FA8E78A}"/>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Appendix: A construction site's own survey grid</a:t>
            </a:r>
          </a:p>
        </p:txBody>
      </p:sp>
      <p:sp>
        <p:nvSpPr>
          <p:cNvPr id="2" name="">
            <a:extLst xmlns:a="http://schemas.openxmlformats.org/drawingml/2006/main">
              <a:ext uri="{FF2B5EF4-FFF2-40B4-BE49-F238E27FC236}">
                <a16:creationId xmlns:a16="http://schemas.microsoft.com/office/drawing/2014/main" id="{F50FF2E1-905F-4606-932F-E110793F485D}"/>
              </a:ext>
            </a:extLst>
          </p:cNvPr>
          <p:cNvSpPr>
            <a:spLocks xmlns:a="http://schemas.openxmlformats.org/drawingml/2006/main" noGrp="1"/>
          </p:cNvSpPr>
          <p:nvPr/>
        </p:nvSpPr>
        <p:spPr>
          <a:xfrm xmlns:a="http://schemas.openxmlformats.org/drawingml/2006/main">
            <a:off x="609600" y="1400175"/>
            <a:ext cx="10972800" cy="771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2325" b="1">
                <a:solidFill>
                  <a:srgbClr val="157C87"/>
                </a:solidFill>
                <a:latin typeface="Arial"/>
                <a:ea typeface="Arial"/>
                <a:cs typeface="Arial"/>
              </a:defRPr>
            </a:pPr>
            <a:r>
              <a:rPr sz="2325" b="1">
                <a:solidFill>
                  <a:srgbClr val="157C87"/>
                </a:solidFill>
                <a:latin typeface="Arial"/>
                <a:ea typeface="Arial"/>
                <a:cs typeface="Arial"/>
              </a:rPr>
              <a:t>Can a project's local survey grid participate as a defined CRS?</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870ab05cce7a4d3b"/>
          <a:stretch xmlns:a="http://schemas.openxmlformats.org/drawingml/2006/main"/>
        </p:blipFill>
        <p:spPr>
          <a:xfrm xmlns:a="http://schemas.openxmlformats.org/drawingml/2006/main">
            <a:off x="609600" y="2383036"/>
            <a:ext cx="7258050" cy="4082653"/>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B989FB5-58AE-4441-A800-DE59C77B8123}"/>
              </a:ext>
            </a:extLst>
          </p:cNvPr>
          <p:cNvSpPr>
            <a:spLocks xmlns:a="http://schemas.openxmlformats.org/drawingml/2006/main" noGrp="1"/>
          </p:cNvSpPr>
          <p:nvPr/>
        </p:nvSpPr>
        <p:spPr>
          <a:xfrm xmlns:a="http://schemas.openxmlformats.org/drawingml/2006/main">
            <a:off x="8239125" y="2381250"/>
            <a:ext cx="3343275" cy="3048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650" b="1">
                <a:solidFill>
                  <a:srgbClr val="157C87"/>
                </a:solidFill>
                <a:latin typeface="Arial"/>
                <a:ea typeface="Arial"/>
                <a:cs typeface="Arial"/>
              </a:defRPr>
            </a:pPr>
            <a:r>
              <a:rPr sz="1650" b="1">
                <a:solidFill>
                  <a:srgbClr val="157C87"/>
                </a:solidFill>
                <a:latin typeface="Arial"/>
                <a:ea typeface="Arial"/>
                <a:cs typeface="Arial"/>
              </a:rPr>
              <a:t>Observed</a:t>
            </a:r>
          </a:p>
        </p:txBody>
      </p:sp>
      <p:sp>
        <p:nvSpPr>
          <p:cNvPr id="5" name="">
            <a:extLst xmlns:a="http://schemas.openxmlformats.org/drawingml/2006/main">
              <a:ext uri="{FF2B5EF4-FFF2-40B4-BE49-F238E27FC236}">
                <a16:creationId xmlns:a16="http://schemas.microsoft.com/office/drawing/2014/main" id="{336F84FC-9469-4077-BC95-327135DFC544}"/>
              </a:ext>
            </a:extLst>
          </p:cNvPr>
          <p:cNvSpPr>
            <a:spLocks xmlns:a="http://schemas.openxmlformats.org/drawingml/2006/main" noGrp="1"/>
          </p:cNvSpPr>
          <p:nvPr/>
        </p:nvSpPr>
        <p:spPr>
          <a:xfrm xmlns:a="http://schemas.openxmlformats.org/drawingml/2006/main">
            <a:off x="8239125" y="2733675"/>
            <a:ext cx="3343275" cy="1600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800" b="0">
                <a:solidFill>
                  <a:srgbClr val="213744"/>
                </a:solidFill>
                <a:latin typeface="Arial"/>
                <a:ea typeface="Arial"/>
                <a:cs typeface="Arial"/>
              </a:defRPr>
            </a:pPr>
            <a:r>
              <a:rPr sz="1800" b="0">
                <a:solidFill>
                  <a:srgbClr val="213744"/>
                </a:solidFill>
                <a:latin typeface="Arial"/>
                <a:ea typeface="Arial"/>
                <a:cs typeface="Arial"/>
              </a:rPr>
              <a:t>The original LandXML survey breaklines resolve and reach an ordinary USD bake rendered by Storm.</a:t>
            </a:r>
          </a:p>
        </p:txBody>
      </p:sp>
      <p:sp>
        <p:nvSpPr>
          <p:cNvPr id="6" name="">
            <a:extLst xmlns:a="http://schemas.openxmlformats.org/drawingml/2006/main">
              <a:ext uri="{FF2B5EF4-FFF2-40B4-BE49-F238E27FC236}">
                <a16:creationId xmlns:a16="http://schemas.microsoft.com/office/drawing/2014/main" id="{D0B963D7-8CA9-4A25-B988-87AC88568197}"/>
              </a:ext>
            </a:extLst>
          </p:cNvPr>
          <p:cNvSpPr>
            <a:spLocks xmlns:a="http://schemas.openxmlformats.org/drawingml/2006/main" noGrp="1"/>
          </p:cNvSpPr>
          <p:nvPr/>
        </p:nvSpPr>
        <p:spPr>
          <a:xfrm xmlns:a="http://schemas.openxmlformats.org/drawingml/2006/main">
            <a:off x="8239125" y="4429125"/>
            <a:ext cx="3343275" cy="3143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650" b="1">
                <a:solidFill>
                  <a:srgbClr val="157C87"/>
                </a:solidFill>
                <a:latin typeface="Arial"/>
                <a:ea typeface="Arial"/>
                <a:cs typeface="Arial"/>
              </a:defRPr>
            </a:pPr>
            <a:r>
              <a:rPr sz="1650" b="1">
                <a:solidFill>
                  <a:srgbClr val="157C87"/>
                </a:solidFill>
                <a:latin typeface="Arial"/>
                <a:ea typeface="Arial"/>
                <a:cs typeface="Arial"/>
              </a:rPr>
              <a:t>What it establishes</a:t>
            </a:r>
          </a:p>
        </p:txBody>
      </p:sp>
      <p:sp>
        <p:nvSpPr>
          <p:cNvPr id="7" name="">
            <a:extLst xmlns:a="http://schemas.openxmlformats.org/drawingml/2006/main">
              <a:ext uri="{FF2B5EF4-FFF2-40B4-BE49-F238E27FC236}">
                <a16:creationId xmlns:a16="http://schemas.microsoft.com/office/drawing/2014/main" id="{F293E2F9-963C-468E-B39C-C0FE9B8B7717}"/>
              </a:ext>
            </a:extLst>
          </p:cNvPr>
          <p:cNvSpPr>
            <a:spLocks xmlns:a="http://schemas.openxmlformats.org/drawingml/2006/main" noGrp="1"/>
          </p:cNvSpPr>
          <p:nvPr/>
        </p:nvSpPr>
        <p:spPr>
          <a:xfrm xmlns:a="http://schemas.openxmlformats.org/drawingml/2006/main">
            <a:off x="8239125" y="4791075"/>
            <a:ext cx="3343275" cy="18002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800" b="0">
                <a:solidFill>
                  <a:srgbClr val="213744"/>
                </a:solidFill>
                <a:latin typeface="Arial"/>
                <a:ea typeface="Arial"/>
                <a:cs typeface="Arial"/>
              </a:defRPr>
            </a:pPr>
            <a:r>
              <a:rPr sz="1800" b="0">
                <a:solidFill>
                  <a:srgbClr val="213744"/>
                </a:solidFill>
                <a:latin typeface="Arial"/>
                <a:ea typeface="Arial"/>
                <a:cs typeface="Arial"/>
              </a:rPr>
              <a:t>The case supports a site's calibrated CRS using partner survey lines. It does not establish independent survey accuracy.</a:t>
            </a:r>
          </a:p>
        </p:txBody>
      </p:sp>
      <p:sp>
        <p:nvSpPr>
          <p:cNvPr id="8" name="">
            <a:extLst xmlns:a="http://schemas.openxmlformats.org/drawingml/2006/main">
              <a:ext uri="{FF2B5EF4-FFF2-40B4-BE49-F238E27FC236}">
                <a16:creationId xmlns:a16="http://schemas.microsoft.com/office/drawing/2014/main" id="{8AEB2282-640A-46FB-8182-B21587C78532}"/>
              </a:ext>
            </a:extLst>
          </p:cNvPr>
          <p:cNvSpPr>
            <a:spLocks xmlns:a="http://schemas.openxmlformats.org/drawingml/2006/main" noGrp="1"/>
          </p:cNvSpPr>
          <p:nvPr/>
        </p:nvSpPr>
        <p:spPr>
          <a:xfrm xmlns:a="http://schemas.openxmlformats.org/drawingml/2006/main">
            <a:off x="609600" y="6534150"/>
            <a:ext cx="7258050" cy="2381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350" b="0">
                <a:solidFill>
                  <a:srgbClr val="526B79"/>
                </a:solidFill>
                <a:latin typeface="Arial"/>
                <a:ea typeface="Arial"/>
                <a:cs typeface="Arial"/>
              </a:defRPr>
            </a:pPr>
            <a:r>
              <a:rPr sz="1350" b="0">
                <a:solidFill>
                  <a:srgbClr val="526B79"/>
                </a:solidFill>
                <a:latin typeface="Arial"/>
                <a:ea typeface="Arial"/>
                <a:cs typeface="Arial"/>
              </a:rPr>
              <a:t>Recorded native render. Limits in the notes and README.</a:t>
            </a:r>
          </a:p>
        </p:txBody>
      </p:sp>
    </p:spTree>
    <p:extLst>
      <p:ext uri="{BB962C8B-B14F-4D97-AF65-F5344CB8AC3E}">
        <p14:creationId xmlns:p14="http://schemas.microsoft.com/office/powerpoint/2010/main" val="154459393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A5CAD0-44ED-4A25-9DBE-85A15C2A28A2}"/>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Appendix: Useful horizontal placement without invented height</a:t>
            </a:r>
          </a:p>
        </p:txBody>
      </p:sp>
      <p:sp>
        <p:nvSpPr>
          <p:cNvPr id="2" name="">
            <a:extLst xmlns:a="http://schemas.openxmlformats.org/drawingml/2006/main">
              <a:ext uri="{FF2B5EF4-FFF2-40B4-BE49-F238E27FC236}">
                <a16:creationId xmlns:a16="http://schemas.microsoft.com/office/drawing/2014/main" id="{EE0024D1-0446-446C-81FF-DBB7BA79644D}"/>
              </a:ext>
            </a:extLst>
          </p:cNvPr>
          <p:cNvSpPr>
            <a:spLocks xmlns:a="http://schemas.openxmlformats.org/drawingml/2006/main" noGrp="1"/>
          </p:cNvSpPr>
          <p:nvPr/>
        </p:nvSpPr>
        <p:spPr>
          <a:xfrm xmlns:a="http://schemas.openxmlformats.org/drawingml/2006/main">
            <a:off x="609600" y="1400175"/>
            <a:ext cx="10972800" cy="771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2325" b="1">
                <a:solidFill>
                  <a:srgbClr val="157C87"/>
                </a:solidFill>
                <a:latin typeface="Arial"/>
                <a:ea typeface="Arial"/>
                <a:cs typeface="Arial"/>
              </a:defRPr>
            </a:pPr>
            <a:r>
              <a:rPr sz="2325" b="1">
                <a:solidFill>
                  <a:srgbClr val="157C87"/>
                </a:solidFill>
                <a:latin typeface="Arial"/>
                <a:ea typeface="Arial"/>
                <a:cs typeface="Arial"/>
              </a:rPr>
              <a:t>Can incomplete source metadata still support an honestly limited workflow?</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66bbf444a85f4034"/>
          <a:stretch xmlns:a="http://schemas.openxmlformats.org/drawingml/2006/main"/>
        </p:blipFill>
        <p:spPr>
          <a:xfrm xmlns:a="http://schemas.openxmlformats.org/drawingml/2006/main">
            <a:off x="1878478" y="2381250"/>
            <a:ext cx="4720294" cy="40862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2625F29-27A8-4579-B586-97230A85997B}"/>
              </a:ext>
            </a:extLst>
          </p:cNvPr>
          <p:cNvSpPr>
            <a:spLocks xmlns:a="http://schemas.openxmlformats.org/drawingml/2006/main" noGrp="1"/>
          </p:cNvSpPr>
          <p:nvPr/>
        </p:nvSpPr>
        <p:spPr>
          <a:xfrm xmlns:a="http://schemas.openxmlformats.org/drawingml/2006/main">
            <a:off x="8239125" y="2381250"/>
            <a:ext cx="3343275" cy="3048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650" b="1">
                <a:solidFill>
                  <a:srgbClr val="157C87"/>
                </a:solidFill>
                <a:latin typeface="Arial"/>
                <a:ea typeface="Arial"/>
                <a:cs typeface="Arial"/>
              </a:defRPr>
            </a:pPr>
            <a:r>
              <a:rPr sz="1650" b="1">
                <a:solidFill>
                  <a:srgbClr val="157C87"/>
                </a:solidFill>
                <a:latin typeface="Arial"/>
                <a:ea typeface="Arial"/>
                <a:cs typeface="Arial"/>
              </a:rPr>
              <a:t>Observed</a:t>
            </a:r>
          </a:p>
        </p:txBody>
      </p:sp>
      <p:sp>
        <p:nvSpPr>
          <p:cNvPr id="5" name="">
            <a:extLst xmlns:a="http://schemas.openxmlformats.org/drawingml/2006/main">
              <a:ext uri="{FF2B5EF4-FFF2-40B4-BE49-F238E27FC236}">
                <a16:creationId xmlns:a16="http://schemas.microsoft.com/office/drawing/2014/main" id="{9A063B63-4002-4292-8B75-6600310C3631}"/>
              </a:ext>
            </a:extLst>
          </p:cNvPr>
          <p:cNvSpPr>
            <a:spLocks xmlns:a="http://schemas.openxmlformats.org/drawingml/2006/main" noGrp="1"/>
          </p:cNvSpPr>
          <p:nvPr/>
        </p:nvSpPr>
        <p:spPr>
          <a:xfrm xmlns:a="http://schemas.openxmlformats.org/drawingml/2006/main">
            <a:off x="8239125" y="2733675"/>
            <a:ext cx="3343275" cy="16002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800" b="0">
                <a:solidFill>
                  <a:srgbClr val="213744"/>
                </a:solidFill>
                <a:latin typeface="Arial"/>
                <a:ea typeface="Arial"/>
                <a:cs typeface="Arial"/>
              </a:defRPr>
            </a:pPr>
            <a:r>
              <a:rPr sz="1800" b="0">
                <a:solidFill>
                  <a:srgbClr val="213744"/>
                </a:solidFill>
                <a:latin typeface="Arial"/>
                <a:ea typeface="Arial"/>
                <a:cs typeface="Arial"/>
              </a:rPr>
              <a:t>The horizontal railway copy resolves 15,822 vertices across 2,386 parts. The plot uses display-only offsets.</a:t>
            </a:r>
          </a:p>
        </p:txBody>
      </p:sp>
      <p:sp>
        <p:nvSpPr>
          <p:cNvPr id="6" name="">
            <a:extLst xmlns:a="http://schemas.openxmlformats.org/drawingml/2006/main">
              <a:ext uri="{FF2B5EF4-FFF2-40B4-BE49-F238E27FC236}">
                <a16:creationId xmlns:a16="http://schemas.microsoft.com/office/drawing/2014/main" id="{C4885DE8-3166-4363-B827-0BF7F6EF5E2A}"/>
              </a:ext>
            </a:extLst>
          </p:cNvPr>
          <p:cNvSpPr>
            <a:spLocks xmlns:a="http://schemas.openxmlformats.org/drawingml/2006/main" noGrp="1"/>
          </p:cNvSpPr>
          <p:nvPr/>
        </p:nvSpPr>
        <p:spPr>
          <a:xfrm xmlns:a="http://schemas.openxmlformats.org/drawingml/2006/main">
            <a:off x="8239125" y="4429125"/>
            <a:ext cx="3343275" cy="3143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650" b="1">
                <a:solidFill>
                  <a:srgbClr val="157C87"/>
                </a:solidFill>
                <a:latin typeface="Arial"/>
                <a:ea typeface="Arial"/>
                <a:cs typeface="Arial"/>
              </a:defRPr>
            </a:pPr>
            <a:r>
              <a:rPr sz="1650" b="1">
                <a:solidFill>
                  <a:srgbClr val="157C87"/>
                </a:solidFill>
                <a:latin typeface="Arial"/>
                <a:ea typeface="Arial"/>
                <a:cs typeface="Arial"/>
              </a:rPr>
              <a:t>What it establishes</a:t>
            </a:r>
          </a:p>
        </p:txBody>
      </p:sp>
      <p:sp>
        <p:nvSpPr>
          <p:cNvPr id="7" name="">
            <a:extLst xmlns:a="http://schemas.openxmlformats.org/drawingml/2006/main">
              <a:ext uri="{FF2B5EF4-FFF2-40B4-BE49-F238E27FC236}">
                <a16:creationId xmlns:a16="http://schemas.microsoft.com/office/drawing/2014/main" id="{C97C1D50-1683-4116-83FD-8C37CEBE3DB8}"/>
              </a:ext>
            </a:extLst>
          </p:cNvPr>
          <p:cNvSpPr>
            <a:spLocks xmlns:a="http://schemas.openxmlformats.org/drawingml/2006/main" noGrp="1"/>
          </p:cNvSpPr>
          <p:nvPr/>
        </p:nvSpPr>
        <p:spPr>
          <a:xfrm xmlns:a="http://schemas.openxmlformats.org/drawingml/2006/main">
            <a:off x="8239125" y="4791075"/>
            <a:ext cx="3343275" cy="18002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800" b="0">
                <a:solidFill>
                  <a:srgbClr val="213744"/>
                </a:solidFill>
                <a:latin typeface="Arial"/>
                <a:ea typeface="Arial"/>
                <a:cs typeface="Arial"/>
              </a:defRPr>
            </a:pPr>
            <a:r>
              <a:rPr sz="1800" b="0">
                <a:solidFill>
                  <a:srgbClr val="213744"/>
                </a:solidFill>
                <a:latin typeface="Arial"/>
                <a:ea typeface="Arial"/>
                <a:cs typeface="Arial"/>
              </a:rPr>
              <a:t>This case exercises visible limits on interpretation, not a silent assumption that every three-number tuple is a valid geographic 3D position.</a:t>
            </a:r>
          </a:p>
        </p:txBody>
      </p:sp>
      <p:sp>
        <p:nvSpPr>
          <p:cNvPr id="8" name="">
            <a:extLst xmlns:a="http://schemas.openxmlformats.org/drawingml/2006/main">
              <a:ext uri="{FF2B5EF4-FFF2-40B4-BE49-F238E27FC236}">
                <a16:creationId xmlns:a16="http://schemas.microsoft.com/office/drawing/2014/main" id="{AB94F6D9-9DF9-4FBE-844A-CD8F45A18571}"/>
              </a:ext>
            </a:extLst>
          </p:cNvPr>
          <p:cNvSpPr>
            <a:spLocks xmlns:a="http://schemas.openxmlformats.org/drawingml/2006/main" noGrp="1"/>
          </p:cNvSpPr>
          <p:nvPr/>
        </p:nvSpPr>
        <p:spPr>
          <a:xfrm xmlns:a="http://schemas.openxmlformats.org/drawingml/2006/main">
            <a:off x="609600" y="6534150"/>
            <a:ext cx="7258050" cy="2381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350" b="0">
                <a:solidFill>
                  <a:srgbClr val="526B79"/>
                </a:solidFill>
                <a:latin typeface="Arial"/>
                <a:ea typeface="Arial"/>
                <a:cs typeface="Arial"/>
              </a:defRPr>
            </a:pPr>
            <a:r>
              <a:rPr sz="1350" b="0">
                <a:solidFill>
                  <a:srgbClr val="526B79"/>
                </a:solidFill>
                <a:latin typeface="Arial"/>
                <a:ea typeface="Arial"/>
                <a:cs typeface="Arial"/>
              </a:rPr>
              <a:t>Plot of recorded resolved geometry. Limits in the notes and README.</a:t>
            </a:r>
          </a:p>
        </p:txBody>
      </p:sp>
    </p:spTree>
    <p:extLst>
      <p:ext uri="{BB962C8B-B14F-4D97-AF65-F5344CB8AC3E}">
        <p14:creationId xmlns:p14="http://schemas.microsoft.com/office/powerpoint/2010/main" val="12179550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3800C2-9EDA-4CDF-A966-B82169C5AF81}"/>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Appendix: Animation evaluation order</a:t>
            </a:r>
          </a:p>
        </p:txBody>
      </p:sp>
      <p:sp>
        <p:nvSpPr>
          <p:cNvPr id="2" name="">
            <a:extLst xmlns:a="http://schemas.openxmlformats.org/drawingml/2006/main">
              <a:ext uri="{FF2B5EF4-FFF2-40B4-BE49-F238E27FC236}">
                <a16:creationId xmlns:a16="http://schemas.microsoft.com/office/drawing/2014/main" id="{52C152B9-35CF-425A-8F33-F9DF47D0F26D}"/>
              </a:ext>
            </a:extLst>
          </p:cNvPr>
          <p:cNvSpPr>
            <a:spLocks xmlns:a="http://schemas.openxmlformats.org/drawingml/2006/main" noGrp="1"/>
          </p:cNvSpPr>
          <p:nvPr/>
        </p:nvSpPr>
        <p:spPr>
          <a:xfrm xmlns:a="http://schemas.openxmlformats.org/drawingml/2006/main">
            <a:off x="609600" y="1409700"/>
            <a:ext cx="10972800" cy="771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2250" b="1">
                <a:solidFill>
                  <a:srgbClr val="157C87"/>
                </a:solidFill>
                <a:latin typeface="Arial"/>
                <a:ea typeface="Arial"/>
                <a:cs typeface="Arial"/>
              </a:defRPr>
            </a:pPr>
            <a:r>
              <a:rPr sz="2250" b="1">
                <a:solidFill>
                  <a:srgbClr val="157C87"/>
                </a:solidFill>
                <a:latin typeface="Arial"/>
                <a:ea typeface="Arial"/>
                <a:cs typeface="Arial"/>
              </a:rPr>
              <a:t>Interpolate the authored source location first, then convert coordinates. Interpolating already-converted endpoints can produce a different path.</a:t>
            </a:r>
          </a:p>
        </p:txBody>
      </p:sp>
      <p:graphicFrame>
        <p:nvGraphicFramePr>
          <p:cNvPr id="9" name="Chart"/>
          <p:cNvGraphicFramePr/>
          <p:nvPr/>
        </p:nvGraphicFramePr>
        <p:xfrm>
          <a:off xmlns:a="http://schemas.openxmlformats.org/drawingml/2006/main" x="428625" y="2524125"/>
          <a:ext xmlns:a="http://schemas.openxmlformats.org/drawingml/2006/main" cx="7200900" cy="3886200"/>
        </p:xfrm>
        <a:graphic xmlns:a="http://schemas.openxmlformats.org/drawingml/2006/main">
          <a:graphicData uri="http://schemas.openxmlformats.org/drawingml/2006/chart">
            <c:chart xmlns:r="http://schemas.openxmlformats.org/officeDocument/2006/relationships" xmlns:c="http://schemas.openxmlformats.org/drawingml/2006/chart" r:id="Rf9b45f0bca1849bf"/>
          </a:graphicData>
        </a:graphic>
      </p:graphicFrame>
      <p:sp>
        <p:nvSpPr>
          <p:cNvPr id="4" name="">
            <a:extLst xmlns:a="http://schemas.openxmlformats.org/drawingml/2006/main">
              <a:ext uri="{FF2B5EF4-FFF2-40B4-BE49-F238E27FC236}">
                <a16:creationId xmlns:a16="http://schemas.microsoft.com/office/drawing/2014/main" id="{330E83A2-59BB-4DD1-A549-C6716F596392}"/>
              </a:ext>
            </a:extLst>
          </p:cNvPr>
          <p:cNvSpPr>
            <a:spLocks xmlns:a="http://schemas.openxmlformats.org/drawingml/2006/main" noGrp="1"/>
          </p:cNvSpPr>
          <p:nvPr/>
        </p:nvSpPr>
        <p:spPr>
          <a:xfrm xmlns:a="http://schemas.openxmlformats.org/drawingml/2006/main">
            <a:off x="8096250" y="2581275"/>
            <a:ext cx="3486150" cy="5238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2250" b="1">
                <a:solidFill>
                  <a:srgbClr val="213744"/>
                </a:solidFill>
                <a:latin typeface="Arial"/>
                <a:ea typeface="Arial"/>
                <a:cs typeface="Arial"/>
              </a:defRPr>
            </a:pPr>
            <a:r>
              <a:rPr sz="2250" b="1">
                <a:solidFill>
                  <a:srgbClr val="213744"/>
                </a:solidFill>
                <a:latin typeface="Arial"/>
                <a:ea typeface="Arial"/>
                <a:cs typeface="Arial"/>
              </a:rPr>
              <a:t>Why the order matters</a:t>
            </a:r>
          </a:p>
        </p:txBody>
      </p:sp>
      <p:sp>
        <p:nvSpPr>
          <p:cNvPr id="5" name="">
            <a:extLst xmlns:a="http://schemas.openxmlformats.org/drawingml/2006/main">
              <a:ext uri="{FF2B5EF4-FFF2-40B4-BE49-F238E27FC236}">
                <a16:creationId xmlns:a16="http://schemas.microsoft.com/office/drawing/2014/main" id="{8546DB51-5BD9-44E2-B0CD-7EB5E514F1D9}"/>
              </a:ext>
            </a:extLst>
          </p:cNvPr>
          <p:cNvSpPr>
            <a:spLocks xmlns:a="http://schemas.openxmlformats.org/drawingml/2006/main" noGrp="1"/>
          </p:cNvSpPr>
          <p:nvPr/>
        </p:nvSpPr>
        <p:spPr>
          <a:xfrm xmlns:a="http://schemas.openxmlformats.org/drawingml/2006/main">
            <a:off x="8096250" y="3267075"/>
            <a:ext cx="3486150" cy="18669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2025" b="0">
                <a:solidFill>
                  <a:srgbClr val="213744"/>
                </a:solidFill>
                <a:latin typeface="Arial"/>
                <a:ea typeface="Arial"/>
                <a:cs typeface="Arial"/>
              </a:defRPr>
            </a:pPr>
            <a:r>
              <a:rPr sz="2025" b="0">
                <a:solidFill>
                  <a:srgbClr val="213744"/>
                </a:solidFill>
                <a:latin typeface="Arial"/>
                <a:ea typeface="Arial"/>
                <a:cs typeface="Arial"/>
              </a:rPr>
              <a:t>The distinguishing control makes the ordering rule testable. Preserving sample times alone cannot prove preservation of the original trajectory between samples.</a:t>
            </a:r>
          </a:p>
        </p:txBody>
      </p:sp>
      <p:sp>
        <p:nvSpPr>
          <p:cNvPr id="6" name="">
            <a:extLst xmlns:a="http://schemas.openxmlformats.org/drawingml/2006/main">
              <a:ext uri="{FF2B5EF4-FFF2-40B4-BE49-F238E27FC236}">
                <a16:creationId xmlns:a16="http://schemas.microsoft.com/office/drawing/2014/main" id="{140D5B93-DD20-4A49-AF59-955679803EFE}"/>
              </a:ext>
            </a:extLst>
          </p:cNvPr>
          <p:cNvSpPr>
            <a:spLocks xmlns:a="http://schemas.openxmlformats.org/drawingml/2006/main" noGrp="1"/>
          </p:cNvSpPr>
          <p:nvPr/>
        </p:nvSpPr>
        <p:spPr>
          <a:xfrm xmlns:a="http://schemas.openxmlformats.org/drawingml/2006/main">
            <a:off x="8096250" y="5343525"/>
            <a:ext cx="3486150" cy="13049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800" b="0">
                <a:solidFill>
                  <a:srgbClr val="526B79"/>
                </a:solidFill>
                <a:latin typeface="Arial"/>
                <a:ea typeface="Arial"/>
                <a:cs typeface="Arial"/>
              </a:defRPr>
            </a:pPr>
            <a:r>
              <a:rPr sz="1800" b="0">
                <a:solidFill>
                  <a:srgbClr val="526B79"/>
                </a:solidFill>
                <a:latin typeface="Arial"/>
                <a:ea typeface="Arial"/>
                <a:cs typeface="Arial"/>
              </a:rPr>
              <a:t>The bake preserves time codes 0, 5, 10 and 48 time codes per second. It provides no original-trajectory guarantee between those samples.</a:t>
            </a:r>
          </a:p>
        </p:txBody>
      </p:sp>
    </p:spTree>
    <p:extLst>
      <p:ext uri="{BB962C8B-B14F-4D97-AF65-F5344CB8AC3E}">
        <p14:creationId xmlns:p14="http://schemas.microsoft.com/office/powerpoint/2010/main" val="128273361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C6CACD5C-69DB-4C1C-843D-FC242C30A41C}"/>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Appendix: Placement choices under review</a:t>
            </a:r>
          </a:p>
        </p:txBody>
      </p:sp>
      <p:graphicFrame>
        <p:nvGraphicFramePr>
          <p:cNvPr id="5" name=""/>
          <p:cNvGraphicFramePr/>
          <p:nvPr/>
        </p:nvGraphicFramePr>
        <p:xfrm>
          <a:off xmlns:a="http://schemas.openxmlformats.org/drawingml/2006/main" x="609600" y="1466850"/>
          <a:ext xmlns:a="http://schemas.openxmlformats.org/drawingml/2006/main" cx="10972800" cy="4257675"/>
        </p:xfrm>
        <a:graphic xmlns:a="http://schemas.openxmlformats.org/drawingml/2006/main">
          <a:graphicData uri="http://schemas.openxmlformats.org/drawingml/2006/table">
            <a:tbl>
              <a:tblPr/>
              <a:tblGrid>
                <a:gridCol w="3381375"/>
                <a:gridCol w="7591425"/>
              </a:tblGrid>
              <a:tr h="709613">
                <a:tc>
                  <a:txBody>
                    <a:bodyPr>
                      <a:noAutofit/>
                    </a:bodyPr>
                    <a:lstStyle/>
                    <a:p>
                      <a:r>
                        <a:rPr sz="1875" b="1">
                          <a:solidFill>
                            <a:srgbClr val="FFFFFF"/>
                          </a:solidFill>
                          <a:latin typeface="Arial"/>
                          <a:ea typeface="Arial"/>
                          <a:cs typeface="Arial"/>
                        </a:rPr>
                        <a:t>Topic</a:t>
                      </a:r>
                    </a:p>
                  </a:txBody>
                  <a:tcPr marL="95250" marR="95250" marT="19050" marB="19050">
                    <a:solidFill>
                      <a:srgbClr val="213744"/>
                    </a:solidFill>
                  </a:tcPr>
                </a:tc>
                <a:tc>
                  <a:txBody>
                    <a:bodyPr>
                      <a:noAutofit/>
                    </a:bodyPr>
                    <a:lstStyle/>
                    <a:p>
                      <a:r>
                        <a:rPr sz="1875" b="1">
                          <a:solidFill>
                            <a:srgbClr val="FFFFFF"/>
                          </a:solidFill>
                          <a:latin typeface="Arial"/>
                          <a:ea typeface="Arial"/>
                          <a:cs typeface="Arial"/>
                        </a:rPr>
                        <a:t>Proposed meaning to review</a:t>
                      </a:r>
                    </a:p>
                  </a:txBody>
                  <a:tcPr marL="95250" marR="95250" marT="19050" marB="19050">
                    <a:solidFill>
                      <a:srgbClr val="213744"/>
                    </a:solidFill>
                  </a:tcPr>
                </a:tc>
              </a:tr>
              <a:tr h="709613">
                <a:tc>
                  <a:txBody>
                    <a:bodyPr>
                      <a:noAutofit/>
                    </a:bodyPr>
                    <a:lstStyle/>
                    <a:p>
                      <a:r>
                        <a:rPr sz="1875" b="0">
                          <a:solidFill>
                            <a:srgbClr val="213744"/>
                          </a:solidFill>
                          <a:latin typeface="Arial"/>
                          <a:ea typeface="Arial"/>
                          <a:cs typeface="Arial"/>
                        </a:rPr>
                        <a:t>Physical orientation</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Record model orientation relative to local east, north and up. A different map projection does not redefine it.</a:t>
                      </a:r>
                    </a:p>
                  </a:txBody>
                  <a:tcPr marL="95250" marR="95250" marT="19050" marB="19050">
                    <a:solidFill>
                      <a:srgbClr val="FFFFFF"/>
                    </a:solidFill>
                  </a:tcPr>
                </a:tc>
              </a:tr>
              <a:tr h="709613">
                <a:tc>
                  <a:txBody>
                    <a:bodyPr>
                      <a:noAutofit/>
                    </a:bodyPr>
                    <a:lstStyle/>
                    <a:p>
                      <a:r>
                        <a:rPr sz="1875" b="0">
                          <a:solidFill>
                            <a:srgbClr val="213744"/>
                          </a:solidFill>
                          <a:latin typeface="Arial"/>
                          <a:ea typeface="Arial"/>
                          <a:cs typeface="Arial"/>
                        </a:rPr>
                        <a:t>The object with its own georeference</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Its ordinary scale, rotation and translation adjust placed geometry in a fixed project frame.</a:t>
                      </a:r>
                    </a:p>
                  </a:txBody>
                  <a:tcPr marL="95250" marR="95250" marT="19050" marB="19050">
                    <a:solidFill>
                      <a:srgbClr val="FFFFFF"/>
                    </a:solidFill>
                  </a:tcPr>
                </a:tc>
              </a:tr>
              <a:tr h="709613">
                <a:tc>
                  <a:txBody>
                    <a:bodyPr>
                      <a:noAutofit/>
                    </a:bodyPr>
                    <a:lstStyle/>
                    <a:p>
                      <a:r>
                        <a:rPr sz="1875" b="0">
                          <a:solidFill>
                            <a:srgbClr val="213744"/>
                          </a:solidFill>
                          <a:latin typeface="Arial"/>
                          <a:ea typeface="Arial"/>
                          <a:cs typeface="Arial"/>
                        </a:rPr>
                        <a:t>Child objects</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Child transforms define model-local geometry. Their offsets follow model axes instead of being silently reinterpreted as map axes.</a:t>
                      </a:r>
                    </a:p>
                  </a:txBody>
                  <a:tcPr marL="95250" marR="95250" marT="19050" marB="19050">
                    <a:solidFill>
                      <a:srgbClr val="FFFFFF"/>
                    </a:solidFill>
                  </a:tcPr>
                </a:tc>
              </a:tr>
              <a:tr h="709613">
                <a:tc>
                  <a:txBody>
                    <a:bodyPr>
                      <a:noAutofit/>
                    </a:bodyPr>
                    <a:lstStyle/>
                    <a:p>
                      <a:r>
                        <a:rPr sz="1875" b="0">
                          <a:solidFill>
                            <a:srgbClr val="213744"/>
                          </a:solidFill>
                          <a:latin typeface="Arial"/>
                          <a:ea typeface="Arial"/>
                          <a:cs typeface="Arial"/>
                        </a:rPr>
                        <a:t>Independently georeferenced repeated models</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Keep a prototype's own geographic placement and apply each instance effect once.</a:t>
                      </a:r>
                    </a:p>
                  </a:txBody>
                  <a:tcPr marL="95250" marR="95250" marT="19050" marB="19050">
                    <a:solidFill>
                      <a:srgbClr val="FFFFFF"/>
                    </a:solidFill>
                  </a:tcPr>
                </a:tc>
              </a:tr>
              <a:tr h="709613">
                <a:tc>
                  <a:txBody>
                    <a:bodyPr>
                      <a:noAutofit/>
                    </a:bodyPr>
                    <a:lstStyle/>
                    <a:p>
                      <a:r>
                        <a:rPr sz="1875" b="0">
                          <a:solidFill>
                            <a:srgbClr val="213744"/>
                          </a:solidFill>
                          <a:latin typeface="Arial"/>
                          <a:ea typeface="Arial"/>
                          <a:cs typeface="Arial"/>
                        </a:rPr>
                        <a:t>Geographic queries and scene geometry</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Return longitude/latitude/height for geographic queries. Cartesian geometry and bounds use the datum's Earth-centred frame.</a:t>
                      </a:r>
                    </a:p>
                  </a:txBody>
                  <a:tcPr marL="95250" marR="95250" marT="19050" marB="1905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F33E548E-9C7B-4B7C-A013-CC3D7A758F76}"/>
              </a:ext>
            </a:extLst>
          </p:cNvPr>
          <p:cNvSpPr>
            <a:spLocks xmlns:a="http://schemas.openxmlformats.org/drawingml/2006/main" noGrp="1"/>
          </p:cNvSpPr>
          <p:nvPr/>
        </p:nvSpPr>
        <p:spPr>
          <a:xfrm xmlns:a="http://schemas.openxmlformats.org/drawingml/2006/main">
            <a:off x="609600" y="6067425"/>
            <a:ext cx="10972800" cy="6667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950" b="0">
                <a:solidFill>
                  <a:srgbClr val="A25D20"/>
                </a:solidFill>
                <a:latin typeface="Arial"/>
                <a:ea typeface="Arial"/>
                <a:cs typeface="Arial"/>
              </a:defRPr>
            </a:pPr>
            <a:r>
              <a:rPr sz="1950" b="0">
                <a:solidFill>
                  <a:srgbClr val="A25D20"/>
                </a:solidFill>
                <a:latin typeface="Arial"/>
                <a:ea typeface="Arial"/>
                <a:cs typeface="Arial"/>
              </a:rPr>
              <a:t>These are definitions in the candidate, not new inferred behavior supplied by the demonstrations.</a:t>
            </a:r>
          </a:p>
        </p:txBody>
      </p:sp>
    </p:spTree>
    <p:extLst>
      <p:ext uri="{BB962C8B-B14F-4D97-AF65-F5344CB8AC3E}">
        <p14:creationId xmlns:p14="http://schemas.microsoft.com/office/powerpoint/2010/main" val="55302395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D9E6A118-D71B-4CE3-8E65-06471975CB2D}"/>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Appendix: Data and declaration choices</a:t>
            </a:r>
          </a:p>
        </p:txBody>
      </p:sp>
      <p:graphicFrame>
        <p:nvGraphicFramePr>
          <p:cNvPr id="5" name=""/>
          <p:cNvGraphicFramePr/>
          <p:nvPr/>
        </p:nvGraphicFramePr>
        <p:xfrm>
          <a:off xmlns:a="http://schemas.openxmlformats.org/drawingml/2006/main" x="609600" y="1466850"/>
          <a:ext xmlns:a="http://schemas.openxmlformats.org/drawingml/2006/main" cx="10972800" cy="4257675"/>
        </p:xfrm>
        <a:graphic xmlns:a="http://schemas.openxmlformats.org/drawingml/2006/main">
          <a:graphicData uri="http://schemas.openxmlformats.org/drawingml/2006/table">
            <a:tbl>
              <a:tblPr/>
              <a:tblGrid>
                <a:gridCol w="3381375"/>
                <a:gridCol w="7591425"/>
              </a:tblGrid>
              <a:tr h="709613">
                <a:tc>
                  <a:txBody>
                    <a:bodyPr>
                      <a:noAutofit/>
                    </a:bodyPr>
                    <a:lstStyle/>
                    <a:p>
                      <a:r>
                        <a:rPr sz="1875" b="1">
                          <a:solidFill>
                            <a:srgbClr val="FFFFFF"/>
                          </a:solidFill>
                          <a:latin typeface="Arial"/>
                          <a:ea typeface="Arial"/>
                          <a:cs typeface="Arial"/>
                        </a:rPr>
                        <a:t>Topic</a:t>
                      </a:r>
                    </a:p>
                  </a:txBody>
                  <a:tcPr marL="95250" marR="95250" marT="19050" marB="19050">
                    <a:solidFill>
                      <a:srgbClr val="213744"/>
                    </a:solidFill>
                  </a:tcPr>
                </a:tc>
                <a:tc>
                  <a:txBody>
                    <a:bodyPr>
                      <a:noAutofit/>
                    </a:bodyPr>
                    <a:lstStyle/>
                    <a:p>
                      <a:r>
                        <a:rPr sz="1875" b="1">
                          <a:solidFill>
                            <a:srgbClr val="FFFFFF"/>
                          </a:solidFill>
                          <a:latin typeface="Arial"/>
                          <a:ea typeface="Arial"/>
                          <a:cs typeface="Arial"/>
                        </a:rPr>
                        <a:t>Proposed meaning to review</a:t>
                      </a:r>
                    </a:p>
                  </a:txBody>
                  <a:tcPr marL="95250" marR="95250" marT="19050" marB="19050">
                    <a:solidFill>
                      <a:srgbClr val="213744"/>
                    </a:solidFill>
                  </a:tcPr>
                </a:tc>
              </a:tr>
              <a:tr h="709613">
                <a:tc>
                  <a:txBody>
                    <a:bodyPr>
                      <a:noAutofit/>
                    </a:bodyPr>
                    <a:lstStyle/>
                    <a:p>
                      <a:r>
                        <a:rPr sz="1875" b="0">
                          <a:solidFill>
                            <a:srgbClr val="213744"/>
                          </a:solidFill>
                          <a:latin typeface="Arial"/>
                          <a:ea typeface="Arial"/>
                          <a:cs typeface="Arial"/>
                        </a:rPr>
                        <a:t>Native data association</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Name the asset, format, field and coordinate domain. Preserve the association between values, locations and observation times.</a:t>
                      </a:r>
                    </a:p>
                  </a:txBody>
                  <a:tcPr marL="95250" marR="95250" marT="19050" marB="19050">
                    <a:solidFill>
                      <a:srgbClr val="FFFFFF"/>
                    </a:solidFill>
                  </a:tcPr>
                </a:tc>
              </a:tr>
              <a:tr h="709613">
                <a:tc>
                  <a:txBody>
                    <a:bodyPr>
                      <a:noAutofit/>
                    </a:bodyPr>
                    <a:lstStyle/>
                    <a:p>
                      <a:r>
                        <a:rPr sz="1875" b="0">
                          <a:solidFill>
                            <a:srgbClr val="213744"/>
                          </a:solidFill>
                          <a:latin typeface="Arial"/>
                          <a:ea typeface="Arial"/>
                          <a:cs typeface="Arial"/>
                        </a:rPr>
                        <a:t>WKT string normalization</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A prescribed text form supports token comparison. Different normalized texts can still describe equivalent CRSs.</a:t>
                      </a:r>
                    </a:p>
                  </a:txBody>
                  <a:tcPr marL="95250" marR="95250" marT="19050" marB="19050">
                    <a:solidFill>
                      <a:srgbClr val="FFFFFF"/>
                    </a:solidFill>
                  </a:tcPr>
                </a:tc>
              </a:tr>
              <a:tr h="709613">
                <a:tc>
                  <a:txBody>
                    <a:bodyPr>
                      <a:noAutofit/>
                    </a:bodyPr>
                    <a:lstStyle/>
                    <a:p>
                      <a:r>
                        <a:rPr sz="1875" b="0">
                          <a:solidFill>
                            <a:srgbClr val="213744"/>
                          </a:solidFill>
                          <a:latin typeface="Arial"/>
                          <a:ea typeface="Arial"/>
                          <a:cs typeface="Arial"/>
                        </a:rPr>
                        <a:t>Semantic CRS comparison</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Specify equivalence criteria and the comparison domain, accounting for relevant axes, units and metadata.</a:t>
                      </a:r>
                    </a:p>
                  </a:txBody>
                  <a:tcPr marL="95250" marR="95250" marT="19050" marB="19050">
                    <a:solidFill>
                      <a:srgbClr val="FFFFFF"/>
                    </a:solidFill>
                  </a:tcPr>
                </a:tc>
              </a:tr>
              <a:tr h="709613">
                <a:tc>
                  <a:txBody>
                    <a:bodyPr>
                      <a:noAutofit/>
                    </a:bodyPr>
                    <a:lstStyle/>
                    <a:p>
                      <a:r>
                        <a:rPr sz="1875" b="0">
                          <a:solidFill>
                            <a:srgbClr val="213744"/>
                          </a:solidFill>
                          <a:latin typeface="Arial"/>
                          <a:ea typeface="Arial"/>
                          <a:cs typeface="Arial"/>
                        </a:rPr>
                        <a:t>Dependency declaration using Profiles</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Declare the composed scene's need for geospatial interpretation, including unloaded content. Writers and assemblers maintain the declaration.</a:t>
                      </a:r>
                    </a:p>
                  </a:txBody>
                  <a:tcPr marL="95250" marR="95250" marT="19050" marB="19050">
                    <a:solidFill>
                      <a:srgbClr val="FFFFFF"/>
                    </a:solidFill>
                  </a:tcPr>
                </a:tc>
              </a:tr>
              <a:tr h="709613">
                <a:tc>
                  <a:txBody>
                    <a:bodyPr>
                      <a:noAutofit/>
                    </a:bodyPr>
                    <a:lstStyle/>
                    <a:p>
                      <a:r>
                        <a:rPr sz="1875" b="0">
                          <a:solidFill>
                            <a:srgbClr val="213744"/>
                          </a:solidFill>
                          <a:latin typeface="Arial"/>
                          <a:ea typeface="Arial"/>
                          <a:cs typeface="Arial"/>
                        </a:rPr>
                        <a:t>Baked output context</a:t>
                      </a:r>
                    </a:p>
                  </a:txBody>
                  <a:tcPr marL="95250" marR="95250" marT="19050" marB="19050">
                    <a:solidFill>
                      <a:srgbClr val="FFFFFF"/>
                    </a:solidFill>
                  </a:tcPr>
                </a:tc>
                <a:tc>
                  <a:txBody>
                    <a:bodyPr>
                      <a:noAutofit/>
                    </a:bodyPr>
                    <a:lstStyle/>
                    <a:p>
                      <a:r>
                        <a:rPr sz="1875" b="0">
                          <a:solidFill>
                            <a:srgbClr val="213744"/>
                          </a:solidFill>
                          <a:latin typeface="Arial"/>
                          <a:ea typeface="Arial"/>
                          <a:cs typeface="Arial"/>
                        </a:rPr>
                        <a:t>Keep a Cartesian CRS context without an active placement binding, so readers do not apply georeferencing a second time.</a:t>
                      </a:r>
                    </a:p>
                  </a:txBody>
                  <a:tcPr marL="95250" marR="95250" marT="19050" marB="1905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E645BA15-B343-4965-9F47-7C08DCE5E54F}"/>
              </a:ext>
            </a:extLst>
          </p:cNvPr>
          <p:cNvSpPr>
            <a:spLocks xmlns:a="http://schemas.openxmlformats.org/drawingml/2006/main" noGrp="1"/>
          </p:cNvSpPr>
          <p:nvPr/>
        </p:nvSpPr>
        <p:spPr>
          <a:xfrm xmlns:a="http://schemas.openxmlformats.org/drawingml/2006/main">
            <a:off x="609600" y="6067425"/>
            <a:ext cx="10972800" cy="6667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950" b="0">
                <a:solidFill>
                  <a:srgbClr val="A25D20"/>
                </a:solidFill>
                <a:latin typeface="Arial"/>
                <a:ea typeface="Arial"/>
                <a:cs typeface="Arial"/>
              </a:defRPr>
            </a:pPr>
            <a:r>
              <a:rPr sz="1950" b="0">
                <a:solidFill>
                  <a:srgbClr val="A25D20"/>
                </a:solidFill>
                <a:latin typeface="Arial"/>
                <a:ea typeface="Arial"/>
                <a:cs typeface="Arial"/>
              </a:rPr>
              <a:t>Coordinate epochs and scene-authored operation/resource controls remain deferred without foreclosing later support.</a:t>
            </a:r>
          </a:p>
        </p:txBody>
      </p:sp>
    </p:spTree>
    <p:extLst>
      <p:ext uri="{BB962C8B-B14F-4D97-AF65-F5344CB8AC3E}">
        <p14:creationId xmlns:p14="http://schemas.microsoft.com/office/powerpoint/2010/main" val="133393030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1FF94C11-2C5B-4AD9-820D-53930A4EBE64}"/>
              </a:ext>
            </a:extLst>
          </p:cNvPr>
          <p:cNvSpPr>
            <a:spLocks xmlns:a="http://schemas.openxmlformats.org/drawingml/2006/main" noGrp="1"/>
          </p:cNvSpPr>
          <p:nvPr/>
        </p:nvSpPr>
        <p:spPr>
          <a:xfrm xmlns:a="http://schemas.openxmlformats.org/drawingml/2006/main">
            <a:off x="609600" y="323850"/>
            <a:ext cx="10972800" cy="9906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3150" b="1">
                <a:solidFill>
                  <a:srgbClr val="213744"/>
                </a:solidFill>
                <a:latin typeface="Arial"/>
                <a:ea typeface="Arial"/>
                <a:cs typeface="Arial"/>
              </a:defRPr>
            </a:pPr>
            <a:r>
              <a:rPr sz="3150" b="1">
                <a:solidFill>
                  <a:srgbClr val="213744"/>
                </a:solidFill>
                <a:latin typeface="Arial"/>
                <a:ea typeface="Arial"/>
                <a:cs typeface="Arial"/>
              </a:rPr>
              <a:t>Appendix: Evidence and its limits</a:t>
            </a:r>
          </a:p>
        </p:txBody>
      </p:sp>
      <p:graphicFrame>
        <p:nvGraphicFramePr>
          <p:cNvPr id="5" name=""/>
          <p:cNvGraphicFramePr/>
          <p:nvPr/>
        </p:nvGraphicFramePr>
        <p:xfrm>
          <a:off xmlns:a="http://schemas.openxmlformats.org/drawingml/2006/main" x="609600" y="1438275"/>
          <a:ext xmlns:a="http://schemas.openxmlformats.org/drawingml/2006/main" cx="10972800" cy="4371975"/>
        </p:xfrm>
        <a:graphic xmlns:a="http://schemas.openxmlformats.org/drawingml/2006/main">
          <a:graphicData uri="http://schemas.openxmlformats.org/drawingml/2006/table">
            <a:tbl>
              <a:tblPr/>
              <a:tblGrid>
                <a:gridCol w="3238500"/>
                <a:gridCol w="7734300"/>
              </a:tblGrid>
              <a:tr h="624568">
                <a:tc>
                  <a:txBody>
                    <a:bodyPr>
                      <a:noAutofit/>
                    </a:bodyPr>
                    <a:lstStyle/>
                    <a:p>
                      <a:r>
                        <a:rPr sz="1725" b="1">
                          <a:solidFill>
                            <a:srgbClr val="FFFFFF"/>
                          </a:solidFill>
                          <a:latin typeface="Arial"/>
                          <a:ea typeface="Arial"/>
                          <a:cs typeface="Arial"/>
                        </a:rPr>
                        <a:t>Path or check</a:t>
                      </a:r>
                    </a:p>
                  </a:txBody>
                  <a:tcPr marL="95250" marR="95250" marT="19050" marB="19050">
                    <a:solidFill>
                      <a:srgbClr val="213744"/>
                    </a:solidFill>
                  </a:tcPr>
                </a:tc>
                <a:tc>
                  <a:txBody>
                    <a:bodyPr>
                      <a:noAutofit/>
                    </a:bodyPr>
                    <a:lstStyle/>
                    <a:p>
                      <a:r>
                        <a:rPr sz="1725" b="1">
                          <a:solidFill>
                            <a:srgbClr val="FFFFFF"/>
                          </a:solidFill>
                          <a:latin typeface="Arial"/>
                          <a:ea typeface="Arial"/>
                          <a:cs typeface="Arial"/>
                        </a:rPr>
                        <a:t>Recorded evidence</a:t>
                      </a:r>
                    </a:p>
                  </a:txBody>
                  <a:tcPr marL="95250" marR="95250" marT="19050" marB="19050">
                    <a:solidFill>
                      <a:srgbClr val="213744"/>
                    </a:solidFill>
                  </a:tcPr>
                </a:tc>
              </a:tr>
              <a:tr h="624568">
                <a:tc>
                  <a:txBody>
                    <a:bodyPr>
                      <a:noAutofit/>
                    </a:bodyPr>
                    <a:lstStyle/>
                    <a:p>
                      <a:r>
                        <a:rPr sz="1725" b="0">
                          <a:solidFill>
                            <a:srgbClr val="213744"/>
                          </a:solidFill>
                          <a:latin typeface="Arial"/>
                          <a:ea typeface="Arial"/>
                          <a:cs typeface="Arial"/>
                        </a:rPr>
                        <a:t>Python and C++ readers</a:t>
                      </a:r>
                    </a:p>
                  </a:txBody>
                  <a:tcPr marL="95250" marR="95250" marT="19050" marB="19050">
                    <a:solidFill>
                      <a:srgbClr val="FFFFFF"/>
                    </a:solidFill>
                  </a:tcPr>
                </a:tc>
                <a:tc>
                  <a:txBody>
                    <a:bodyPr>
                      <a:noAutofit/>
                    </a:bodyPr>
                    <a:lstStyle/>
                    <a:p>
                      <a:r>
                        <a:rPr sz="1725" b="0">
                          <a:solidFill>
                            <a:srgbClr val="213744"/>
                          </a:solidFill>
                          <a:latin typeface="Arial"/>
                          <a:ea typeface="Arial"/>
                          <a:cs typeface="Arial"/>
                        </a:rPr>
                        <a:t>213,231 coordinate results per reader. Maximum measured difference 3.39e-08 m. They share PROJ and native dataset decoding.</a:t>
                      </a:r>
                    </a:p>
                  </a:txBody>
                  <a:tcPr marL="95250" marR="95250" marT="19050" marB="19050">
                    <a:solidFill>
                      <a:srgbClr val="FFFFFF"/>
                    </a:solidFill>
                  </a:tcPr>
                </a:tc>
              </a:tr>
              <a:tr h="624568">
                <a:tc>
                  <a:txBody>
                    <a:bodyPr>
                      <a:noAutofit/>
                    </a:bodyPr>
                    <a:lstStyle/>
                    <a:p>
                      <a:r>
                        <a:rPr sz="1725" b="0">
                          <a:solidFill>
                            <a:srgbClr val="213744"/>
                          </a:solidFill>
                          <a:latin typeface="Arial"/>
                          <a:ea typeface="Arial"/>
                          <a:cs typeface="Arial"/>
                        </a:rPr>
                        <a:t>Omniverse stage geometry integration</a:t>
                      </a:r>
                    </a:p>
                  </a:txBody>
                  <a:tcPr marL="95250" marR="95250" marT="19050" marB="19050">
                    <a:solidFill>
                      <a:srgbClr val="FFFFFF"/>
                    </a:solidFill>
                  </a:tcPr>
                </a:tc>
                <a:tc>
                  <a:txBody>
                    <a:bodyPr>
                      <a:noAutofit/>
                    </a:bodyPr>
                    <a:lstStyle/>
                    <a:p>
                      <a:r>
                        <a:rPr sz="1725" b="0">
                          <a:solidFill>
                            <a:srgbClr val="213744"/>
                          </a:solidFill>
                          <a:latin typeface="Arial"/>
                          <a:ea typeface="Arial"/>
                          <a:cs typeface="Arial"/>
                        </a:rPr>
                        <a:t>Reuses Python placement. Recorded readback covers 177,864 geometry vertices and 36 edit, failure and recovery checks, across 35 jobs.</a:t>
                      </a:r>
                    </a:p>
                  </a:txBody>
                  <a:tcPr marL="95250" marR="95250" marT="19050" marB="19050">
                    <a:solidFill>
                      <a:srgbClr val="FFFFFF"/>
                    </a:solidFill>
                  </a:tcPr>
                </a:tc>
              </a:tr>
              <a:tr h="624568">
                <a:tc>
                  <a:txBody>
                    <a:bodyPr>
                      <a:noAutofit/>
                    </a:bodyPr>
                    <a:lstStyle/>
                    <a:p>
                      <a:r>
                        <a:rPr sz="1725" b="0">
                          <a:solidFill>
                            <a:srgbClr val="213744"/>
                          </a:solidFill>
                          <a:latin typeface="Arial"/>
                          <a:ea typeface="Arial"/>
                          <a:cs typeface="Arial"/>
                        </a:rPr>
                        <a:t>Hydra / Storm</a:t>
                      </a:r>
                    </a:p>
                  </a:txBody>
                  <a:tcPr marL="95250" marR="95250" marT="19050" marB="19050">
                    <a:solidFill>
                      <a:srgbClr val="FFFFFF"/>
                    </a:solidFill>
                  </a:tcPr>
                </a:tc>
                <a:tc>
                  <a:txBody>
                    <a:bodyPr>
                      <a:noAutofit/>
                    </a:bodyPr>
                    <a:lstStyle/>
                    <a:p>
                      <a:r>
                        <a:rPr sz="1725" b="0">
                          <a:solidFill>
                            <a:srgbClr val="213744"/>
                          </a:solidFill>
                          <a:latin typeface="Arial"/>
                          <a:ea typeface="Arial"/>
                          <a:cs typeface="Arial"/>
                        </a:rPr>
                        <a:t>Two selected ordinary USD bakes reach native rendering. This consumer path uses the C++ placement results.</a:t>
                      </a:r>
                    </a:p>
                  </a:txBody>
                  <a:tcPr marL="95250" marR="95250" marT="19050" marB="19050">
                    <a:solidFill>
                      <a:srgbClr val="FFFFFF"/>
                    </a:solidFill>
                  </a:tcPr>
                </a:tc>
              </a:tr>
              <a:tr h="624568">
                <a:tc>
                  <a:txBody>
                    <a:bodyPr>
                      <a:noAutofit/>
                    </a:bodyPr>
                    <a:lstStyle/>
                    <a:p>
                      <a:r>
                        <a:rPr sz="1725" b="0">
                          <a:solidFill>
                            <a:srgbClr val="213744"/>
                          </a:solidFill>
                          <a:latin typeface="Arial"/>
                          <a:ea typeface="Arial"/>
                          <a:cs typeface="Arial"/>
                        </a:rPr>
                        <a:t>Recorded tests</a:t>
                      </a:r>
                    </a:p>
                  </a:txBody>
                  <a:tcPr marL="95250" marR="95250" marT="19050" marB="19050">
                    <a:solidFill>
                      <a:srgbClr val="FFFFFF"/>
                    </a:solidFill>
                  </a:tcPr>
                </a:tc>
                <a:tc>
                  <a:txBody>
                    <a:bodyPr>
                      <a:noAutofit/>
                    </a:bodyPr>
                    <a:lstStyle/>
                    <a:p>
                      <a:r>
                        <a:rPr sz="1725" b="0">
                          <a:solidFill>
                            <a:srgbClr val="213744"/>
                          </a:solidFill>
                          <a:latin typeface="Arial"/>
                          <a:ea typeface="Arial"/>
                          <a:cs typeface="Arial"/>
                        </a:rPr>
                        <a:t>64 regressions and 61 distinguishing controls passed. The later audit exposes cases the suite missed.</a:t>
                      </a:r>
                    </a:p>
                  </a:txBody>
                  <a:tcPr marL="95250" marR="95250" marT="19050" marB="19050">
                    <a:solidFill>
                      <a:srgbClr val="FFFFFF"/>
                    </a:solidFill>
                  </a:tcPr>
                </a:tc>
              </a:tr>
              <a:tr h="624568">
                <a:tc>
                  <a:txBody>
                    <a:bodyPr>
                      <a:noAutofit/>
                    </a:bodyPr>
                    <a:lstStyle/>
                    <a:p>
                      <a:r>
                        <a:rPr sz="1725" b="0">
                          <a:solidFill>
                            <a:srgbClr val="213744"/>
                          </a:solidFill>
                          <a:latin typeface="Arial"/>
                          <a:ea typeface="Arial"/>
                          <a:cs typeface="Arial"/>
                        </a:rPr>
                        <a:t>Source preservation</a:t>
                      </a:r>
                    </a:p>
                  </a:txBody>
                  <a:tcPr marL="95250" marR="95250" marT="19050" marB="19050">
                    <a:solidFill>
                      <a:srgbClr val="FFFFFF"/>
                    </a:solidFill>
                  </a:tcPr>
                </a:tc>
                <a:tc>
                  <a:txBody>
                    <a:bodyPr>
                      <a:noAutofit/>
                    </a:bodyPr>
                    <a:lstStyle/>
                    <a:p>
                      <a:r>
                        <a:rPr sz="1725" b="0">
                          <a:solidFill>
                            <a:srgbClr val="213744"/>
                          </a:solidFill>
                          <a:latin typeface="Arial"/>
                          <a:ea typeface="Arial"/>
                          <a:cs typeface="Arial"/>
                        </a:rPr>
                        <a:t>Original inputs and 40 executed source-file hashes remain unchanged. The immutable receipt identifies the executed content.</a:t>
                      </a:r>
                    </a:p>
                  </a:txBody>
                  <a:tcPr marL="95250" marR="95250" marT="19050" marB="19050">
                    <a:solidFill>
                      <a:srgbClr val="FFFFFF"/>
                    </a:solidFill>
                  </a:tcPr>
                </a:tc>
              </a:tr>
              <a:tr h="624568">
                <a:tc>
                  <a:txBody>
                    <a:bodyPr>
                      <a:noAutofit/>
                    </a:bodyPr>
                    <a:lstStyle/>
                    <a:p>
                      <a:r>
                        <a:rPr sz="1725" b="0">
                          <a:solidFill>
                            <a:srgbClr val="213744"/>
                          </a:solidFill>
                          <a:latin typeface="Arial"/>
                          <a:ea typeface="Arial"/>
                          <a:cs typeface="Arial"/>
                        </a:rPr>
                        <a:t>Bake readbacks</a:t>
                      </a:r>
                    </a:p>
                  </a:txBody>
                  <a:tcPr marL="95250" marR="95250" marT="19050" marB="19050">
                    <a:solidFill>
                      <a:srgbClr val="FFFFFF"/>
                    </a:solidFill>
                  </a:tcPr>
                </a:tc>
                <a:tc>
                  <a:txBody>
                    <a:bodyPr>
                      <a:noAutofit/>
                    </a:bodyPr>
                    <a:lstStyle/>
                    <a:p>
                      <a:r>
                        <a:rPr sz="1725" b="0">
                          <a:solidFill>
                            <a:srgbClr val="213744"/>
                          </a:solidFill>
                          <a:latin typeface="Arial"/>
                          <a:ea typeface="Arial"/>
                          <a:cs typeface="Arial"/>
                        </a:rPr>
                        <a:t>11 selected exports were checked. The later nested-geometry case demonstrates that the original inventory check was incomplete.</a:t>
                      </a:r>
                    </a:p>
                  </a:txBody>
                  <a:tcPr marL="95250" marR="95250" marT="19050" marB="1905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A9714003-9C38-468B-9DC0-AE8839511D4B}"/>
              </a:ext>
            </a:extLst>
          </p:cNvPr>
          <p:cNvSpPr>
            <a:spLocks xmlns:a="http://schemas.openxmlformats.org/drawingml/2006/main" noGrp="1"/>
          </p:cNvSpPr>
          <p:nvPr/>
        </p:nvSpPr>
        <p:spPr>
          <a:xfrm xmlns:a="http://schemas.openxmlformats.org/drawingml/2006/main">
            <a:off x="609600" y="6067425"/>
            <a:ext cx="10972800" cy="71437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ln>
        </p:spPr>
        <p:txBody>
          <a:bodyPr xmlns:a="http://schemas.openxmlformats.org/drawingml/2006/main" anchor="t">
            <a:noAutofit/>
          </a:bodyPr>
          <a:lstStyle xmlns:a="http://schemas.openxmlformats.org/drawingml/2006/main"/>
          <a:p xmlns:a="http://schemas.openxmlformats.org/drawingml/2006/main">
            <a:pPr>
              <a:defRPr sz="1875" b="0">
                <a:solidFill>
                  <a:srgbClr val="526B79"/>
                </a:solidFill>
                <a:latin typeface="Arial"/>
                <a:ea typeface="Arial"/>
                <a:cs typeface="Arial"/>
              </a:defRPr>
            </a:pPr>
            <a:r>
              <a:rPr sz="1875" b="0">
                <a:solidFill>
                  <a:srgbClr val="526B79"/>
                </a:solidFill>
                <a:latin typeface="Arial"/>
                <a:ea typeface="Arial"/>
                <a:cs typeface="Arial"/>
              </a:rPr>
              <a:t>There are two placement readers. Omniverse reuses Python with a verified stage geometry sink. Hydra consumes a C++-resolved ordinary USD bake.</a:t>
            </a:r>
          </a:p>
        </p:txBody>
      </p:sp>
    </p:spTree>
    <p:extLst>
      <p:ext uri="{BB962C8B-B14F-4D97-AF65-F5344CB8AC3E}">
        <p14:creationId xmlns:p14="http://schemas.microsoft.com/office/powerpoint/2010/main" val="20452979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2026-10-07T03:21:40.9030000Z</dcterms:created>
  <dcterms:modified xsi:type="dcterms:W3CDTF">2026-10-07T03:21:40.9040000Z</dcterms:modified>
</coreProperties>
</file>