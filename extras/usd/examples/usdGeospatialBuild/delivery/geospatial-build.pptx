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5b7f611a9648af" /><Relationship Type="http://schemas.openxmlformats.org/officeDocument/2006/relationships/extended-properties" Target="/docProps/app.xml" Id="Re107b9f4ab0f4eea" /><Relationship Type="http://schemas.openxmlformats.org/officeDocument/2006/relationships/officeDocument" Target="/ppt/presentation.xml" Id="R77ef7a444c1444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305b25e35240ce"/>
  </p:sldMasterIdLst>
  <p:notesMasterIdLst>
    <p:notesMasterId xmlns:r="http://schemas.openxmlformats.org/officeDocument/2006/relationships" r:id="R655df4b8610a47a3"/>
  </p:notesMasterIdLst>
  <p:sldIdLst>
    <p:sldId xmlns:r="http://schemas.openxmlformats.org/officeDocument/2006/relationships" id="256" r:id="R2065c74de6154965"/>
    <p:sldId xmlns:r="http://schemas.openxmlformats.org/officeDocument/2006/relationships" id="257" r:id="Rb8a20d546e9f4ff1"/>
    <p:sldId xmlns:r="http://schemas.openxmlformats.org/officeDocument/2006/relationships" id="258" r:id="Rc01c7185d6fc46fd"/>
    <p:sldId xmlns:r="http://schemas.openxmlformats.org/officeDocument/2006/relationships" id="259" r:id="Rf73741f5fb854842"/>
    <p:sldId xmlns:r="http://schemas.openxmlformats.org/officeDocument/2006/relationships" id="260" r:id="R17153d3d980c4654"/>
    <p:sldId xmlns:r="http://schemas.openxmlformats.org/officeDocument/2006/relationships" id="261" r:id="R83ad27dfcc4f4265"/>
    <p:sldId xmlns:r="http://schemas.openxmlformats.org/officeDocument/2006/relationships" id="262" r:id="R1cc4c2f476724789"/>
    <p:sldId xmlns:r="http://schemas.openxmlformats.org/officeDocument/2006/relationships" id="263" r:id="R7f6fa74f647f4bba"/>
    <p:sldId xmlns:r="http://schemas.openxmlformats.org/officeDocument/2006/relationships" id="264" r:id="R2ba5cc79b46c42f2"/>
    <p:sldId xmlns:r="http://schemas.openxmlformats.org/officeDocument/2006/relationships" id="265" r:id="R3d32a039ea014606"/>
    <p:sldId xmlns:r="http://schemas.openxmlformats.org/officeDocument/2006/relationships" id="266" r:id="Reae08caa4bf34d12"/>
    <p:sldId xmlns:r="http://schemas.openxmlformats.org/officeDocument/2006/relationships" id="267" r:id="R675f1e175b044cfa"/>
    <p:sldId xmlns:r="http://schemas.openxmlformats.org/officeDocument/2006/relationships" id="268" r:id="Rbf004268b6cf4be7"/>
    <p:sldId xmlns:r="http://schemas.openxmlformats.org/officeDocument/2006/relationships" id="269" r:id="R715d1b89862f4f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2074410b6c4ae8" /><Relationship Type="http://schemas.openxmlformats.org/officeDocument/2006/relationships/slideMaster" Target="/ppt/slideMasters/slideMaster1.xml" Id="R9f305b25e35240ce" /><Relationship Type="http://schemas.openxmlformats.org/officeDocument/2006/relationships/notesMaster" Target="/ppt/notesMasters/notesMaster1.xml" Id="R655df4b8610a47a3" /><Relationship Type="http://schemas.openxmlformats.org/officeDocument/2006/relationships/presProps" Target="/ppt/presProps.xml" Id="Rb2e813449f3843ec" /><Relationship Type="http://schemas.openxmlformats.org/officeDocument/2006/relationships/tableStyles" Target="/ppt/tableStyles.xml" Id="R22185ace5ee346b7" /><Relationship Type="http://schemas.openxmlformats.org/officeDocument/2006/relationships/slide" Target="/ppt/slides/slide1.xml" Id="R2065c74de6154965" /><Relationship Type="http://schemas.openxmlformats.org/officeDocument/2006/relationships/slide" Target="/ppt/slides/slide2.xml" Id="Rb8a20d546e9f4ff1" /><Relationship Type="http://schemas.openxmlformats.org/officeDocument/2006/relationships/slide" Target="/ppt/slides/slide3.xml" Id="Rc01c7185d6fc46fd" /><Relationship Type="http://schemas.openxmlformats.org/officeDocument/2006/relationships/slide" Target="/ppt/slides/slide4.xml" Id="Rf73741f5fb854842" /><Relationship Type="http://schemas.openxmlformats.org/officeDocument/2006/relationships/slide" Target="/ppt/slides/slide5.xml" Id="R17153d3d980c4654" /><Relationship Type="http://schemas.openxmlformats.org/officeDocument/2006/relationships/slide" Target="/ppt/slides/slide6.xml" Id="R83ad27dfcc4f4265" /><Relationship Type="http://schemas.openxmlformats.org/officeDocument/2006/relationships/slide" Target="/ppt/slides/slide7.xml" Id="R1cc4c2f476724789" /><Relationship Type="http://schemas.openxmlformats.org/officeDocument/2006/relationships/slide" Target="/ppt/slides/slide8.xml" Id="R7f6fa74f647f4bba" /><Relationship Type="http://schemas.openxmlformats.org/officeDocument/2006/relationships/slide" Target="/ppt/slides/slide9.xml" Id="R2ba5cc79b46c42f2" /><Relationship Type="http://schemas.openxmlformats.org/officeDocument/2006/relationships/slide" Target="/ppt/slides/slide10.xml" Id="R3d32a039ea014606" /><Relationship Type="http://schemas.openxmlformats.org/officeDocument/2006/relationships/slide" Target="/ppt/slides/slide11.xml" Id="Reae08caa4bf34d12" /><Relationship Type="http://schemas.openxmlformats.org/officeDocument/2006/relationships/slide" Target="/ppt/slides/slide12.xml" Id="R675f1e175b044cfa" /><Relationship Type="http://schemas.openxmlformats.org/officeDocument/2006/relationships/slide" Target="/ppt/slides/slide13.xml" Id="Rbf004268b6cf4be7" /><Relationship Type="http://schemas.openxmlformats.org/officeDocument/2006/relationships/slide" Target="/ppt/slides/slide14.xml" Id="R715d1b89862f4f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aca6e182e34c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53a9d9fa484ff8" /><Relationship Type="http://schemas.openxmlformats.org/officeDocument/2006/relationships/notesMaster" Target="/ppt/notesMasters/notesMaster1.xml" Id="Ra2101eb2916b4a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99f127d7d54d7f" /><Relationship Type="http://schemas.openxmlformats.org/officeDocument/2006/relationships/notesMaster" Target="/ppt/notesMasters/notesMaster1.xml" Id="R58011047addc42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c7aef632404794" /><Relationship Type="http://schemas.openxmlformats.org/officeDocument/2006/relationships/notesMaster" Target="/ppt/notesMasters/notesMaster1.xml" Id="R4ec6edf1b3c444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7dc2a71c1e41f6" /><Relationship Type="http://schemas.openxmlformats.org/officeDocument/2006/relationships/notesMaster" Target="/ppt/notesMasters/notesMaster1.xml" Id="R5b3c2dc9f13c41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234fc64c8f43f5" /><Relationship Type="http://schemas.openxmlformats.org/officeDocument/2006/relationships/notesMaster" Target="/ppt/notesMasters/notesMaster1.xml" Id="Rd7a15b55dcd641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d2580c45fd41a2" /><Relationship Type="http://schemas.openxmlformats.org/officeDocument/2006/relationships/notesMaster" Target="/ppt/notesMasters/notesMaster1.xml" Id="R439ddb982bfe42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4764f044b04b1e" /><Relationship Type="http://schemas.openxmlformats.org/officeDocument/2006/relationships/notesMaster" Target="/ppt/notesMasters/notesMaster1.xml" Id="Rc4017b4ad52a40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42fcc2e6744955" /><Relationship Type="http://schemas.openxmlformats.org/officeDocument/2006/relationships/notesMaster" Target="/ppt/notesMasters/notesMaster1.xml" Id="R2ccaa2ed4d1141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e035bcd00a4bc4" /><Relationship Type="http://schemas.openxmlformats.org/officeDocument/2006/relationships/notesMaster" Target="/ppt/notesMasters/notesMaster1.xml" Id="R4106e1105bfe4a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1dc1129855464c" /><Relationship Type="http://schemas.openxmlformats.org/officeDocument/2006/relationships/notesMaster" Target="/ppt/notesMasters/notesMaster1.xml" Id="R3ae973e487d34a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3c789069e744df" /><Relationship Type="http://schemas.openxmlformats.org/officeDocument/2006/relationships/notesMaster" Target="/ppt/notesMasters/notesMaster1.xml" Id="R8e20af5b759647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d23a3004414a2c" /><Relationship Type="http://schemas.openxmlformats.org/officeDocument/2006/relationships/notesMaster" Target="/ppt/notesMasters/notesMaster1.xml" Id="Re93c1f6ddfc944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7d8d69df0d432f" /><Relationship Type="http://schemas.openxmlformats.org/officeDocument/2006/relationships/notesMaster" Target="/ppt/notesMasters/notesMaster1.xml" Id="R44506e019bbe4c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da2f00850e4e54" /><Relationship Type="http://schemas.openxmlformats.org/officeDocument/2006/relationships/notesMaster" Target="/ppt/notesMasters/notesMaster1.xml" Id="Ra1ac626721214f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{"assessment":[["Data model and runtime rules","The draft separates authored inputs from computed results and defines placement, adjustment, query and bake behavior."],["Group alignment","Input and declaration rules have agreement. Detailed conventions and identities await review."],["Prototype limitations","Lighting directions lack an error bound. Rotation uncertainty is unquantified. A quoted CRS name causes false rejection."],["Verification coverage","Selected workflows and distinguishing controls support the rules. Broader composition and continuous space/time coverage remain unverified."]],"placement":[["Physical orientation","One heading/pitch/roll tuple describes physical attitude against local east, north and up. Projection effects stay computed."],["Project adjustments","The directly bound model's own xformOps adjust its placed result in a fixed project chart, including ordinary pivots."],["Child objects","Child transforms define model-local geometry. Their offsets follow model axes and the geospatial attitude."],["Repeated models","Each instance offset retains its instancer-local meaning. Independent prototype placement participates once. A required unavailable inverse fails."],["Geographic scene results","Geographic queries retain longitude/latitude/height. Cartesian geometry and bounds use the datum's Earth-centred frame."]],"data":[["Native data associations","Declare the asset, field and coordinate domain. Preserve named dimensions and observation times."],["WKT string normalization","Normalize lexical spelling without losing represented information. Equal tokens establish serialized identity."],["Semantic CRS comparison","Different normalized texts can represent equivalent CRSs. Comparison names its criteria and domain."],["Dependency declaration","Profiles records complete publication coverage, including unloaded and retained variant content. Fixed v1 identities remain proposed."],["Baked coordinate context","Retain a Cartesian CRS and double-precision origin without an active source placement binding. Ordinary USD controls subsequent transforms."]]}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Can a reader distinguish the model's shape from its location on Earth?</a:t>
            </a:r>
          </a:p>
          <a:p xmlns:a="http://schemas.openxmlformats.org/drawingml/2006/main">
            <a:r>
              <a:t>Proposed rule: The source records model geometry separately from its absolute origin and physical attitude. WKT supplies the coordinate meaning. Ordinary USD operations express intentional scaling and pivots.</a:t>
            </a:r>
          </a:p>
          <a:p xmlns:a="http://schemas.openxmlformats.org/drawingml/2006/main">
            <a:r>
              <a:t>Expected behavior: A reader can place the model without treating longitude or latitude as a distance or adding computed results to the source schema.</a:t>
            </a:r>
          </a:p>
          <a:p xmlns:a="http://schemas.openxmlformats.org/drawingml/2006/main">
            <a:r>
              <a:t>Observed result: The source stores position and one heading/pitch/roll tuple. Readers compute the physical pose, coordinate results and projection effects without writing them back.</a:t>
            </a:r>
          </a:p>
          <a:p xmlns:a="http://schemas.openxmlformats.org/drawingml/2006/main">
            <a:r>
              <a:t>What this says about the proposal: Inputs-only authoring gives the reader one authority for each meaning. Source position and the heading/pitch/roll tuple are agreed; detailed pose conventions remain proposed.</a:t>
            </a:r>
          </a:p>
          <a:p xmlns:a="http://schemas.openxmlformats.org/drawingml/2006/main">
            <a:r>
              <a:t>Limit: The illustrated position is an example, not a surveyed Eiffel location. No crs:scale is proposed.</a:t>
            </a:r>
          </a:p>
          <a:p xmlns:a="http://schemas.openxmlformats.org/drawingml/2006/main">
            <a:r>
              <a:t>Proposal clause: #### Authored properties at proposal/proposal-source.txt:1588</a:t>
            </a:r>
          </a:p>
          <a:p xmlns:a="http://schemas.openxmlformats.org/drawingml/2006/main">
            <a:r>
              <a:t>Requirements: 9, 10, 12, 14,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Does changing coordinate systems preserve physical placement?</a:t>
            </a:r>
          </a:p>
          <a:p xmlns:a="http://schemas.openxmlformats.org/drawingml/2006/main">
            <a:r>
              <a:t>Proposed rule: A CRS conversion expresses the same physical location in different coordinates. The reader derives map convergence and local scale from the authoritative WKT and position.</a:t>
            </a:r>
          </a:p>
          <a:p xmlns:a="http://schemas.openxmlformats.org/drawingml/2006/main">
            <a:r>
              <a:t>Expected behavior: The coordinate numbers and units can change while the tower stays at the same physical place.</a:t>
            </a:r>
          </a:p>
          <a:p xmlns:a="http://schemas.openxmlformats.org/drawingml/2006/main">
            <a:r>
              <a:t>Observed result: Longitude, latitude and height become map coordinates. The physical site stays the same, while grid north and local scale can differ.</a:t>
            </a:r>
          </a:p>
          <a:p xmlns:a="http://schemas.openxmlformats.org/drawingml/2006/main">
            <a:r>
              <a:t>What this says about the proposal: A new coordinate representation has a defined physical meaning. The France and Colorado numerical controls test conversion separately from this illustration.</a:t>
            </a:r>
          </a:p>
          <a:p xmlns:a="http://schemas.openxmlformats.org/drawingml/2006/main">
            <a:r>
              <a:t>Limit: It explains the rule and does not verify surveyed Paris placement.</a:t>
            </a:r>
          </a:p>
          <a:p xmlns:a="http://schemas.openxmlformats.org/drawingml/2006/main">
            <a:r>
              <a:t>Proposal clause: ### Source placement evaluation and transform order at proposal/proposal-source.txt:1916</a:t>
            </a:r>
          </a:p>
          <a:p xmlns:a="http://schemas.openxmlformats.org/drawingml/2006/main">
            <a:r>
              <a:t>Requirements: 9, 12, 13, 16, 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In which coordinates do an author's scale, rotation and translation operate?</a:t>
            </a:r>
          </a:p>
          <a:p xmlns:a="http://schemas.openxmlformats.org/drawingml/2006/main">
            <a:r>
              <a:t>Proposed rule: Child transforms define the model's local geometry. Geospatial position and attitude place that geometry. The directly bound model's own xformOps then adjust the placed result in a fixed project chart, before conversion to the requested output.</a:t>
            </a:r>
          </a:p>
          <a:p xmlns:a="http://schemas.openxmlformats.org/drawingml/2006/main">
            <a:r>
              <a:t>Expected behavior: Changing the requested output CRS preserves the same physical adjustment. Child offsets continue to follow the model axes.</a:t>
            </a:r>
          </a:p>
          <a:p xmlns:a="http://schemas.openxmlformats.org/drawingml/2006/main">
            <a:r>
              <a:t>Observed result: The illustration scales by 1.15, rotates 20° and moves 120 m east and 60 m south. It shows adjustments on the directly bound model.</a:t>
            </a:r>
          </a:p>
          <a:p xmlns:a="http://schemas.openxmlformats.org/drawingml/2006/main">
            <a:r>
              <a:t>What this says about the proposal: The draft distinguishes project adjustments from model-local child offsets. A numerical control separates those interpretations by 4.222 m.</a:t>
            </a:r>
          </a:p>
          <a:p xmlns:a="http://schemas.openxmlformats.org/drawingml/2006/main">
            <a:r>
              <a:t>Limit: The chart and reset conventions remain proposed. Ordinary pivots follow the authored USD stack.</a:t>
            </a:r>
          </a:p>
          <a:p xmlns:a="http://schemas.openxmlformats.org/drawingml/2006/main">
            <a:r>
              <a:t>Proposal clause: #### Evaluation at proposal/proposal-source.txt:2016</a:t>
            </a:r>
          </a:p>
          <a:p xmlns:a="http://schemas.openxmlformats.org/drawingml/2006/main">
            <a:r>
              <a:t>Requirements: 9, 14, 15, 17, 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Can separate implementations derive the same coordinates from the proposed inputs and rules?</a:t>
            </a:r>
          </a:p>
          <a:p xmlns:a="http://schemas.openxmlformats.org/drawingml/2006/main">
            <a:r>
              <a:t>Proposed rule: Both readers use the composed source inputs and declared output CRS. Results include declared units and meaningful physical comparison.</a:t>
            </a:r>
          </a:p>
          <a:p xmlns:a="http://schemas.openxmlformats.org/drawingml/2006/main">
            <a:r>
              <a:t>Expected behavior: Python and C++ resolve the same partner points within the recorded comparison tolerance.</a:t>
            </a:r>
          </a:p>
          <a:p xmlns:a="http://schemas.openxmlformats.org/drawingml/2006/main">
            <a:r>
              <a:t>Observed result: The readers compare 213,243 coordinate results. The maximum measured physical difference is 3.39e-08 m.</a:t>
            </a:r>
          </a:p>
          <a:p xmlns:a="http://schemas.openxmlformats.org/drawingml/2006/main">
            <a:r>
              <a:t>What this says about the proposal: These cases support reproducible interpretation of the proposed behavior. Agreement alone cannot establish all rules or all input layouts.</a:t>
            </a:r>
          </a:p>
          <a:p xmlns:a="http://schemas.openxmlformats.org/drawingml/2006/main">
            <a:r>
              <a:t>Limit: Both readers use PROJ and share native dataset decoding. Agreement does not establish independent geodetic validation.</a:t>
            </a:r>
          </a:p>
          <a:p xmlns:a="http://schemas.openxmlformats.org/drawingml/2006/main">
            <a:r>
              <a:t>Proposal clause: ### Extent and result comparison at proposal/proposal-source.txt:2197</a:t>
            </a:r>
          </a:p>
          <a:p xmlns:a="http://schemas.openxmlformats.org/drawingml/2006/main">
            <a:r>
              <a:t>Requirements: 4, 13, 16, 17, 18, 28, 29</a:t>
            </a:r>
          </a:p>
          <a:p xmlns:a="http://schemas.openxmlformats.org/drawingml/2006/main">
            <a:r>
              <a:t>Tables show one recorded point per dataset in declared units, rounded to six decimals. [{"name":"France_01","label":"France: CC49 to Lambert-93","unit":"m","python":[661101.1094171533,6857834.256535667,37.297999998112694],"cpp":[661101.1094171533,6857834.256535667,37.298000000906654]},{"name":"Colorado_02","label":"Colorado: State Plane to site grid","unit":"US survey ft","python":[3108871.450100667,1206317.4694031866,5484.677949332321],"cpp":[3108871.450100667,1206317.469403112,5484.677949268161]}]</a:t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Can a renderer use the result without implementing geospatial evaluation?</a:t>
            </a:r>
          </a:p>
          <a:p xmlns:a="http://schemas.openxmlformats.org/drawingml/2006/main">
            <a:r>
              <a:t>Proposed rule: An explicit bake resolves georeferencing into ordinary geometry and xformOps in a derived copy. A Cartesian coordinate context preserves location without an active source placement binding.</a:t>
            </a:r>
          </a:p>
          <a:p xmlns:a="http://schemas.openxmlformats.org/drawingml/2006/main">
            <a:r>
              <a:t>Expected behavior: An ordinary USD renderer displays the derived copy. The source scene retains its authored inputs.</a:t>
            </a:r>
          </a:p>
          <a:p xmlns:a="http://schemas.openxmlformats.org/drawingml/2006/main">
            <a:r>
              <a:t>Observed result: Native Hydra/Storm renders the C++-resolved Eiffel bake. A double-precision origin keeps local geometry small.</a:t>
            </a:r>
          </a:p>
          <a:p xmlns:a="http://schemas.openxmlformats.org/drawingml/2006/main">
            <a:r>
              <a:t>What this says about the proposal: The visualization path uses ordinary USD geometry. Reassembly controls confirm that a parent translation and an authored reset keep their USD meaning.</a:t>
            </a:r>
          </a:p>
          <a:p xmlns:a="http://schemas.openxmlformats.org/drawingml/2006/main">
            <a:r>
              <a:t>Limit: Ground context is illustrative. The image does not establish surveyed placement or surface-normal accuracy.</a:t>
            </a:r>
          </a:p>
          <a:p xmlns:a="http://schemas.openxmlformats.org/drawingml/2006/main">
            <a:r>
              <a:t>Proposal clause: ### Explicit export and sampling at proposal/proposal-source.txt:2254</a:t>
            </a:r>
          </a:p>
          <a:p xmlns:a="http://schemas.openxmlformats.org/drawingml/2006/main">
            <a:r>
              <a:t>Requirements: 17, 19, 23, 25, 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Can a native measurement dataset remain usable without rewriting values or guessing coordinate meaning?</a:t>
            </a:r>
          </a:p>
          <a:p xmlns:a="http://schemas.openxmlformats.org/drawingml/2006/main">
            <a:r>
              <a:t>Proposed rule: The scene identifies the native asset, field and coordinate domain. Resolution preserves the pairing of values, locations, missing-data masks and observation times.</a:t>
            </a:r>
          </a:p>
          <a:p xmlns:a="http://schemas.openxmlformats.org/drawingml/2006/main">
            <a:r>
              <a:t>Expected behavior: A measurement stays the same whether its location is returned geographically or in Earth-centred Cartesian coordinates.</a:t>
            </a:r>
          </a:p>
          <a:p xmlns:a="http://schemas.openxmlformats.org/drawingml/2006/main">
            <a:r>
              <a:t>Observed result: The global field returns geographic and Earth-centred positions for 154 samples, preserving native values and two observation times.</a:t>
            </a:r>
          </a:p>
          <a:p xmlns:a="http://schemas.openxmlformats.org/drawingml/2006/main">
            <a:r>
              <a:t>What this says about the proposal: The same data model supports global analytics as well as rendering. Named-dimension controls check the value/location association separately.</a:t>
            </a:r>
          </a:p>
          <a:p xmlns:a="http://schemas.openxmlformats.org/drawingml/2006/main">
            <a:r>
              <a:t>Limit: Synthetic temperatures in kelvin. Both readers share decoding, so their agreement alone cannot verify the association.</a:t>
            </a:r>
          </a:p>
          <a:p xmlns:a="http://schemas.openxmlformats.org/drawingml/2006/main">
            <a:r>
              <a:t>Proposal clause: ### External measurement association at proposal/proposal-source.txt:1689</a:t>
            </a:r>
          </a:p>
          <a:p xmlns:a="http://schemas.openxmlformats.org/drawingml/2006/main">
            <a:r>
              <a:t>Requirements: 8, 12, 18, 19, 21,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{"assessment":[["Data model and runtime rules","The draft separates authored inputs from computed results and defines placement, adjustment, query and bake behavior."],["Group alignment","Input and declaration rules have agreement. Detailed conventions and identities await review."],["Prototype limitations","Lighting directions lack an error bound. Rotation uncertainty is unquantified. A quoted CRS name causes false rejection."],["Verification coverage","Selected workflows and distinguishing controls support the rules. Broader composition and continuous space/time coverage remain unverified."]],"placement":[["Physical orientation","One heading/pitch/roll tuple describes physical attitude against local east, north and up. Projection effects stay computed."],["Project adjustments","The directly bound model's own xformOps adjust its placed result in a fixed project chart, including ordinary pivots."],["Child objects","Child transforms define model-local geometry. Their offsets follow model axes and the geospatial attitude."],["Repeated models","Each instance offset retains its instancer-local meaning. Independent prototype placement participates once. A required unavailable inverse fails."],["Geographic scene results","Geographic queries retain longitude/latitude/height. Cartesian geometry and bounds use the datum's Earth-centred frame."]],"data":[["Native data associations","Declare the asset, field and coordinate domain. Preserve named dimensions and observation times."],["WKT string normalization","Normalize lexical spelling without losing represented information. Equal tokens establish serialized identity."],["Semantic CRS comparison","Different normalized texts can represent equivalent CRSs. Comparison names its criteria and domain."],["Dependency declaration","Profiles records complete publication coverage, including unloaded and retained variant content. Fixed v1 identities remain proposed."],["Baked coordinate context","Retain a Cartesian CRS and double-precision origin without an active source placement binding. Ordinary USD controls subsequent transforms."]]}</a:t>
            </a:r>
          </a:p>
          <a:p xmlns:a="http://schemas.openxmlformats.org/drawingml/2006/main">
            <a:r>
              <a:t>[["Normal transport","Confirmed prototype defect: one large projected face differs by 1.24 degrees across its domain. Centroid sampling has no justified domain/error bound. The source already requires a faithful derivative or covered approximation."],["Near-half-turn numerics","The proposed failure rule is clear. The prototype's 64-epsilon guard lacks a demonstrated rotational uncertainty bound and a quantified native diagnostic."],["WKT quoted text","Confirmed shared prototype defect: a valid CRS name containing COORDINATEMETADATA is mistaken for a deferred epoch wrapper. Capability detection must use WKT structure, not quoted text."],["Publisher coverage","Retained-variant and unloaded-payload controls pass, including detection of a stale empty claim. This is not a production validator for every composition or variant combination."],["Consumer coverage","Python and C++ share PROJ and external-data decoding. Omniverse reuses Python. General material/primvar baking, physics and nonlinear continuous space/time certificates remain unverified or visibly unsupported."]]</a:t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Can a project's local survey grid participate as a defined CRS?</a:t>
            </a:r>
          </a:p>
          <a:p xmlns:a="http://schemas.openxmlformats.org/drawingml/2006/main">
            <a:r>
              <a:t>Proposed rule: The source WKT describes how a calibrated site grid relates to a broader CRS, including its units and height meaning.</a:t>
            </a:r>
          </a:p>
          <a:p xmlns:a="http://schemas.openxmlformats.org/drawingml/2006/main">
            <a:r>
              <a:t>Expected behavior: Partner survey lines resolve into the site grid without redefining the model units or up direction.</a:t>
            </a:r>
          </a:p>
          <a:p xmlns:a="http://schemas.openxmlformats.org/drawingml/2006/main">
            <a:r>
              <a:t>Observed result: The original LandXML survey breaklines resolve and reach an ordinary USD bake rendered by Storm.</a:t>
            </a:r>
          </a:p>
          <a:p xmlns:a="http://schemas.openxmlformats.org/drawingml/2006/main">
            <a:r>
              <a:t>What this says about the proposal: The partner case exercises a site's calibrated CRS. Its WKT-carried calibration participates in resolution.</a:t>
            </a:r>
          </a:p>
          <a:p xmlns:a="http://schemas.openxmlformats.org/drawingml/2006/main">
            <a:r>
              <a:t>Limit: The survey-line image does not establish independent survey accuracy or a continuous terrain-surface certificate.</a:t>
            </a:r>
          </a:p>
          <a:p xmlns:a="http://schemas.openxmlformats.org/drawingml/2006/main">
            <a:r>
              <a:t>Proposal clause: #### Decision on question 7: site calibration at proposal/proposal-source.txt:1344</a:t>
            </a:r>
          </a:p>
          <a:p xmlns:a="http://schemas.openxmlformats.org/drawingml/2006/main">
            <a:r>
              <a:t>Requirements: 4, 14, 15,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Can incomplete source metadata still support a useful, explicitly horizontal workflow?</a:t>
            </a:r>
          </a:p>
          <a:p xmlns:a="http://schemas.openxmlformats.org/drawingml/2006/main">
            <a:r>
              <a:t>Proposed rule: The reader resolves a declared horizontal association and preserves uninterpreted third components. It does not invent a height reference.</a:t>
            </a:r>
          </a:p>
          <a:p xmlns:a="http://schemas.openxmlformats.org/drawingml/2006/main">
            <a:r>
              <a:t>Expected behavior: The horizontal railway copy resolves into UTM 32 while the original GeoJSON remains unchanged.</a:t>
            </a:r>
          </a:p>
          <a:p xmlns:a="http://schemas.openxmlformats.org/drawingml/2006/main">
            <a:r>
              <a:t>Observed result: The horizontal copy resolves 15,822 vertices across 2,386 parts. The plot uses offsets only for display.</a:t>
            </a:r>
          </a:p>
          <a:p xmlns:a="http://schemas.openxmlformats.org/drawingml/2006/main">
            <a:r>
              <a:t>What this says about the proposal: The draft supports horizontal resolution without inventing a height reference. The original third components remain uninterpreted.</a:t>
            </a:r>
          </a:p>
          <a:p xmlns:a="http://schemas.openxmlformats.org/drawingml/2006/main">
            <a:r>
              <a:t>Limit: Horizontal coordinates only. The original third components remain uninterpreted and supply no physical 3D distance.</a:t>
            </a:r>
          </a:p>
          <a:p xmlns:a="http://schemas.openxmlformats.org/drawingml/2006/main">
            <a:r>
              <a:t>Proposal clause: ### External measurement association at proposal/proposal-source.txt:1689</a:t>
            </a:r>
          </a:p>
          <a:p xmlns:a="http://schemas.openxmlformats.org/drawingml/2006/main">
            <a:r>
              <a:t>Requirements: 8, 12, 19, 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Does the proposal define the result between authored moments?</a:t>
            </a:r>
          </a:p>
          <a:p xmlns:a="http://schemas.openxmlformats.org/drawingml/2006/main">
            <a:r>
              <a:t>Proposed rule: Interpolate the authored source position first, then convert coordinates. Physical orientation uses composed heading/pitch/roll samples and shortest-arc pose interpolation.</a:t>
            </a:r>
          </a:p>
          <a:p xmlns:a="http://schemas.openxmlformats.org/drawingml/2006/main">
            <a:r>
              <a:t>Expected behavior: The midpoint follows the source-defined path. An ambiguous half-turn requires an intermediate authored pose for interior-time evaluation.</a:t>
            </a:r>
          </a:p>
          <a:p xmlns:a="http://schemas.openxmlformats.org/drawingml/2006/main">
            <a:r>
              <a:t>Observed result: Equatorial longitude changes from 0° to 2°. Interpolating converted endpoints misses the source-first midpoint by 971.421 m.</a:t>
            </a:r>
          </a:p>
          <a:p xmlns:a="http://schemas.openxmlformats.org/drawingml/2006/main">
            <a:r>
              <a:t>What this says about the proposal: The order is testable. Sample keys alone cannot certify the original trajectory between samples.</a:t>
            </a:r>
          </a:p>
          <a:p xmlns:a="http://schemas.openxmlformats.org/drawingml/2006/main">
            <a:r>
              <a:t>Limit: The bake preserves time codes 0, 5 and 10 at 48 time codes per second. Continuous trajectory coverage remains unverified.</a:t>
            </a:r>
          </a:p>
          <a:p xmlns:a="http://schemas.openxmlformats.org/drawingml/2006/main">
            <a:r>
              <a:t>Proposal clause: #### Evaluation at proposal/proposal-source.txt:2016</a:t>
            </a:r>
          </a:p>
          <a:p xmlns:a="http://schemas.openxmlformats.org/drawingml/2006/main">
            <a:r>
              <a:t>Requirements: 20, 29</a:t>
            </a:r>
          </a:p>
          <a:p xmlns:a="http://schemas.openxmlformats.org/drawingml/2006/main">
            <a:r>
              <a:t>Chart uses the recorded t=0, 5, 10 coordinates. Six-decimal workbook snapshot values, whole-metre display labels. The bar is a negative control, not a measured failure of the source-first reader. Equatorial longitude changes from 0° to 2°. Interpolating converted endpoints misses the source-first midpoint by 971.421 m.</a:t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{"assessment":[["Data model and runtime rules","The draft separates authored inputs from computed results and defines placement, adjustment, query and bake behavior."],["Group alignment","Input and declaration rules have agreement. Detailed conventions and identities await review."],["Prototype limitations","Lighting directions lack an error bound. Rotation uncertainty is unquantified. A quoted CRS name causes false rejection."],["Verification coverage","Selected workflows and distinguishing controls support the rules. Broader composition and continuous space/time coverage remain unverified."]],"placement":[["Physical orientation","One heading/pitch/roll tuple describes physical attitude against local east, north and up. Projection effects stay computed."],["Project adjustments","The directly bound model's own xformOps adjust its placed result in a fixed project chart, including ordinary pivots."],["Child objects","Child transforms define model-local geometry. Their offsets follow model axes and the geospatial attitude."],["Repeated models","Each instance offset retains its instancer-local meaning. Independent prototype placement participates once. A required unavailable inverse fails."],["Geographic scene results","Geographic queries retain longitude/latitude/height. Cartesian geometry and bounds use the datum's Earth-centred frame."]],"data":[["Native data associations","Declare the asset, field and coordinate domain. Preserve named dimensions and observation times."],["WKT string normalization","Normalize lexical spelling without losing represented information. Equal tokens establish serialized identity."],["Semantic CRS comparison","Different normalized texts can represent equivalent CRSs. Comparison names its criteria and domain."],["Dependency declaration","Profiles records complete publication coverage, including unloaded and retained variant content. Fixed v1 identities remain proposed."],["Baked coordinate context","Retain a Cartesian CRS and double-precision origin without an active source placement binding. Ordinary USD controls subsequent transforms."]]}</a:t>
            </a:r>
          </a:p>
          <a:p xmlns:a="http://schemas.openxmlformats.org/drawingml/2006/main">
            <a:r>
              <a:t>[["Physical orientation","One heading/pitch/roll tuple describes physical attitude against local east, north and up. Projection effects stay computed."],["Project adjustments","The directly bound model's own xformOps adjust its placed result in a fixed project chart, including ordinary pivots."],["Child objects","Child transforms define model-local geometry. Their offsets follow model axes and the geospatial attitude."],["Repeated models","Each instance offset retains its instancer-local meaning. Independent prototype placement participates once. A required unavailable inverse fails."],["Geographic scene results","Geographic queries retain longitude/latitude/height. Cartesian geometry and bounds use the datum's Earth-centred frame."]]</a:t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{"assessment":[["Data model and runtime rules","The draft separates authored inputs from computed results and defines placement, adjustment, query and bake behavior."],["Group alignment","Input and declaration rules have agreement. Detailed conventions and identities await review."],["Prototype limitations","Lighting directions lack an error bound. Rotation uncertainty is unquantified. A quoted CRS name causes false rejection."],["Verification coverage","Selected workflows and distinguishing controls support the rules. Broader composition and continuous space/time coverage remain unverified."]],"placement":[["Physical orientation","One heading/pitch/roll tuple describes physical attitude against local east, north and up. Projection effects stay computed."],["Project adjustments","The directly bound model's own xformOps adjust its placed result in a fixed project chart, including ordinary pivots."],["Child objects","Child transforms define model-local geometry. Their offsets follow model axes and the geospatial attitude."],["Repeated models","Each instance offset retains its instancer-local meaning. Independent prototype placement participates once. A required unavailable inverse fails."],["Geographic scene results","Geographic queries retain longitude/latitude/height. Cartesian geometry and bounds use the datum's Earth-centred frame."]],"data":[["Native data associations","Declare the asset, field and coordinate domain. Preserve named dimensions and observation times."],["WKT string normalization","Normalize lexical spelling without losing represented information. Equal tokens establish serialized identity."],["Semantic CRS comparison","Different normalized texts can represent equivalent CRSs. Comparison names its criteria and domain."],["Dependency declaration","Profiles records complete publication coverage, including unloaded and retained variant content. Fixed v1 identities remain proposed."],["Baked coordinate context","Retain a Cartesian CRS and double-precision origin without an active source placement binding. Ordinary USD controls subsequent transforms."]]}</a:t>
            </a:r>
          </a:p>
          <a:p xmlns:a="http://schemas.openxmlformats.org/drawingml/2006/main">
            <a:r>
              <a:t>[["Native data associations","Declare the asset, field and coordinate domain. Preserve named dimensions and observation times."],["WKT string normalization","Normalize lexical spelling without losing represented information. Equal tokens establish serialized identity."],["Semantic CRS comparison","Different normalized texts can represent equivalent CRSs. Comparison names its criteria and domain."],["Dependency declaration","Profiles records complete publication coverage, including unloaded and retained variant content. Fixed v1 identities remain proposed."],["Baked coordinate context","Retain a Cartesian CRS and double-precision origin without an active source placement binding. Ordinary USD controls subsequent transforms."]]</a:t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{"assessment":[["Data model and runtime rules","The draft separates authored inputs from computed results and defines placement, adjustment, query and bake behavior."],["Group alignment","Input and declaration rules have agreement. Detailed conventions and identities await review."],["Prototype limitations","Lighting directions lack an error bound. Rotation uncertainty is unquantified. A quoted CRS name causes false rejection."],["Verification coverage","Selected workflows and distinguishing controls support the rules. Broader composition and continuous space/time coverage remain unverified."]],"placement":[["Physical orientation","One heading/pitch/roll tuple describes physical attitude against local east, north and up. Projection effects stay computed."],["Project adjustments","The directly bound model's own xformOps adjust its placed result in a fixed project chart, including ordinary pivots."],["Child objects","Child transforms define model-local geometry. Their offsets follow model axes and the geospatial attitude."],["Repeated models","Each instance offset retains its instancer-local meaning. Independent prototype placement participates once. A required unavailable inverse fails."],["Geographic scene results","Geographic queries retain longitude/latitude/height. Cartesian geometry and bounds use the datum's Earth-centred frame."]],"data":[["Native data associations","Declare the asset, field and coordinate domain. Preserve named dimensions and observation times."],["WKT string normalization","Normalize lexical spelling without losing represented information. Equal tokens establish serialized identity."],["Semantic CRS comparison","Different normalized texts can represent equivalent CRSs. Comparison names its criteria and domain."],["Dependency declaration","Profiles records complete publication coverage, including unloaded and retained variant content. Fixed v1 identities remain proposed."],["Baked coordinate context","Retain a Cartesian CRS and double-precision origin without an active source placement binding. Ordinary USD controls subsequent transforms."]]}</a:t>
            </a:r>
          </a:p>
          <a:p xmlns:a="http://schemas.openxmlformats.org/drawingml/2006/main">
            <a:r>
              <a:t>[["Python and C++ readers","213,243 coordinate results per reader. Maximum measured difference 3.39e-08 m. Shared PROJ and decoding."],["Omniverse stage geometry","Reuses Python placement. Readback covers 177,872 vertices and 48 edit, failure and recovery checks across 39 jobs."],["Hydra / Storm","Two selected ordinary USD bakes reach native rendering using C++-resolved placements."],["Recorded tests","116 contract tests and 65 distinguishing controls pass. Separate diagnostics expose the reported prototype limits."],["Source preservation","Original inputs and 48 frozen execution files remain unchanged. The immutable receipt identifies exact executed content."],["Bake readbacks","11 selected exports checked. No general material/primvar, physics or continuous trajectory conformance is claimed."]]</a:t>
            </a:r>
          </a:p>
          <a:p xmlns:a="http://schemas.openxmlformats.org/drawingml/2006/main">
            <a:r>
              <a:t>Proposal da2f49aad42811fc5d660c7bcf9ff190599f2d74 SHA-256 2613649fd06516d77339d73b56432e84613dd1925e739761efea738f41b4f0a4</a:t>
            </a:r>
          </a:p>
          <a:p xmlns:a="http://schemas.openxmlformats.org/drawingml/2006/main">
            <a:r>
              <a:t>README SHA-256 f97eb66b4642d85817c1bface96cc358cea536a8a8104a439f22a2715af103d5</a:t>
            </a:r>
          </a:p>
          <a:p xmlns:a="http://schemas.openxmlformats.org/drawingml/2006/main">
            <a:r>
              <a:t>Immutable receipt SHA-256 ad59ead3c86c780b6d79a243a23032e492c14809f0c01f575397ae221939068f</a:t>
            </a:r>
          </a:p>
          <a:p xmlns:a="http://schemas.openxmlformats.org/drawingml/2006/main">
            <a:r>
              <a:t>Eiffel mesh: SDC PERFORMANCE, https://sketchfab.com/3d-models/free-la-tour-eiffel-8553f94d06e24cb4b0fde1080f281674, CC BY 4.0 https://creativecommons.org/licenses/by/4.0/ . Informative positions and ground context do not establish surveyed placement.</a:t>
            </a:r>
          </a:p>
          <a:p xmlns:a="http://schemas.openxmlformats.org/drawingml/2006/main">
            <a:r>
              <a:t>Accepted source and declaration rules are distinguished from detailed conventions and identities awaiting review. Python and C++ share PROJ and decoding. Omniverse reuses Python. Hydra consumes a resolved ordinary USD bake.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c93faa4ce49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d4e435ef84b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7b35bce014f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bbd0624c94d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77c776ba242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0a67bf3a84a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0AC5D3-9C97-4890-A84B-63B6523E39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74225E-70BD-434B-93C7-6BE012BDE7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815F44-81BC-40E4-A600-462971652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05F309-2D97-49E7-B31C-0020415A5C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14E0B4-1840-4BF6-BFE2-1FBC9617EF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B1183B-6FBC-472E-8520-708D0186B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73622A-047C-497B-B5D2-497EB766C8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6CF98F-C49D-4E28-9F61-0811C29296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3F2BE3-00F1-44DF-ACBC-ACD4B7BDF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05DE4A-E378-407C-ABE3-25241FC325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d08dd2bcb1405f" /><Relationship Type="http://schemas.openxmlformats.org/officeDocument/2006/relationships/slideLayout" Target="/ppt/slideLayouts/slideLayout1.xml" Id="R87b7fd6dd1f94ff7" /><Relationship Type="http://schemas.openxmlformats.org/officeDocument/2006/relationships/slideLayout" Target="/ppt/slideLayouts/slideLayout2.xml" Id="Re7154fb901144cf8" /><Relationship Type="http://schemas.openxmlformats.org/officeDocument/2006/relationships/slideLayout" Target="/ppt/slideLayouts/slideLayout3.xml" Id="R0ae1a6e7c51b43e2" /><Relationship Type="http://schemas.openxmlformats.org/officeDocument/2006/relationships/slideLayout" Target="/ppt/slideLayouts/slideLayout4.xml" Id="Rad93a27509c34cd5" /><Relationship Type="http://schemas.openxmlformats.org/officeDocument/2006/relationships/slideLayout" Target="/ppt/slideLayouts/slideLayout5.xml" Id="R24ee76392df941e8" /><Relationship Type="http://schemas.openxmlformats.org/officeDocument/2006/relationships/slideLayout" Target="/ppt/slideLayouts/slideLayout6.xml" Id="R9d1b6cdbfcfc4d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b7fd6dd1f94ff7"/>
    <p:sldLayoutId xmlns:r="http://schemas.openxmlformats.org/officeDocument/2006/relationships" id="2147483650" r:id="Re7154fb901144cf8"/>
    <p:sldLayoutId xmlns:r="http://schemas.openxmlformats.org/officeDocument/2006/relationships" id="2147483651" r:id="R0ae1a6e7c51b43e2"/>
    <p:sldLayoutId xmlns:r="http://schemas.openxmlformats.org/officeDocument/2006/relationships" id="2147483652" r:id="Rad93a27509c34cd5"/>
    <p:sldLayoutId xmlns:r="http://schemas.openxmlformats.org/officeDocument/2006/relationships" id="2147483653" r:id="R24ee76392df941e8"/>
    <p:sldLayoutId xmlns:r="http://schemas.openxmlformats.org/officeDocument/2006/relationships" id="2147483654" r:id="R9d1b6cdbfcfc4d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42b8d74d140e5" /><Relationship Type="http://schemas.openxmlformats.org/officeDocument/2006/relationships/notesSlide" Target="/ppt/notesSlides/notesSlide1.xml" Id="R5b5e7302a91e49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7cc2d75bf4250" /><Relationship Type="http://schemas.openxmlformats.org/officeDocument/2006/relationships/notesSlide" Target="/ppt/notesSlides/notesSlide2.xml" Id="R08e23946798a42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8100ab5454852" /><Relationship Type="http://schemas.openxmlformats.org/officeDocument/2006/relationships/image" Target="/ppt/media/image.png" Id="R5d40dfcef7ba4a49" /><Relationship Type="http://schemas.openxmlformats.org/officeDocument/2006/relationships/notesSlide" Target="/ppt/notesSlides/notesSlide3.xml" Id="R5316ebfa7f3149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15942187174927" /><Relationship Type="http://schemas.openxmlformats.org/officeDocument/2006/relationships/image" Target="/ppt/media/image2.png" Id="R06f13d1dff514f79" /><Relationship Type="http://schemas.openxmlformats.org/officeDocument/2006/relationships/notesSlide" Target="/ppt/notesSlides/notesSlide4.xml" Id="R6f29805c8c5f4c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5914b111848f1" /><Relationship Type="http://schemas.openxmlformats.org/officeDocument/2006/relationships/notesSlide" Target="/ppt/notesSlides/notesSlide5.xml" Id="R7323afec6d104d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e118f19b34adc" /><Relationship Type="http://schemas.openxmlformats.org/officeDocument/2006/relationships/image" Target="/ppt/media/image3.png" Id="R72e8dd37bfaa45d2" /><Relationship Type="http://schemas.openxmlformats.org/officeDocument/2006/relationships/notesSlide" Target="/ppt/notesSlides/notesSlide6.xml" Id="R133b96318a9440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cefd1605024ada" /><Relationship Type="http://schemas.openxmlformats.org/officeDocument/2006/relationships/image" Target="/ppt/media/image4.png" Id="Rce131b0a78ec4c5a" /><Relationship Type="http://schemas.openxmlformats.org/officeDocument/2006/relationships/notesSlide" Target="/ppt/notesSlides/notesSlide7.xml" Id="Rae8e377d21b543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e223940ee42cb" /><Relationship Type="http://schemas.openxmlformats.org/officeDocument/2006/relationships/notesSlide" Target="/ppt/notesSlides/notesSlide8.xml" Id="Re7ef06b0da0f41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c1b0f4aa54e4a" /><Relationship Type="http://schemas.openxmlformats.org/officeDocument/2006/relationships/image" Target="/ppt/media/image5.png" Id="R696969b9b1d7439a" /><Relationship Type="http://schemas.openxmlformats.org/officeDocument/2006/relationships/notesSlide" Target="/ppt/notesSlides/notesSlide9.xml" Id="R4b29b95a431141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08f6fcf2f476b" /><Relationship Type="http://schemas.openxmlformats.org/officeDocument/2006/relationships/image" Target="/ppt/media/image6.png" Id="Rbb2905966eed44b9" /><Relationship Type="http://schemas.openxmlformats.org/officeDocument/2006/relationships/notesSlide" Target="/ppt/notesSlides/notesSlide10.xml" Id="Rccdc4d8c062644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71822a75b49ee" /><Relationship Type="http://schemas.openxmlformats.org/officeDocument/2006/relationships/chart" Target="/ppt/slides/charts/chart1.xml" Id="R093850bba7d14aa5" /><Relationship Type="http://schemas.openxmlformats.org/officeDocument/2006/relationships/notesSlide" Target="/ppt/notesSlides/notesSlide11.xml" Id="R218b337cea694c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257ef77a94ecf" /><Relationship Type="http://schemas.openxmlformats.org/officeDocument/2006/relationships/notesSlide" Target="/ppt/notesSlides/notesSlide12.xml" Id="R84e564d5eae64c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81307787054943" /><Relationship Type="http://schemas.openxmlformats.org/officeDocument/2006/relationships/notesSlide" Target="/ppt/notesSlides/notesSlide13.xml" Id="Rf231a936af3f41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e179e645d4eb3" /><Relationship Type="http://schemas.openxmlformats.org/officeDocument/2006/relationships/notesSlide" Target="/ppt/notesSlides/notesSlide14.xml" Id="R18ee523f62d446a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Error from interpolating converted endpoints</c:v>
          </c:tx>
          <c:spPr>
            <a:solidFill xmlns:a="http://schemas.openxmlformats.org/drawingml/2006/main">
              <a:srgbClr val="A25D20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5</c:v>
                </c:pt>
                <c:pt idx="2">
                  <c:v>10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</c:v>
                </c:pt>
                <c:pt idx="1">
                  <c:v>971.421158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2137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213744"/>
                    </a:solidFill>
                    <a:latin typeface="Arial"/>
                    <a:ea typeface="Arial"/>
                    <a:cs typeface="Arial"/>
                  </a:rPr>
                  <a:t>USD sample time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1374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1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213744"/>
                    </a:solidFill>
                    <a:latin typeface="Arial"/>
                    <a:ea typeface="Arial"/>
                    <a:cs typeface="Arial"/>
                  </a:rPr>
                  <a:t>Distance from source-first result (m)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1374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0D17F-808C-4451-B949-4BB06DFB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Geospatial proposal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014A7-A5E4-487C-B85B-193E7DF9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USD describes a 3D model's shape and size. Geospatial information says where it belongs on Earth, so models, surveys and measurements can work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E33B8-6594-4AA9-8D2B-1BB4BC51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72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0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7C87"/>
                </a:solidFill>
                <a:latin typeface="Arial"/>
                <a:ea typeface="Arial"/>
                <a:cs typeface="Arial"/>
              </a:rPr>
              <a:t>Proposal quality means that another implementer can derive the inputs, evaluation order and observable outcomes without guessing. The full draft specifies those rules for the workflows shown 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2666B-ED8F-4171-968B-F0734695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Selected demonstrations support the proposed behavior. Detailed conventions still need group review, and three prototype limitations remain. This evidence does not establish exhaustive completeness or independent geodetic accuracy.</a:t>
            </a:r>
          </a:p>
        </p:txBody>
      </p:sp>
    </p:spTree>
    <p:extLst>
      <p:ext uri="{BB962C8B-B14F-4D97-AF65-F5344CB8AC3E}">
        <p14:creationId xmlns:p14="http://schemas.microsoft.com/office/powerpoint/2010/main" val="2100642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62EBF-86D1-461E-845E-766AC92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A geographic location for a 3D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66CE3-F485-4981-9427-653B21AE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Can a reader distinguish the model's shape from its location on Earth?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9BCFA-108D-4D3C-B92F-3A1D4F35676D}"/>
              </a:ext>
            </a:extLst>
          </p:cNvPr>
          <p:cNvGraphicFramePr/>
          <p:nvPr/>
        </p:nvGraphicFramePr>
        <p:xfrm>
          <a:off xmlns:a="http://schemas.openxmlformats.org/drawingml/2006/main" x="609600" y="2419350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343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information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Plain meaning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</a:tr>
              <a:tr h="6343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Model geometry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Shape and local distances, with declared units and up direction. In USD: points, metersPerUnit and upAxis.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Coordinate reference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A CRS binding refers to WKT, the standard text description of the location's axes, units and height meaning.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Geographic origin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crs:position locates the model origin. The illustrative example uses longitude 2.2945°, latitude 48.8584° and ellipsoidal height 80 m.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Physical orientation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crs:orientation records heading, pitch and roll in degrees: which way the model faces and tilts against local east, north and up.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02E76-AD85-475E-BE5A-0E9F798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7C87"/>
                </a:solidFill>
                <a:latin typeface="Arial"/>
                <a:ea typeface="Arial"/>
                <a:cs typeface="Arial"/>
              </a:rPr>
              <a:t>A reader can place the model without treating longitude or latitude as a distance or adding computed results to the source schema.</a:t>
            </a:r>
          </a:p>
        </p:txBody>
      </p:sp>
    </p:spTree>
    <p:extLst>
      <p:ext uri="{BB962C8B-B14F-4D97-AF65-F5344CB8AC3E}">
        <p14:creationId xmlns:p14="http://schemas.microsoft.com/office/powerpoint/2010/main" val="4187934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A9758-A673-47E7-9054-AE43FA4A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One physical place, different coordinates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94932-34D2-4D3E-8E31-692EC3E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Does changing coordinate systems preserve physical placement?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F5315-CE04-4EE0-9AB8-48A0D1FE9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0dfcef7ba4a49"/>
          <a:srcRect xmlns:a="http://schemas.openxmlformats.org/drawingml/2006/main" l="0" t="8974" r="0" b="33333"/>
          <a:stretch xmlns:a="http://schemas.openxmlformats.org/drawingml/2006/main"/>
        </p:blipFill>
        <p:spPr>
          <a:xfrm xmlns:a="http://schemas.openxmlformats.org/drawingml/2006/main">
            <a:off x="609600" y="2381250"/>
            <a:ext cx="7258050" cy="40862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FDC51-546D-41E5-95CD-1D76B84D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BDD50-E9CD-4807-BCDD-10758823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33432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Longitude, latitude and height become map coordinates. The physical site stays the same, while grid north and local scale can differ.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8DBE3-D7E6-45FA-8975-69B8C59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343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What it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35F64-E0FF-4626-BC67-E6601430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33432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A new coordinate representation has a defined physical meaning. The France and Colorado numerical controls test conversion separately from this illustration.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A9AA7-B881-4BD5-BFFB-63AC10D7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58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Informative illustration. Limits in the notes and README.</a:t>
            </a:r>
          </a:p>
        </p:txBody>
      </p:sp>
    </p:spTree>
    <p:extLst>
      <p:ext uri="{BB962C8B-B14F-4D97-AF65-F5344CB8AC3E}">
        <p14:creationId xmlns:p14="http://schemas.microsoft.com/office/powerpoint/2010/main" val="1437884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C29F6-6DAE-4CF9-8AEF-A6579736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Ordinary model adjustments after 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1E4A8-1BC3-4991-8088-1785B32F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In which coordinates do an author's scale, rotation and translation operate?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72C8F-C62D-4BBD-8A14-6579E6F16B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13d1dff514f79"/>
          <a:srcRect xmlns:a="http://schemas.openxmlformats.org/drawingml/2006/main" l="0" t="8974" r="0" b="33333"/>
          <a:stretch xmlns:a="http://schemas.openxmlformats.org/drawingml/2006/main"/>
        </p:blipFill>
        <p:spPr>
          <a:xfrm xmlns:a="http://schemas.openxmlformats.org/drawingml/2006/main">
            <a:off x="609600" y="2381250"/>
            <a:ext cx="7258050" cy="40862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25AA8-6511-4430-B817-A3E443D1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C664C-E461-4731-92E0-62370CF2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33432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The illustration scales by 1.15, rotates 20° and moves 120 m east and 60 m south. It shows adjustments on the directly bound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EAB3B-2642-4440-B776-C5F5CC71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343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What it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9DA61-5C26-4503-AFB9-543E9F72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33432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The draft distinguishes project adjustments from model-local child offsets. A numerical control separates those interpretations by 4.222 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69F74-096C-4971-94F7-1D6B7F0F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58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Informative illustration. Limits in the notes and README.</a:t>
            </a:r>
          </a:p>
        </p:txBody>
      </p:sp>
    </p:spTree>
    <p:extLst>
      <p:ext uri="{BB962C8B-B14F-4D97-AF65-F5344CB8AC3E}">
        <p14:creationId xmlns:p14="http://schemas.microsoft.com/office/powerpoint/2010/main" val="252688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EF2DB-179A-4FB8-BF45-30B4468E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The same rules in two placement readers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FB91F-0614-412F-967F-D7C27EDB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Can separate implementations derive the same coordinates from the proposed inputs and rules?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F5164-009F-4392-8B3D-DECCBBCD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France: CC49 to Lambert-93, metres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C4F64-843E-4DE2-A77D-69BDA46D82E5}"/>
              </a:ext>
            </a:extLst>
          </p:cNvPr>
          <p:cNvGraphicFramePr/>
          <p:nvPr/>
        </p:nvGraphicFramePr>
        <p:xfrm>
          <a:off xmlns:a="http://schemas.openxmlformats.org/drawingml/2006/main" x="609600" y="2733675"/>
          <a:ext xmlns:a="http://schemas.openxmlformats.org/drawingml/2006/main" cx="10972800" cy="1352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3810000"/>
                <a:gridCol w="3810000"/>
              </a:tblGrid>
              <a:tr h="338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Resolved component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Python reader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C++ reader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</a:tr>
              <a:tr h="338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Map east coordinate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661,101.109417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661,101.109417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Map north coordinate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6,857,834.256536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6,857,834.256536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Height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37.298000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37.298000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11E57-A9D5-408D-8B35-9A868920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Colorado: State Plane to site grid, US survey feet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08FA4-F2F2-47FD-860B-548B124721C5}"/>
              </a:ext>
            </a:extLst>
          </p:cNvPr>
          <p:cNvGraphicFramePr/>
          <p:nvPr/>
        </p:nvGraphicFramePr>
        <p:xfrm>
          <a:off xmlns:a="http://schemas.openxmlformats.org/drawingml/2006/main" x="609600" y="4667250"/>
          <a:ext xmlns:a="http://schemas.openxmlformats.org/drawingml/2006/main" cx="10972800" cy="1352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3810000"/>
                <a:gridCol w="3810000"/>
              </a:tblGrid>
              <a:tr h="338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Resolved component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Python reader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C++ reader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</a:tr>
              <a:tr h="338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Map east coordinate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3,108,871.450101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3,108,871.450101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Map north coordinate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1,206,317.469403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1,206,317.469403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Height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5,484.677949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5,484.677949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073C2-EDD9-4680-98D2-95059724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Both readers use PROJ and share native dataset decoding.</a:t>
            </a:r>
          </a:p>
        </p:txBody>
      </p:sp>
    </p:spTree>
    <p:extLst>
      <p:ext uri="{BB962C8B-B14F-4D97-AF65-F5344CB8AC3E}">
        <p14:creationId xmlns:p14="http://schemas.microsoft.com/office/powerpoint/2010/main" val="1569226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C22E2-CFC5-4C08-A60E-3FC37518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Ordinary USD geometry for rendering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FA4DB-C75F-4157-A0F6-84FBD362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Can a renderer use the result without implementing geospatial evaluation?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102AE-847E-4C6B-A02E-1ED454DEA7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8dd37bfaa45d2"/>
          <a:stretch xmlns:a="http://schemas.openxmlformats.org/drawingml/2006/main"/>
        </p:blipFill>
        <p:spPr>
          <a:xfrm xmlns:a="http://schemas.openxmlformats.org/drawingml/2006/main">
            <a:off x="609600" y="2383036"/>
            <a:ext cx="7258050" cy="40826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D9E11-50E2-4F2D-A4D2-3FFCAF48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3510E-9496-4850-B6F6-F8886BD5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33432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Native Hydra/Storm renders the C++-resolved Eiffel bake. A double-precision origin keeps local geometry small.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1E020-9404-4562-ACA4-9FEEA9C3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343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What it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A09EA-D4B0-4331-9CA8-4277A771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33432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The visualization path uses ordinary USD geometry. Reassembly controls confirm that a parent translation and an authored reset keep their USD meaning.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7507B-B629-4ABA-949E-874A4D99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58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Recorded native render. Limits in the notes and README.</a:t>
            </a:r>
          </a:p>
        </p:txBody>
      </p:sp>
    </p:spTree>
    <p:extLst>
      <p:ext uri="{BB962C8B-B14F-4D97-AF65-F5344CB8AC3E}">
        <p14:creationId xmlns:p14="http://schemas.microsoft.com/office/powerpoint/2010/main" val="134240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393C5-CF2A-43AC-879A-C346606F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Measurements stay paired with their locations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21F8E-7D85-456E-B154-E922E0DC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25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Can a native measurement dataset remain usable without rewriting values or guessing coordinate meaning?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FC6C9-7247-4E3A-9E39-8B79A52E65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31b0a78ec4c5a"/>
          <a:stretch xmlns:a="http://schemas.openxmlformats.org/drawingml/2006/main"/>
        </p:blipFill>
        <p:spPr>
          <a:xfrm xmlns:a="http://schemas.openxmlformats.org/drawingml/2006/main">
            <a:off x="2637234" y="2371725"/>
            <a:ext cx="6917531" cy="3162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38111-B572-4E3B-BD84-9D8E1D0D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7C87"/>
                </a:solidFill>
                <a:latin typeface="Arial"/>
                <a:ea typeface="Arial"/>
                <a:cs typeface="Arial"/>
              </a:rPr>
              <a:t>The global field returns geographic and Earth-centred positions for 154 samples, preserving native values and two observation times.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23578-CE4A-49DC-AD8D-A469E6DC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Synthetic temperatures in kelvin. Both readers share decoding, so their agreement alone cannot verify the association.</a:t>
            </a:r>
          </a:p>
        </p:txBody>
      </p:sp>
    </p:spTree>
    <p:extLst>
      <p:ext uri="{BB962C8B-B14F-4D97-AF65-F5344CB8AC3E}">
        <p14:creationId xmlns:p14="http://schemas.microsoft.com/office/powerpoint/2010/main" val="230914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E377D-B5F5-4F34-86D5-7A2297E8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Proposal quality and its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DD70B-7863-4322-B4A7-22DDC8F0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25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Selected demonstrations support the proposed behavior.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D2639-337E-44B1-A2C6-9C2F5B1AA6B8}"/>
              </a:ext>
            </a:extLst>
          </p:cNvPr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dimension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Assessment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Data model and runtime rules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The draft separates authored inputs from computed results and defines placement, adjustment, query and bake behavior.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Group alignment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Input and declaration rules have agreement. Detailed conventions and identities await review.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Prototype limitations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Lighting directions lack an error bound. Rotation uncertainty is unquantified. A quoted CRS name causes false rejection.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Verification coverage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Selected workflows and distinguishing controls support the rules. Broader composition and continuous space/time coverage remain unverified.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4C8E4-72A0-4F69-8E12-0C8C341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A25D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25D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25D20"/>
                </a:solidFill>
                <a:latin typeface="Arial"/>
                <a:ea typeface="Arial"/>
                <a:cs typeface="Arial"/>
              </a:rPr>
              <a:t>No additional undefined model rule was confirmed in the inspected paths. That is a bounded finding.</a:t>
            </a:r>
          </a:p>
        </p:txBody>
      </p:sp>
    </p:spTree>
    <p:extLst>
      <p:ext uri="{BB962C8B-B14F-4D97-AF65-F5344CB8AC3E}">
        <p14:creationId xmlns:p14="http://schemas.microsoft.com/office/powerpoint/2010/main" val="1631378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A4BDE-39A7-4A7E-9F17-3BBDA3B3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Appendix: A construction site's own survey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FD8E7-BC03-4305-9349-33F8118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Can a project's local survey grid participate as a defined CRS?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E53A4-771F-4D41-B9EC-EA9491CD87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969b9b1d7439a"/>
          <a:stretch xmlns:a="http://schemas.openxmlformats.org/drawingml/2006/main"/>
        </p:blipFill>
        <p:spPr>
          <a:xfrm xmlns:a="http://schemas.openxmlformats.org/drawingml/2006/main">
            <a:off x="609600" y="2383036"/>
            <a:ext cx="7258050" cy="40826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5D8F5-BA8E-4524-9FCC-5AF1E63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6E619-5F16-4378-A1D8-48A5196A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33432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The original LandXML survey breaklines resolve and reach an ordinary USD bake rendered by Storm.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651E1-1730-46EE-BF9E-74444D83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343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What it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DB236-C074-473E-A844-A495603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33432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The partner case exercises a site's calibrated CRS. Its WKT-carried calibration participates in resolution.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B2CB4-DC18-4C4E-91CF-0DD6DF41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58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Recorded native render. Limits in the notes and README.</a:t>
            </a:r>
          </a:p>
        </p:txBody>
      </p:sp>
    </p:spTree>
    <p:extLst>
      <p:ext uri="{BB962C8B-B14F-4D97-AF65-F5344CB8AC3E}">
        <p14:creationId xmlns:p14="http://schemas.microsoft.com/office/powerpoint/2010/main" val="16618516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76D8E-A85E-4F52-AC53-923385F5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Appendix: Horizontal railway 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C9E3B-290C-4CA9-BC9D-D4A0A45A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Can incomplete source metadata still support a useful, explicitly horizontal workflow?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13B4D-105C-4242-994C-09327999E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905966eed44b9"/>
          <a:stretch xmlns:a="http://schemas.openxmlformats.org/drawingml/2006/main"/>
        </p:blipFill>
        <p:spPr>
          <a:xfrm xmlns:a="http://schemas.openxmlformats.org/drawingml/2006/main">
            <a:off x="609600" y="2558007"/>
            <a:ext cx="7258050" cy="373271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A8B49-0766-4D9D-9D09-CBFECEDB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B633F-E476-4BD4-B266-688F5DC6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33432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The horizontal copy resolves 15,822 vertices across 2,386 parts. The plot uses offsets only for display.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A3976-653D-4106-9FDE-E4F147EF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343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What it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5F3E6-9A6C-449E-A59F-AB0B2993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33432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The draft supports horizontal resolution without inventing a height reference. The original third components remain uninterpreted.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233D1-9E15-41E8-8B0C-7786A3A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58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Plot of recorded resolved geometry. Limits in the notes and README.</a:t>
            </a:r>
          </a:p>
        </p:txBody>
      </p:sp>
    </p:spTree>
    <p:extLst>
      <p:ext uri="{BB962C8B-B14F-4D97-AF65-F5344CB8AC3E}">
        <p14:creationId xmlns:p14="http://schemas.microsoft.com/office/powerpoint/2010/main" val="8741425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C4C2F-2E3B-452E-9D65-77DA5CC2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Appendix: Animation evaluation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D26BD-BB78-4F80-8FE3-05DE9A2E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7C8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7C87"/>
                </a:solidFill>
                <a:latin typeface="Arial"/>
                <a:ea typeface="Arial"/>
                <a:cs typeface="Arial"/>
              </a:rPr>
              <a:t>Interpolate the authored source position first, then convert coordinates.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52E9E-7D84-4367-9C70-C271CB7E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Equatorial longitude changes from 0° to 2°. Interpolating converted endpoints misses the source-first midpoint by 971.421 m.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F0960DD-604D-4BBE-A6D6-612732239C26}"/>
              </a:ext>
            </a:extLst>
          </p:cNvPr>
          <p:cNvGraphicFramePr/>
          <p:nvPr/>
        </p:nvGraphicFramePr>
        <p:xfrm>
          <a:off xmlns:a="http://schemas.openxmlformats.org/drawingml/2006/main" x="428625" y="2524125"/>
          <a:ext xmlns:a="http://schemas.openxmlformats.org/drawingml/2006/main" cx="7200900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3850bba7d14aa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78D98-B65F-4041-9BC9-06A2553B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3486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2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Why the order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90856-B246-49D4-9D61-8E75D735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67075"/>
            <a:ext cx="34861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744"/>
                </a:solidFill>
                <a:latin typeface="Arial"/>
                <a:ea typeface="Arial"/>
                <a:cs typeface="Arial"/>
              </a:rPr>
              <a:t>The order is testable. Sample keys alone cannot certify the original trajectory between samples.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B1569-53D6-4087-B81B-B2E33DFF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43525"/>
            <a:ext cx="34861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The bake preserves time codes 0, 5 and 10 at 48 time codes per second. Continuous trajectory coverage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1794705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241F1-1808-4A9A-909D-FEDD16F5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Appendix: Placement conventions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57B85-6B9F-4646-8FCB-54B149EBFA88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57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91425"/>
              </a:tblGrid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meaning to review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Physical orientation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One heading/pitch/roll tuple describes physical attitude against local east, north and up. Projection effects stay computed.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Project adjustments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The directly bound model's own xformOps adjust its placed result in a fixed project chart, including ordinary pivots.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Child objects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Child transforms define model-local geometry. Their offsets follow model axes and the geospatial attitude.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Repeated models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Each instance offset retains its instancer-local meaning. Independent prototype placement participates once. A required unavailable inverse fails.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Geographic scene results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Geographic queries retain longitude/latitude/height. Cartesian geometry and bounds use the datum's Earth-centred frame.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DB3FB-20D6-4097-878C-33EC7ED2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A25D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25D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25D20"/>
                </a:solidFill>
                <a:latin typeface="Arial"/>
                <a:ea typeface="Arial"/>
                <a:cs typeface="Arial"/>
              </a:rPr>
              <a:t>These are proposed definitions in the full draft.</a:t>
            </a:r>
          </a:p>
        </p:txBody>
      </p:sp>
    </p:spTree>
    <p:extLst>
      <p:ext uri="{BB962C8B-B14F-4D97-AF65-F5344CB8AC3E}">
        <p14:creationId xmlns:p14="http://schemas.microsoft.com/office/powerpoint/2010/main" val="18153211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E37A7-7494-4BCD-A8DE-7F82A546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Appendix: Data and declaration conventions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2BDAA-4BE9-4E03-A8C7-0B2479E39887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57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91425"/>
              </a:tblGrid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meaning to review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Native data associations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Declare the asset, field and coordinate domain. Preserve named dimensions and observation times.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WKT string normalization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Normalize lexical spelling without losing represented information. Equal tokens establish serialized identity.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Semantic CRS comparison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Different normalized texts can represent equivalent CRSs. Comparison names its criteria and domain.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Dependency declaration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Profiles records complete publication coverage, including unloaded and retained variant content. Fixed v1 identities remain proposed.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Baked coordinate context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Retain a Cartesian CRS and double-precision origin without an active source placement binding. Ordinary USD controls subsequent transforms.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5A975-ABB4-43A4-9A96-ECC204B3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A25D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25D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25D20"/>
                </a:solidFill>
                <a:latin typeface="Arial"/>
                <a:ea typeface="Arial"/>
                <a:cs typeface="Arial"/>
              </a:rPr>
              <a:t>Coordinate epochs and scene-authored transformation-resource controls are deferred while preserving a path to future support.</a:t>
            </a:r>
          </a:p>
        </p:txBody>
      </p:sp>
    </p:spTree>
    <p:extLst>
      <p:ext uri="{BB962C8B-B14F-4D97-AF65-F5344CB8AC3E}">
        <p14:creationId xmlns:p14="http://schemas.microsoft.com/office/powerpoint/2010/main" val="15495651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D9875-C5AF-4193-916D-BB44F21F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7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744"/>
                </a:solidFill>
                <a:latin typeface="Arial"/>
                <a:ea typeface="Arial"/>
                <a:cs typeface="Arial"/>
              </a:rPr>
              <a:t>Appendix: Evidence and its limits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88FC7-72B0-4232-A16C-945EAD6C75E0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4371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62456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Path or check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evidence</a:t>
                      </a:r>
                    </a:p>
                  </a:txBody>
                  <a:tcPr marL="95250" marR="95250" marT="38100" marB="38100">
                    <a:solidFill>
                      <a:srgbClr val="213744"/>
                    </a:solidFill>
                  </a:tcPr>
                </a:tc>
              </a:tr>
              <a:tr h="62456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Python and C++ readers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213,243 coordinate results per reader. Maximum measured difference 3.39e-08 m. Shared PROJ and decoding.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62456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Omniverse stage geometry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Reuses Python placement. Readback covers 177,872 vertices and 48 edit, failure and recovery checks across 39 jobs.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62456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Hydra / Storm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Two selected ordinary USD bakes reach native rendering using C++-resolved placements.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62456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Recorded tests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116 contract tests and 65 distinguishing controls pass. Separate diagnostics expose the reported prototype limits.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62456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Source preservation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Original inputs and 48 frozen execution files remain unchanged. The immutable receipt identifies exact executed content.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  <a:tr h="62456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Bake readbacks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Arial"/>
                          <a:ea typeface="Arial"/>
                          <a:cs typeface="Arial"/>
                        </a:rPr>
                        <a:t>11 selected exports checked. No general material/primvar, physics or continuous trajectory conformance is claimed.</a:t>
                      </a:r>
                    </a:p>
                  </a:txBody>
                  <a:tcPr marL="95250" marR="9525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A559A-92E5-4D78-A00A-88CE65BF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9"/>
                </a:solidFill>
                <a:latin typeface="Arial"/>
                <a:ea typeface="Arial"/>
                <a:cs typeface="Arial"/>
              </a:rPr>
              <a:t>There are two placement readers. Omniverse reuses Python with a verified stage geometry sink. Hydra consumes a C++-resolved ordinary USD bake.</a:t>
            </a:r>
          </a:p>
        </p:txBody>
      </p:sp>
    </p:spTree>
    <p:extLst>
      <p:ext uri="{BB962C8B-B14F-4D97-AF65-F5344CB8AC3E}">
        <p14:creationId xmlns:p14="http://schemas.microsoft.com/office/powerpoint/2010/main" val="1772005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2026-10-12T11:41:25.2440000Z</dcterms:created>
  <dcterms:modified xsi:type="dcterms:W3CDTF">2026-10-12T11:41:25.2440000Z</dcterms:modified>
</coreProperties>
</file>