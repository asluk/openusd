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d961e5d58b04496" /><Relationship Type="http://schemas.openxmlformats.org/officeDocument/2006/relationships/extended-properties" Target="/docProps/app.xml" Id="Rf62cc060ab184701" /><Relationship Type="http://schemas.openxmlformats.org/officeDocument/2006/relationships/officeDocument" Target="/ppt/presentation.xml" Id="Rd7aa72697259484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a9c9b49e7844aae"/>
  </p:sldMasterIdLst>
  <p:notesMasterIdLst>
    <p:notesMasterId xmlns:r="http://schemas.openxmlformats.org/officeDocument/2006/relationships" r:id="R8f2f26abd1134ea7"/>
  </p:notesMasterIdLst>
  <p:sldIdLst>
    <p:sldId xmlns:r="http://schemas.openxmlformats.org/officeDocument/2006/relationships" id="256" r:id="R3f8c324f15444381"/>
    <p:sldId xmlns:r="http://schemas.openxmlformats.org/officeDocument/2006/relationships" id="257" r:id="Rf7f279fa977b4f9a"/>
    <p:sldId xmlns:r="http://schemas.openxmlformats.org/officeDocument/2006/relationships" id="258" r:id="R19a4c575fdac4dfe"/>
    <p:sldId xmlns:r="http://schemas.openxmlformats.org/officeDocument/2006/relationships" id="259" r:id="R8849873a68f845bd"/>
    <p:sldId xmlns:r="http://schemas.openxmlformats.org/officeDocument/2006/relationships" id="260" r:id="R5e9a00e1a4c4495f"/>
    <p:sldId xmlns:r="http://schemas.openxmlformats.org/officeDocument/2006/relationships" id="261" r:id="R7e754cbd976f442c"/>
    <p:sldId xmlns:r="http://schemas.openxmlformats.org/officeDocument/2006/relationships" id="262" r:id="R8a4da9c791624fd0"/>
    <p:sldId xmlns:r="http://schemas.openxmlformats.org/officeDocument/2006/relationships" id="263" r:id="R93182e4830ef4dbe"/>
    <p:sldId xmlns:r="http://schemas.openxmlformats.org/officeDocument/2006/relationships" id="264" r:id="Re3b19bf37ed44496"/>
    <p:sldId xmlns:r="http://schemas.openxmlformats.org/officeDocument/2006/relationships" id="265" r:id="R545936b4151047f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bb6d2225bc74390" /><Relationship Type="http://schemas.openxmlformats.org/officeDocument/2006/relationships/slideMaster" Target="/ppt/slideMasters/slideMaster1.xml" Id="R8a9c9b49e7844aae" /><Relationship Type="http://schemas.openxmlformats.org/officeDocument/2006/relationships/notesMaster" Target="/ppt/notesMasters/notesMaster1.xml" Id="R8f2f26abd1134ea7" /><Relationship Type="http://schemas.openxmlformats.org/officeDocument/2006/relationships/presProps" Target="/ppt/presProps.xml" Id="R962c1b62d90f4d77" /><Relationship Type="http://schemas.openxmlformats.org/officeDocument/2006/relationships/tableStyles" Target="/ppt/tableStyles.xml" Id="R41ba49e8c7bc4624" /><Relationship Type="http://schemas.openxmlformats.org/officeDocument/2006/relationships/slide" Target="/ppt/slides/slide1.xml" Id="R3f8c324f15444381" /><Relationship Type="http://schemas.openxmlformats.org/officeDocument/2006/relationships/slide" Target="/ppt/slides/slide2.xml" Id="Rf7f279fa977b4f9a" /><Relationship Type="http://schemas.openxmlformats.org/officeDocument/2006/relationships/slide" Target="/ppt/slides/slide3.xml" Id="R19a4c575fdac4dfe" /><Relationship Type="http://schemas.openxmlformats.org/officeDocument/2006/relationships/slide" Target="/ppt/slides/slide4.xml" Id="R8849873a68f845bd" /><Relationship Type="http://schemas.openxmlformats.org/officeDocument/2006/relationships/slide" Target="/ppt/slides/slide5.xml" Id="R5e9a00e1a4c4495f" /><Relationship Type="http://schemas.openxmlformats.org/officeDocument/2006/relationships/slide" Target="/ppt/slides/slide6.xml" Id="R7e754cbd976f442c" /><Relationship Type="http://schemas.openxmlformats.org/officeDocument/2006/relationships/slide" Target="/ppt/slides/slide7.xml" Id="R8a4da9c791624fd0" /><Relationship Type="http://schemas.openxmlformats.org/officeDocument/2006/relationships/slide" Target="/ppt/slides/slide8.xml" Id="R93182e4830ef4dbe" /><Relationship Type="http://schemas.openxmlformats.org/officeDocument/2006/relationships/slide" Target="/ppt/slides/slide9.xml" Id="Re3b19bf37ed44496" /><Relationship Type="http://schemas.openxmlformats.org/officeDocument/2006/relationships/slide" Target="/ppt/slides/slide10.xml" Id="R545936b4151047f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32f24dec403488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6151a3ba81a4528" /><Relationship Type="http://schemas.openxmlformats.org/officeDocument/2006/relationships/notesMaster" Target="/ppt/notesMasters/notesMaster1.xml" Id="Rf212762356cb491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c72336c4e1c425a" /><Relationship Type="http://schemas.openxmlformats.org/officeDocument/2006/relationships/notesMaster" Target="/ppt/notesMasters/notesMaster1.xml" Id="R04418e05291948e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a2e8a434db74fe8" /><Relationship Type="http://schemas.openxmlformats.org/officeDocument/2006/relationships/notesMaster" Target="/ppt/notesMasters/notesMaster1.xml" Id="R6583d5297210493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924d7ad119e4154" /><Relationship Type="http://schemas.openxmlformats.org/officeDocument/2006/relationships/notesMaster" Target="/ppt/notesMasters/notesMaster1.xml" Id="Rcd8a7c969ab3438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6325ccb1bad4bbd" /><Relationship Type="http://schemas.openxmlformats.org/officeDocument/2006/relationships/notesMaster" Target="/ppt/notesMasters/notesMaster1.xml" Id="R6838310a0e11470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b3aab9c56b2491c" /><Relationship Type="http://schemas.openxmlformats.org/officeDocument/2006/relationships/notesMaster" Target="/ppt/notesMasters/notesMaster1.xml" Id="R57f220a9dceb4c5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e4d40d29d244eae" /><Relationship Type="http://schemas.openxmlformats.org/officeDocument/2006/relationships/notesMaster" Target="/ppt/notesMasters/notesMaster1.xml" Id="R2d1731d2543b42a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e54e9a24dcc4c66" /><Relationship Type="http://schemas.openxmlformats.org/officeDocument/2006/relationships/notesMaster" Target="/ppt/notesMasters/notesMaster1.xml" Id="R9b2b8f300ec14a4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0be51330db141f9" /><Relationship Type="http://schemas.openxmlformats.org/officeDocument/2006/relationships/notesMaster" Target="/ppt/notesMasters/notesMaster1.xml" Id="Rea09e7ef58284da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6c7adeb959a4a51" /><Relationship Type="http://schemas.openxmlformats.org/officeDocument/2006/relationships/notesMaster" Target="/ppt/notesMasters/notesMaster1.xml" Id="R7a2958da77a3463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README section: Proposal quality and review choices</a:t>
            </a:r>
          </a:p>
          <a:p xmlns:a="http://schemas.openxmlformats.org/drawingml/2006/main">
            <a:r>
              <a:t>README SHA-256: f471c007044418d39804cfdc39a84f82cd195d428bd6cd934455f544ff35ab11</a:t>
            </a:r>
          </a:p>
          <a:p xmlns:a="http://schemas.openxmlformats.org/drawingml/2006/main">
            <a:r>
              <a:t>Receipt SHA-256: f9694edf234e4a69cef58bb6ea0f5551b45f22c4f3a61501db1b27f513c44fed</a:t>
            </a:r>
          </a:p>
          <a:p xmlns:a="http://schemas.openxmlformats.org/drawingml/2006/main">
            <a:r>
              <a:t>Immutable execution receipt SHA-256: 3baf0e2c215e8ac2ea30fb41197242b663469cd51f31ba48dc9e6c0d7b76833c</a:t>
            </a:r>
          </a:p>
          <a:p xmlns:a="http://schemas.openxmlformats.org/drawingml/2006/main">
            <a:r>
              <a:t>Proposal SHA-256: 1727a552053cfdcdf202e2c84ad1209d1a898fe2eab2e322d51e9c7b4ad7c7c0</a:t>
            </a:r>
          </a:p>
          <a:p xmlns:a="http://schemas.openxmlformats.org/drawingml/2006/main">
            <a:r>
              <a:t>Integration evidence SHA-256: 0bcdb95aa92032522d31c919ae91894cece9557fbd0371cb3a66fdcdb8199fd1</a:t>
            </a:r>
          </a:p>
          <a:p xmlns:a="http://schemas.openxmlformats.org/drawingml/2006/main">
            <a:r>
              <a:t>Executed source parent: 5c116fd2dd5767d42d34083d616edf66723efe92; exact executed files frozen in receipt.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Local candidate, not group agreement or whole-requirement conformance. Two placement implementations; all use PROJ. OV reuses Python with a verified runtime geometry sink, without an OV render claim. Hydra uses a resolved ordinary-USD export from C++ results. Source data and measured limitations are documented in the README.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README section: Proposal quality and review choices</a:t>
            </a:r>
          </a:p>
          <a:p xmlns:a="http://schemas.openxmlformats.org/drawingml/2006/main">
            <a:r>
              <a:t>README SHA-256: f471c007044418d39804cfdc39a84f82cd195d428bd6cd934455f544ff35ab11</a:t>
            </a:r>
          </a:p>
          <a:p xmlns:a="http://schemas.openxmlformats.org/drawingml/2006/main">
            <a:r>
              <a:t>Receipt SHA-256: f9694edf234e4a69cef58bb6ea0f5551b45f22c4f3a61501db1b27f513c44fed</a:t>
            </a:r>
          </a:p>
          <a:p xmlns:a="http://schemas.openxmlformats.org/drawingml/2006/main">
            <a:r>
              <a:t>Immutable execution receipt SHA-256: 3baf0e2c215e8ac2ea30fb41197242b663469cd51f31ba48dc9e6c0d7b76833c</a:t>
            </a:r>
          </a:p>
          <a:p xmlns:a="http://schemas.openxmlformats.org/drawingml/2006/main">
            <a:r>
              <a:t>Proposal SHA-256: 1727a552053cfdcdf202e2c84ad1209d1a898fe2eab2e322d51e9c7b4ad7c7c0</a:t>
            </a:r>
          </a:p>
          <a:p xmlns:a="http://schemas.openxmlformats.org/drawingml/2006/main">
            <a:r>
              <a:t>Integration evidence SHA-256: 0bcdb95aa92032522d31c919ae91894cece9557fbd0371cb3a66fdcdb8199fd1</a:t>
            </a:r>
          </a:p>
          <a:p xmlns:a="http://schemas.openxmlformats.org/drawingml/2006/main">
            <a:r>
              <a:t>Executed source parent: 5c116fd2dd5767d42d34083d616edf66723efe92; exact executed files frozen in receipt.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Local candidate, not group agreement or whole-requirement conformance. Two placement implementations; all use PROJ. OV reuses Python with a verified runtime geometry sink, without an OV render claim. Hydra uses a resolved ordinary-USD export from C++ results. Source data and measured limitations are documented in the README.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README section: Ordered math and the descendant choice</a:t>
            </a:r>
          </a:p>
          <a:p xmlns:a="http://schemas.openxmlformats.org/drawingml/2006/main">
            <a:r>
              <a:t>README SHA-256: f471c007044418d39804cfdc39a84f82cd195d428bd6cd934455f544ff35ab11</a:t>
            </a:r>
          </a:p>
          <a:p xmlns:a="http://schemas.openxmlformats.org/drawingml/2006/main">
            <a:r>
              <a:t>Receipt SHA-256: f9694edf234e4a69cef58bb6ea0f5551b45f22c4f3a61501db1b27f513c44fed</a:t>
            </a:r>
          </a:p>
          <a:p xmlns:a="http://schemas.openxmlformats.org/drawingml/2006/main">
            <a:r>
              <a:t>Immutable execution receipt SHA-256: 3baf0e2c215e8ac2ea30fb41197242b663469cd51f31ba48dc9e6c0d7b76833c</a:t>
            </a:r>
          </a:p>
          <a:p xmlns:a="http://schemas.openxmlformats.org/drawingml/2006/main">
            <a:r>
              <a:t>Proposal SHA-256: 1727a552053cfdcdf202e2c84ad1209d1a898fe2eab2e322d51e9c7b4ad7c7c0</a:t>
            </a:r>
          </a:p>
          <a:p xmlns:a="http://schemas.openxmlformats.org/drawingml/2006/main">
            <a:r>
              <a:t>Integration evidence SHA-256: 0bcdb95aa92032522d31c919ae91894cece9557fbd0371cb3a66fdcdb8199fd1</a:t>
            </a:r>
          </a:p>
          <a:p xmlns:a="http://schemas.openxmlformats.org/drawingml/2006/main">
            <a:r>
              <a:t>Executed source parent: 5c116fd2dd5767d42d34083d616edf66723efe92; exact executed files frozen in receipt.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Local candidate, not group agreement or whole-requirement conformance. Two placement implementations; all use PROJ. OV reuses Python with a verified runtime geometry sink, without an OV render claim. Hydra uses a resolved ordinary-USD export from C++ results. Source data and measured limitations are documented in the README.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README section: Eiffel geometry and shading</a:t>
            </a:r>
          </a:p>
          <a:p xmlns:a="http://schemas.openxmlformats.org/drawingml/2006/main">
            <a:r>
              <a:t>README SHA-256: f471c007044418d39804cfdc39a84f82cd195d428bd6cd934455f544ff35ab11</a:t>
            </a:r>
          </a:p>
          <a:p xmlns:a="http://schemas.openxmlformats.org/drawingml/2006/main">
            <a:r>
              <a:t>Receipt SHA-256: f9694edf234e4a69cef58bb6ea0f5551b45f22c4f3a61501db1b27f513c44fed</a:t>
            </a:r>
          </a:p>
          <a:p xmlns:a="http://schemas.openxmlformats.org/drawingml/2006/main">
            <a:r>
              <a:t>Immutable execution receipt SHA-256: 3baf0e2c215e8ac2ea30fb41197242b663469cd51f31ba48dc9e6c0d7b76833c</a:t>
            </a:r>
          </a:p>
          <a:p xmlns:a="http://schemas.openxmlformats.org/drawingml/2006/main">
            <a:r>
              <a:t>Proposal SHA-256: 1727a552053cfdcdf202e2c84ad1209d1a898fe2eab2e322d51e9c7b4ad7c7c0</a:t>
            </a:r>
          </a:p>
          <a:p xmlns:a="http://schemas.openxmlformats.org/drawingml/2006/main">
            <a:r>
              <a:t>Integration evidence SHA-256: 0bcdb95aa92032522d31c919ae91894cece9557fbd0371cb3a66fdcdb8199fd1</a:t>
            </a:r>
          </a:p>
          <a:p xmlns:a="http://schemas.openxmlformats.org/drawingml/2006/main">
            <a:r>
              <a:t>Executed source parent: 5c116fd2dd5767d42d34083d616edf66723efe92; exact executed files frozen in receipt.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Local candidate, not group agreement or whole-requirement conformance. Two placement implementations; all use PROJ. OV reuses Python with a verified runtime geometry sink, without an OV render claim. Hydra uses a resolved ordinary-USD export from C++ results. Source data and measured limitations are documented in the README.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Eiffel mesh: ( FREE ) La tour Eiffel by SDC PERFORMANCE, https://sketchfab.com/3d-models/free-la-tour-eiffel-8553f94d06e24cb4b0fde1080f281674 ; CC BY 4.0, https://creativecommons.org/licenses/by/4.0/ . Reoriented, placed and rendered with illustrative context. Actual native Storm output from this frozen run.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README section: Colorado site calibration</a:t>
            </a:r>
          </a:p>
          <a:p xmlns:a="http://schemas.openxmlformats.org/drawingml/2006/main">
            <a:r>
              <a:t>README SHA-256: f471c007044418d39804cfdc39a84f82cd195d428bd6cd934455f544ff35ab11</a:t>
            </a:r>
          </a:p>
          <a:p xmlns:a="http://schemas.openxmlformats.org/drawingml/2006/main">
            <a:r>
              <a:t>Receipt SHA-256: f9694edf234e4a69cef58bb6ea0f5551b45f22c4f3a61501db1b27f513c44fed</a:t>
            </a:r>
          </a:p>
          <a:p xmlns:a="http://schemas.openxmlformats.org/drawingml/2006/main">
            <a:r>
              <a:t>Immutable execution receipt SHA-256: 3baf0e2c215e8ac2ea30fb41197242b663469cd51f31ba48dc9e6c0d7b76833c</a:t>
            </a:r>
          </a:p>
          <a:p xmlns:a="http://schemas.openxmlformats.org/drawingml/2006/main">
            <a:r>
              <a:t>Proposal SHA-256: 1727a552053cfdcdf202e2c84ad1209d1a898fe2eab2e322d51e9c7b4ad7c7c0</a:t>
            </a:r>
          </a:p>
          <a:p xmlns:a="http://schemas.openxmlformats.org/drawingml/2006/main">
            <a:r>
              <a:t>Integration evidence SHA-256: 0bcdb95aa92032522d31c919ae91894cece9557fbd0371cb3a66fdcdb8199fd1</a:t>
            </a:r>
          </a:p>
          <a:p xmlns:a="http://schemas.openxmlformats.org/drawingml/2006/main">
            <a:r>
              <a:t>Executed source parent: 5c116fd2dd5767d42d34083d616edf66723efe92; exact executed files frozen in receipt.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Local candidate, not group agreement or whole-requirement conformance. Two placement implementations; all use PROJ. OV reuses Python with a verified runtime geometry sink, without an OV render claim. Hydra uses a resolved ordinary-USD export from C++ results. Source data and measured limitations are documented in the README.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README section: Native measurements and larger-scale workflows</a:t>
            </a:r>
          </a:p>
          <a:p xmlns:a="http://schemas.openxmlformats.org/drawingml/2006/main">
            <a:r>
              <a:t>README SHA-256: f471c007044418d39804cfdc39a84f82cd195d428bd6cd934455f544ff35ab11</a:t>
            </a:r>
          </a:p>
          <a:p xmlns:a="http://schemas.openxmlformats.org/drawingml/2006/main">
            <a:r>
              <a:t>Receipt SHA-256: f9694edf234e4a69cef58bb6ea0f5551b45f22c4f3a61501db1b27f513c44fed</a:t>
            </a:r>
          </a:p>
          <a:p xmlns:a="http://schemas.openxmlformats.org/drawingml/2006/main">
            <a:r>
              <a:t>Immutable execution receipt SHA-256: 3baf0e2c215e8ac2ea30fb41197242b663469cd51f31ba48dc9e6c0d7b76833c</a:t>
            </a:r>
          </a:p>
          <a:p xmlns:a="http://schemas.openxmlformats.org/drawingml/2006/main">
            <a:r>
              <a:t>Proposal SHA-256: 1727a552053cfdcdf202e2c84ad1209d1a898fe2eab2e322d51e9c7b4ad7c7c0</a:t>
            </a:r>
          </a:p>
          <a:p xmlns:a="http://schemas.openxmlformats.org/drawingml/2006/main">
            <a:r>
              <a:t>Integration evidence SHA-256: 0bcdb95aa92032522d31c919ae91894cece9557fbd0371cb3a66fdcdb8199fd1</a:t>
            </a:r>
          </a:p>
          <a:p xmlns:a="http://schemas.openxmlformats.org/drawingml/2006/main">
            <a:r>
              <a:t>Executed source parent: 5c116fd2dd5767d42d34083d616edf66723efe92; exact executed files frozen in receipt.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Local candidate, not group agreement or whole-requirement conformance. Two placement implementations; all use PROJ. OV reuses Python with a verified runtime geometry sink, without an OV render claim. Hydra uses a resolved ordinary-USD export from C++ results. Source data and measured limitations are documented in the README.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README section: Native measurements and larger-scale workflows</a:t>
            </a:r>
          </a:p>
          <a:p xmlns:a="http://schemas.openxmlformats.org/drawingml/2006/main">
            <a:r>
              <a:t>README SHA-256: f471c007044418d39804cfdc39a84f82cd195d428bd6cd934455f544ff35ab11</a:t>
            </a:r>
          </a:p>
          <a:p xmlns:a="http://schemas.openxmlformats.org/drawingml/2006/main">
            <a:r>
              <a:t>Receipt SHA-256: f9694edf234e4a69cef58bb6ea0f5551b45f22c4f3a61501db1b27f513c44fed</a:t>
            </a:r>
          </a:p>
          <a:p xmlns:a="http://schemas.openxmlformats.org/drawingml/2006/main">
            <a:r>
              <a:t>Immutable execution receipt SHA-256: 3baf0e2c215e8ac2ea30fb41197242b663469cd51f31ba48dc9e6c0d7b76833c</a:t>
            </a:r>
          </a:p>
          <a:p xmlns:a="http://schemas.openxmlformats.org/drawingml/2006/main">
            <a:r>
              <a:t>Proposal SHA-256: 1727a552053cfdcdf202e2c84ad1209d1a898fe2eab2e322d51e9c7b4ad7c7c0</a:t>
            </a:r>
          </a:p>
          <a:p xmlns:a="http://schemas.openxmlformats.org/drawingml/2006/main">
            <a:r>
              <a:t>Integration evidence SHA-256: 0bcdb95aa92032522d31c919ae91894cece9557fbd0371cb3a66fdcdb8199fd1</a:t>
            </a:r>
          </a:p>
          <a:p xmlns:a="http://schemas.openxmlformats.org/drawingml/2006/main">
            <a:r>
              <a:t>Executed source parent: 5c116fd2dd5767d42d34083d616edf66723efe92; exact executed files frozen in receipt.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Local candidate, not group agreement or whole-requirement conformance. Two placement implementations; all use PROJ. OV reuses Python with a verified runtime geometry sink, without an OV render claim. Hydra uses a resolved ordinary-USD export from C++ results. Source data and measured limitations are documented in the README.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README section: Same partner data in both placements</a:t>
            </a:r>
          </a:p>
          <a:p xmlns:a="http://schemas.openxmlformats.org/drawingml/2006/main">
            <a:r>
              <a:t>README SHA-256: f471c007044418d39804cfdc39a84f82cd195d428bd6cd934455f544ff35ab11</a:t>
            </a:r>
          </a:p>
          <a:p xmlns:a="http://schemas.openxmlformats.org/drawingml/2006/main">
            <a:r>
              <a:t>Receipt SHA-256: f9694edf234e4a69cef58bb6ea0f5551b45f22c4f3a61501db1b27f513c44fed</a:t>
            </a:r>
          </a:p>
          <a:p xmlns:a="http://schemas.openxmlformats.org/drawingml/2006/main">
            <a:r>
              <a:t>Immutable execution receipt SHA-256: 3baf0e2c215e8ac2ea30fb41197242b663469cd51f31ba48dc9e6c0d7b76833c</a:t>
            </a:r>
          </a:p>
          <a:p xmlns:a="http://schemas.openxmlformats.org/drawingml/2006/main">
            <a:r>
              <a:t>Proposal SHA-256: 1727a552053cfdcdf202e2c84ad1209d1a898fe2eab2e322d51e9c7b4ad7c7c0</a:t>
            </a:r>
          </a:p>
          <a:p xmlns:a="http://schemas.openxmlformats.org/drawingml/2006/main">
            <a:r>
              <a:t>Integration evidence SHA-256: 0bcdb95aa92032522d31c919ae91894cece9557fbd0371cb3a66fdcdb8199fd1</a:t>
            </a:r>
          </a:p>
          <a:p xmlns:a="http://schemas.openxmlformats.org/drawingml/2006/main">
            <a:r>
              <a:t>Executed source parent: 5c116fd2dd5767d42d34083d616edf66723efe92; exact executed files frozen in receipt.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Local candidate, not group agreement or whole-requirement conformance. Two placement implementations; all use PROJ. OV reuses Python with a verified runtime geometry sink, without an OV render claim. Hydra uses a resolved ordinary-USD export from C++ results. Source data and measured limitations are documented in the README.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README section: Geographic scene charts and exports</a:t>
            </a:r>
          </a:p>
          <a:p xmlns:a="http://schemas.openxmlformats.org/drawingml/2006/main">
            <a:r>
              <a:t>README SHA-256: f471c007044418d39804cfdc39a84f82cd195d428bd6cd934455f544ff35ab11</a:t>
            </a:r>
          </a:p>
          <a:p xmlns:a="http://schemas.openxmlformats.org/drawingml/2006/main">
            <a:r>
              <a:t>Receipt SHA-256: f9694edf234e4a69cef58bb6ea0f5551b45f22c4f3a61501db1b27f513c44fed</a:t>
            </a:r>
          </a:p>
          <a:p xmlns:a="http://schemas.openxmlformats.org/drawingml/2006/main">
            <a:r>
              <a:t>Immutable execution receipt SHA-256: 3baf0e2c215e8ac2ea30fb41197242b663469cd51f31ba48dc9e6c0d7b76833c</a:t>
            </a:r>
          </a:p>
          <a:p xmlns:a="http://schemas.openxmlformats.org/drawingml/2006/main">
            <a:r>
              <a:t>Proposal SHA-256: 1727a552053cfdcdf202e2c84ad1209d1a898fe2eab2e322d51e9c7b4ad7c7c0</a:t>
            </a:r>
          </a:p>
          <a:p xmlns:a="http://schemas.openxmlformats.org/drawingml/2006/main">
            <a:r>
              <a:t>Integration evidence SHA-256: 0bcdb95aa92032522d31c919ae91894cece9557fbd0371cb3a66fdcdb8199fd1</a:t>
            </a:r>
          </a:p>
          <a:p xmlns:a="http://schemas.openxmlformats.org/drawingml/2006/main">
            <a:r>
              <a:t>Executed source parent: 5c116fd2dd5767d42d34083d616edf66723efe92; exact executed files frozen in receipt.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Local candidate, not group agreement or whole-requirement conformance. Two placement implementations; all use PROJ. OV reuses Python with a verified runtime geometry sink, without an OV render claim. Hydra uses a resolved ordinary-USD export from C++ results. Source data and measured limitations are documented in the README.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curve is a 61-point analytic visualization guide. Dots are the three actual resolved sample positions verified in fresh geometry exports. Source longitude goes from 0 to 2 degrees. Chart offset is for presentation only. Literal chart snapshots round plotted values to six decimals; underlying results remain unchanged.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README section: Consumer evidence and limits</a:t>
            </a:r>
          </a:p>
          <a:p xmlns:a="http://schemas.openxmlformats.org/drawingml/2006/main">
            <a:r>
              <a:t>README SHA-256: f471c007044418d39804cfdc39a84f82cd195d428bd6cd934455f544ff35ab11</a:t>
            </a:r>
          </a:p>
          <a:p xmlns:a="http://schemas.openxmlformats.org/drawingml/2006/main">
            <a:r>
              <a:t>Receipt SHA-256: f9694edf234e4a69cef58bb6ea0f5551b45f22c4f3a61501db1b27f513c44fed</a:t>
            </a:r>
          </a:p>
          <a:p xmlns:a="http://schemas.openxmlformats.org/drawingml/2006/main">
            <a:r>
              <a:t>Immutable execution receipt SHA-256: 3baf0e2c215e8ac2ea30fb41197242b663469cd51f31ba48dc9e6c0d7b76833c</a:t>
            </a:r>
          </a:p>
          <a:p xmlns:a="http://schemas.openxmlformats.org/drawingml/2006/main">
            <a:r>
              <a:t>Proposal SHA-256: 1727a552053cfdcdf202e2c84ad1209d1a898fe2eab2e322d51e9c7b4ad7c7c0</a:t>
            </a:r>
          </a:p>
          <a:p xmlns:a="http://schemas.openxmlformats.org/drawingml/2006/main">
            <a:r>
              <a:t>Integration evidence SHA-256: 0bcdb95aa92032522d31c919ae91894cece9557fbd0371cb3a66fdcdb8199fd1</a:t>
            </a:r>
          </a:p>
          <a:p xmlns:a="http://schemas.openxmlformats.org/drawingml/2006/main">
            <a:r>
              <a:t>Executed source parent: 5c116fd2dd5767d42d34083d616edf66723efe92; exact executed files frozen in receipt.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Local candidate, not group agreement or whole-requirement conformance. Two placement implementations; all use PROJ. OV reuses Python with a verified runtime geometry sink, without an OV render claim. Hydra uses a resolved ordinary-USD export from C++ results. Source data and measured limitations are documented in the README.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a57be558c94a1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9a056af1317464c" /><Relationship Type="http://schemas.openxmlformats.org/officeDocument/2006/relationships/slideLayout" Target="/ppt/slideLayouts/slideLayout1.xml" Id="Radc18a526a34415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dc18a526a34415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2ca4bdaeef4cf8" /><Relationship Type="http://schemas.openxmlformats.org/officeDocument/2006/relationships/notesSlide" Target="/ppt/notesSlides/notesSlide1.xml" Id="Rcbbd559e1a1e451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ccceb48e5f4f76" /><Relationship Type="http://schemas.openxmlformats.org/officeDocument/2006/relationships/notesSlide" Target="/ppt/notesSlides/notesSlide2.xml" Id="Rded483391c56482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896065e8834fae" /><Relationship Type="http://schemas.openxmlformats.org/officeDocument/2006/relationships/notesSlide" Target="/ppt/notesSlides/notesSlide3.xml" Id="R4160d3322ee041f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06f36ac6da4e1b" /><Relationship Type="http://schemas.openxmlformats.org/officeDocument/2006/relationships/image" Target="/ppt/media/image.png" Id="R0654262e2e72446b" /><Relationship Type="http://schemas.openxmlformats.org/officeDocument/2006/relationships/notesSlide" Target="/ppt/notesSlides/notesSlide4.xml" Id="R2d2cf20f91ac438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25866d3b524b39" /><Relationship Type="http://schemas.openxmlformats.org/officeDocument/2006/relationships/image" Target="/ppt/media/image2.png" Id="R498990e703bf4387" /><Relationship Type="http://schemas.openxmlformats.org/officeDocument/2006/relationships/notesSlide" Target="/ppt/notesSlides/notesSlide5.xml" Id="R629a4a05e9764bb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1dc359a7f64996" /><Relationship Type="http://schemas.openxmlformats.org/officeDocument/2006/relationships/image" Target="/ppt/media/image3.png" Id="R2c43a07783f0466d" /><Relationship Type="http://schemas.openxmlformats.org/officeDocument/2006/relationships/notesSlide" Target="/ppt/notesSlides/notesSlide6.xml" Id="R7a0963354273480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33a4fd52044cdc" /><Relationship Type="http://schemas.openxmlformats.org/officeDocument/2006/relationships/image" Target="/ppt/media/image4.png" Id="R5ae96a8ae9c14ab3" /><Relationship Type="http://schemas.openxmlformats.org/officeDocument/2006/relationships/notesSlide" Target="/ppt/notesSlides/notesSlide7.xml" Id="R2cee87089e0244b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3d2a69a35d496a" /><Relationship Type="http://schemas.openxmlformats.org/officeDocument/2006/relationships/notesSlide" Target="/ppt/notesSlides/notesSlide8.xml" Id="R7cd392cbc3f041e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2c6f2027964d3f" /><Relationship Type="http://schemas.openxmlformats.org/officeDocument/2006/relationships/chart" Target="/ppt/slides/charts/chart1.xml" Id="Rf2cb10de781e4f6a" /><Relationship Type="http://schemas.openxmlformats.org/officeDocument/2006/relationships/notesSlide" Target="/ppt/notesSlides/notesSlide9.xml" Id="R5e3002a4192b44a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c02a0c1ac34067" /><Relationship Type="http://schemas.openxmlformats.org/officeDocument/2006/relationships/notesSlide" Target="/ppt/notesSlides/notesSlide10.xml" Id="Rea184adc3c6b4c0c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Source-first ECEF path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75" b="1">
              <a:solidFill>
                <a:srgbClr val="213744"/>
              </a:solidFill>
              <a:latin typeface="Arial"/>
              <a:ea typeface="Arial"/>
              <a:cs typeface="Arial"/>
            </a:defRPr>
          </a:pPr>
        </a:p>
      </c:txPr>
    </c:title>
    <c:plotArea>
      <c:scatterChart>
        <c:scatterStyle val="lineMarker"/>
        <c:ser>
          <c:idx val="0"/>
          <c:order val="0"/>
          <c:tx>
            <c:v>Analytic guide</c:v>
          </c:tx>
          <c:spPr>
            <a:ln xmlns:a="http://schemas.openxmlformats.org/drawingml/2006/main" w="28575">
              <a:solidFill>
                <a:srgbClr val="157C87"/>
              </a:solidFill>
            </a:ln>
          </c:spPr>
          <c:marker>
            <c:symbol val="none"/>
          </c:marker>
          <c:xVal>
            <c:numRef>
              <c:f>'Chart Data'!$A$2:$A$62</c:f>
              <c:numCache>
                <c:formatCode>General</c:formatCode>
                <c:ptCount val="61"/>
                <c:pt idx="0">
                  <c:v>0</c:v>
                </c:pt>
                <c:pt idx="1">
                  <c:v>3.710649</c:v>
                </c:pt>
                <c:pt idx="2">
                  <c:v>7.421298</c:v>
                </c:pt>
                <c:pt idx="3">
                  <c:v>11.131943</c:v>
                </c:pt>
                <c:pt idx="4">
                  <c:v>14.842585</c:v>
                </c:pt>
                <c:pt idx="5">
                  <c:v>18.553222</c:v>
                </c:pt>
                <c:pt idx="6">
                  <c:v>22.263853</c:v>
                </c:pt>
                <c:pt idx="7">
                  <c:v>25.974476</c:v>
                </c:pt>
                <c:pt idx="8">
                  <c:v>29.68509</c:v>
                </c:pt>
                <c:pt idx="9">
                  <c:v>33.395695</c:v>
                </c:pt>
                <c:pt idx="10">
                  <c:v>37.106288</c:v>
                </c:pt>
                <c:pt idx="11">
                  <c:v>40.816868</c:v>
                </c:pt>
                <c:pt idx="12">
                  <c:v>44.527435</c:v>
                </c:pt>
                <c:pt idx="13">
                  <c:v>48.237986</c:v>
                </c:pt>
                <c:pt idx="14">
                  <c:v>51.948521</c:v>
                </c:pt>
                <c:pt idx="15">
                  <c:v>55.659039</c:v>
                </c:pt>
                <c:pt idx="16">
                  <c:v>59.369538</c:v>
                </c:pt>
                <c:pt idx="17">
                  <c:v>63.080016</c:v>
                </c:pt>
                <c:pt idx="18">
                  <c:v>66.790474</c:v>
                </c:pt>
                <c:pt idx="19">
                  <c:v>70.500908</c:v>
                </c:pt>
                <c:pt idx="20">
                  <c:v>74.211319</c:v>
                </c:pt>
                <c:pt idx="21">
                  <c:v>77.921705</c:v>
                </c:pt>
                <c:pt idx="22">
                  <c:v>81.632064</c:v>
                </c:pt>
                <c:pt idx="23">
                  <c:v>85.342396</c:v>
                </c:pt>
                <c:pt idx="24">
                  <c:v>89.052699</c:v>
                </c:pt>
                <c:pt idx="25">
                  <c:v>92.762972</c:v>
                </c:pt>
                <c:pt idx="26">
                  <c:v>96.473213</c:v>
                </c:pt>
                <c:pt idx="27">
                  <c:v>100.183422</c:v>
                </c:pt>
                <c:pt idx="28">
                  <c:v>103.893596</c:v>
                </c:pt>
                <c:pt idx="29">
                  <c:v>107.603736</c:v>
                </c:pt>
                <c:pt idx="30">
                  <c:v>111.313839</c:v>
                </c:pt>
                <c:pt idx="31">
                  <c:v>115.023905</c:v>
                </c:pt>
                <c:pt idx="32">
                  <c:v>118.733931</c:v>
                </c:pt>
                <c:pt idx="33">
                  <c:v>122.443918</c:v>
                </c:pt>
                <c:pt idx="34">
                  <c:v>126.153863</c:v>
                </c:pt>
                <c:pt idx="35">
                  <c:v>129.863765</c:v>
                </c:pt>
                <c:pt idx="36">
                  <c:v>133.573623</c:v>
                </c:pt>
                <c:pt idx="37">
                  <c:v>137.283436</c:v>
                </c:pt>
                <c:pt idx="38">
                  <c:v>140.993203</c:v>
                </c:pt>
                <c:pt idx="39">
                  <c:v>144.702922</c:v>
                </c:pt>
                <c:pt idx="40">
                  <c:v>148.412592</c:v>
                </c:pt>
                <c:pt idx="41">
                  <c:v>152.122211</c:v>
                </c:pt>
                <c:pt idx="42">
                  <c:v>155.831779</c:v>
                </c:pt>
                <c:pt idx="43">
                  <c:v>159.541295</c:v>
                </c:pt>
                <c:pt idx="44">
                  <c:v>163.250756</c:v>
                </c:pt>
                <c:pt idx="45">
                  <c:v>166.960163</c:v>
                </c:pt>
                <c:pt idx="46">
                  <c:v>170.669512</c:v>
                </c:pt>
                <c:pt idx="47">
                  <c:v>174.378804</c:v>
                </c:pt>
                <c:pt idx="48">
                  <c:v>178.088037</c:v>
                </c:pt>
                <c:pt idx="49">
                  <c:v>181.79721</c:v>
                </c:pt>
                <c:pt idx="50">
                  <c:v>185.506321</c:v>
                </c:pt>
                <c:pt idx="51">
                  <c:v>189.215369</c:v>
                </c:pt>
                <c:pt idx="52">
                  <c:v>192.924353</c:v>
                </c:pt>
                <c:pt idx="53">
                  <c:v>196.633272</c:v>
                </c:pt>
                <c:pt idx="54">
                  <c:v>200.342125</c:v>
                </c:pt>
                <c:pt idx="55">
                  <c:v>204.050909</c:v>
                </c:pt>
                <c:pt idx="56">
                  <c:v>207.759625</c:v>
                </c:pt>
                <c:pt idx="57">
                  <c:v>211.46827</c:v>
                </c:pt>
                <c:pt idx="58">
                  <c:v>215.176844</c:v>
                </c:pt>
                <c:pt idx="59">
                  <c:v>218.885344</c:v>
                </c:pt>
                <c:pt idx="60">
                  <c:v>222.593771</c:v>
                </c:pt>
              </c:numCache>
            </c:numRef>
          </c:xVal>
          <c:yVal>
            <c:numRef>
              <c:f>'Chart Data'!$B$2:$B$62</c:f>
              <c:numCache>
                <c:formatCode>0</c:formatCode>
                <c:ptCount val="61"/>
                <c:pt idx="0">
                  <c:v>1942.694364</c:v>
                </c:pt>
                <c:pt idx="1">
                  <c:v>1941.61498</c:v>
                </c:pt>
                <c:pt idx="2">
                  <c:v>1938.376828</c:v>
                </c:pt>
                <c:pt idx="3">
                  <c:v>1932.979909</c:v>
                </c:pt>
                <c:pt idx="4">
                  <c:v>1925.424224</c:v>
                </c:pt>
                <c:pt idx="5">
                  <c:v>1915.709777</c:v>
                </c:pt>
                <c:pt idx="6">
                  <c:v>1903.836571</c:v>
                </c:pt>
                <c:pt idx="7">
                  <c:v>1889.80461</c:v>
                </c:pt>
                <c:pt idx="8">
                  <c:v>1873.613898</c:v>
                </c:pt>
                <c:pt idx="9">
                  <c:v>1855.264441</c:v>
                </c:pt>
                <c:pt idx="10">
                  <c:v>1834.756245</c:v>
                </c:pt>
                <c:pt idx="11">
                  <c:v>1812.089317</c:v>
                </c:pt>
                <c:pt idx="12">
                  <c:v>1787.263665</c:v>
                </c:pt>
                <c:pt idx="13">
                  <c:v>1760.279297</c:v>
                </c:pt>
                <c:pt idx="14">
                  <c:v>1731.136223</c:v>
                </c:pt>
                <c:pt idx="15">
                  <c:v>1699.834451</c:v>
                </c:pt>
                <c:pt idx="16">
                  <c:v>1666.373994</c:v>
                </c:pt>
                <c:pt idx="17">
                  <c:v>1630.754861</c:v>
                </c:pt>
                <c:pt idx="18">
                  <c:v>1592.977066</c:v>
                </c:pt>
                <c:pt idx="19">
                  <c:v>1553.040621</c:v>
                </c:pt>
                <c:pt idx="20">
                  <c:v>1510.945539</c:v>
                </c:pt>
                <c:pt idx="21">
                  <c:v>1466.691834</c:v>
                </c:pt>
                <c:pt idx="22">
                  <c:v>1420.279523</c:v>
                </c:pt>
                <c:pt idx="23">
                  <c:v>1371.70862</c:v>
                </c:pt>
                <c:pt idx="24">
                  <c:v>1320.979142</c:v>
                </c:pt>
                <c:pt idx="25">
                  <c:v>1268.091105</c:v>
                </c:pt>
                <c:pt idx="26">
                  <c:v>1213.044529</c:v>
                </c:pt>
                <c:pt idx="27">
                  <c:v>1155.839431</c:v>
                </c:pt>
                <c:pt idx="28">
                  <c:v>1096.475831</c:v>
                </c:pt>
                <c:pt idx="29">
                  <c:v>1034.953749</c:v>
                </c:pt>
                <c:pt idx="30">
                  <c:v>971.273206</c:v>
                </c:pt>
                <c:pt idx="31">
                  <c:v>905.434223</c:v>
                </c:pt>
                <c:pt idx="32">
                  <c:v>837.436823</c:v>
                </c:pt>
                <c:pt idx="33">
                  <c:v>767.281029</c:v>
                </c:pt>
                <c:pt idx="34">
                  <c:v>694.966864</c:v>
                </c:pt>
                <c:pt idx="35">
                  <c:v>620.494353</c:v>
                </c:pt>
                <c:pt idx="36">
                  <c:v>543.863521</c:v>
                </c:pt>
                <c:pt idx="37">
                  <c:v>465.074394</c:v>
                </c:pt>
                <c:pt idx="38">
                  <c:v>384.126998</c:v>
                </c:pt>
                <c:pt idx="39">
                  <c:v>301.021362</c:v>
                </c:pt>
                <c:pt idx="40">
                  <c:v>215.757513</c:v>
                </c:pt>
                <c:pt idx="41">
                  <c:v>128.33548</c:v>
                </c:pt>
                <c:pt idx="42">
                  <c:v>38.755293</c:v>
                </c:pt>
                <c:pt idx="43">
                  <c:v>-52.983018</c:v>
                </c:pt>
                <c:pt idx="44">
                  <c:v>-146.879423</c:v>
                </c:pt>
                <c:pt idx="45">
                  <c:v>-242.933888</c:v>
                </c:pt>
                <c:pt idx="46">
                  <c:v>-341.146382</c:v>
                </c:pt>
                <c:pt idx="47">
                  <c:v>-441.516871</c:v>
                </c:pt>
                <c:pt idx="48">
                  <c:v>-544.045322</c:v>
                </c:pt>
                <c:pt idx="49">
                  <c:v>-648.7317</c:v>
                </c:pt>
                <c:pt idx="50">
                  <c:v>-755.575969</c:v>
                </c:pt>
                <c:pt idx="51">
                  <c:v>-864.578093</c:v>
                </c:pt>
                <c:pt idx="52">
                  <c:v>-975.738036</c:v>
                </c:pt>
                <c:pt idx="53">
                  <c:v>-1089.055759</c:v>
                </c:pt>
                <c:pt idx="54">
                  <c:v>-1204.531224</c:v>
                </c:pt>
                <c:pt idx="55">
                  <c:v>-1322.164393</c:v>
                </c:pt>
                <c:pt idx="56">
                  <c:v>-1441.955225</c:v>
                </c:pt>
                <c:pt idx="57">
                  <c:v>-1563.903679</c:v>
                </c:pt>
                <c:pt idx="58">
                  <c:v>-1688.009716</c:v>
                </c:pt>
                <c:pt idx="59">
                  <c:v>-1814.273292</c:v>
                </c:pt>
                <c:pt idx="60">
                  <c:v>-1942.694364</c:v>
                </c:pt>
              </c:numCache>
            </c:numRef>
          </c:yVal>
        </c:ser>
        <c:ser>
          <c:idx val="1"/>
          <c:order val="1"/>
          <c:tx>
            <c:v>Converted endpoint chord</c:v>
          </c:tx>
          <c:spPr>
            <a:ln xmlns:a="http://schemas.openxmlformats.org/drawingml/2006/main" w="28575">
              <a:solidFill>
                <a:srgbClr val="A25D20"/>
              </a:solidFill>
            </a:ln>
          </c:spPr>
          <c:marker>
            <c:symbol val="none"/>
          </c:marker>
          <c:xVal>
            <c:numRef>
              <c:f>'Chart Data'!$C$2:$C$3</c:f>
              <c:numCache>
                <c:formatCode>General</c:formatCode>
                <c:ptCount val="2"/>
                <c:pt idx="0">
                  <c:v>0</c:v>
                </c:pt>
                <c:pt idx="1">
                  <c:v>222.593771</c:v>
                </c:pt>
              </c:numCache>
            </c:numRef>
          </c:xVal>
          <c:yVal>
            <c:numRef>
              <c:f>'Chart Data'!$D$2:$D$3</c:f>
              <c:numCache>
                <c:formatCode>0</c:formatCode>
                <c:ptCount val="2"/>
                <c:pt idx="0">
                  <c:v>1942.694364</c:v>
                </c:pt>
                <c:pt idx="1">
                  <c:v>-1942.694364</c:v>
                </c:pt>
              </c:numCache>
            </c:numRef>
          </c:yVal>
        </c:ser>
        <c:ser>
          <c:idx val="2"/>
          <c:order val="2"/>
          <c:tx>
            <c:v>Resolved export samples</c:v>
          </c:tx>
          <c:spPr>
            <a:solidFill xmlns:a="http://schemas.openxmlformats.org/drawingml/2006/main">
              <a:srgbClr val="2A6199"/>
            </a:solidFill>
            <a:ln xmlns:a="http://schemas.openxmlformats.org/drawingml/2006/main" w="0">
              <a:noFill/>
            </a:ln>
          </c:spPr>
          <c:marker>
            <c:symbol val="circle"/>
            <c:size val="10"/>
            <c:spPr>
              <a:noFill xmlns:a="http://schemas.openxmlformats.org/drawingml/2006/main"/>
            </c:spPr>
          </c:marker>
          <c:xVal>
            <c:numRef>
              <c:f>'Chart Data'!$E$2:$E$4</c:f>
              <c:numCache>
                <c:formatCode>General</c:formatCode>
                <c:ptCount val="3"/>
                <c:pt idx="0">
                  <c:v>0</c:v>
                </c:pt>
                <c:pt idx="1">
                  <c:v>111.313839</c:v>
                </c:pt>
                <c:pt idx="2">
                  <c:v>222.593771</c:v>
                </c:pt>
              </c:numCache>
            </c:numRef>
          </c:xVal>
          <c:yVal>
            <c:numRef>
              <c:f>'Chart Data'!$F$2:$F$4</c:f>
              <c:numCache>
                <c:formatCode>0</c:formatCode>
                <c:ptCount val="3"/>
                <c:pt idx="0">
                  <c:v>1942.694364</c:v>
                </c:pt>
                <c:pt idx="1">
                  <c:v>971.273206</c:v>
                </c:pt>
                <c:pt idx="2">
                  <c:v>-1942.694364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9EEF1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213744"/>
                    </a:solidFill>
                    <a:latin typeface="Arial"/>
                    <a:ea typeface="Arial"/>
                    <a:cs typeface="Arial"/>
                  </a:rPr>
                  <a:t>ECEF X relative to chord midpoint (m)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213744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7E1E6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</c:valAx>
      <c:val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E9EEF1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213744"/>
                    </a:solidFill>
                    <a:latin typeface="Arial"/>
                    <a:ea typeface="Arial"/>
                    <a:cs typeface="Arial"/>
                  </a:rPr>
                  <a:t>ECEF Y (km)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213744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7E1E6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13744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09C7C5-5949-4F64-9D94-6251AA830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Proposal quality and review choices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30BA4B-8469-4C39-8DE6-7E345CDF3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47825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Known contract gaps now have concrete proposed answers.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16881D-7C10-4D5F-BCF8-603703F17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76575"/>
            <a:ext cx="10972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A25D2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A25D20"/>
                </a:solidFill>
                <a:latin typeface="Arial"/>
                <a:ea typeface="Arial"/>
                <a:cs typeface="Arial"/>
              </a:rPr>
              <a:t>Position and model attitude are source inputs. Detailed transform, dataset, instance and scene-chart choices still need author review.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173D9E-658F-4F52-8B42-4B0E7486A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57C87"/>
                </a:solidFill>
                <a:latin typeface="Arial"/>
                <a:ea typeface="Arial"/>
                <a:cs typeface="Arial"/>
              </a:rPr>
              <a:t>64 regressions and 61 distinguishing controls passed.</a:t>
            </a:r>
          </a:p>
          <a:p xmlns:a="http://schemas.openxmlformats.org/drawingml/2006/main">
            <a:pPr>
              <a:defRPr sz="2400" b="0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57C87"/>
                </a:solidFill>
                <a:latin typeface="Arial"/>
                <a:ea typeface="Arial"/>
                <a:cs typeface="Arial"/>
              </a:rPr>
              <a:t>213,231 coordinate results per Python/C++ path.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D3918A-F10E-4CDA-A986-A58988764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03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No new computed source properties. Group adoption and whole-proposal conformance are not claimed.</a:t>
            </a:r>
          </a:p>
        </p:txBody>
      </p:sp>
    </p:spTree>
    <p:extLst>
      <p:ext uri="{BB962C8B-B14F-4D97-AF65-F5344CB8AC3E}">
        <p14:creationId xmlns:p14="http://schemas.microsoft.com/office/powerpoint/2010/main" val="3874075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8F8119-5EF2-4445-832B-B33FA1D6B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Authored inputs and computed results</a:t>
            </a:r>
          </a:p>
        </p:txBody>
      </p:sp>
      <p:graphicFrame>
        <p:nvGraphicFramePr>
          <p:cNvPr id="5" name=""/>
          <p:cNvGraphicFramePr/>
          <p:nvPr/>
        </p:nvGraphicFramePr>
        <p:xfrm>
          <a:off xmlns:a="http://schemas.openxmlformats.org/drawingml/2006/main" x="609600" y="1428750"/>
          <a:ext xmlns:a="http://schemas.openxmlformats.org/drawingml/2006/main" cx="10972800" cy="4286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8115300"/>
              </a:tblGrid>
              <a:tr h="7143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Authored inputs</a:t>
                      </a:r>
                    </a:p>
                  </a:txBody>
                  <a:tcPr marL="91440" marR="91440" marT="45720" marB="4572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Meaning in the proposed model</a:t>
                      </a:r>
                    </a:p>
                  </a:txBody>
                  <a:tcPr marL="91440" marR="91440" marT="45720" marB="45720">
                    <a:solidFill>
                      <a:srgbClr val="213744"/>
                    </a:solidFill>
                  </a:tcPr>
                </a:tc>
              </a:tr>
              <a:tr h="7143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crs:position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Absolute 3D model origin in source WKT components, units and height reference.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crs:orientation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Physical geodetic ENU model attitude; identity fallback. Distinct from projected grid convergence.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Ordinary xformOps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Intentional scale, pivots and project adjustment. Descendant stacks retain model-local meaning.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Native data association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Asset, format, field and coordinate domain. Values, masks and observation times remain native.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Computed results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Resolution, convergence, projection scale and bounds are results; no crs:scale source property.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78AFF5-3C70-4379-AC93-8ED726D26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055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A25D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25D20"/>
                </a:solidFill>
                <a:latin typeface="Arial"/>
                <a:ea typeface="Arial"/>
                <a:cs typeface="Arial"/>
              </a:rPr>
              <a:t>This is a complete review candidate. Tests do not establish author agreement to the detailed choices.</a:t>
            </a:r>
          </a:p>
        </p:txBody>
      </p:sp>
    </p:spTree>
    <p:extLst>
      <p:ext uri="{BB962C8B-B14F-4D97-AF65-F5344CB8AC3E}">
        <p14:creationId xmlns:p14="http://schemas.microsoft.com/office/powerpoint/2010/main" val="8594473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66EBB2-01C0-4D95-B64A-25957D7CE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Anchor adjustments and model-local descendants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D487D3-E216-4620-8511-8C8E8124C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A geographic asset sits inside a projected site. Its model orientation turns local X northward.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09600" y="2562225"/>
          <a:ext xmlns:a="http://schemas.openxmlformats.org/drawingml/2006/main" cx="10972800" cy="22574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14850"/>
                <a:gridCol w="2152650"/>
                <a:gridCol w="2152650"/>
                <a:gridCol w="2152650"/>
              </a:tblGrid>
              <a:tr h="56435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Queried position</a:t>
                      </a:r>
                    </a:p>
                  </a:txBody>
                  <a:tcPr marL="91440" marR="91440" marT="45720" marB="4572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Easting (m)</a:t>
                      </a:r>
                    </a:p>
                  </a:txBody>
                  <a:tcPr marL="91440" marR="91440" marT="45720" marB="4572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Northing (m)</a:t>
                      </a:r>
                    </a:p>
                  </a:txBody>
                  <a:tcPr marL="91440" marR="91440" marT="45720" marB="4572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Height (m)</a:t>
                      </a:r>
                    </a:p>
                  </a:txBody>
                  <a:tcPr marL="91440" marR="91440" marT="45720" marB="45720">
                    <a:solidFill>
                      <a:srgbClr val="213744"/>
                    </a:solidFill>
                  </a:tcPr>
                </a:tc>
              </a:tr>
              <a:tr h="56435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Anchor with +10 site adjustment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448262.0014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5411954.9099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35.0000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435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Child with +3 local X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448262.0292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5411957.9087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35.0000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435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Child with ordinary reset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448252.0292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5411957.9087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35.0000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DF5E75-851C-49E4-B30A-C4B160989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7C87"/>
                </a:solidFill>
                <a:latin typeface="Arial"/>
                <a:ea typeface="Arial"/>
                <a:cs typeface="Arial"/>
              </a:rPr>
              <a:t>The +10 follows site easting. The child offset follows the oriented model.</a:t>
            </a:r>
          </a:p>
          <a:p xmlns:a="http://schemas.openxmlformats.org/drawingml/2006/main">
            <a:pPr>
              <a:defRPr sz="2175" b="0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7C87"/>
                </a:solidFill>
                <a:latin typeface="Arial"/>
                <a:ea typeface="Arial"/>
                <a:cs typeface="Arial"/>
              </a:rPr>
              <a:t>The reset removes the ordinary adjustment and retains CRS placement.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D66EFD-816C-47FF-8C09-E5755E66D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The raw working-axis child alternative differs by 4.222 m. Descendant semantics are proposed for review.</a:t>
            </a:r>
          </a:p>
        </p:txBody>
      </p:sp>
    </p:spTree>
    <p:extLst>
      <p:ext uri="{BB962C8B-B14F-4D97-AF65-F5344CB8AC3E}">
        <p14:creationId xmlns:p14="http://schemas.microsoft.com/office/powerpoint/2010/main" val="65139021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060096-28E2-417D-B655-51EA4C219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Eiffel geometry in native Hydra / Storm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54262e2e72446b"/>
          <a:stretch xmlns:a="http://schemas.openxmlformats.org/drawingml/2006/main"/>
        </p:blipFill>
        <p:spPr>
          <a:xfrm xmlns:a="http://schemas.openxmlformats.org/drawingml/2006/main">
            <a:off x="285750" y="1453455"/>
            <a:ext cx="7667625" cy="4313039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F196C6-98C0-46D4-A42B-882726993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52600"/>
            <a:ext cx="3333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163,440 vertices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365638-CC26-4039-91FE-38E284B35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38425"/>
            <a:ext cx="3333750" cy="2085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C++ pointwise results</a:t>
            </a:r>
          </a:p>
          <a:p xmlns:a="http://schemas.openxmlformats.org/drawingml/2006/main">
            <a:pPr>
              <a:defRPr sz="20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163,416 shading normals</a:t>
            </a:r>
          </a:p>
          <a:p xmlns:a="http://schemas.openxmlformats.org/drawingml/2006/main">
            <a:pPr>
              <a:defRPr sz="20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Fresh USD export readers</a:t>
            </a:r>
          </a:p>
          <a:p xmlns:a="http://schemas.openxmlformats.org/drawingml/2006/main">
            <a:pPr>
              <a:defRPr sz="20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Native Storm color output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F5003E-E044-4DED-886A-DDB8A0DB1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5076825"/>
            <a:ext cx="33337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Illustrative plane and markers.</a:t>
            </a:r>
          </a:p>
          <a:p xmlns:a="http://schemas.openxmlformats.org/drawingml/2006/main">
            <a:pPr>
              <a:defRPr sz="180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No surveyed Paris context.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E54D7A-7988-48AD-A20A-AEA724753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728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The renderer consumes an ordinary resolved export. This run does not install a live geospatial scene-index filter.</a:t>
            </a:r>
          </a:p>
        </p:txBody>
      </p:sp>
    </p:spTree>
    <p:extLst>
      <p:ext uri="{BB962C8B-B14F-4D97-AF65-F5344CB8AC3E}">
        <p14:creationId xmlns:p14="http://schemas.microsoft.com/office/powerpoint/2010/main" val="17420666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1A9428-4E45-4D7A-B49B-B162F9C5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Colorado survey in a calibrated site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8990e703bf4387"/>
          <a:stretch xmlns:a="http://schemas.openxmlformats.org/drawingml/2006/main"/>
        </p:blipFill>
        <p:spPr>
          <a:xfrm xmlns:a="http://schemas.openxmlformats.org/drawingml/2006/main">
            <a:off x="238125" y="1453158"/>
            <a:ext cx="7753350" cy="4361259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606484-FC0F-4ADE-95A4-FA923BF49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724025"/>
            <a:ext cx="332422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14,359 vertices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B658BA-230C-430A-BFF6-3F1627288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628900"/>
            <a:ext cx="3324225" cy="2181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Original LandXML breaklines</a:t>
            </a:r>
          </a:p>
          <a:p xmlns:a="http://schemas.openxmlformats.org/drawingml/2006/main">
            <a:pPr>
              <a:defRPr sz="20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WKT-carried site calibration</a:t>
            </a:r>
          </a:p>
          <a:p xmlns:a="http://schemas.openxmlformats.org/drawingml/2006/main">
            <a:pPr>
              <a:defRPr sz="20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Declared US survey feet</a:t>
            </a:r>
          </a:p>
          <a:p xmlns:a="http://schemas.openxmlformats.org/drawingml/2006/main">
            <a:pPr>
              <a:defRPr sz="20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Separate stage conventions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9F2A6E-DBBB-46F9-886C-29706B571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181600"/>
            <a:ext cx="33242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No terrain surface</a:t>
            </a:r>
          </a:p>
          <a:p xmlns:a="http://schemas.openxmlformats.org/drawingml/2006/main">
            <a:pPr>
              <a:defRPr sz="187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was fabricated.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7B112D-63E6-4286-8DC7-1C9EEC440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007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Fresh readers verify the resolved geometry. Polygonal bounds cover returned vertices and straight faces, with no continuous-surface certificate.</a:t>
            </a:r>
          </a:p>
        </p:txBody>
      </p:sp>
    </p:spTree>
    <p:extLst>
      <p:ext uri="{BB962C8B-B14F-4D97-AF65-F5344CB8AC3E}">
        <p14:creationId xmlns:p14="http://schemas.microsoft.com/office/powerpoint/2010/main" val="118598427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33BB52-F4A7-49C7-8838-1E77013B3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Global measurements in geographic and ECEF coordinates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43a07783f0466d"/>
          <a:stretch xmlns:a="http://schemas.openxmlformats.org/drawingml/2006/main"/>
        </p:blipFill>
        <p:spPr>
          <a:xfrm xmlns:a="http://schemas.openxmlformats.org/drawingml/2006/main">
            <a:off x="2425303" y="1466850"/>
            <a:ext cx="7322344" cy="351472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949073-DA8D-4CC3-A956-7D262D8DD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0175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154 synthetic 3D samples retain values and two observation times.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E2CEF1-3D7C-4534-9306-681A2C194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Explicit 100 m ellipsoidal height; illustrative temperature in kelvin. Both readers resolve geographic and ECEF outputs. Observation time is distinct from epoch.</a:t>
            </a:r>
          </a:p>
        </p:txBody>
      </p:sp>
    </p:spTree>
    <p:extLst>
      <p:ext uri="{BB962C8B-B14F-4D97-AF65-F5344CB8AC3E}">
        <p14:creationId xmlns:p14="http://schemas.microsoft.com/office/powerpoint/2010/main" val="12019749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31E018-4635-416F-AAF2-79E65E742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Railway geometry retains its source coordinates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e96a8ae9c14ab3"/>
          <a:stretch xmlns:a="http://schemas.openxmlformats.org/drawingml/2006/main"/>
        </p:blipFill>
        <p:spPr>
          <a:xfrm xmlns:a="http://schemas.openxmlformats.org/drawingml/2006/main">
            <a:off x="701976" y="1409700"/>
            <a:ext cx="5644548" cy="488632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FCBC98-4AD5-4F3F-AC4E-1421302A7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790700"/>
            <a:ext cx="43815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15,822 vertices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F9D69D-5F36-476B-AC69-20417FDA5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686050"/>
            <a:ext cx="43815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2,386 railway parts</a:t>
            </a:r>
          </a:p>
          <a:p xmlns:a="http://schemas.openxmlformats.org/drawingml/2006/main">
            <a:pPr>
              <a:defRPr sz="217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Explicit horizontal source copy</a:t>
            </a:r>
          </a:p>
          <a:p xmlns:a="http://schemas.openxmlformats.org/drawingml/2006/main">
            <a:pPr>
              <a:defRPr sz="217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UTM 32 output coordinates</a:t>
            </a:r>
          </a:p>
          <a:p xmlns:a="http://schemas.openxmlformats.org/drawingml/2006/main">
            <a:pPr>
              <a:defRPr sz="217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Original data retained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74E3ED-2C68-4103-83CE-DAD7AC44E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5095875"/>
            <a:ext cx="4381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A25D2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A25D20"/>
                </a:solidFill>
                <a:latin typeface="Arial"/>
                <a:ea typeface="Arial"/>
                <a:cs typeface="Arial"/>
              </a:rPr>
              <a:t>Original third components</a:t>
            </a:r>
          </a:p>
          <a:p xmlns:a="http://schemas.openxmlformats.org/drawingml/2006/main">
            <a:pPr>
              <a:defRPr sz="2025" b="0">
                <a:solidFill>
                  <a:srgbClr val="A25D2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A25D20"/>
                </a:solidFill>
                <a:latin typeface="Arial"/>
                <a:ea typeface="Arial"/>
                <a:cs typeface="Arial"/>
              </a:rPr>
              <a:t>remain uninterpreted.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2E5857-D5D6-41C9-9CD7-4CCE1651D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The larger-scale workflows keep useful 2D resolution without inventing height. Plot offsets serve display only.</a:t>
            </a:r>
          </a:p>
        </p:txBody>
      </p:sp>
    </p:spTree>
    <p:extLst>
      <p:ext uri="{BB962C8B-B14F-4D97-AF65-F5344CB8AC3E}">
        <p14:creationId xmlns:p14="http://schemas.microsoft.com/office/powerpoint/2010/main" val="42657003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1F8456-5B25-40D4-B8B4-5A973A2D4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The same partner data in both placements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28643E-2F81-4439-B064-E8E615F53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France: CC49 to Lambert-93 (metres)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990725"/>
          <a:ext xmlns:a="http://schemas.openxmlformats.org/drawingml/2006/main" cx="10972800" cy="1562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09750"/>
                <a:gridCol w="2219325"/>
                <a:gridCol w="2219325"/>
                <a:gridCol w="2219325"/>
                <a:gridCol w="2505075"/>
              </a:tblGrid>
              <a:tr h="3905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Component</a:t>
                      </a:r>
                    </a:p>
                  </a:txBody>
                  <a:tcPr marL="91440" marR="91440" marT="45720" marB="4572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Source</a:t>
                      </a:r>
                    </a:p>
                  </a:txBody>
                  <a:tcPr marL="91440" marR="91440" marT="45720" marB="4572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USD Python</a:t>
                      </a:r>
                    </a:p>
                  </a:txBody>
                  <a:tcPr marL="91440" marR="91440" marT="45720" marB="4572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USD C++</a:t>
                      </a:r>
                    </a:p>
                  </a:txBody>
                  <a:tcPr marL="91440" marR="91440" marT="45720" marB="4572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OV-hosted Python</a:t>
                      </a:r>
                    </a:p>
                  </a:txBody>
                  <a:tcPr marL="91440" marR="91440" marT="45720" marB="45720">
                    <a:solidFill>
                      <a:srgbClr val="213744"/>
                    </a:solidFill>
                  </a:tcPr>
                </a:tc>
              </a:tr>
              <a:tr h="3905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Easting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1661099.0390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661101.1094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661101.1094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661101.1094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905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Northing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8180053.1170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6857834.2565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6857834.2565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6857834.2565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905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Height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37.2980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37.2980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37.2980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37.2980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01A62E-AF30-4C09-9099-D5C5738FB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Colorado: State Plane to calibrated site (US survey feet)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09600" y="4314825"/>
          <a:ext xmlns:a="http://schemas.openxmlformats.org/drawingml/2006/main" cx="10972800" cy="1562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09750"/>
                <a:gridCol w="2219325"/>
                <a:gridCol w="2219325"/>
                <a:gridCol w="2219325"/>
                <a:gridCol w="2505075"/>
              </a:tblGrid>
              <a:tr h="3905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Component</a:t>
                      </a:r>
                    </a:p>
                  </a:txBody>
                  <a:tcPr marL="91440" marR="91440" marT="45720" marB="4572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Source</a:t>
                      </a:r>
                    </a:p>
                  </a:txBody>
                  <a:tcPr marL="91440" marR="91440" marT="45720" marB="4572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USD Python</a:t>
                      </a:r>
                    </a:p>
                  </a:txBody>
                  <a:tcPr marL="91440" marR="91440" marT="45720" marB="4572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USD C++</a:t>
                      </a:r>
                    </a:p>
                  </a:txBody>
                  <a:tcPr marL="91440" marR="91440" marT="45720" marB="4572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OV-hosted Python</a:t>
                      </a:r>
                    </a:p>
                  </a:txBody>
                  <a:tcPr marL="91440" marR="91440" marT="45720" marB="45720">
                    <a:solidFill>
                      <a:srgbClr val="213744"/>
                    </a:solidFill>
                  </a:tcPr>
                </a:tc>
              </a:tr>
              <a:tr h="3905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Easting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3108002.1122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3108871.4501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3108871.4501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3108871.4501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905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Northing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1752265.0666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1206317.4694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1206317.4694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1206317.4694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905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Height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5482.9424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5484.6779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5484.6779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5484.6779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648329-FA0B-44A2-873E-B0B16F63A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388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Both USD implementations agree. OV reuses Python placement. All paths share PROJ; these comparisons do not certify survey accuracy.</a:t>
            </a:r>
          </a:p>
        </p:txBody>
      </p:sp>
    </p:spTree>
    <p:extLst>
      <p:ext uri="{BB962C8B-B14F-4D97-AF65-F5344CB8AC3E}">
        <p14:creationId xmlns:p14="http://schemas.microsoft.com/office/powerpoint/2010/main" val="37438145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309A21-3D12-462A-9AD4-28D070FC6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Source interpolation and sampled exports</a:t>
            </a:r>
          </a:p>
        </p:txBody>
      </p:sp>
      <p:graphicFrame>
        <p:nvGraphicFramePr>
          <p:cNvPr id="8" name="Chart"/>
          <p:cNvGraphicFramePr/>
          <p:nvPr/>
        </p:nvGraphicFramePr>
        <p:xfrm>
          <a:off xmlns:a="http://schemas.openxmlformats.org/drawingml/2006/main" x="428625" y="1552575"/>
          <a:ext xmlns:a="http://schemas.openxmlformats.org/drawingml/2006/main" cx="7162800" cy="41052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2cb10de781e4f6a"/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9F76D7-B88C-4955-9949-7F896D9CB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924050"/>
            <a:ext cx="3562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971.421 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F5EBA8-9582-47EC-881B-5CD426098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781300"/>
            <a:ext cx="3562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Midpoint difference from</a:t>
            </a:r>
          </a:p>
          <a:p xmlns:a="http://schemas.openxmlformats.org/drawingml/2006/main">
            <a:pPr>
              <a:defRPr sz="21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interpolating only the</a:t>
            </a:r>
          </a:p>
          <a:p xmlns:a="http://schemas.openxmlformats.org/drawingml/2006/main">
            <a:pPr>
              <a:defRPr sz="21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converted endpoints.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643C15-C24B-43C5-AA8C-78AD7C090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05325"/>
            <a:ext cx="35623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Fresh geometry exports</a:t>
            </a:r>
          </a:p>
          <a:p xmlns:a="http://schemas.openxmlformats.org/drawingml/2006/main">
            <a:pPr>
              <a:defRPr sz="20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Sample keys 0, 5, 10</a:t>
            </a:r>
          </a:p>
          <a:p xmlns:a="http://schemas.openxmlformats.org/drawingml/2006/main">
            <a:pPr>
              <a:defRPr sz="20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timeCodesPerSecond = 48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DCF8B0-DC43-4B9F-AF6A-FFA426953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055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Both readers verify each exported sample. No original-trajectory guarantee is claimed between samples. Chart axes use different distance scales.</a:t>
            </a:r>
          </a:p>
        </p:txBody>
      </p:sp>
    </p:spTree>
    <p:extLst>
      <p:ext uri="{BB962C8B-B14F-4D97-AF65-F5344CB8AC3E}">
        <p14:creationId xmlns:p14="http://schemas.microsoft.com/office/powerpoint/2010/main" val="142004523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9717B1-84CB-4488-90ED-7FB1AFF61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Verified consumers and remaining evidence limits</a:t>
            </a:r>
          </a:p>
        </p:txBody>
      </p:sp>
      <p:graphicFrame>
        <p:nvGraphicFramePr>
          <p:cNvPr id="6" name=""/>
          <p:cNvGraphicFramePr/>
          <p:nvPr/>
        </p:nvGraphicFramePr>
        <p:xfrm>
          <a:off xmlns:a="http://schemas.openxmlformats.org/drawingml/2006/main" x="609600" y="1476375"/>
          <a:ext xmlns:a="http://schemas.openxmlformats.org/drawingml/2006/main" cx="10972800" cy="3190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7924800"/>
              </a:tblGrid>
              <a:tr h="797719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Consumer</a:t>
                      </a:r>
                    </a:p>
                  </a:txBody>
                  <a:tcPr marL="91440" marR="91440" marT="45720" marB="4572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Evidence reaching its output</a:t>
                      </a:r>
                    </a:p>
                  </a:txBody>
                  <a:tcPr marL="91440" marR="91440" marT="45720" marB="45720">
                    <a:solidFill>
                      <a:srgbClr val="213744"/>
                    </a:solidFill>
                  </a:tcPr>
                </a:tc>
              </a:tr>
              <a:tr h="797719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USD Python and C++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Independent placement arithmetic; full point maps, Cartesian frame estimates and polygonal bounds. Shared PROJ and external decoding.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97719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Omniverse live geometry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177,864 vertices read back from runtime buffers/matrices. 36 edit, failure and recovery checks. Reuses Python placement.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97719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Hydra / Storm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Two ordinary resolved exports reach points/transform data sources and the native renderer. No live CRS filter.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75C659-6DC6-4808-8495-2CB9C893B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109728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All 11 exports pass fresh-reader checks. Geographic scene charts and bound prototypes are covered.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411C8D-7134-4CB7-8215-3C62679BA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A25D2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A25D20"/>
                </a:solidFill>
                <a:latin typeface="Arial"/>
                <a:ea typeface="Arial"/>
                <a:cs typeface="Arial"/>
              </a:rPr>
              <a:t>Remaining evidence limits: continuous nonlinear certificates, general primvar coverage and physics integration. Detailed candidate choices still need author review.</a:t>
            </a:r>
          </a:p>
        </p:txBody>
      </p:sp>
    </p:spTree>
    <p:extLst>
      <p:ext uri="{BB962C8B-B14F-4D97-AF65-F5344CB8AC3E}">
        <p14:creationId xmlns:p14="http://schemas.microsoft.com/office/powerpoint/2010/main" val="8147547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2026-10-06T23:02:24.8830000Z</dcterms:created>
  <dcterms:modified xsi:type="dcterms:W3CDTF">2026-10-06T23:02:24.8830000Z</dcterms:modified>
</coreProperties>
</file>