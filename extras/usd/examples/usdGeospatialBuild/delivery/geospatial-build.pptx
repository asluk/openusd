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3e2bf0f56b4499" /><Relationship Type="http://schemas.openxmlformats.org/officeDocument/2006/relationships/extended-properties" Target="/docProps/app.xml" Id="R43134ecc18ac4ad8" /><Relationship Type="http://schemas.openxmlformats.org/officeDocument/2006/relationships/officeDocument" Target="/ppt/presentation.xml" Id="R5a82685b5cde4e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ba1843544343d3"/>
  </p:sldMasterIdLst>
  <p:notesMasterIdLst>
    <p:notesMasterId xmlns:r="http://schemas.openxmlformats.org/officeDocument/2006/relationships" r:id="R78bb458733b44785"/>
  </p:notesMasterIdLst>
  <p:sldIdLst>
    <p:sldId xmlns:r="http://schemas.openxmlformats.org/officeDocument/2006/relationships" id="256" r:id="R0561bb57196a4964"/>
    <p:sldId xmlns:r="http://schemas.openxmlformats.org/officeDocument/2006/relationships" id="257" r:id="Rec53372af7cb4d6d"/>
    <p:sldId xmlns:r="http://schemas.openxmlformats.org/officeDocument/2006/relationships" id="258" r:id="R002ac477fa8d48c7"/>
    <p:sldId xmlns:r="http://schemas.openxmlformats.org/officeDocument/2006/relationships" id="259" r:id="Rd0eccbc8ba064ccf"/>
    <p:sldId xmlns:r="http://schemas.openxmlformats.org/officeDocument/2006/relationships" id="260" r:id="R29e24ee684a34d62"/>
    <p:sldId xmlns:r="http://schemas.openxmlformats.org/officeDocument/2006/relationships" id="261" r:id="R7f417be9ef844295"/>
    <p:sldId xmlns:r="http://schemas.openxmlformats.org/officeDocument/2006/relationships" id="262" r:id="Rcbe224f013e648f9"/>
    <p:sldId xmlns:r="http://schemas.openxmlformats.org/officeDocument/2006/relationships" id="263" r:id="R08cdce61928447c9"/>
    <p:sldId xmlns:r="http://schemas.openxmlformats.org/officeDocument/2006/relationships" id="264" r:id="Rc964f8576b854e50"/>
    <p:sldId xmlns:r="http://schemas.openxmlformats.org/officeDocument/2006/relationships" id="265" r:id="R5c5b123e1bd74d0c"/>
    <p:sldId xmlns:r="http://schemas.openxmlformats.org/officeDocument/2006/relationships" id="266" r:id="R6bb35783a8d143c1"/>
    <p:sldId xmlns:r="http://schemas.openxmlformats.org/officeDocument/2006/relationships" id="267" r:id="R6039c4fd694f425a"/>
    <p:sldId xmlns:r="http://schemas.openxmlformats.org/officeDocument/2006/relationships" id="268" r:id="R468a85123d794f08"/>
    <p:sldId xmlns:r="http://schemas.openxmlformats.org/officeDocument/2006/relationships" id="269" r:id="R750acfe1cb914b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944aa69bfd4760" /><Relationship Type="http://schemas.openxmlformats.org/officeDocument/2006/relationships/slideMaster" Target="/ppt/slideMasters/slideMaster1.xml" Id="Rdfba1843544343d3" /><Relationship Type="http://schemas.openxmlformats.org/officeDocument/2006/relationships/notesMaster" Target="/ppt/notesMasters/notesMaster1.xml" Id="R78bb458733b44785" /><Relationship Type="http://schemas.openxmlformats.org/officeDocument/2006/relationships/presProps" Target="/ppt/presProps.xml" Id="R5cc46bbce8b446c0" /><Relationship Type="http://schemas.openxmlformats.org/officeDocument/2006/relationships/tableStyles" Target="/ppt/tableStyles.xml" Id="R269b8d0390c74a67" /><Relationship Type="http://schemas.openxmlformats.org/officeDocument/2006/relationships/slide" Target="/ppt/slides/slide1.xml" Id="R0561bb57196a4964" /><Relationship Type="http://schemas.openxmlformats.org/officeDocument/2006/relationships/slide" Target="/ppt/slides/slide2.xml" Id="Rec53372af7cb4d6d" /><Relationship Type="http://schemas.openxmlformats.org/officeDocument/2006/relationships/slide" Target="/ppt/slides/slide3.xml" Id="R002ac477fa8d48c7" /><Relationship Type="http://schemas.openxmlformats.org/officeDocument/2006/relationships/slide" Target="/ppt/slides/slide4.xml" Id="Rd0eccbc8ba064ccf" /><Relationship Type="http://schemas.openxmlformats.org/officeDocument/2006/relationships/slide" Target="/ppt/slides/slide5.xml" Id="R29e24ee684a34d62" /><Relationship Type="http://schemas.openxmlformats.org/officeDocument/2006/relationships/slide" Target="/ppt/slides/slide6.xml" Id="R7f417be9ef844295" /><Relationship Type="http://schemas.openxmlformats.org/officeDocument/2006/relationships/slide" Target="/ppt/slides/slide7.xml" Id="Rcbe224f013e648f9" /><Relationship Type="http://schemas.openxmlformats.org/officeDocument/2006/relationships/slide" Target="/ppt/slides/slide8.xml" Id="R08cdce61928447c9" /><Relationship Type="http://schemas.openxmlformats.org/officeDocument/2006/relationships/slide" Target="/ppt/slides/slide9.xml" Id="Rc964f8576b854e50" /><Relationship Type="http://schemas.openxmlformats.org/officeDocument/2006/relationships/slide" Target="/ppt/slides/slide10.xml" Id="R5c5b123e1bd74d0c" /><Relationship Type="http://schemas.openxmlformats.org/officeDocument/2006/relationships/slide" Target="/ppt/slides/slide11.xml" Id="R6bb35783a8d143c1" /><Relationship Type="http://schemas.openxmlformats.org/officeDocument/2006/relationships/slide" Target="/ppt/slides/slide12.xml" Id="R6039c4fd694f425a" /><Relationship Type="http://schemas.openxmlformats.org/officeDocument/2006/relationships/slide" Target="/ppt/slides/slide13.xml" Id="R468a85123d794f08" /><Relationship Type="http://schemas.openxmlformats.org/officeDocument/2006/relationships/slide" Target="/ppt/slides/slide14.xml" Id="R750acfe1cb914b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442317c6bd4e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95c584722c494c" /><Relationship Type="http://schemas.openxmlformats.org/officeDocument/2006/relationships/notesMaster" Target="/ppt/notesMasters/notesMaster1.xml" Id="R5e7b5dbf856440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6c0837d9114afe" /><Relationship Type="http://schemas.openxmlformats.org/officeDocument/2006/relationships/notesMaster" Target="/ppt/notesMasters/notesMaster1.xml" Id="R9054331db06349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ca893c9034435c" /><Relationship Type="http://schemas.openxmlformats.org/officeDocument/2006/relationships/notesMaster" Target="/ppt/notesMasters/notesMaster1.xml" Id="R71dbb0b7d60d45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8e83a7d7984759" /><Relationship Type="http://schemas.openxmlformats.org/officeDocument/2006/relationships/notesMaster" Target="/ppt/notesMasters/notesMaster1.xml" Id="R3f2e4f7ef43e44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f20b87e66d4fa3" /><Relationship Type="http://schemas.openxmlformats.org/officeDocument/2006/relationships/notesMaster" Target="/ppt/notesMasters/notesMaster1.xml" Id="R6e02752afd4245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abc8b086224c9d" /><Relationship Type="http://schemas.openxmlformats.org/officeDocument/2006/relationships/notesMaster" Target="/ppt/notesMasters/notesMaster1.xml" Id="R2efc8c7e46834c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c1038e6b934f8a" /><Relationship Type="http://schemas.openxmlformats.org/officeDocument/2006/relationships/notesMaster" Target="/ppt/notesMasters/notesMaster1.xml" Id="R92fd7afeb4454d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944f8bac77414a" /><Relationship Type="http://schemas.openxmlformats.org/officeDocument/2006/relationships/notesMaster" Target="/ppt/notesMasters/notesMaster1.xml" Id="R21fbd2d08d914f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33d897945543aa" /><Relationship Type="http://schemas.openxmlformats.org/officeDocument/2006/relationships/notesMaster" Target="/ppt/notesMasters/notesMaster1.xml" Id="Rfc40872178c846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de562548e940a8" /><Relationship Type="http://schemas.openxmlformats.org/officeDocument/2006/relationships/notesMaster" Target="/ppt/notesMasters/notesMaster1.xml" Id="Rd06c2c5b5ad94e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84f4d757ce54671" /><Relationship Type="http://schemas.openxmlformats.org/officeDocument/2006/relationships/notesMaster" Target="/ppt/notesMasters/notesMaster1.xml" Id="Rc272e27454d041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180fd5dcc24c10" /><Relationship Type="http://schemas.openxmlformats.org/officeDocument/2006/relationships/notesMaster" Target="/ppt/notesMasters/notesMaster1.xml" Id="R36863325aa8645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937049e3dbd4d52" /><Relationship Type="http://schemas.openxmlformats.org/officeDocument/2006/relationships/notesMaster" Target="/ppt/notesMasters/notesMaster1.xml" Id="R0992a38683554a9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8c03ee86d3b4c4d" /><Relationship Type="http://schemas.openxmlformats.org/officeDocument/2006/relationships/notesMaster" Target="/ppt/notesMasters/notesMaster1.xml" Id="R9985494d60fa45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alignment","The detailed orientation, frame, WKT string normalization and publication conventions remain proposed."],["Prototype limitations","Lighting directions lack an error bound. Rotation uncertainty is unquantified. A quoted CRS name causes false rejection."],["Verification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declaration","Existing Profiles metadata carries a proposed complete publication summary, including unloaded and retained variant content."],["Baked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reader distinguish the model's shape from its location on Earth?</a:t>
            </a:r>
          </a:p>
          <a:p xmlns:a="http://schemas.openxmlformats.org/drawingml/2006/main">
            <a:r>
              <a:t>Proposed rule: The source records model geometry separately from its absolute origin and physical attitude. WKT supplies the coordinate meaning. Ordinary USD operations express intentional scaling and pivots.</a:t>
            </a:r>
          </a:p>
          <a:p xmlns:a="http://schemas.openxmlformats.org/drawingml/2006/main">
            <a:r>
              <a:t>Expected behavior: A reader can place the model without treating longitude or latitude as a distance or adding computed results to the source schema.</a:t>
            </a:r>
          </a:p>
          <a:p xmlns:a="http://schemas.openxmlformats.org/drawingml/2006/main">
            <a:r>
              <a:t>Observed result: The source stores position and one heading/pitch/roll tuple. Readers compute the physical pose, coordinate results and projection effects without writing them back.</a:t>
            </a:r>
          </a:p>
          <a:p xmlns:a="http://schemas.openxmlformats.org/drawingml/2006/main">
            <a:r>
              <a:t>What this says about the proposal: Inputs-only authoring gives the reader one authority for each meaning. The detailed field and pose conventions remain proposed.</a:t>
            </a:r>
          </a:p>
          <a:p xmlns:a="http://schemas.openxmlformats.org/drawingml/2006/main">
            <a:r>
              <a:t>Limit: The illustrated position is an example, not a surveyed Eiffel location. No crs:scale is proposed.</a:t>
            </a:r>
          </a:p>
          <a:p xmlns:a="http://schemas.openxmlformats.org/drawingml/2006/main">
            <a:r>
              <a:t>Proposal clause: #### Authored properties at proposal/proposal-source.txt:1540</a:t>
            </a:r>
          </a:p>
          <a:p xmlns:a="http://schemas.openxmlformats.org/drawingml/2006/main">
            <a:r>
              <a:t>Requirements: 9, 10, 12, 14,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Does changing coordinate systems preserve physical placement?</a:t>
            </a:r>
          </a:p>
          <a:p xmlns:a="http://schemas.openxmlformats.org/drawingml/2006/main">
            <a:r>
              <a:t>Proposed rule: A CRS conversion expresses the same physical location in different coordinates. The reader derives map convergence and local scale from the authoritative WKT and position.</a:t>
            </a:r>
          </a:p>
          <a:p xmlns:a="http://schemas.openxmlformats.org/drawingml/2006/main">
            <a:r>
              <a:t>Expected behavior: The coordinate numbers and units can change while the tower stays at the same physical place.</a:t>
            </a:r>
          </a:p>
          <a:p xmlns:a="http://schemas.openxmlformats.org/drawingml/2006/main">
            <a:r>
              <a:t>Observed result: Longitude, latitude and height become map coordinates. The physical site stays the same, while grid north and local scale can differ.</a:t>
            </a:r>
          </a:p>
          <a:p xmlns:a="http://schemas.openxmlformats.org/drawingml/2006/main">
            <a:r>
              <a:t>What this says about the proposal: A new coordinate representation has a defined physical meaning. The France and Colorado numerical controls test conversion separately from this illustration.</a:t>
            </a:r>
          </a:p>
          <a:p xmlns:a="http://schemas.openxmlformats.org/drawingml/2006/main">
            <a:r>
              <a:t>Limit: It explains the rule and does not verify surveyed Paris placement.</a:t>
            </a:r>
          </a:p>
          <a:p xmlns:a="http://schemas.openxmlformats.org/drawingml/2006/main">
            <a:r>
              <a:t>Proposal clause: ### Source placement evaluation and transform order at proposal/proposal-source.txt:1857</a:t>
            </a:r>
          </a:p>
          <a:p xmlns:a="http://schemas.openxmlformats.org/drawingml/2006/main">
            <a:r>
              <a:t>Requirements: 9, 12, 13, 16, 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In which coordinates do an author's scale, rotation and translation operate?</a:t>
            </a:r>
          </a:p>
          <a:p xmlns:a="http://schemas.openxmlformats.org/drawingml/2006/main">
            <a:r>
              <a:t>Proposed rule: Child transforms define the model's local geometry. Geospatial position and attitude place that geometry. The directly bound model's own xformOps then adjust the placed result in a fixed project chart, before conversion to the requested output.</a:t>
            </a:r>
          </a:p>
          <a:p xmlns:a="http://schemas.openxmlformats.org/drawingml/2006/main">
            <a:r>
              <a:t>Expected behavior: Changing the requested output CRS preserves the same physical adjustment. Child offsets continue to follow the model axes.</a:t>
            </a:r>
          </a:p>
          <a:p xmlns:a="http://schemas.openxmlformats.org/drawingml/2006/main">
            <a:r>
              <a:t>Observed result: The illustration scales by 1.15, rotates 20° and moves 120 m east and 60 m south. It shows adjustments on the directly bound model.</a:t>
            </a:r>
          </a:p>
          <a:p xmlns:a="http://schemas.openxmlformats.org/drawingml/2006/main">
            <a:r>
              <a:t>What this says about the proposal: The draft distinguishes project adjustments from model-local child offsets. A numerical control separates those interpretations by 4.222 m.</a:t>
            </a:r>
          </a:p>
          <a:p xmlns:a="http://schemas.openxmlformats.org/drawingml/2006/main">
            <a:r>
              <a:t>Limit: The chart and reset conventions remain proposed. Ordinary pivots follow the authored USD stack.</a:t>
            </a:r>
          </a:p>
          <a:p xmlns:a="http://schemas.openxmlformats.org/drawingml/2006/main">
            <a:r>
              <a:t>Proposal clause: #### Evaluation at proposal/proposal-source.txt:1957</a:t>
            </a:r>
          </a:p>
          <a:p xmlns:a="http://schemas.openxmlformats.org/drawingml/2006/main">
            <a:r>
              <a:t>Requirements: 9, 14, 15, 17, 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separate implementations derive the same coordinates from the proposed inputs and rules?</a:t>
            </a:r>
          </a:p>
          <a:p xmlns:a="http://schemas.openxmlformats.org/drawingml/2006/main">
            <a:r>
              <a:t>Proposed rule: Both readers use the composed source inputs and declared output CRS. Results include declared units and meaningful physical comparison.</a:t>
            </a:r>
          </a:p>
          <a:p xmlns:a="http://schemas.openxmlformats.org/drawingml/2006/main">
            <a:r>
              <a:t>Expected behavior: Python and C++ resolve the same partner points within the recorded comparison tolerance.</a:t>
            </a:r>
          </a:p>
          <a:p xmlns:a="http://schemas.openxmlformats.org/drawingml/2006/main">
            <a:r>
              <a:t>Observed result: The readers compare 213,243 coordinate results. The maximum measured physical difference is 3.39e-08 m.</a:t>
            </a:r>
          </a:p>
          <a:p xmlns:a="http://schemas.openxmlformats.org/drawingml/2006/main">
            <a:r>
              <a:t>What this says about the proposal: These cases support reproducible interpretation of the proposed behavior. Agreement alone cannot establish all rules or all input layouts.</a:t>
            </a:r>
          </a:p>
          <a:p xmlns:a="http://schemas.openxmlformats.org/drawingml/2006/main">
            <a:r>
              <a:t>Limit: Both readers use PROJ and share native dataset decoding. Agreement does not establish independent geodetic validation.</a:t>
            </a:r>
          </a:p>
          <a:p xmlns:a="http://schemas.openxmlformats.org/drawingml/2006/main">
            <a:r>
              <a:t>Proposal clause: ### Extent and result comparison at proposal/proposal-source.txt:2138</a:t>
            </a:r>
          </a:p>
          <a:p xmlns:a="http://schemas.openxmlformats.org/drawingml/2006/main">
            <a:r>
              <a:t>Requirements: 4, 13, 16, 17, 18, 28, 29</a:t>
            </a:r>
          </a:p>
          <a:p xmlns:a="http://schemas.openxmlformats.org/drawingml/2006/main">
            <a:r>
              <a:t>Tables show one recorded point per dataset in declared units, rounded to six decimals. [{"name":"France_01","label":"France: CC49 to Lambert-93","unit":"m","python":[661101.1094171533,6857834.256535667,37.297999998112694],"cpp":[661101.1094171533,6857834.256535667,37.298000000906654]},{"name":"Colorado_02","label":"Colorado: State Plane to site grid","unit":"US survey ft","python":[3108871.450100667,1206317.4694031866,5484.677949332321],"cpp":[3108871.450100667,1206317.469403112,5484.677949268161]}]</a:t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renderer use the result without implementing geospatial evaluation?</a:t>
            </a:r>
          </a:p>
          <a:p xmlns:a="http://schemas.openxmlformats.org/drawingml/2006/main">
            <a:r>
              <a:t>Proposed rule: An explicit bake resolves georeferencing into ordinary geometry and xformOps in a derived copy. A Cartesian coordinate context preserves location without an active source placement binding.</a:t>
            </a:r>
          </a:p>
          <a:p xmlns:a="http://schemas.openxmlformats.org/drawingml/2006/main">
            <a:r>
              <a:t>Expected behavior: An ordinary USD renderer displays the derived copy. The source scene retains its authored inputs.</a:t>
            </a:r>
          </a:p>
          <a:p xmlns:a="http://schemas.openxmlformats.org/drawingml/2006/main">
            <a:r>
              <a:t>Observed result: Native Hydra/Storm renders the C++-resolved Eiffel bake. A double-precision origin keeps local geometry small.</a:t>
            </a:r>
          </a:p>
          <a:p xmlns:a="http://schemas.openxmlformats.org/drawingml/2006/main">
            <a:r>
              <a:t>What this says about the proposal: The visualization path uses ordinary USD geometry. Reassembly controls confirm that a parent translation and an authored reset keep their USD meaning.</a:t>
            </a:r>
          </a:p>
          <a:p xmlns:a="http://schemas.openxmlformats.org/drawingml/2006/main">
            <a:r>
              <a:t>Limit: Ground context is illustrative. The image does not establish surveyed placement or surface-normal accuracy.</a:t>
            </a:r>
          </a:p>
          <a:p xmlns:a="http://schemas.openxmlformats.org/drawingml/2006/main">
            <a:r>
              <a:t>Proposal clause: ### Explicit export and sampling at proposal/proposal-source.txt:2195</a:t>
            </a:r>
          </a:p>
          <a:p xmlns:a="http://schemas.openxmlformats.org/drawingml/2006/main">
            <a:r>
              <a:t>Requirements: 17, 19, 23, 25, 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native measurement dataset remain usable without rewriting values or guessing coordinate meaning?</a:t>
            </a:r>
          </a:p>
          <a:p xmlns:a="http://schemas.openxmlformats.org/drawingml/2006/main">
            <a:r>
              <a:t>Proposed rule: The scene identifies the native asset, field and coordinate domain. Resolution preserves the pairing of values, locations, missing-data masks and observation times.</a:t>
            </a:r>
          </a:p>
          <a:p xmlns:a="http://schemas.openxmlformats.org/drawingml/2006/main">
            <a:r>
              <a:t>Expected behavior: A measurement stays the same whether its location is returned geographically or in Earth-centred Cartesian coordinates.</a:t>
            </a:r>
          </a:p>
          <a:p xmlns:a="http://schemas.openxmlformats.org/drawingml/2006/main">
            <a:r>
              <a:t>Observed result: The global field returns geographic and Earth-centred positions for 154 samples, preserving native values and two observation times.</a:t>
            </a:r>
          </a:p>
          <a:p xmlns:a="http://schemas.openxmlformats.org/drawingml/2006/main">
            <a:r>
              <a:t>What this says about the proposal: The same data model supports global analytics as well as rendering. Named-dimension controls check the value/location association separately.</a:t>
            </a:r>
          </a:p>
          <a:p xmlns:a="http://schemas.openxmlformats.org/drawingml/2006/main">
            <a:r>
              <a:t>Limit: Synthetic temperatures in kelvin. Both readers share decoding, so their agreement alone cannot verify the association.</a:t>
            </a:r>
          </a:p>
          <a:p xmlns:a="http://schemas.openxmlformats.org/drawingml/2006/main">
            <a:r>
              <a:t>Proposal clause: ### External measurement association at proposal/proposal-source.txt:1641</a:t>
            </a:r>
          </a:p>
          <a:p xmlns:a="http://schemas.openxmlformats.org/drawingml/2006/main">
            <a:r>
              <a:t>Requirements: 8, 12, 18, 19, 21, 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alignment","The detailed orientation, frame, WKT string normalization and publication conventions remain proposed."],["Prototype limitations","Lighting directions lack an error bound. Rotation uncertainty is unquantified. A quoted CRS name causes false rejection."],["Verification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declaration","Existing Profiles metadata carries a proposed complete publication summary, including unloaded and retained variant content."],["Baked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>[["Normal transport","Confirmed prototype defect: one large projected face differs by 1.24 degrees across its domain. Centroid sampling has no justified domain/error bound. The source already requires a faithful derivative or covered approximation."],["Near-half-turn numerics","The proposed failure rule is clear. The prototype's 64-epsilon guard lacks a demonstrated rotational uncertainty bound and a quantified native diagnostic."],["WKT quoted text","Confirmed shared prototype defect: a valid CRS name containing COORDINATEMETADATA is mistaken for a deferred epoch wrapper. Capability detection must use WKT structure, not quoted text."],["Publisher coverage","Retained-variant and unloaded-payload controls pass, including detection of a stale empty claim. This is not a production validator for every composition or variant combination."],["Consumer coverage","Python and C++ share PROJ and external-data decoding. Omniverse reuses Python. General material/primvar baking, physics and nonlinear continuous space/time certificates remain unverified or visibly unsupported."]]</a:t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a project's local survey grid participate as a defined CRS?</a:t>
            </a:r>
          </a:p>
          <a:p xmlns:a="http://schemas.openxmlformats.org/drawingml/2006/main">
            <a:r>
              <a:t>Proposed rule: The source WKT describes how a calibrated site grid relates to a broader CRS, including its units and height meaning.</a:t>
            </a:r>
          </a:p>
          <a:p xmlns:a="http://schemas.openxmlformats.org/drawingml/2006/main">
            <a:r>
              <a:t>Expected behavior: Partner survey lines resolve into the site grid without redefining the model units or up direction.</a:t>
            </a:r>
          </a:p>
          <a:p xmlns:a="http://schemas.openxmlformats.org/drawingml/2006/main">
            <a:r>
              <a:t>Observed result: The original LandXML survey breaklines resolve and reach an ordinary USD bake rendered by Storm.</a:t>
            </a:r>
          </a:p>
          <a:p xmlns:a="http://schemas.openxmlformats.org/drawingml/2006/main">
            <a:r>
              <a:t>What this says about the proposal: The partner case exercises a site's calibrated CRS. Its WKT-carried calibration participates in resolution.</a:t>
            </a:r>
          </a:p>
          <a:p xmlns:a="http://schemas.openxmlformats.org/drawingml/2006/main">
            <a:r>
              <a:t>Limit: The survey-line image does not establish independent survey accuracy or a continuous terrain-surface certificate.</a:t>
            </a:r>
          </a:p>
          <a:p xmlns:a="http://schemas.openxmlformats.org/drawingml/2006/main">
            <a:r>
              <a:t>Proposal clause: #### Decision on question 7: site calibration at proposal/proposal-source.txt:1304</a:t>
            </a:r>
          </a:p>
          <a:p xmlns:a="http://schemas.openxmlformats.org/drawingml/2006/main">
            <a:r>
              <a:t>Requirements: 4, 14, 15, 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Can incomplete source metadata still support a useful, explicitly horizontal workflow?</a:t>
            </a:r>
          </a:p>
          <a:p xmlns:a="http://schemas.openxmlformats.org/drawingml/2006/main">
            <a:r>
              <a:t>Proposed rule: The reader resolves a declared horizontal association and preserves uninterpreted third components. It does not invent a height reference.</a:t>
            </a:r>
          </a:p>
          <a:p xmlns:a="http://schemas.openxmlformats.org/drawingml/2006/main">
            <a:r>
              <a:t>Expected behavior: The horizontal railway copy resolves into UTM 32 while the original GeoJSON remains unchanged.</a:t>
            </a:r>
          </a:p>
          <a:p xmlns:a="http://schemas.openxmlformats.org/drawingml/2006/main">
            <a:r>
              <a:t>Observed result: The horizontal copy resolves 15,822 vertices across 2,386 parts. The plot uses offsets only for display.</a:t>
            </a:r>
          </a:p>
          <a:p xmlns:a="http://schemas.openxmlformats.org/drawingml/2006/main">
            <a:r>
              <a:t>What this says about the proposal: The draft supports horizontal resolution without inventing a height reference. The original third components remain uninterpreted.</a:t>
            </a:r>
          </a:p>
          <a:p xmlns:a="http://schemas.openxmlformats.org/drawingml/2006/main">
            <a:r>
              <a:t>Limit: Horizontal coordinates only. The original third components remain uninterpreted and supply no physical 3D distance.</a:t>
            </a:r>
          </a:p>
          <a:p xmlns:a="http://schemas.openxmlformats.org/drawingml/2006/main">
            <a:r>
              <a:t>Proposal clause: ### External measurement association at proposal/proposal-source.txt:1641</a:t>
            </a:r>
          </a:p>
          <a:p xmlns:a="http://schemas.openxmlformats.org/drawingml/2006/main">
            <a:r>
              <a:t>Requirements: 8, 12, 19, 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Question: Does the proposal define the result between authored moments?</a:t>
            </a:r>
          </a:p>
          <a:p xmlns:a="http://schemas.openxmlformats.org/drawingml/2006/main">
            <a:r>
              <a:t>Proposed rule: Interpolate the authored source position first, then convert coordinates. Physical orientation uses composed heading/pitch/roll samples and shortest-arc pose interpolation.</a:t>
            </a:r>
          </a:p>
          <a:p xmlns:a="http://schemas.openxmlformats.org/drawingml/2006/main">
            <a:r>
              <a:t>Expected behavior: The midpoint follows the source-defined path. An ambiguous half-turn requires an intermediate authored pose for interior-time evaluation.</a:t>
            </a:r>
          </a:p>
          <a:p xmlns:a="http://schemas.openxmlformats.org/drawingml/2006/main">
            <a:r>
              <a:t>Observed result: Equatorial longitude changes from 0° to 2°. Interpolating converted endpoints misses the source-first midpoint by 971.421 m.</a:t>
            </a:r>
          </a:p>
          <a:p xmlns:a="http://schemas.openxmlformats.org/drawingml/2006/main">
            <a:r>
              <a:t>What this says about the proposal: The order is testable. Sample keys alone cannot certify the original trajectory between samples.</a:t>
            </a:r>
          </a:p>
          <a:p xmlns:a="http://schemas.openxmlformats.org/drawingml/2006/main">
            <a:r>
              <a:t>Limit: The bake preserves time codes 0, 5 and 10 at 48 time codes per second. Continuous trajectory coverage remains unverified.</a:t>
            </a:r>
          </a:p>
          <a:p xmlns:a="http://schemas.openxmlformats.org/drawingml/2006/main">
            <a:r>
              <a:t>Proposal clause: #### Evaluation at proposal/proposal-source.txt:1957</a:t>
            </a:r>
          </a:p>
          <a:p xmlns:a="http://schemas.openxmlformats.org/drawingml/2006/main">
            <a:r>
              <a:t>Requirements: 20, 29</a:t>
            </a:r>
          </a:p>
          <a:p xmlns:a="http://schemas.openxmlformats.org/drawingml/2006/main">
            <a:r>
              <a:t>Chart uses the recorded t=0, 5, 10 coordinates. Six-decimal workbook snapshot values, whole-metre display labels. The bar is a negative control, not a measured failure of the source-first reader. Equatorial longitude changes from 0° to 2°. Interpolating converted endpoints misses the source-first midpoint by 971.421 m.</a:t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alignment","The detailed orientation, frame, WKT string normalization and publication conventions remain proposed."],["Prototype limitations","Lighting directions lack an error bound. Rotation uncertainty is unquantified. A quoted CRS name causes false rejection."],["Verification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declaration","Existing Profiles metadata carries a proposed complete publication summary, including unloaded and retained variant content."],["Baked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>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</a:t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alignment","The detailed orientation, frame, WKT string normalization and publication conventions remain proposed."],["Prototype limitations","Lighting directions lack an error bound. Rotation uncertainty is unquantified. A quoted CRS name causes false rejection."],["Verification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declaration","Existing Profiles metadata carries a proposed complete publication summary, including unloaded and retained variant content."],["Baked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>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declaration","Existing Profiles metadata carries a proposed complete publication summary, including unloaded and retained variant content."],["Baked coordinate context","Retain a Cartesian CRS and double-precision origin without an active source placement binding. Ordinary USD controls subsequent transforms."]]</a:t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{"assessment":[["Data model and runtime rules","The draft separates authored inputs from computed results and defines placement, adjustment, query and bake behavior."],["Group alignment","The detailed orientation, frame, WKT string normalization and publication conventions remain proposed."],["Prototype limitations","Lighting directions lack an error bound. Rotation uncertainty is unquantified. A quoted CRS name causes false rejection."],["Verification coverage","Selected workflows and distinguishing controls support the rules. Broader composition and continuous space/time coverage remain unverified."]],"placement":[["Physical orientation","One heading/pitch/roll tuple describes physical attitude against local east, north and up. Projection effects stay computed."],["Project adjustments","The directly bound model's own xformOps adjust its placed result in a fixed project chart, including ordinary pivots."],["Child objects","Child transforms define model-local geometry. Their offsets follow model axes and the geospatial attitude."],["Repeated models","Each instance offset retains its instancer-local meaning. Independent prototype placement participates once. A required unavailable inverse fails."],["Geographic scene results","Geographic queries retain longitude/latitude/height. Cartesian geometry and bounds use the datum's Earth-centred frame."]],"data":[["Native data associations","Declare the asset, field and coordinate domain. Preserve named dimensions and observation times."],["WKT string normalization","Normalize lexical spelling without losing represented information. Equal tokens establish serialized identity."],["Semantic CRS comparison","Different normalized texts can represent equivalent CRSs. Comparison names its criteria and domain."],["Dependency declaration","Existing Profiles metadata carries a proposed complete publication summary, including unloaded and retained variant content."],["Baked coordinate context","Retain a Cartesian CRS and double-precision origin without an active source placement binding. Ordinary USD controls subsequent transforms."]]}</a:t>
            </a:r>
          </a:p>
          <a:p xmlns:a="http://schemas.openxmlformats.org/drawingml/2006/main">
            <a:r>
              <a:t>[["Python and C++ readers","213,243 coordinate results per reader. Maximum measured difference 3.39e-08 m. Shared PROJ and decoding."],["Omniverse stage geometry","Reuses Python placement. Readback covers 177,872 vertices and 48 edit, failure and recovery checks across 39 jobs."],["Hydra / Storm","Two selected ordinary USD bakes reach native rendering using C++-resolved placements."],["Recorded tests","113 contract tests and 65 distinguishing controls pass. Separate diagnostics expose the reported prototype limits."],["Source preservation","Original inputs and 47 frozen execution files remain unchanged. The immutable receipt identifies exact executed content."],["Bake readbacks","11 selected exports checked. No general material/primvar, physics or continuous trajectory conformance is claimed."]]</a:t>
            </a:r>
          </a:p>
          <a:p xmlns:a="http://schemas.openxmlformats.org/drawingml/2006/main">
            <a:r>
              <a:t>Proposal 7b5b34b7282305135f672663a3cffb0f94342ecc SHA-256 010d4c0243e7e6985284cccadb00fb7c6f7b0c5c50f22d81bb31ada960548d75</a:t>
            </a:r>
          </a:p>
          <a:p xmlns:a="http://schemas.openxmlformats.org/drawingml/2006/main">
            <a:r>
              <a:t>README SHA-256 32731631975544a0d484f84f76524fd94c3aac82ac3347a37b6990cbe7907035</a:t>
            </a:r>
          </a:p>
          <a:p xmlns:a="http://schemas.openxmlformats.org/drawingml/2006/main">
            <a:r>
              <a:t>Immutable receipt SHA-256 db39bc27bc04bf7f70bfaf2e5048b085798e3ef8b72e58fa54a367a51b7b6d91</a:t>
            </a:r>
          </a:p>
          <a:p xmlns:a="http://schemas.openxmlformats.org/drawingml/2006/main">
            <a:r>
              <a:t>Eiffel mesh: SDC PERFORMANCE, https://sketchfab.com/3d-models/free-la-tour-eiffel-8553f94d06e24cb4b0fde1080f281674, CC BY 4.0 https://creativecommons.org/licenses/by/4.0/ . Informative positions and ground context do not establish surveyed placement.</a:t>
            </a:r>
          </a:p>
          <a:p xmlns:a="http://schemas.openxmlformats.org/drawingml/2006/main">
            <a:r>
              <a:t>Full detailed model remains proposed. Python and C++ share PROJ and decoding. Omniverse reuses Python. Hydra consumes a resolved ordinary USD bake.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90f7d6c38b41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563dbd2cc040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e5311b8f7408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470dcdcb046f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d7aa10473c4fb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f64461663744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475AEB-D8A4-4425-AD19-A4590C8F1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0C48101-212F-46E7-9E8C-C3FE4774FA2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4D6A53A-5B10-4DC9-9E8B-D787DBE97C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7DDC44D-6D65-499D-B972-FCD5DCCADD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82FC061-02E8-4446-9FCB-2F20B891AF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87D3D1-8CE7-4F57-82C9-35480111BA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0F73DAF-40C0-4D71-A688-1A568418A6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994E8A3-D44C-4607-8341-C69D83D1301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35B04F-4596-4A23-9907-64A68289AD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8AEE93-2B53-4707-9B98-60F27BCA4A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79e5876ab44dc9" /><Relationship Type="http://schemas.openxmlformats.org/officeDocument/2006/relationships/slideLayout" Target="/ppt/slideLayouts/slideLayout1.xml" Id="Rff7ba0c0b2c04775" /><Relationship Type="http://schemas.openxmlformats.org/officeDocument/2006/relationships/slideLayout" Target="/ppt/slideLayouts/slideLayout2.xml" Id="Re5b51691d3ff47dd" /><Relationship Type="http://schemas.openxmlformats.org/officeDocument/2006/relationships/slideLayout" Target="/ppt/slideLayouts/slideLayout3.xml" Id="Rccf7f5c858c347e3" /><Relationship Type="http://schemas.openxmlformats.org/officeDocument/2006/relationships/slideLayout" Target="/ppt/slideLayouts/slideLayout4.xml" Id="R91544a1a63104f27" /><Relationship Type="http://schemas.openxmlformats.org/officeDocument/2006/relationships/slideLayout" Target="/ppt/slideLayouts/slideLayout5.xml" Id="R6f54fd9e991043d2" /><Relationship Type="http://schemas.openxmlformats.org/officeDocument/2006/relationships/slideLayout" Target="/ppt/slideLayouts/slideLayout6.xml" Id="R6d7aa54083a74a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7ba0c0b2c04775"/>
    <p:sldLayoutId xmlns:r="http://schemas.openxmlformats.org/officeDocument/2006/relationships" id="2147483650" r:id="Re5b51691d3ff47dd"/>
    <p:sldLayoutId xmlns:r="http://schemas.openxmlformats.org/officeDocument/2006/relationships" id="2147483651" r:id="Rccf7f5c858c347e3"/>
    <p:sldLayoutId xmlns:r="http://schemas.openxmlformats.org/officeDocument/2006/relationships" id="2147483652" r:id="R91544a1a63104f27"/>
    <p:sldLayoutId xmlns:r="http://schemas.openxmlformats.org/officeDocument/2006/relationships" id="2147483653" r:id="R6f54fd9e991043d2"/>
    <p:sldLayoutId xmlns:r="http://schemas.openxmlformats.org/officeDocument/2006/relationships" id="2147483654" r:id="R6d7aa54083a74a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f959c3de5541a0" /><Relationship Type="http://schemas.openxmlformats.org/officeDocument/2006/relationships/notesSlide" Target="/ppt/notesSlides/notesSlide1.xml" Id="R80c2b7682a4142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0a1e39aa754506" /><Relationship Type="http://schemas.openxmlformats.org/officeDocument/2006/relationships/notesSlide" Target="/ppt/notesSlides/notesSlide2.xml" Id="Rd777f7c6652a45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953ec0e62d43fa" /><Relationship Type="http://schemas.openxmlformats.org/officeDocument/2006/relationships/image" Target="/ppt/media/image.png" Id="Ra928073ddee345e5" /><Relationship Type="http://schemas.openxmlformats.org/officeDocument/2006/relationships/notesSlide" Target="/ppt/notesSlides/notesSlide3.xml" Id="Rb5080ff0fc4047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86bef548ab4c23" /><Relationship Type="http://schemas.openxmlformats.org/officeDocument/2006/relationships/image" Target="/ppt/media/image2.png" Id="Rcd7626631d0342b1" /><Relationship Type="http://schemas.openxmlformats.org/officeDocument/2006/relationships/notesSlide" Target="/ppt/notesSlides/notesSlide4.xml" Id="R87d780ce7f0e42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6bd4f607864dcb" /><Relationship Type="http://schemas.openxmlformats.org/officeDocument/2006/relationships/notesSlide" Target="/ppt/notesSlides/notesSlide5.xml" Id="Re31b2c7125904a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e2d59e1c1f4ff5" /><Relationship Type="http://schemas.openxmlformats.org/officeDocument/2006/relationships/image" Target="/ppt/media/image3.png" Id="Rc9c5ba3a6d0a4408" /><Relationship Type="http://schemas.openxmlformats.org/officeDocument/2006/relationships/notesSlide" Target="/ppt/notesSlides/notesSlide6.xml" Id="R8fef5370e552470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3a23c763b94eaa" /><Relationship Type="http://schemas.openxmlformats.org/officeDocument/2006/relationships/image" Target="/ppt/media/image4.png" Id="Reff07694a7d64a09" /><Relationship Type="http://schemas.openxmlformats.org/officeDocument/2006/relationships/notesSlide" Target="/ppt/notesSlides/notesSlide7.xml" Id="R94f77c1423c14a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9310a481b34065" /><Relationship Type="http://schemas.openxmlformats.org/officeDocument/2006/relationships/notesSlide" Target="/ppt/notesSlides/notesSlide8.xml" Id="R7cac0beacb704a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d2f184b6684bbd" /><Relationship Type="http://schemas.openxmlformats.org/officeDocument/2006/relationships/image" Target="/ppt/media/image5.png" Id="Ra59159356e6a4547" /><Relationship Type="http://schemas.openxmlformats.org/officeDocument/2006/relationships/notesSlide" Target="/ppt/notesSlides/notesSlide9.xml" Id="R0c03de5ab3ba41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a50d11aa104870" /><Relationship Type="http://schemas.openxmlformats.org/officeDocument/2006/relationships/image" Target="/ppt/media/image6.png" Id="Rbcfbe249142f457d" /><Relationship Type="http://schemas.openxmlformats.org/officeDocument/2006/relationships/notesSlide" Target="/ppt/notesSlides/notesSlide10.xml" Id="R7a19affc9b0f4dd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8ffeac422043b0" /><Relationship Type="http://schemas.openxmlformats.org/officeDocument/2006/relationships/chart" Target="/ppt/slides/charts/chart1.xml" Id="Rbee1f8f135e34072" /><Relationship Type="http://schemas.openxmlformats.org/officeDocument/2006/relationships/notesSlide" Target="/ppt/notesSlides/notesSlide11.xml" Id="Ra5fa8e11aca849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c814127063481a" /><Relationship Type="http://schemas.openxmlformats.org/officeDocument/2006/relationships/notesSlide" Target="/ppt/notesSlides/notesSlide12.xml" Id="R62fb95f8a15e487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7246c05fd3458e" /><Relationship Type="http://schemas.openxmlformats.org/officeDocument/2006/relationships/notesSlide" Target="/ppt/notesSlides/notesSlide13.xml" Id="Rcf663d574253426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61005f18b040da" /><Relationship Type="http://schemas.openxmlformats.org/officeDocument/2006/relationships/notesSlide" Target="/ppt/notesSlides/notesSlide14.xml" Id="Rde2baeee8c3e443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Error from interpolating converted endpoints</c:v>
          </c:tx>
          <c:spPr>
            <a:solidFill xmlns:a="http://schemas.openxmlformats.org/drawingml/2006/main">
              <a:srgbClr val="A25D20"/>
            </a:solidFill>
          </c:spP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0</c:v>
                </c:pt>
                <c:pt idx="1">
                  <c:v>971.421158</c:v>
                </c:pt>
                <c:pt idx="2">
                  <c:v>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USD sample time code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E1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9EEF1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Distance from source-first result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99C30-FA86-4363-9F3B-0C552D69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Geospatial proposal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D9EC52-9C42-405D-8322-CFF040F4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USD describes a 3D model's shape and size. Geospatial information says where it belongs on Earth, so models, surveys and measurements can work together.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4F448-51F6-43F4-9D40-48736EE7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10972800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Proposal quality means that another implementer can derive the inputs, evaluation order and observable outcomes without guessing. The full draft specifies those rules for the workflows shown here.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2CEF57-6356-44BC-B267-96CA156D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Selected demonstrations support the proposed behavior. Detailed conventions still need group review, and three prototype limitations remain. This evidence does not establish exhaustive completeness or independent geodetic accuracy.</a:t>
            </a:r>
          </a:p>
        </p:txBody>
      </p:sp>
    </p:spTree>
    <p:extLst>
      <p:ext uri="{BB962C8B-B14F-4D97-AF65-F5344CB8AC3E}">
        <p14:creationId xmlns:p14="http://schemas.microsoft.com/office/powerpoint/2010/main" val="17498632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63E96-B631-492D-B075-820434AD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 geographic location for a 3D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1577B2-44C9-43F8-BF1F-2D1E4E8B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a reader distinguish the model's shape from its location on Earth?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30B73E-B318-4CE3-9A99-4E363F244FBD}"/>
              </a:ext>
            </a:extLst>
          </p:cNvPr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 information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Plain meaning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Model geometry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Shape and local distances, with declared units and up direction. In USD: points, metersPerUnit and upAxis.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Coordinate reference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 CRS binding refers to WKT, the standard text description of the location's axes, units and height meaning.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origin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crs:position locates the model origin. The illustrative example uses longitude 2.2945°, latitude 48.8584° and ellipsoidal height 80 m.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Physical orientation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crs:orientation records heading, pitch and roll in degrees: which way the model faces and tilts against local east, north and up.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FA8A3-55ED-47CA-BC92-C16865E5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A reader can place the model without treating longitude or latitude as a distance or adding computed results to the source schema.</a:t>
            </a:r>
          </a:p>
        </p:txBody>
      </p:sp>
    </p:spTree>
    <p:extLst>
      <p:ext uri="{BB962C8B-B14F-4D97-AF65-F5344CB8AC3E}">
        <p14:creationId xmlns:p14="http://schemas.microsoft.com/office/powerpoint/2010/main" val="6950271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538F70-E80B-4B96-9F9A-1242D76F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One physical place, different coordinates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C91A2-A414-4E2B-A5EC-7792B46C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Does changing coordinate systems preserve physical placement?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246415-A39C-44F5-A383-0BD61C39C2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8073ddee345e5"/>
          <a:srcRect xmlns:a="http://schemas.openxmlformats.org/drawingml/2006/main" l="0" t="8974" r="0" b="33333"/>
          <a:stretch xmlns:a="http://schemas.openxmlformats.org/drawingml/2006/main"/>
        </p:blipFill>
        <p:spPr>
          <a:xfrm xmlns:a="http://schemas.openxmlformats.org/drawingml/2006/main">
            <a:off x="609600" y="2381250"/>
            <a:ext cx="7258050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F8916F-EC4F-4874-98A9-D96A0334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CD6EA-F297-4A7C-8E2B-F14B6AFC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Longitude, latitude and height become map coordinates. The physical site stays the same, while grid north and local scale can differ.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0A6CF3-8317-4319-A170-2D9AB68E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AA1B6-0BD9-4F1D-86AC-896F6CE2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A new coordinate representation has a defined physical meaning. The France and Colorado numerical controls test conversion separately from this illustration.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6FADAE-106C-446B-BACE-17D4152E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Informative illustration.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2764238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44AEC2-AE82-4FFB-AA65-5B19302B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Ordinary model adjustments after placement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F4658-6741-4B98-B4B0-8AFAA7C1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In which coordinates do an author's scale, rotation and translation operate?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343D7-7670-468B-A4AB-C3FB25F18E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626631d0342b1"/>
          <a:srcRect xmlns:a="http://schemas.openxmlformats.org/drawingml/2006/main" l="0" t="8974" r="0" b="33333"/>
          <a:stretch xmlns:a="http://schemas.openxmlformats.org/drawingml/2006/main"/>
        </p:blipFill>
        <p:spPr>
          <a:xfrm xmlns:a="http://schemas.openxmlformats.org/drawingml/2006/main">
            <a:off x="609600" y="2381250"/>
            <a:ext cx="7258050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D9335E-DEBC-43DF-B88E-D28A995F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2041B-4ABB-45B2-A164-4859502D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illustration scales by 1.15, rotates 20° and moves 120 m east and 60 m south. It shows adjustments on the directly bound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E94B4-EDA8-4BDF-A4A2-AF5D9315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7A1579-D4C1-493D-A9AA-2EAD1A39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draft distinguishes project adjustments from model-local child offsets. A numerical control separates those interpretations by 4.222 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22457-F0F0-4574-B89D-7C86C78A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Informative illustration.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10109299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45D77E-F59F-4437-A984-6F5FF38B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same rules in two placement readers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5A709A-DA2E-4403-93F2-1072E87D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separate implementations derive the same coordinates from the proposed inputs and rules?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EF841E-E312-4512-8B20-E674549C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France: CC49 to Lambert-93, metres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8CD0AC-CA4B-4A25-A863-CFBE6141274E}"/>
              </a:ext>
            </a:extLst>
          </p:cNvPr>
          <p:cNvGraphicFramePr/>
          <p:nvPr/>
        </p:nvGraphicFramePr>
        <p:xfrm>
          <a:off xmlns:a="http://schemas.openxmlformats.org/drawingml/2006/main" x="609600" y="2733675"/>
          <a:ext xmlns:a="http://schemas.openxmlformats.org/drawingml/2006/main" cx="10972800" cy="1352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52800"/>
                <a:gridCol w="3810000"/>
                <a:gridCol w="3810000"/>
              </a:tblGrid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Resolved component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 reader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C++ reader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east coordinate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661,101.109417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661,101.109417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north coordinate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6,857,834.256536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6,857,834.256536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37.298000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37.298000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C0DC1-FC45-46B2-9CC6-002D57A2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Colorado: State Plane to site grid, US survey feet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03520-77DE-444C-9E7A-0C15DC85337B}"/>
              </a:ext>
            </a:extLst>
          </p:cNvPr>
          <p:cNvGraphicFramePr/>
          <p:nvPr/>
        </p:nvGraphicFramePr>
        <p:xfrm>
          <a:off xmlns:a="http://schemas.openxmlformats.org/drawingml/2006/main" x="609600" y="4667250"/>
          <a:ext xmlns:a="http://schemas.openxmlformats.org/drawingml/2006/main" cx="10972800" cy="1352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52800"/>
                <a:gridCol w="3810000"/>
                <a:gridCol w="3810000"/>
              </a:tblGrid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Resolved component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Python reader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C++ reader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east coordinate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3,108,871.450101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3,108,871.450101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Map north coordinate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1,206,317.469403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1,206,317.469403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3381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5,484.677949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5,484.677949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FB72E-6138-4960-9BB3-B47CADEF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Both readers use PROJ and share native dataset decoding.</a:t>
            </a:r>
          </a:p>
        </p:txBody>
      </p:sp>
    </p:spTree>
    <p:extLst>
      <p:ext uri="{BB962C8B-B14F-4D97-AF65-F5344CB8AC3E}">
        <p14:creationId xmlns:p14="http://schemas.microsoft.com/office/powerpoint/2010/main" val="7015037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47CCB9-E97A-4603-B8A5-546BE065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Ordinary USD geometry for rendering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4FD89-DA37-451B-A74C-5F3DB114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a renderer use the result without implementing geospatial evaluation?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9F284-9B81-4187-8FC9-E2B8FB2D04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5ba3a6d0a4408"/>
          <a:stretch xmlns:a="http://schemas.openxmlformats.org/drawingml/2006/main"/>
        </p:blipFill>
        <p:spPr>
          <a:xfrm xmlns:a="http://schemas.openxmlformats.org/drawingml/2006/main">
            <a:off x="609600" y="2383036"/>
            <a:ext cx="7258050" cy="40826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351795-9C56-4477-AA94-B3DEDC8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7955D8-8153-4800-9446-79821C4E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Native Hydra/Storm renders the C++-resolved Eiffel bake. A double-precision origin keeps local geometry small.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970FBB-30F8-46B1-8733-D09B0AC3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F81F3-ADBA-41A0-9D81-BB797306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visualization path uses ordinary USD geometry. Reassembly controls confirm that a parent translation and an authored reset keep their USD meaning.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5106D5-4320-499C-BF59-DAA53661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Recorded native render.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9469725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4A29B-2B1A-46B9-A931-178AD2C1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Measurements stay paired with their locations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D08D7-9821-4B55-BF35-85B53C98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Can a native measurement dataset remain usable without rewriting values or guessing coordinate meaning?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C06E4-78F5-472C-9625-E3EBE1EA54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07694a7d64a09"/>
          <a:stretch xmlns:a="http://schemas.openxmlformats.org/drawingml/2006/main"/>
        </p:blipFill>
        <p:spPr>
          <a:xfrm xmlns:a="http://schemas.openxmlformats.org/drawingml/2006/main">
            <a:off x="2637234" y="2371725"/>
            <a:ext cx="6917531" cy="31623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C00D1-CF25-459E-A44A-10512AE9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global field returns geographic and Earth-centred positions for 154 samples, preserving native values and two observation times.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D4134-E17D-44FB-8B1D-01FF42EF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Synthetic temperatures in kelvin. Both readers share decoding, so their agreement alone cannot verify the association.</a:t>
            </a:r>
          </a:p>
        </p:txBody>
      </p:sp>
    </p:spTree>
    <p:extLst>
      <p:ext uri="{BB962C8B-B14F-4D97-AF65-F5344CB8AC3E}">
        <p14:creationId xmlns:p14="http://schemas.microsoft.com/office/powerpoint/2010/main" val="1844870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33CE2F-69C3-451D-94DC-F1647234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Proposal quality and its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4F7940-487C-487B-A593-8E966668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Selected demonstrations support the proposed behavior.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098D2-71E0-4C49-8EDB-9E4F497AAC17}"/>
              </a:ext>
            </a:extLst>
          </p:cNvPr>
          <p:cNvGraphicFramePr/>
          <p:nvPr/>
        </p:nvGraphicFramePr>
        <p:xfrm>
          <a:off xmlns:a="http://schemas.openxmlformats.org/drawingml/2006/main" x="609600" y="220027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 dimension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Assessment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Data model and runtime rules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The draft separates authored inputs from computed results and defines placement, adjustment, query and bake behavior.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Group alignment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The detailed orientation, frame, WKT string normalization and publication conventions remain proposed.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Prototype limitations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Lighting directions lack an error bound. Rotation uncertainty is unquantified. A quoted CRS name causes false rejection.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Verification coverage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Selected workflows and distinguishing controls support the rules. Broader composition and continuous space/time coverage remain unverified.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8CC8FB-A0F7-4D71-9295-E5A0EEB3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No additional undefined model rule was confirmed in the inspected paths. That is a bounded finding.</a:t>
            </a:r>
          </a:p>
        </p:txBody>
      </p:sp>
    </p:spTree>
    <p:extLst>
      <p:ext uri="{BB962C8B-B14F-4D97-AF65-F5344CB8AC3E}">
        <p14:creationId xmlns:p14="http://schemas.microsoft.com/office/powerpoint/2010/main" val="2304285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417B38-50E6-415E-A50B-7FF9F8D6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A construction site's own survey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34C1B0-AB0B-4F5A-A520-BEF4063C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a project's local survey grid participate as a defined CRS?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CC1F64-21F6-4032-81EA-86D50EDF36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159356e6a4547"/>
          <a:stretch xmlns:a="http://schemas.openxmlformats.org/drawingml/2006/main"/>
        </p:blipFill>
        <p:spPr>
          <a:xfrm xmlns:a="http://schemas.openxmlformats.org/drawingml/2006/main">
            <a:off x="609600" y="2383036"/>
            <a:ext cx="7258050" cy="408265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2225E-EC75-4ED2-A327-2AD85B09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6AFE17-5D28-451D-B3DB-75F7442C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original LandXML survey breaklines resolve and reach an ordinary USD bake rendered by Storm.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67865-0E7C-43DC-94E0-D47FE372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29EE2-C0E6-4B17-82FA-4E37A280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partner case exercises a site's calibrated CRS. Its WKT-carried calibration participates in resolution.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6F17F-FB6A-4E29-9C0C-2CE9C7ED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Recorded native render.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5378824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A57AD8-4157-42C0-AB8B-E4A3DB2D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Horizontal railway placement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DD7DA-49DB-4910-AE50-EB81FDB6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Can incomplete source metadata still support a useful, explicitly horizontal workflow?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3B088-4811-4A03-980C-AE45402206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fbe249142f457d"/>
          <a:stretch xmlns:a="http://schemas.openxmlformats.org/drawingml/2006/main"/>
        </p:blipFill>
        <p:spPr>
          <a:xfrm xmlns:a="http://schemas.openxmlformats.org/drawingml/2006/main">
            <a:off x="1878478" y="2381250"/>
            <a:ext cx="4720294" cy="40862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885AA-FF43-4B40-91ED-C91AE090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343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CC82C-4D23-4E05-AD16-7EFB814E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343275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horizontal copy resolves 15,822 vertices across 2,386 parts. The plot uses offsets only for display.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A1DF0-BE10-4451-B2E1-19F702FA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29125"/>
            <a:ext cx="3343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What it establishes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82C00B-A739-4FD6-84F0-5E147397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91075"/>
            <a:ext cx="33432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draft supports horizontal resolution without inventing a height reference. The original third components remain uninterpreted.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CE3E4B-887D-45AA-A32F-86DB6899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725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Plot of recorded resolved geometry. Limits in the notes and README.</a:t>
            </a:r>
          </a:p>
        </p:txBody>
      </p:sp>
    </p:spTree>
    <p:extLst>
      <p:ext uri="{BB962C8B-B14F-4D97-AF65-F5344CB8AC3E}">
        <p14:creationId xmlns:p14="http://schemas.microsoft.com/office/powerpoint/2010/main" val="5279870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993A1-3212-4B56-BF46-68E8EB1A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Animation evaluation order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64E3A-0F69-42D4-B86D-134EB42A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Interpolate the authored source position first, then convert coordinates.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CF976-AC29-445D-A93B-5CA8E53D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Equatorial longitude changes from 0° to 2°. Interpolating converted endpoints misses the source-first midpoint by 971.421 m.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2EB04BBD-BCFA-4E41-BDF3-5F03E05BA3E5}"/>
              </a:ext>
            </a:extLst>
          </p:cNvPr>
          <p:cNvGraphicFramePr/>
          <p:nvPr/>
        </p:nvGraphicFramePr>
        <p:xfrm>
          <a:off xmlns:a="http://schemas.openxmlformats.org/drawingml/2006/main" x="428625" y="2524125"/>
          <a:ext xmlns:a="http://schemas.openxmlformats.org/drawingml/2006/main" cx="7200900" cy="3886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ee1f8f135e3407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7BF657-EADC-4EA5-813D-62D45DFE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81275"/>
            <a:ext cx="3486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Why the order matters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EB732-139C-47B3-99F5-E7DB8F02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67075"/>
            <a:ext cx="3486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order is testable. Sample keys alone cannot certify the original trajectory between samples.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71493D-7871-4AFB-8710-F75903DE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348615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 bake preserves time codes 0, 5 and 10 at 48 time codes per second. Continuous trajectory coverage remains unverified.</a:t>
            </a:r>
          </a:p>
        </p:txBody>
      </p:sp>
    </p:spTree>
    <p:extLst>
      <p:ext uri="{BB962C8B-B14F-4D97-AF65-F5344CB8AC3E}">
        <p14:creationId xmlns:p14="http://schemas.microsoft.com/office/powerpoint/2010/main" val="4144538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E1F4F-04D2-4CF8-8F5E-BF4204C8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Placement conventions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958F2-C633-444B-A29E-781C43CD6B4A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257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591425"/>
              </a:tblGrid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Topic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meaning to review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Physical orientation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One heading/pitch/roll tuple describes physical attitude against local east, north and up. Projection effects stay computed.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Project adjustments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The directly bound model's own xformOps adjust its placed result in a fixed project chart, including ordinary pivots.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objects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transforms define model-local geometry. Their offsets follow model axes and the geospatial attitude.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Repeated models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Each instance offset retains its instancer-local meaning. Independent prototype placement participates once. A required unavailable inverse fails.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scene results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Geographic queries retain longitude/latitude/height. Cartesian geometry and bounds use the datum's Earth-centred frame.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2E606-4866-4FE3-9F8D-9F086086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These are proposed definitions in the full draft.</a:t>
            </a:r>
          </a:p>
        </p:txBody>
      </p:sp>
    </p:spTree>
    <p:extLst>
      <p:ext uri="{BB962C8B-B14F-4D97-AF65-F5344CB8AC3E}">
        <p14:creationId xmlns:p14="http://schemas.microsoft.com/office/powerpoint/2010/main" val="18570457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A4570-2A8A-4FFF-986F-F74B07AE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Data and declaration conventions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931D9-2C51-4C38-867C-FE7FE9FD2261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257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591425"/>
              </a:tblGrid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Topic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Proposed meaning to review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Native data associations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Declare the asset, field and coordinate domain. Preserve named dimensions and observation times.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WKT string normalization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Normalize lexical spelling without losing represented information. Equal tokens establish serialized identity.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Semantic CRS comparison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Different normalized texts can represent equivalent CRSs. Comparison names its criteria and domain.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Dependency declaration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Existing Profiles metadata carries a proposed complete publication summary, including unloaded and retained variant content.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70961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Baked coordinate context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Retain a Cartesian CRS and double-precision origin without an active source placement binding. Ordinary USD controls subsequent transforms.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F5CC13-A329-4AE2-B061-85B813B2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Coordinate epochs and scene-authored transformation-resource controls are deferred while preserving a path to future support.</a:t>
            </a:r>
          </a:p>
        </p:txBody>
      </p:sp>
    </p:spTree>
    <p:extLst>
      <p:ext uri="{BB962C8B-B14F-4D97-AF65-F5344CB8AC3E}">
        <p14:creationId xmlns:p14="http://schemas.microsoft.com/office/powerpoint/2010/main" val="16603507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EE6995-B652-4DEF-A1F3-04D33433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Appendix: Evidence and its limits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54460-6455-4244-B983-9FA9E4E4BAF1}"/>
              </a:ext>
            </a:extLst>
          </p:cNvPr>
          <p:cNvGraphicFramePr/>
          <p:nvPr/>
        </p:nvGraphicFramePr>
        <p:xfrm>
          <a:off xmlns:a="http://schemas.openxmlformats.org/drawingml/2006/main" x="609600" y="1438275"/>
          <a:ext xmlns:a="http://schemas.openxmlformats.org/drawingml/2006/main" cx="10972800" cy="4371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Path or check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evidence</a:t>
                      </a:r>
                    </a:p>
                  </a:txBody>
                  <a:tcPr marL="95250" marR="95250" marT="38100" marB="38100">
                    <a:solidFill>
                      <a:srgbClr val="213744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Python and C++ readers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213,243 coordinate results per reader. Maximum measured difference 3.39e-08 m. Shared PROJ and decoding.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Omniverse stage geometry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Reuses Python placement. Readback covers 177,872 vertices and 48 edit, failure and recovery checks across 39 jobs.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Hydra / Storm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Two selected ordinary USD bakes reach native rendering using C++-resolved placements.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Recorded tests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113 contract tests and 65 distinguishing controls pass. Separate diagnostics expose the reported prototype limits.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Source preservation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Original inputs and 47 frozen execution files remain unchanged. The immutable receipt identifies exact executed content.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  <a:tr h="62456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Bake readbacks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11 selected exports checked. No general material/primvar, physics or continuous trajectory conformance is claimed.</a:t>
                      </a:r>
                    </a:p>
                  </a:txBody>
                  <a:tcPr marL="95250" marR="9525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D00BD9-6875-4086-94C8-60143939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There are two placement readers. Omniverse reuses Python with a verified stage geometry sink. Hydra consumes a C++-resolved ordinary USD bake.</a:t>
            </a:r>
          </a:p>
        </p:txBody>
      </p:sp>
    </p:spTree>
    <p:extLst>
      <p:ext uri="{BB962C8B-B14F-4D97-AF65-F5344CB8AC3E}">
        <p14:creationId xmlns:p14="http://schemas.microsoft.com/office/powerpoint/2010/main" val="9979508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2026-10-09T04:10:50.7890000Z</dcterms:created>
  <dcterms:modified xsi:type="dcterms:W3CDTF">2026-10-09T04:10:50.7890000Z</dcterms:modified>
</coreProperties>
</file>