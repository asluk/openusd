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e3bc20f4624b37" /><Relationship Type="http://schemas.openxmlformats.org/officeDocument/2006/relationships/extended-properties" Target="/docProps/app.xml" Id="Rbeff388e43514eab" /><Relationship Type="http://schemas.openxmlformats.org/officeDocument/2006/relationships/officeDocument" Target="/ppt/presentation.xml" Id="R879d0391454246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495d12d7884150"/>
  </p:sldMasterIdLst>
  <p:notesMasterIdLst>
    <p:notesMasterId xmlns:r="http://schemas.openxmlformats.org/officeDocument/2006/relationships" r:id="R561b191d8cb74992"/>
  </p:notesMasterIdLst>
  <p:sldIdLst>
    <p:sldId xmlns:r="http://schemas.openxmlformats.org/officeDocument/2006/relationships" id="256" r:id="R818e630933ba4c39"/>
    <p:sldId xmlns:r="http://schemas.openxmlformats.org/officeDocument/2006/relationships" id="257" r:id="R41e544912d3b41d9"/>
    <p:sldId xmlns:r="http://schemas.openxmlformats.org/officeDocument/2006/relationships" id="258" r:id="Rfe4c7ad194dd4f32"/>
    <p:sldId xmlns:r="http://schemas.openxmlformats.org/officeDocument/2006/relationships" id="259" r:id="R29325ae87fec4251"/>
    <p:sldId xmlns:r="http://schemas.openxmlformats.org/officeDocument/2006/relationships" id="260" r:id="R7ed2aeaea17645e3"/>
    <p:sldId xmlns:r="http://schemas.openxmlformats.org/officeDocument/2006/relationships" id="261" r:id="Rc09f8a9241b84a36"/>
    <p:sldId xmlns:r="http://schemas.openxmlformats.org/officeDocument/2006/relationships" id="262" r:id="R9e5618f87d5245a9"/>
    <p:sldId xmlns:r="http://schemas.openxmlformats.org/officeDocument/2006/relationships" id="263" r:id="R09640d070c97476f"/>
    <p:sldId xmlns:r="http://schemas.openxmlformats.org/officeDocument/2006/relationships" id="264" r:id="R210d525897fe4ea0"/>
    <p:sldId xmlns:r="http://schemas.openxmlformats.org/officeDocument/2006/relationships" id="265" r:id="Re56ac4a79adc490b"/>
    <p:sldId xmlns:r="http://schemas.openxmlformats.org/officeDocument/2006/relationships" id="266" r:id="R0124ed7a7a634f25"/>
    <p:sldId xmlns:r="http://schemas.openxmlformats.org/officeDocument/2006/relationships" id="267" r:id="Rfd764812830f4451"/>
    <p:sldId xmlns:r="http://schemas.openxmlformats.org/officeDocument/2006/relationships" id="268" r:id="R2e73acb80b5d43dc"/>
    <p:sldId xmlns:r="http://schemas.openxmlformats.org/officeDocument/2006/relationships" id="269" r:id="Rbd31d059a5264b67"/>
    <p:sldId xmlns:r="http://schemas.openxmlformats.org/officeDocument/2006/relationships" id="270" r:id="Rad05041d79724318"/>
    <p:sldId xmlns:r="http://schemas.openxmlformats.org/officeDocument/2006/relationships" id="271" r:id="Rcb5981d3e3e746dd"/>
    <p:sldId xmlns:r="http://schemas.openxmlformats.org/officeDocument/2006/relationships" id="272" r:id="R6b152924a33343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4e60dd6b174153" /><Relationship Type="http://schemas.openxmlformats.org/officeDocument/2006/relationships/slideMaster" Target="/ppt/slideMasters/slideMaster1.xml" Id="R51495d12d7884150" /><Relationship Type="http://schemas.openxmlformats.org/officeDocument/2006/relationships/notesMaster" Target="/ppt/notesMasters/notesMaster1.xml" Id="R561b191d8cb74992" /><Relationship Type="http://schemas.openxmlformats.org/officeDocument/2006/relationships/presProps" Target="/ppt/presProps.xml" Id="R1dbcd44a93cc4878" /><Relationship Type="http://schemas.openxmlformats.org/officeDocument/2006/relationships/tableStyles" Target="/ppt/tableStyles.xml" Id="R66cf218bf67c4494" /><Relationship Type="http://schemas.openxmlformats.org/officeDocument/2006/relationships/slide" Target="/ppt/slides/slide1.xml" Id="R818e630933ba4c39" /><Relationship Type="http://schemas.openxmlformats.org/officeDocument/2006/relationships/slide" Target="/ppt/slides/slide2.xml" Id="R41e544912d3b41d9" /><Relationship Type="http://schemas.openxmlformats.org/officeDocument/2006/relationships/slide" Target="/ppt/slides/slide3.xml" Id="Rfe4c7ad194dd4f32" /><Relationship Type="http://schemas.openxmlformats.org/officeDocument/2006/relationships/slide" Target="/ppt/slides/slide4.xml" Id="R29325ae87fec4251" /><Relationship Type="http://schemas.openxmlformats.org/officeDocument/2006/relationships/slide" Target="/ppt/slides/slide5.xml" Id="R7ed2aeaea17645e3" /><Relationship Type="http://schemas.openxmlformats.org/officeDocument/2006/relationships/slide" Target="/ppt/slides/slide6.xml" Id="Rc09f8a9241b84a36" /><Relationship Type="http://schemas.openxmlformats.org/officeDocument/2006/relationships/slide" Target="/ppt/slides/slide7.xml" Id="R9e5618f87d5245a9" /><Relationship Type="http://schemas.openxmlformats.org/officeDocument/2006/relationships/slide" Target="/ppt/slides/slide8.xml" Id="R09640d070c97476f" /><Relationship Type="http://schemas.openxmlformats.org/officeDocument/2006/relationships/slide" Target="/ppt/slides/slide9.xml" Id="R210d525897fe4ea0" /><Relationship Type="http://schemas.openxmlformats.org/officeDocument/2006/relationships/slide" Target="/ppt/slides/slide10.xml" Id="Re56ac4a79adc490b" /><Relationship Type="http://schemas.openxmlformats.org/officeDocument/2006/relationships/slide" Target="/ppt/slides/slide11.xml" Id="R0124ed7a7a634f25" /><Relationship Type="http://schemas.openxmlformats.org/officeDocument/2006/relationships/slide" Target="/ppt/slides/slide12.xml" Id="Rfd764812830f4451" /><Relationship Type="http://schemas.openxmlformats.org/officeDocument/2006/relationships/slide" Target="/ppt/slides/slide13.xml" Id="R2e73acb80b5d43dc" /><Relationship Type="http://schemas.openxmlformats.org/officeDocument/2006/relationships/slide" Target="/ppt/slides/slide14.xml" Id="Rbd31d059a5264b67" /><Relationship Type="http://schemas.openxmlformats.org/officeDocument/2006/relationships/slide" Target="/ppt/slides/slide15.xml" Id="Rad05041d79724318" /><Relationship Type="http://schemas.openxmlformats.org/officeDocument/2006/relationships/slide" Target="/ppt/slides/slide16.xml" Id="Rcb5981d3e3e746dd" /><Relationship Type="http://schemas.openxmlformats.org/officeDocument/2006/relationships/slide" Target="/ppt/slides/slide17.xml" Id="R6b152924a33343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550f4fee1e46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f6f6432bdd4c5a" /><Relationship Type="http://schemas.openxmlformats.org/officeDocument/2006/relationships/notesMaster" Target="/ppt/notesMasters/notesMaster1.xml" Id="R71dfea5897c54ca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326b73ac3a4f51" /><Relationship Type="http://schemas.openxmlformats.org/officeDocument/2006/relationships/notesMaster" Target="/ppt/notesMasters/notesMaster1.xml" Id="R0c15be7403ac40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ff988f65304c43" /><Relationship Type="http://schemas.openxmlformats.org/officeDocument/2006/relationships/notesMaster" Target="/ppt/notesMasters/notesMaster1.xml" Id="R2f01727eea464b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cc02babbf44e85" /><Relationship Type="http://schemas.openxmlformats.org/officeDocument/2006/relationships/notesMaster" Target="/ppt/notesMasters/notesMaster1.xml" Id="Ra05654e55cfc41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42038ccc694e87" /><Relationship Type="http://schemas.openxmlformats.org/officeDocument/2006/relationships/notesMaster" Target="/ppt/notesMasters/notesMaster1.xml" Id="Rd039299d0a0b46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deef8ab4c44e02" /><Relationship Type="http://schemas.openxmlformats.org/officeDocument/2006/relationships/notesMaster" Target="/ppt/notesMasters/notesMaster1.xml" Id="R522110abdcaa46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b5a5f6ec2042bc" /><Relationship Type="http://schemas.openxmlformats.org/officeDocument/2006/relationships/notesMaster" Target="/ppt/notesMasters/notesMaster1.xml" Id="Rd0b3a47cd2244e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84c6abff174b33" /><Relationship Type="http://schemas.openxmlformats.org/officeDocument/2006/relationships/notesMaster" Target="/ppt/notesMasters/notesMaster1.xml" Id="Rdf420b1795bd4a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bd47f42a2d426d" /><Relationship Type="http://schemas.openxmlformats.org/officeDocument/2006/relationships/notesMaster" Target="/ppt/notesMasters/notesMaster1.xml" Id="Rf41adaf1c94848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bed534f29c4b16" /><Relationship Type="http://schemas.openxmlformats.org/officeDocument/2006/relationships/notesMaster" Target="/ppt/notesMasters/notesMaster1.xml" Id="Rac63e35c8fc84f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48bbba9f9e54869" /><Relationship Type="http://schemas.openxmlformats.org/officeDocument/2006/relationships/notesMaster" Target="/ppt/notesMasters/notesMaster1.xml" Id="R273f8c12deb4452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66f66c3c514621" /><Relationship Type="http://schemas.openxmlformats.org/officeDocument/2006/relationships/notesMaster" Target="/ppt/notesMasters/notesMaster1.xml" Id="R49dd8aa1b32141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17f651682b41a9" /><Relationship Type="http://schemas.openxmlformats.org/officeDocument/2006/relationships/notesMaster" Target="/ppt/notesMasters/notesMaster1.xml" Id="R33243d283d0245a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c42c506433149fe" /><Relationship Type="http://schemas.openxmlformats.org/officeDocument/2006/relationships/notesMaster" Target="/ppt/notesMasters/notesMaster1.xml" Id="R952f32205b1640b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d4d20b45f444841" /><Relationship Type="http://schemas.openxmlformats.org/officeDocument/2006/relationships/notesMaster" Target="/ppt/notesMasters/notesMaster1.xml" Id="Raa565162087046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a6f1ee428fd49a9" /><Relationship Type="http://schemas.openxmlformats.org/officeDocument/2006/relationships/notesMaster" Target="/ppt/notesMasters/notesMaster1.xml" Id="R177e1f24faf0451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72b835645bb4524" /><Relationship Type="http://schemas.openxmlformats.org/officeDocument/2006/relationships/notesMaster" Target="/ppt/notesMasters/notesMaster1.xml" Id="Rd812f8fed07348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alignment","Input and declaration rules have agreement. Detailed conventions and identities await review."],["Prototype limitations","Lighting directions lack an error bound. Rotation uncertainty is unquantified."],["Verification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declaration","Profiles records complete publication coverage, including unloaded and retained variant content. Fixed v1 identities remain proposed."],["Baked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reader distinguish the model's shape from its location on Earth?</a:t>
            </a:r>
          </a:p>
          <a:p xmlns:a="http://schemas.openxmlformats.org/drawingml/2006/main">
            <a:r>
              <a:t>Proposed rule: The source records model geometry separately from its absolute origin and physical attitude. WKT supplies the coordinate meaning. Ordinary USD operations express intentional scaling and pivots.</a:t>
            </a:r>
          </a:p>
          <a:p xmlns:a="http://schemas.openxmlformats.org/drawingml/2006/main">
            <a:r>
              <a:t>Expected behavior: A reader can place the model without treating longitude or latitude as a distance or adding computed results to the source schema.</a:t>
            </a:r>
          </a:p>
          <a:p xmlns:a="http://schemas.openxmlformats.org/drawingml/2006/main">
            <a:r>
              <a:t>Observed result: The source stores position and one heading/pitch/roll tuple. Readers compute the physical pose, coordinate results and projection effects without writing them back.</a:t>
            </a:r>
          </a:p>
          <a:p xmlns:a="http://schemas.openxmlformats.org/drawingml/2006/main">
            <a:r>
              <a:t>What this says about the proposal: Inputs-only authoring gives the reader one authority for each meaning. Source position and the heading/pitch/roll tuple are agreed; detailed pose conventions remain proposed.</a:t>
            </a:r>
          </a:p>
          <a:p xmlns:a="http://schemas.openxmlformats.org/drawingml/2006/main">
            <a:r>
              <a:t>Limit: The illustrated position is an example, not a surveyed Eiffel location. No crs:scale is proposed.</a:t>
            </a:r>
          </a:p>
          <a:p xmlns:a="http://schemas.openxmlformats.org/drawingml/2006/main">
            <a:r>
              <a:t>Proposal clause: #### Authored properties at proposal/proposal-source.txt:1607</a:t>
            </a:r>
          </a:p>
          <a:p xmlns:a="http://schemas.openxmlformats.org/drawingml/2006/main">
            <a:r>
              <a:t>Requirements: 9, 10, 12, 14,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changing coordinate systems preserve physical placement?</a:t>
            </a:r>
          </a:p>
          <a:p xmlns:a="http://schemas.openxmlformats.org/drawingml/2006/main">
            <a:r>
              <a:t>Proposed rule: A CRS conversion expresses the same physical location in different coordinates. The reader derives map convergence and local scale from the authoritative WKT and position.</a:t>
            </a:r>
          </a:p>
          <a:p xmlns:a="http://schemas.openxmlformats.org/drawingml/2006/main">
            <a:r>
              <a:t>Expected behavior: The coordinate numbers and units can change while the tower stays at the same physical place.</a:t>
            </a:r>
          </a:p>
          <a:p xmlns:a="http://schemas.openxmlformats.org/drawingml/2006/main">
            <a:r>
              <a:t>Observed result: Longitude, latitude and height become map coordinates. The physical site stays the same, while grid north and local scale can differ.</a:t>
            </a:r>
          </a:p>
          <a:p xmlns:a="http://schemas.openxmlformats.org/drawingml/2006/main">
            <a:r>
              <a:t>What this says about the proposal: A new coordinate representation has a defined physical meaning. The France and Colorado numerical controls test conversion separately from this illustration.</a:t>
            </a:r>
          </a:p>
          <a:p xmlns:a="http://schemas.openxmlformats.org/drawingml/2006/main">
            <a:r>
              <a:t>Limit: It explains the rule and does not verify surveyed Paris placement.</a:t>
            </a:r>
          </a:p>
          <a:p xmlns:a="http://schemas.openxmlformats.org/drawingml/2006/main">
            <a:r>
              <a:t>Proposal clause: ### Source placement evaluation and transform order at proposal/proposal-source.txt:1923</a:t>
            </a:r>
          </a:p>
          <a:p xmlns:a="http://schemas.openxmlformats.org/drawingml/2006/main">
            <a:r>
              <a:t>Requirements: 9, 12, 13, 16, 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In which coordinates do an author's scale, rotation and translation operate?</a:t>
            </a:r>
          </a:p>
          <a:p xmlns:a="http://schemas.openxmlformats.org/drawingml/2006/main">
            <a:r>
              <a:t>Proposed rule: Child transforms define the model's local geometry. Geospatial position and attitude place that geometry. The directly bound model's own xformOps then adjust the placed result in a fixed project chart, before conversion to the requested output.</a:t>
            </a:r>
          </a:p>
          <a:p xmlns:a="http://schemas.openxmlformats.org/drawingml/2006/main">
            <a:r>
              <a:t>Expected behavior: Changing the requested output CRS preserves the same physical adjustment. Child offsets continue to follow the model axes.</a:t>
            </a:r>
          </a:p>
          <a:p xmlns:a="http://schemas.openxmlformats.org/drawingml/2006/main">
            <a:r>
              <a:t>Observed result: The illustration scales by 1.15, rotates 20° and moves 120 m east and 60 m south. It shows adjustments on the directly bound model.</a:t>
            </a:r>
          </a:p>
          <a:p xmlns:a="http://schemas.openxmlformats.org/drawingml/2006/main">
            <a:r>
              <a:t>What this says about the proposal: The draft distinguishes project adjustments from model-local child offsets. A numerical control separates those interpretations by 4.222 m.</a:t>
            </a:r>
          </a:p>
          <a:p xmlns:a="http://schemas.openxmlformats.org/drawingml/2006/main">
            <a:r>
              <a:t>Limit: The chart and reset conventions remain proposed. Ordinary pivots follow the authored USD stack.</a:t>
            </a:r>
          </a:p>
          <a:p xmlns:a="http://schemas.openxmlformats.org/drawingml/2006/main">
            <a:r>
              <a:t>Proposal clause: #### Evaluation at proposal/proposal-source.txt:2023</a:t>
            </a:r>
          </a:p>
          <a:p xmlns:a="http://schemas.openxmlformats.org/drawingml/2006/main">
            <a:r>
              <a:t>Requirements: 9, 14, 15, 17, 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separate implementations derive the same coordinates from the proposed inputs and rules?</a:t>
            </a:r>
          </a:p>
          <a:p xmlns:a="http://schemas.openxmlformats.org/drawingml/2006/main">
            <a:r>
              <a:t>Proposed rule: Both readers use the composed source inputs and declared output CRS. Results include declared units and meaningful physical comparison.</a:t>
            </a:r>
          </a:p>
          <a:p xmlns:a="http://schemas.openxmlformats.org/drawingml/2006/main">
            <a:r>
              <a:t>Expected behavior: Python and C++ resolve the same partner points within the recorded comparison tolerance.</a:t>
            </a:r>
          </a:p>
          <a:p xmlns:a="http://schemas.openxmlformats.org/drawingml/2006/main">
            <a:r>
              <a:t>Observed result: The readers compare 213,263 coordinate results. The maximum measured physical difference is 3.39e-08 m.</a:t>
            </a:r>
          </a:p>
          <a:p xmlns:a="http://schemas.openxmlformats.org/drawingml/2006/main">
            <a:r>
              <a:t>What this says about the proposal: These cases support reproducible interpretation of the proposed behavior. Agreement alone cannot establish all rules or all input layouts.</a:t>
            </a:r>
          </a:p>
          <a:p xmlns:a="http://schemas.openxmlformats.org/drawingml/2006/main">
            <a:r>
              <a:t>Limit: Both readers use PROJ and share native dataset decoding. Agreement does not establish independent geodetic validation.</a:t>
            </a:r>
          </a:p>
          <a:p xmlns:a="http://schemas.openxmlformats.org/drawingml/2006/main">
            <a:r>
              <a:t>Proposal clause: ### Extent and result comparison at proposal/proposal-source.txt:2208</a:t>
            </a:r>
          </a:p>
          <a:p xmlns:a="http://schemas.openxmlformats.org/drawingml/2006/main">
            <a:r>
              <a:t>Requirements: 4, 13, 16, 17, 18, 28, 29</a:t>
            </a:r>
          </a:p>
          <a:p xmlns:a="http://schemas.openxmlformats.org/drawingml/2006/main">
            <a:r>
              <a:t>Tables show one recorded point per dataset in declared units, rounded to six decimals. [{"name":"France_01","label":"France: CC49 to Lambert-93","unit":"m","python":[661101.1094171533,6857834.256535667,37.297999998112694],"cpp":[661101.1094171533,6857834.256535667,37.298000000906654]},{"name":"Colorado_02","label":"Colorado: State Plane to site grid","unit":"US survey ft","python":[3108871.450100667,1206317.4694031866,5484.677949332321],"cpp":[3108871.450100667,1206317.469403112,5484.677949268161]}]</a:t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renderer use the result without implementing geospatial evaluation?</a:t>
            </a:r>
          </a:p>
          <a:p xmlns:a="http://schemas.openxmlformats.org/drawingml/2006/main">
            <a:r>
              <a:t>Proposed rule: An explicit bake resolves georeferencing into ordinary geometry and xformOps in a derived copy. A Cartesian coordinate context preserves location without an active source placement binding.</a:t>
            </a:r>
          </a:p>
          <a:p xmlns:a="http://schemas.openxmlformats.org/drawingml/2006/main">
            <a:r>
              <a:t>Expected behavior: An ordinary USD renderer displays the derived copy. The source scene retains its authored inputs.</a:t>
            </a:r>
          </a:p>
          <a:p xmlns:a="http://schemas.openxmlformats.org/drawingml/2006/main">
            <a:r>
              <a:t>Observed result: Native Hydra/Storm renders the C++-resolved Eiffel bake. A double-precision origin keeps local geometry small.</a:t>
            </a:r>
          </a:p>
          <a:p xmlns:a="http://schemas.openxmlformats.org/drawingml/2006/main">
            <a:r>
              <a:t>What this says about the proposal: The visualization path uses ordinary USD geometry. Reassembly controls confirm that a parent translation and an authored reset keep their USD meaning.</a:t>
            </a:r>
          </a:p>
          <a:p xmlns:a="http://schemas.openxmlformats.org/drawingml/2006/main">
            <a:r>
              <a:t>Limit: Ground context is illustrative. The image does not establish surveyed placement or surface-normal accuracy.</a:t>
            </a:r>
          </a:p>
          <a:p xmlns:a="http://schemas.openxmlformats.org/drawingml/2006/main">
            <a:r>
              <a:t>Proposal clause: ### Explicit export and sampling at proposal/proposal-source.txt:2269</a:t>
            </a:r>
          </a:p>
          <a:p xmlns:a="http://schemas.openxmlformats.org/drawingml/2006/main">
            <a:r>
              <a:t>Requirements: 17, 19, 23, 25, 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native measurement dataset remain usable without rewriting values or guessing coordinate meaning?</a:t>
            </a:r>
          </a:p>
          <a:p xmlns:a="http://schemas.openxmlformats.org/drawingml/2006/main">
            <a:r>
              <a:t>Proposed rule: The scene identifies the native asset, field and coordinate domain. Resolution preserves the pairing of values, locations, missing-data masks and observation times.</a:t>
            </a:r>
          </a:p>
          <a:p xmlns:a="http://schemas.openxmlformats.org/drawingml/2006/main">
            <a:r>
              <a:t>Expected behavior: A measurement stays the same whether its location is returned geographically or in Earth-centred Cartesian coordinates.</a:t>
            </a:r>
          </a:p>
          <a:p xmlns:a="http://schemas.openxmlformats.org/drawingml/2006/main">
            <a:r>
              <a:t>Observed result: The global field returns geographic and Earth-centred positions for 154 samples, preserving native values and two observation times.</a:t>
            </a:r>
          </a:p>
          <a:p xmlns:a="http://schemas.openxmlformats.org/drawingml/2006/main">
            <a:r>
              <a:t>What this says about the proposal: The same data model supports global analytics as well as rendering. Named-dimension controls check the value/location association separately.</a:t>
            </a:r>
          </a:p>
          <a:p xmlns:a="http://schemas.openxmlformats.org/drawingml/2006/main">
            <a:r>
              <a:t>Limit: Synthetic temperatures in kelvin. Both readers share decoding, so their agreement alone cannot verify the association.</a:t>
            </a:r>
          </a:p>
          <a:p xmlns:a="http://schemas.openxmlformats.org/drawingml/2006/main">
            <a:r>
              <a:t>Proposal clause: ### External measurement association at proposal/proposal-source.txt:1708</a:t>
            </a:r>
          </a:p>
          <a:p xmlns:a="http://schemas.openxmlformats.org/drawingml/2006/main">
            <a:r>
              <a:t>Requirements: 8, 12, 18, 19, 21, 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consumer discover required geospatial processing while the content payload stays closed?</a:t>
            </a:r>
          </a:p>
          <a:p xmlns:a="http://schemas.openxmlformats.org/drawingml/2006/main">
            <a:r>
              <a:t>Proposed rule: Publishers place conservative Profiles declarations outside payloads. Complete-positive, complete-empty and unknown coverage have distinct meanings.</a:t>
            </a:r>
          </a:p>
          <a:p xmlns:a="http://schemas.openxmlformats.org/drawingml/2006/main">
            <a:r>
              <a:t>Expected behavior: A consumer detects a required dependency without loading content. Absence alone never proves that no processing is needed.</a:t>
            </a:r>
          </a:p>
          <a:p xmlns:a="http://schemas.openxmlformats.org/drawingml/2006/main">
            <a:r>
              <a:t>Observed result: The three summary cases retain closed payloads during detection. A separate publisher check catches a stale empty claim that retains a georeferenced variant.</a:t>
            </a:r>
          </a:p>
          <a:p xmlns:a="http://schemas.openxmlformats.org/drawingml/2006/main">
            <a:r>
              <a:t>What this says about the proposal: The declaration supports useful consumer decisions before content loading. Publishers remain responsible for truthful coverage through assembly and publication.</a:t>
            </a:r>
          </a:p>
          <a:p xmlns:a="http://schemas.openxmlformats.org/drawingml/2006/main">
            <a:r>
              <a:t>Limit: Selected payload and retained-variant controls. Fixed v1 names and the standards approval owner still need group agreement.</a:t>
            </a:r>
          </a:p>
          <a:p xmlns:a="http://schemas.openxmlformats.org/drawingml/2006/main">
            <a:r>
              <a:t>Proposal clause: ### Dependency declaration with Profiles at proposal/proposal-source.txt:1772</a:t>
            </a:r>
          </a:p>
          <a:p xmlns:a="http://schemas.openxmlformats.org/drawingml/2006/main">
            <a:r>
              <a:t>Requirements: 5, 6, 7, 25, 27, 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different WKT spellings remain usable without losing coordinate meaning?</a:t>
            </a:r>
          </a:p>
          <a:p xmlns:a="http://schemas.openxmlformats.org/drawingml/2006/main">
            <a:r>
              <a:t>Proposed rule: Writers emit lossless normal text. Readers accept supported valid non-normal WKT with a warning. Normalized text identity and semantic CRS equivalence remain separate.</a:t>
            </a:r>
          </a:p>
          <a:p xmlns:a="http://schemas.openxmlformats.org/drawingml/2006/main">
            <a:r>
              <a:t>Expected behavior: Numeric spellings 1, 1.00 and 1E0 normalize to 1. Quoted names and exact decimal values remain represented.</a:t>
            </a:r>
          </a:p>
          <a:p xmlns:a="http://schemas.openxmlformats.org/drawingml/2006/main">
            <a:r>
              <a:t>Observed result: Both placement readers resolve each spelling to the expected coordinates. The Omniverse stage writeback checks the same cases. A quoted keyword remains ordinary name text.</a:t>
            </a:r>
          </a:p>
          <a:p xmlns:a="http://schemas.openxmlformats.org/drawingml/2006/main">
            <a:r>
              <a:t>What this says about the proposal: The draft specifies interoperable reader behavior without relaxing the writer convention or treating unequal text as unequal CRS meaning.</a:t>
            </a:r>
          </a:p>
          <a:p xmlns:a="http://schemas.openxmlformats.org/drawingml/2006/main">
            <a:r>
              <a:t>Limit: This lexical profile remains proposed. Invalid syntax and unsupported coordinate meaning still fail. Coordinate epochs remain deferred.</a:t>
            </a:r>
          </a:p>
          <a:p xmlns:a="http://schemas.openxmlformats.org/drawingml/2006/main">
            <a:r>
              <a:t>Proposal clause: ### WKT string normalization at proposal/proposal-source.txt:1830</a:t>
            </a:r>
          </a:p>
          <a:p xmlns:a="http://schemas.openxmlformats.org/drawingml/2006/main">
            <a:r>
              <a:t>Requirements: 1, 2, 3, 21, 27, 28, 29, 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an independently georeferenced prototype receive an instance offset exactly once?</a:t>
            </a:r>
          </a:p>
          <a:p xmlns:a="http://schemas.openxmlformats.org/drawingml/2006/main">
            <a:r>
              <a:t>Proposed rule: Resolve the independent prototype placement once and retain the instance offset in its instancer-local frame.</a:t>
            </a:r>
          </a:p>
          <a:p xmlns:a="http://schemas.openxmlformats.org/drawingml/2006/main">
            <a:r>
              <a:t>Expected behavior: A local ten-metre east offset produces the same physical displacement for inherited and independently bound prototypes.</a:t>
            </a:r>
          </a:p>
          <a:p xmlns:a="http://schemas.openxmlformats.org/drawingml/2006/main">
            <a:r>
              <a:t>Observed result: Both readers return Earth-centred displacement [0, 10, 0] m for the two prototypes. Rotation and scale controls also distinguish the frame choices.</a:t>
            </a:r>
          </a:p>
          <a:p xmlns:a="http://schemas.openxmlformats.org/drawingml/2006/main">
            <a:r>
              <a:t>What this says about the proposal: The selected controls test the occurrence contract rather than merely the prototype origin. An unavailable required inverse fails visibly.</a:t>
            </a:r>
          </a:p>
          <a:p xmlns:a="http://schemas.openxmlformats.org/drawingml/2006/main">
            <a:r>
              <a:t>Limit: Synthetic displacement control. It does not establish surveyed placement or every instancer combination.</a:t>
            </a:r>
          </a:p>
          <a:p xmlns:a="http://schemas.openxmlformats.org/drawingml/2006/main">
            <a:r>
              <a:t>Proposal clause: #### Queries, scene charts and instances at proposal/proposal-source.txt:2120</a:t>
            </a:r>
          </a:p>
          <a:p xmlns:a="http://schemas.openxmlformats.org/drawingml/2006/main">
            <a:r>
              <a:t>Requirements: 8, 9, 11, 17, 19,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alignment","Input and declaration rules have agreement. Detailed conventions and identities await review."],["Prototype limitations","Lighting directions lack an error bound. Rotation uncertainty is unquantified."],["Verification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declaration","Profiles records complete publication coverage, including unloaded and retained variant content. Fixed v1 identities remain proposed."],["Baked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>[["Normal transport","Confirmed prototype defect: one large projected face differs by 1.24 degrees across its domain. Centroid sampling has no justified domain/error bound. The source already requires a faithful derivative or covered approximation."],["Near-half-turn numerics","The proposed failure rule is clear. The prototype's 64-epsilon guard lacks a demonstrated rotational uncertainty bound and a quantified native diagnostic."],["Publisher coverage","Retained-variant and unloaded-payload controls pass, including detection of a stale empty claim. This is not a production validator for every composition or variant combination."],["Consumer coverage","Python and C++ share PROJ and external-data decoding. Omniverse reuses Python. General material/primvar baking, physics and nonlinear continuous space/time certificates remain unverified or visibly unsupported."]]</a:t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project's local survey grid participate as a defined CRS?</a:t>
            </a:r>
          </a:p>
          <a:p xmlns:a="http://schemas.openxmlformats.org/drawingml/2006/main">
            <a:r>
              <a:t>Proposed rule: The source WKT describes how a calibrated site grid relates to a broader CRS, including its units and height meaning.</a:t>
            </a:r>
          </a:p>
          <a:p xmlns:a="http://schemas.openxmlformats.org/drawingml/2006/main">
            <a:r>
              <a:t>Expected behavior: Partner survey lines resolve into the site grid without redefining the model units or up direction.</a:t>
            </a:r>
          </a:p>
          <a:p xmlns:a="http://schemas.openxmlformats.org/drawingml/2006/main">
            <a:r>
              <a:t>Observed result: The original LandXML survey breaklines resolve and reach an ordinary USD bake rendered by Storm.</a:t>
            </a:r>
          </a:p>
          <a:p xmlns:a="http://schemas.openxmlformats.org/drawingml/2006/main">
            <a:r>
              <a:t>What this says about the proposal: The partner case exercises a site's calibrated CRS. Its WKT-carried calibration participates in resolution.</a:t>
            </a:r>
          </a:p>
          <a:p xmlns:a="http://schemas.openxmlformats.org/drawingml/2006/main">
            <a:r>
              <a:t>Limit: The survey-line image does not establish independent survey accuracy or a continuous terrain-surface certificate.</a:t>
            </a:r>
          </a:p>
          <a:p xmlns:a="http://schemas.openxmlformats.org/drawingml/2006/main">
            <a:r>
              <a:t>Proposal clause: #### Decision on question 7: site calibration at proposal/proposal-source.txt:1355</a:t>
            </a:r>
          </a:p>
          <a:p xmlns:a="http://schemas.openxmlformats.org/drawingml/2006/main">
            <a:r>
              <a:t>Requirements: 4, 14, 15, 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incomplete source metadata still support a useful, explicitly horizontal workflow?</a:t>
            </a:r>
          </a:p>
          <a:p xmlns:a="http://schemas.openxmlformats.org/drawingml/2006/main">
            <a:r>
              <a:t>Proposed rule: The reader resolves a declared horizontal association and preserves uninterpreted third components. It does not invent a height reference.</a:t>
            </a:r>
          </a:p>
          <a:p xmlns:a="http://schemas.openxmlformats.org/drawingml/2006/main">
            <a:r>
              <a:t>Expected behavior: The horizontal railway copy resolves into UTM 32 while the original GeoJSON remains unchanged.</a:t>
            </a:r>
          </a:p>
          <a:p xmlns:a="http://schemas.openxmlformats.org/drawingml/2006/main">
            <a:r>
              <a:t>Observed result: The horizontal copy resolves 15,822 vertices across 2,386 parts. The plot uses offsets only for display.</a:t>
            </a:r>
          </a:p>
          <a:p xmlns:a="http://schemas.openxmlformats.org/drawingml/2006/main">
            <a:r>
              <a:t>What this says about the proposal: The draft supports horizontal resolution without inventing a height reference. The original third components remain uninterpreted.</a:t>
            </a:r>
          </a:p>
          <a:p xmlns:a="http://schemas.openxmlformats.org/drawingml/2006/main">
            <a:r>
              <a:t>Limit: Horizontal coordinates only. The original third components remain uninterpreted and supply no physical 3D distance.</a:t>
            </a:r>
          </a:p>
          <a:p xmlns:a="http://schemas.openxmlformats.org/drawingml/2006/main">
            <a:r>
              <a:t>Proposal clause: ### External measurement association at proposal/proposal-source.txt:1708</a:t>
            </a:r>
          </a:p>
          <a:p xmlns:a="http://schemas.openxmlformats.org/drawingml/2006/main">
            <a:r>
              <a:t>Requirements: 8, 12, 19, 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the proposal define the result between authored moments?</a:t>
            </a:r>
          </a:p>
          <a:p xmlns:a="http://schemas.openxmlformats.org/drawingml/2006/main">
            <a:r>
              <a:t>Proposed rule: Interpolate the authored source position first, then convert coordinates. Physical orientation uses composed heading/pitch/roll samples and shortest-arc pose interpolation.</a:t>
            </a:r>
          </a:p>
          <a:p xmlns:a="http://schemas.openxmlformats.org/drawingml/2006/main">
            <a:r>
              <a:t>Expected behavior: The midpoint follows the source-defined path. An ambiguous half-turn requires an intermediate authored pose for interior-time evaluation.</a:t>
            </a:r>
          </a:p>
          <a:p xmlns:a="http://schemas.openxmlformats.org/drawingml/2006/main">
            <a:r>
              <a:t>Observed result: Equatorial longitude changes from 0° to 2°. Interpolating converted endpoints misses the source-first midpoint by 971.421 m.</a:t>
            </a:r>
          </a:p>
          <a:p xmlns:a="http://schemas.openxmlformats.org/drawingml/2006/main">
            <a:r>
              <a:t>What this says about the proposal: The order is testable. Sample keys alone cannot certify the original trajectory between samples.</a:t>
            </a:r>
          </a:p>
          <a:p xmlns:a="http://schemas.openxmlformats.org/drawingml/2006/main">
            <a:r>
              <a:t>Limit: The bake preserves time codes 0, 5 and 10 at 48 time codes per second. Continuous trajectory coverage remains unverified.</a:t>
            </a:r>
          </a:p>
          <a:p xmlns:a="http://schemas.openxmlformats.org/drawingml/2006/main">
            <a:r>
              <a:t>Proposal clause: #### Evaluation at proposal/proposal-source.txt:2023</a:t>
            </a:r>
          </a:p>
          <a:p xmlns:a="http://schemas.openxmlformats.org/drawingml/2006/main">
            <a:r>
              <a:t>Requirements: 20, 29</a:t>
            </a:r>
          </a:p>
          <a:p xmlns:a="http://schemas.openxmlformats.org/drawingml/2006/main">
            <a:r>
              <a:t>Chart uses the recorded t=0, 5, 10 coordinates. Six-decimal workbook snapshot values, whole-metre display labels. The bar is a negative control, not a measured failure of the source-first reader. Equatorial longitude changes from 0° to 2°. Interpolating converted endpoints misses the source-first midpoint by 971.421 m.</a:t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alignment","Input and declaration rules have agreement. Detailed conventions and identities await review."],["Prototype limitations","Lighting directions lack an error bound. Rotation uncertainty is unquantified."],["Verification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declaration","Profiles records complete publication coverage, including unloaded and retained variant content. Fixed v1 identities remain proposed."],["Baked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>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</a:t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alignment","Input and declaration rules have agreement. Detailed conventions and identities await review."],["Prototype limitations","Lighting directions lack an error bound. Rotation uncertainty is unquantified."],["Verification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declaration","Profiles records complete publication coverage, including unloaded and retained variant content. Fixed v1 identities remain proposed."],["Baked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>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declaration","Profiles records complete publication coverage, including unloaded and retained variant content. Fixed v1 identities remain proposed."],["Baked coordinate context","Retain a Cartesian CRS and double-precision origin without an active source placement binding. Ordinary USD controls subsequent transforms."]]</a:t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alignment","Input and declaration rules have agreement. Detailed conventions and identities await review."],["Prototype limitations","Lighting directions lack an error bound. Rotation uncertainty is unquantified."],["Verification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declaration","Profiles records complete publication coverage, including unloaded and retained variant content. Fixed v1 identities remain proposed."],["Baked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>[["Python and C++ readers","213,263 coordinate results per reader. Maximum measured difference 3.39e-08 m. Shared PROJ and decoding."],["Omniverse stage geometry","Reuses Python placement. Readback covers 177,872 vertices and 48 edit, failure and recovery checks across 44 jobs."],["Hydra / Storm","Two selected ordinary USD bakes reach native rendering using C++-resolved placements."],["Recorded tests","124 contract tests and 70 distinguishing controls pass. Separate diagnostics expose the reported prototype limits."],["Source preservation","Original inputs and 50 frozen execution files remain unchanged. The immutable receipt identifies exact executed content."],["Bake readbacks","11 selected exports checked. No general material/primvar, physics or continuous trajectory conformance is claimed."]]</a:t>
            </a:r>
          </a:p>
          <a:p xmlns:a="http://schemas.openxmlformats.org/drawingml/2006/main">
            <a:r>
              <a:t>Proposal e51919927ced49b9c68bcd86160be468121f633d SHA-256 276ae17d60e9b4801947525528c98cfac58b25a7e6ac5999dc01ddb60a2e83b9</a:t>
            </a:r>
          </a:p>
          <a:p xmlns:a="http://schemas.openxmlformats.org/drawingml/2006/main">
            <a:r>
              <a:t>README SHA-256 45d0fcc44e276a85c016d374e6b918459c016533b0cb63f0f87bce1ecda57c35</a:t>
            </a:r>
          </a:p>
          <a:p xmlns:a="http://schemas.openxmlformats.org/drawingml/2006/main">
            <a:r>
              <a:t>Immutable receipt SHA-256 06cb0fd2cefe30543d04bb461497f3071d5027de6094175fdc52b969428bb975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Accepted source and declaration rules are distinguished from detailed conventions and identities awaiting review.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33903dd1a348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3e3509b620498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24ed8e4ef4d4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90cea0ca743b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7605c35a484b5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d74f6a488b44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47E1390-9975-45F8-B4D7-445E42E10D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9A04E23-F584-4268-83A4-1190268F8F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130C5C0-8B3B-4FF8-AFC1-CCA359F0C9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7E462E-EEEB-49A3-A917-27A3633E99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674BB7E-0B51-414F-ABF7-D47C634E83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BF5D12B-7A29-4E16-A018-5420D7B8CF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95503E9-11D3-44FD-9423-8E4DD18559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B80C572-EDDA-4711-AB45-88AE2ED15B2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A29816-C724-4F3D-86B9-07CC76D94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6004061-1375-45DB-A77A-1253D63864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35a8d76f13490c" /><Relationship Type="http://schemas.openxmlformats.org/officeDocument/2006/relationships/slideLayout" Target="/ppt/slideLayouts/slideLayout1.xml" Id="Re4e4ccb97db943cb" /><Relationship Type="http://schemas.openxmlformats.org/officeDocument/2006/relationships/slideLayout" Target="/ppt/slideLayouts/slideLayout2.xml" Id="R4bd1fdfd9d7d4fc0" /><Relationship Type="http://schemas.openxmlformats.org/officeDocument/2006/relationships/slideLayout" Target="/ppt/slideLayouts/slideLayout3.xml" Id="R7cc6018abc5349a0" /><Relationship Type="http://schemas.openxmlformats.org/officeDocument/2006/relationships/slideLayout" Target="/ppt/slideLayouts/slideLayout4.xml" Id="R11bd9ffc529a4a89" /><Relationship Type="http://schemas.openxmlformats.org/officeDocument/2006/relationships/slideLayout" Target="/ppt/slideLayouts/slideLayout5.xml" Id="R1d954ca768b94db7" /><Relationship Type="http://schemas.openxmlformats.org/officeDocument/2006/relationships/slideLayout" Target="/ppt/slideLayouts/slideLayout6.xml" Id="R6e2fcc7166954c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e4ccb97db943cb"/>
    <p:sldLayoutId xmlns:r="http://schemas.openxmlformats.org/officeDocument/2006/relationships" id="2147483650" r:id="R4bd1fdfd9d7d4fc0"/>
    <p:sldLayoutId xmlns:r="http://schemas.openxmlformats.org/officeDocument/2006/relationships" id="2147483651" r:id="R7cc6018abc5349a0"/>
    <p:sldLayoutId xmlns:r="http://schemas.openxmlformats.org/officeDocument/2006/relationships" id="2147483652" r:id="R11bd9ffc529a4a89"/>
    <p:sldLayoutId xmlns:r="http://schemas.openxmlformats.org/officeDocument/2006/relationships" id="2147483653" r:id="R1d954ca768b94db7"/>
    <p:sldLayoutId xmlns:r="http://schemas.openxmlformats.org/officeDocument/2006/relationships" id="2147483654" r:id="R6e2fcc7166954c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e0bd7cdd3848a2" /><Relationship Type="http://schemas.openxmlformats.org/officeDocument/2006/relationships/notesSlide" Target="/ppt/notesSlides/notesSlide1.xml" Id="Rd8f5d63badad4d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487e92d7a24637" /><Relationship Type="http://schemas.openxmlformats.org/officeDocument/2006/relationships/notesSlide" Target="/ppt/notesSlides/notesSlide2.xml" Id="R1aa7feff472f43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d0588917374c60" /><Relationship Type="http://schemas.openxmlformats.org/officeDocument/2006/relationships/image" Target="/ppt/media/image.png" Id="Ra65fd7fc967448a3" /><Relationship Type="http://schemas.openxmlformats.org/officeDocument/2006/relationships/notesSlide" Target="/ppt/notesSlides/notesSlide3.xml" Id="R8bb9ab27fd764a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b4343145d6440d" /><Relationship Type="http://schemas.openxmlformats.org/officeDocument/2006/relationships/image" Target="/ppt/media/image2.png" Id="R9e314fb4b1da4c59" /><Relationship Type="http://schemas.openxmlformats.org/officeDocument/2006/relationships/notesSlide" Target="/ppt/notesSlides/notesSlide4.xml" Id="R7f8fd6d32b574e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e669261e094e1f" /><Relationship Type="http://schemas.openxmlformats.org/officeDocument/2006/relationships/notesSlide" Target="/ppt/notesSlides/notesSlide5.xml" Id="R5012fc72b68e41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984ab115d040bb" /><Relationship Type="http://schemas.openxmlformats.org/officeDocument/2006/relationships/image" Target="/ppt/media/image3.png" Id="R3f24a78d4c4740e0" /><Relationship Type="http://schemas.openxmlformats.org/officeDocument/2006/relationships/notesSlide" Target="/ppt/notesSlides/notesSlide6.xml" Id="Re09d7a9e37e643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9949dedf944ca4" /><Relationship Type="http://schemas.openxmlformats.org/officeDocument/2006/relationships/image" Target="/ppt/media/image4.png" Id="Rb54c95ee51844e35" /><Relationship Type="http://schemas.openxmlformats.org/officeDocument/2006/relationships/notesSlide" Target="/ppt/notesSlides/notesSlide7.xml" Id="R2907e0d76ee042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0728064af142ff" /><Relationship Type="http://schemas.openxmlformats.org/officeDocument/2006/relationships/notesSlide" Target="/ppt/notesSlides/notesSlide8.xml" Id="Rb8e38d99ebd54f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edac6a34d74187" /><Relationship Type="http://schemas.openxmlformats.org/officeDocument/2006/relationships/notesSlide" Target="/ppt/notesSlides/notesSlide9.xml" Id="R78741df0ba9e4a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e00cc695d34886" /><Relationship Type="http://schemas.openxmlformats.org/officeDocument/2006/relationships/image" Target="/ppt/media/image5.png" Id="Rc38fd71f72c44bb1" /><Relationship Type="http://schemas.openxmlformats.org/officeDocument/2006/relationships/notesSlide" Target="/ppt/notesSlides/notesSlide10.xml" Id="R537374ac758646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baac9238e64c83" /><Relationship Type="http://schemas.openxmlformats.org/officeDocument/2006/relationships/notesSlide" Target="/ppt/notesSlides/notesSlide11.xml" Id="R42a115d20d0a40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7060a2450047b3" /><Relationship Type="http://schemas.openxmlformats.org/officeDocument/2006/relationships/image" Target="/ppt/media/image6.png" Id="Rc797fab133a442bf" /><Relationship Type="http://schemas.openxmlformats.org/officeDocument/2006/relationships/notesSlide" Target="/ppt/notesSlides/notesSlide12.xml" Id="Rb7f42be1214d4c3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bae91822de4595" /><Relationship Type="http://schemas.openxmlformats.org/officeDocument/2006/relationships/image" Target="/ppt/media/image7.png" Id="Rd4d8e8de17274f74" /><Relationship Type="http://schemas.openxmlformats.org/officeDocument/2006/relationships/notesSlide" Target="/ppt/notesSlides/notesSlide13.xml" Id="R115852a45cf54f8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9738f9b17d4cd9" /><Relationship Type="http://schemas.openxmlformats.org/officeDocument/2006/relationships/chart" Target="/ppt/slides/charts/chart1.xml" Id="R8dddc597949e4261" /><Relationship Type="http://schemas.openxmlformats.org/officeDocument/2006/relationships/notesSlide" Target="/ppt/notesSlides/notesSlide14.xml" Id="R7d289c90e9804f3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f7bb339f964fb7" /><Relationship Type="http://schemas.openxmlformats.org/officeDocument/2006/relationships/notesSlide" Target="/ppt/notesSlides/notesSlide15.xml" Id="Rff6b474b32fd431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a9eb9e709742b6" /><Relationship Type="http://schemas.openxmlformats.org/officeDocument/2006/relationships/notesSlide" Target="/ppt/notesSlides/notesSlide16.xml" Id="Ra8c7f8a3e39b437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d5c8e714449c1" /><Relationship Type="http://schemas.openxmlformats.org/officeDocument/2006/relationships/notesSlide" Target="/ppt/notesSlides/notesSlide17.xml" Id="R8fd6c70ed41f4df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Error from interpolating converted endpoints</c:v>
          </c:tx>
          <c:spPr>
            <a:solidFill xmlns:a="http://schemas.openxmlformats.org/drawingml/2006/main">
              <a:srgbClr val="A25D20"/>
            </a:solidFill>
          </c:spP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0</c:v>
                </c:pt>
                <c:pt idx="1">
                  <c:v>971.421158</c:v>
                </c:pt>
                <c:pt idx="2">
                  <c:v>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USD sample time code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E1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9EEF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Distance from source-first result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18B23D-0188-43C5-8BB8-FE067629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Geospatial proposal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CC1C8-1167-47C7-87C5-CB3FB887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USD describes a 3D model's shape and size. Geospatial information says where it belongs on Earth, so models, surveys and measurements can work together.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DC2D7-EDCB-4BE7-8A31-8A2CAFD8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1097280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Proposal quality means that another implementer can derive the inputs, evaluation order and observable outcomes without guessing. The full draft specifies those rules for the workflows shown here.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F2AF7-61DB-48C5-83E7-1B960927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Selected demonstrations support the proposed behavior. Detailed conventions still need group review, and two prototype limitations remain. This evidence does not establish exhaustive completeness or independent geodetic accuracy.</a:t>
            </a:r>
          </a:p>
        </p:txBody>
      </p:sp>
    </p:spTree>
    <p:extLst>
      <p:ext uri="{BB962C8B-B14F-4D97-AF65-F5344CB8AC3E}">
        <p14:creationId xmlns:p14="http://schemas.microsoft.com/office/powerpoint/2010/main" val="16442129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F8926-CC29-48A1-8920-01D89AB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 geographic location for a 3D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FB3B8-BDAA-412C-B364-8FE8E22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a reader distinguish the model's shape from its location on Earth?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17F943-F8F2-4818-B7C4-308BA33FA954}"/>
              </a:ext>
            </a:extLst>
          </p:cNvPr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 information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Plain meaning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Model geometry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Shape and local distances, with declared units and up direction. In USD: points, metersPerUnit and upAxis.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Coordinate reference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 CRS binding refers to WKT, the standard text description of the location's axes, units and height meaning.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origin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crs:position locates the model origin. The illustrative example uses longitude 2.2945°, latitude 48.8584° and ellipsoidal height 80 m.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orientation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crs:orientation records heading, pitch and roll in degrees: which way the model faces and tilts against local east, north and up.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44ED3-97EB-4C25-9883-7444E2E4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A reader can place the model without treating longitude or latitude as a distance or adding computed results to the source schema.</a:t>
            </a:r>
          </a:p>
        </p:txBody>
      </p:sp>
    </p:spTree>
    <p:extLst>
      <p:ext uri="{BB962C8B-B14F-4D97-AF65-F5344CB8AC3E}">
        <p14:creationId xmlns:p14="http://schemas.microsoft.com/office/powerpoint/2010/main" val="11895284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C5CA88-0A18-45FA-A172-84BB64D8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One physical place, different coordinates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DAF4C9-6059-4B5E-9755-E35CF572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Does changing coordinate systems preserve physical placement?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F1290-98B3-49CF-B3C3-74A21B1F55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fd7fc967448a3"/>
          <a:srcRect xmlns:a="http://schemas.openxmlformats.org/drawingml/2006/main" l="0" t="8974" r="0" b="33333"/>
          <a:stretch xmlns:a="http://schemas.openxmlformats.org/drawingml/2006/main"/>
        </p:blipFill>
        <p:spPr>
          <a:xfrm xmlns:a="http://schemas.openxmlformats.org/drawingml/2006/main">
            <a:off x="609600" y="2381250"/>
            <a:ext cx="7258050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0C314-BEFF-4D93-90EE-BE7E0DBB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14AA7-A99A-4336-BDBF-020F7A66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Longitude, latitude and height become map coordinates. The physical site stays the same, while grid north and local scale can differ.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D4D460-3860-4323-943B-3C767D9A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73F2E4-8E77-4F71-9F67-52C7150C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A new coordinate representation has a defined physical meaning. The France and Colorado numerical controls test conversion separately from this illustration.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6D71B-4817-40F3-98F0-4DF4207E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Informative illustration.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6207447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0A4B33-939D-4307-831F-5825A768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Ordinary model adjustments after placement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B73FAD-F329-4EA5-A746-39D2F6A3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In which coordinates do an author's scale, rotation and translation operate?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12CD92-C93E-4CC6-834C-B99D9054F9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14fb4b1da4c59"/>
          <a:srcRect xmlns:a="http://schemas.openxmlformats.org/drawingml/2006/main" l="0" t="8974" r="0" b="33333"/>
          <a:stretch xmlns:a="http://schemas.openxmlformats.org/drawingml/2006/main"/>
        </p:blipFill>
        <p:spPr>
          <a:xfrm xmlns:a="http://schemas.openxmlformats.org/drawingml/2006/main">
            <a:off x="609600" y="2381250"/>
            <a:ext cx="7258050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A5054-DCB1-4CF3-840D-854C8D39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89AA8-A9D7-4CC5-8116-AFCF3408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illustration scales by 1.15, rotates 20° and moves 120 m east and 60 m south. It shows adjustments on the directly bound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3EFB1B-0CE9-4270-945D-E6618009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0F2E4D-A7C8-4DA3-A5D3-86AECF22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draft distinguishes project adjustments from model-local child offsets. A numerical control separates those interpretations by 4.222 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EBC192-5FE7-44AC-8472-7DFD8390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Informative illustration.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16443763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7C1C68-2805-4D71-B199-CEB65CFA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same rules in two placement readers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FE893-8206-46DF-8527-68CF9D29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separate implementations derive the same coordinates from the proposed inputs and rules?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DC517-8E55-4268-B71D-5E6B0C60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France: CC49 to Lambert-93, metres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8CFB2-F40B-4136-A17D-09AF0C71512B}"/>
              </a:ext>
            </a:extLst>
          </p:cNvPr>
          <p:cNvGraphicFramePr/>
          <p:nvPr/>
        </p:nvGraphicFramePr>
        <p:xfrm>
          <a:off xmlns:a="http://schemas.openxmlformats.org/drawingml/2006/main" x="609600" y="2733675"/>
          <a:ext xmlns:a="http://schemas.openxmlformats.org/drawingml/2006/main" cx="109728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3810000"/>
                <a:gridCol w="3810000"/>
              </a:tblGrid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Resolved component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reader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C++ reader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east coordinate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661,101.109417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661,101.109417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north coordinate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6,857,834.256536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6,857,834.256536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37.298000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37.298000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D04AA-354F-4281-8CC8-4ED1F08D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Colorado: State Plane to site grid, US survey feet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9168AE-AC68-45AF-A519-54B11D31CC55}"/>
              </a:ext>
            </a:extLst>
          </p:cNvPr>
          <p:cNvGraphicFramePr/>
          <p:nvPr/>
        </p:nvGraphicFramePr>
        <p:xfrm>
          <a:off xmlns:a="http://schemas.openxmlformats.org/drawingml/2006/main" x="609600" y="4667250"/>
          <a:ext xmlns:a="http://schemas.openxmlformats.org/drawingml/2006/main" cx="109728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3810000"/>
                <a:gridCol w="3810000"/>
              </a:tblGrid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Resolved component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reader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C++ reader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east coordinate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3,108,871.450101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3,108,871.450101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north coordinate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1,206,317.469403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1,206,317.469403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5,484.677949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5,484.677949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DD4C1C-5240-4674-9D3E-2CB13C7C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Both readers use PROJ and share native dataset decoding.</a:t>
            </a:r>
          </a:p>
        </p:txBody>
      </p:sp>
    </p:spTree>
    <p:extLst>
      <p:ext uri="{BB962C8B-B14F-4D97-AF65-F5344CB8AC3E}">
        <p14:creationId xmlns:p14="http://schemas.microsoft.com/office/powerpoint/2010/main" val="17462797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5BABC5-3119-40F6-B515-956E8206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Ordinary USD geometry for rendering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DA681-389E-4AFB-A928-C20AD3ED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renderer use the result without implementing geospatial evaluation?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B43DF-2B42-4A6E-A61F-0BA3452892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4a78d4c4740e0"/>
          <a:stretch xmlns:a="http://schemas.openxmlformats.org/drawingml/2006/main"/>
        </p:blipFill>
        <p:spPr>
          <a:xfrm xmlns:a="http://schemas.openxmlformats.org/drawingml/2006/main">
            <a:off x="609600" y="2383036"/>
            <a:ext cx="7258050" cy="40826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B56E5-8B80-4AD3-BBEB-E0B7FAAD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E3DBB-3D67-47BF-9363-65A91C93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Native Hydra/Storm renders the C++-resolved Eiffel bake. A double-precision origin keeps local geometry small.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4C04D-5C3A-46A3-BBF4-CEF850C8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396D7-D4B9-4B9C-810E-013F4A89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visualization path uses ordinary USD geometry. Reassembly controls confirm that a parent translation and an authored reset keep their USD meaning.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80DDB-517E-4CA3-92DD-219ED09E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Recorded native render.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415528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E9E82-5B35-4B99-A970-A2B41DF4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Measurements stay paired with their locations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042381-2CBC-4E7E-9D6F-1F6822F3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a native measurement dataset remain usable without rewriting values or guessing coordinate meaning?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B9FC22-CDAB-42FD-B75D-313ABD549F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4c95ee51844e35"/>
          <a:stretch xmlns:a="http://schemas.openxmlformats.org/drawingml/2006/main"/>
        </p:blipFill>
        <p:spPr>
          <a:xfrm xmlns:a="http://schemas.openxmlformats.org/drawingml/2006/main">
            <a:off x="2637234" y="2371725"/>
            <a:ext cx="6917531" cy="31623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33F1BC-E7DB-4F4A-9573-949F52A8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global field returns geographic and Earth-centred positions for 154 samples, preserving native values and two observation times.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2769C-FCA4-4DB7-B6C0-C070D8CE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Synthetic temperatures in kelvin. Both readers share decoding, so their agreement alone cannot verify the association.</a:t>
            </a:r>
          </a:p>
        </p:txBody>
      </p:sp>
    </p:spTree>
    <p:extLst>
      <p:ext uri="{BB962C8B-B14F-4D97-AF65-F5344CB8AC3E}">
        <p14:creationId xmlns:p14="http://schemas.microsoft.com/office/powerpoint/2010/main" val="18296320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22DF9-A541-4DE1-8B84-E5C981BE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Processing requirements before loading content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1B97C-A42C-4E56-B67F-5704FD01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consumer discover required geospatial processing while the content payload stays closed?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ABD03-92FB-4AD2-B770-46D07487B9D1}"/>
              </a:ext>
            </a:extLst>
          </p:cNvPr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5476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Closed-payload summary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Consumer meaning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5476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Complete-positive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Declared hard dependency: geospatial processing required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5476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Complete-empty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Publisher-qualified known-none: no retained geospatial use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5476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Unknown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Missing qualification supplies no proof of no dependency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64F0E-80EC-4760-9AA0-95E793FD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three summary cases retain closed payloads during detection. A separate publisher check catches a stale empty claim that retains a georeferenced variant.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22168-4621-49BC-B068-9D751E86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Selected payload and retained-variant controls. Fixed v1 names and the standards approval owner still need group agreement.</a:t>
            </a:r>
          </a:p>
        </p:txBody>
      </p:sp>
    </p:spTree>
    <p:extLst>
      <p:ext uri="{BB962C8B-B14F-4D97-AF65-F5344CB8AC3E}">
        <p14:creationId xmlns:p14="http://schemas.microsoft.com/office/powerpoint/2010/main" val="3374788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4D76F-C99A-499D-A9FA-CA325453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WKT writing, reading and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727B87-552A-4654-9BF8-7F7325C0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different WKT spellings remain usable without losing coordinate meaning?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6B6FC4-5938-45ED-AC19-D7AD8B3A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Writers emit lossless normal text. Readers accept supported valid non-normal WKT with a warning. Normalized text identity and semantic CRS equivalence remain separate.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103F6-515B-401F-AD60-243FB4864161}"/>
              </a:ext>
            </a:extLst>
          </p:cNvPr>
          <p:cNvGraphicFramePr/>
          <p:nvPr/>
        </p:nvGraphicFramePr>
        <p:xfrm>
          <a:off xmlns:a="http://schemas.openxmlformats.org/drawingml/2006/main" x="609600" y="3124200"/>
          <a:ext xmlns:a="http://schemas.openxmlformats.org/drawingml/2006/main" cx="10972800" cy="1676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19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Text before writing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Writer normal form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419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1.00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1E0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0.50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0.5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56391-B250-48D0-A4EA-7CA815AA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10972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Both placement readers resolve each spelling to the expected coordinates. The Omniverse stage writeback checks the same cases. A quoted keyword remains ordinary name text.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E1DE6-2B15-4730-B9B1-6D25DB2D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This lexical profile remains proposed. Invalid syntax and unsupported coordinate meaning still fail. Coordinate epochs remain deferred.</a:t>
            </a:r>
          </a:p>
        </p:txBody>
      </p:sp>
    </p:spTree>
    <p:extLst>
      <p:ext uri="{BB962C8B-B14F-4D97-AF65-F5344CB8AC3E}">
        <p14:creationId xmlns:p14="http://schemas.microsoft.com/office/powerpoint/2010/main" val="7844307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66E41-8F29-4DD6-BD17-531D50C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Repeated models retain their placement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70974-1777-4FCB-8FFA-7658E2C1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Does an independently georeferenced prototype receive an instance offset exactly once?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6A719-9A1C-4870-92CA-3F4144A558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fd71f72c44bb1"/>
          <a:stretch xmlns:a="http://schemas.openxmlformats.org/drawingml/2006/main"/>
        </p:blipFill>
        <p:spPr>
          <a:xfrm xmlns:a="http://schemas.openxmlformats.org/drawingml/2006/main">
            <a:off x="833438" y="2381250"/>
            <a:ext cx="6810375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87031C-95EB-4A85-BF02-46462D81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E3E709-BDB1-4C06-BD21-54A10AA9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Both readers return Earth-centred displacement [0, 10, 0] m for the two prototypes. Rotation and scale controls also distinguish the frame choices.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083D4-DD42-4DC3-80BD-DA606BFC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A93AA3-AD25-4F5C-81E1-C2F78D61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selected controls test the occurrence contract rather than merely the prototype origin. An unavailable required inverse fails visibly.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FF8D3E-91DE-4C0B-9759-814CE98E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Plot of recorded synthetic results.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2876964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0E8720-ED34-413B-AC8B-E07225E3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Proposal quality and its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C49286-D917-46A1-ACF5-C967F7D3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Selected demonstrations support the proposed behavior.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05A52-8A97-4596-9C27-4875705B2875}"/>
              </a:ext>
            </a:extLst>
          </p:cNvPr>
          <p:cNvGraphicFramePr/>
          <p:nvPr/>
        </p:nvGraphicFramePr>
        <p:xfrm>
          <a:off xmlns:a="http://schemas.openxmlformats.org/drawingml/2006/main" x="609600" y="220027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dimension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Assessment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Data model and runtime rules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The draft separates authored inputs from computed results and defines placement, adjustment, query and bake behavior.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Group alignment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Input and declaration rules have agreement. Detailed conventions and identities await review.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Prototype limitations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Lighting directions lack an error bound. Rotation uncertainty is unquantified.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Verification coverage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Selected workflows and distinguishing controls support the rules. Broader composition and continuous space/time coverage remain unverified.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C989A3-A445-404C-97FA-F68E2F9B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No additional undefined model rule was confirmed in the inspected paths. That is a bounded finding.</a:t>
            </a:r>
          </a:p>
        </p:txBody>
      </p:sp>
    </p:spTree>
    <p:extLst>
      <p:ext uri="{BB962C8B-B14F-4D97-AF65-F5344CB8AC3E}">
        <p14:creationId xmlns:p14="http://schemas.microsoft.com/office/powerpoint/2010/main" val="14125751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F8BCD-1ED9-476A-8351-CA42D688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A construction site's own survey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09728B-FFBE-4D2C-A7E2-F9BF1302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project's local survey grid participate as a defined CRS?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8E0A1-E905-4778-8442-99097C83BD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97fab133a442bf"/>
          <a:srcRect xmlns:a="http://schemas.openxmlformats.org/drawingml/2006/main" l="10000" t="38000" r="48000" b="13000"/>
          <a:stretch xmlns:a="http://schemas.openxmlformats.org/drawingml/2006/main"/>
        </p:blipFill>
        <p:spPr>
          <a:xfrm xmlns:a="http://schemas.openxmlformats.org/drawingml/2006/main">
            <a:off x="609600" y="2381250"/>
            <a:ext cx="7258050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EA348-CD7A-4CED-A587-98942895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D446C9-9104-407C-A4E5-DFD8074C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original LandXML survey breaklines resolve and reach an ordinary USD bake rendered by Storm.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8EF05-EE62-477B-93C3-E3D9D107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716E3D-C434-4516-8C78-89C0C8C6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partner case exercises a site's calibrated CRS. Its WKT-carried calibration participates in resolution.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8A3EE-7DC3-400A-BB3E-0505CBF6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Recorded native render.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5381081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C1FE16-428D-4297-8F2B-807842C7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Horizontal railway placement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0BE18-3017-4BEB-A35A-5551C32E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incomplete source metadata still support a useful, explicitly horizontal workflow?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A557FE-065B-49EE-B88E-BCC9CC4535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8e8de17274f74"/>
          <a:stretch xmlns:a="http://schemas.openxmlformats.org/drawingml/2006/main"/>
        </p:blipFill>
        <p:spPr>
          <a:xfrm xmlns:a="http://schemas.openxmlformats.org/drawingml/2006/main">
            <a:off x="609600" y="2558007"/>
            <a:ext cx="7258050" cy="373271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58514-FE61-49F6-A72C-B67E9E31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521DE-4CF5-4866-BC7B-3FAEC1CB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horizontal copy resolves 15,822 vertices across 2,386 parts. The plot uses offsets only for display.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F6B26-7D1E-42E3-8E40-637BDA6B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80F57-161D-4F0D-B1D8-56BF5F0A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draft supports horizontal resolution without inventing a height reference. The original third components remain uninterpreted.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27A77-EA10-48EC-9BBB-6983FF1E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Plot of recorded resolved geometry.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12068217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050F6-FBD3-4F71-AAD0-FD89A921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Animation evaluation 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CB0C5-E9ED-4D5F-BFCE-A86D5AF1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Interpolate the authored source position first, then convert coordinates.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D690E-CB49-42F2-89E8-44869A6B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Equatorial longitude changes from 0° to 2°. Interpolating converted endpoints misses the source-first midpoint by 971.421 m.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79858303-F39C-41D1-A5C5-2FF7FFC32C8B}"/>
              </a:ext>
            </a:extLst>
          </p:cNvPr>
          <p:cNvGraphicFramePr/>
          <p:nvPr/>
        </p:nvGraphicFramePr>
        <p:xfrm>
          <a:off xmlns:a="http://schemas.openxmlformats.org/drawingml/2006/main" x="428625" y="2524125"/>
          <a:ext xmlns:a="http://schemas.openxmlformats.org/drawingml/2006/main" cx="7200900" cy="3886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ddc597949e426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EFD586-2146-4C23-8111-663FBC63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81275"/>
            <a:ext cx="3486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Why the order matters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0ECA95-CA2A-46E9-9864-EDDB77CB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67075"/>
            <a:ext cx="3486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order is testable. Sample keys alone cannot certify the original trajectory between samples.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7D668A-89A2-4DF3-B7CA-813911A4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34861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bake preserves time codes 0, 5 and 10 at 48 time codes per second. Continuous trajectory coverage remains unverified.</a:t>
            </a:r>
          </a:p>
        </p:txBody>
      </p:sp>
    </p:spTree>
    <p:extLst>
      <p:ext uri="{BB962C8B-B14F-4D97-AF65-F5344CB8AC3E}">
        <p14:creationId xmlns:p14="http://schemas.microsoft.com/office/powerpoint/2010/main" val="16356252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C62F9-1E57-453F-BA67-23621DE5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Placement conventions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683000-D066-4F33-81EF-E0DBB996228A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57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meaning to review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orientation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One heading/pitch/roll tuple describes physical attitude against local east, north and up. Projection effects stay computed.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Project adjustments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The directly bound model's own xformOps adjust its placed result in a fixed project chart, including ordinary pivots.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objects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transforms define model-local geometry. Their offsets follow model axes and the geospatial attitude.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Repeated models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Each instance offset retains its instancer-local meaning. Independent prototype placement participates once. A required unavailable inverse fails.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scene results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queries retain longitude/latitude/height. Cartesian geometry and bounds use the datum's Earth-centred frame.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6AE01-3FB4-4098-9CA9-52EA57A2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These are proposed definitions in the full draft.</a:t>
            </a:r>
          </a:p>
        </p:txBody>
      </p:sp>
    </p:spTree>
    <p:extLst>
      <p:ext uri="{BB962C8B-B14F-4D97-AF65-F5344CB8AC3E}">
        <p14:creationId xmlns:p14="http://schemas.microsoft.com/office/powerpoint/2010/main" val="14251330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3905D-B75E-4F12-815D-62747A06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Data and declaration conventions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D56A33-2001-49B4-AE03-BAE3284BD7DF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57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meaning to review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Native data associations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Declare the asset, field and coordinate domain. Preserve named dimensions and observation times.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WKT string normalization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Normalize lexical spelling without losing represented information. Equal tokens establish serialized identity.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Semantic CRS comparison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Different normalized texts can represent equivalent CRSs. Comparison names its criteria and domain.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Dependency declaration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Profiles records complete publication coverage, including unloaded and retained variant content. Fixed v1 identities remain proposed.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Baked coordinate context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Retain a Cartesian CRS and double-precision origin without an active source placement binding. Ordinary USD controls subsequent transforms.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6C76C-2596-451A-8E60-5D994FA4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Coordinate epochs and scene-authored transformation-resource controls are deferred while preserving a path to future support.</a:t>
            </a:r>
          </a:p>
        </p:txBody>
      </p:sp>
    </p:spTree>
    <p:extLst>
      <p:ext uri="{BB962C8B-B14F-4D97-AF65-F5344CB8AC3E}">
        <p14:creationId xmlns:p14="http://schemas.microsoft.com/office/powerpoint/2010/main" val="13290799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2312C-C61B-4C88-BEE4-1BC0D854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Evidence and its limits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DE074A-B917-46BC-8ED8-E9EECEFE0221}"/>
              </a:ext>
            </a:extLst>
          </p:cNvPr>
          <p:cNvGraphicFramePr/>
          <p:nvPr/>
        </p:nvGraphicFramePr>
        <p:xfrm>
          <a:off xmlns:a="http://schemas.openxmlformats.org/drawingml/2006/main" x="609600" y="1438275"/>
          <a:ext xmlns:a="http://schemas.openxmlformats.org/drawingml/2006/main" cx="10972800" cy="4371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Path or check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evidence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Python and C++ readers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213,263 coordinate results per reader. Maximum measured difference 3.39e-08 m. Shared PROJ and decoding.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Omniverse stage geometry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Reuses Python placement. Readback covers 177,872 vertices and 48 edit, failure and recovery checks across 44 jobs.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Hydra / Storm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Two selected ordinary USD bakes reach native rendering using C++-resolved placements.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Recorded tests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124 contract tests and 70 distinguishing controls pass. Separate diagnostics expose the reported prototype limits.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Source preservation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Original inputs and 50 frozen execution files remain unchanged. The immutable receipt identifies exact executed content.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 readbacks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11 selected exports checked. No general material/primvar, physics or continuous trajectory conformance is claimed.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DEC974-F307-4E6D-9D18-7A6C52F3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There are two placement readers. Omniverse reuses Python with a verified stage geometry sink. Hydra consumes a C++-resolved ordinary USD bake.</a:t>
            </a:r>
          </a:p>
        </p:txBody>
      </p:sp>
    </p:spTree>
    <p:extLst>
      <p:ext uri="{BB962C8B-B14F-4D97-AF65-F5344CB8AC3E}">
        <p14:creationId xmlns:p14="http://schemas.microsoft.com/office/powerpoint/2010/main" val="405676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2026-10-12T20:11:06.6020000Z</dcterms:created>
  <dcterms:modified xsi:type="dcterms:W3CDTF">2026-10-12T20:11:06.6020000Z</dcterms:modified>
</coreProperties>
</file>