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a0bd1c72d2477b" /><Relationship Type="http://schemas.openxmlformats.org/officeDocument/2006/relationships/extended-properties" Target="/docProps/app.xml" Id="Race2d0e03d4e45a9" /><Relationship Type="http://schemas.openxmlformats.org/officeDocument/2006/relationships/officeDocument" Target="/ppt/presentation.xml" Id="R1460e9a01fb548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7e2e0cc0f74f48"/>
  </p:sldMasterIdLst>
  <p:notesMasterIdLst>
    <p:notesMasterId xmlns:r="http://schemas.openxmlformats.org/officeDocument/2006/relationships" r:id="R040f136531de4a88"/>
  </p:notesMasterIdLst>
  <p:sldIdLst>
    <p:sldId xmlns:r="http://schemas.openxmlformats.org/officeDocument/2006/relationships" id="256" r:id="R97802bcd5ce04758"/>
    <p:sldId xmlns:r="http://schemas.openxmlformats.org/officeDocument/2006/relationships" id="257" r:id="Rbfd173ff249e4525"/>
    <p:sldId xmlns:r="http://schemas.openxmlformats.org/officeDocument/2006/relationships" id="258" r:id="R99a4a70af04f4271"/>
    <p:sldId xmlns:r="http://schemas.openxmlformats.org/officeDocument/2006/relationships" id="259" r:id="R90ea7b0f14d44179"/>
    <p:sldId xmlns:r="http://schemas.openxmlformats.org/officeDocument/2006/relationships" id="260" r:id="R0fe1607c7ea646ba"/>
    <p:sldId xmlns:r="http://schemas.openxmlformats.org/officeDocument/2006/relationships" id="261" r:id="R6ecd547532664220"/>
    <p:sldId xmlns:r="http://schemas.openxmlformats.org/officeDocument/2006/relationships" id="262" r:id="R75eb8b4bfe754741"/>
    <p:sldId xmlns:r="http://schemas.openxmlformats.org/officeDocument/2006/relationships" id="263" r:id="R4060aa22fcc84108"/>
    <p:sldId xmlns:r="http://schemas.openxmlformats.org/officeDocument/2006/relationships" id="264" r:id="Ra9b805987d6e4d05"/>
    <p:sldId xmlns:r="http://schemas.openxmlformats.org/officeDocument/2006/relationships" id="265" r:id="Rf4ec0743b14e4da1"/>
    <p:sldId xmlns:r="http://schemas.openxmlformats.org/officeDocument/2006/relationships" id="266" r:id="R1c2206ef310c4212"/>
    <p:sldId xmlns:r="http://schemas.openxmlformats.org/officeDocument/2006/relationships" id="267" r:id="R0142330e72d94e4c"/>
    <p:sldId xmlns:r="http://schemas.openxmlformats.org/officeDocument/2006/relationships" id="268" r:id="R4d28be993475403c"/>
    <p:sldId xmlns:r="http://schemas.openxmlformats.org/officeDocument/2006/relationships" id="269" r:id="Rb04c1697162b44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c7f1e6abaf43cb" /><Relationship Type="http://schemas.openxmlformats.org/officeDocument/2006/relationships/slideMaster" Target="/ppt/slideMasters/slideMaster1.xml" Id="Rdb7e2e0cc0f74f48" /><Relationship Type="http://schemas.openxmlformats.org/officeDocument/2006/relationships/notesMaster" Target="/ppt/notesMasters/notesMaster1.xml" Id="R040f136531de4a88" /><Relationship Type="http://schemas.openxmlformats.org/officeDocument/2006/relationships/presProps" Target="/ppt/presProps.xml" Id="R160c85a0d3da4090" /><Relationship Type="http://schemas.openxmlformats.org/officeDocument/2006/relationships/tableStyles" Target="/ppt/tableStyles.xml" Id="R2323702030ff4741" /><Relationship Type="http://schemas.openxmlformats.org/officeDocument/2006/relationships/slide" Target="/ppt/slides/slide1.xml" Id="R97802bcd5ce04758" /><Relationship Type="http://schemas.openxmlformats.org/officeDocument/2006/relationships/slide" Target="/ppt/slides/slide2.xml" Id="Rbfd173ff249e4525" /><Relationship Type="http://schemas.openxmlformats.org/officeDocument/2006/relationships/slide" Target="/ppt/slides/slide3.xml" Id="R99a4a70af04f4271" /><Relationship Type="http://schemas.openxmlformats.org/officeDocument/2006/relationships/slide" Target="/ppt/slides/slide4.xml" Id="R90ea7b0f14d44179" /><Relationship Type="http://schemas.openxmlformats.org/officeDocument/2006/relationships/slide" Target="/ppt/slides/slide5.xml" Id="R0fe1607c7ea646ba" /><Relationship Type="http://schemas.openxmlformats.org/officeDocument/2006/relationships/slide" Target="/ppt/slides/slide6.xml" Id="R6ecd547532664220" /><Relationship Type="http://schemas.openxmlformats.org/officeDocument/2006/relationships/slide" Target="/ppt/slides/slide7.xml" Id="R75eb8b4bfe754741" /><Relationship Type="http://schemas.openxmlformats.org/officeDocument/2006/relationships/slide" Target="/ppt/slides/slide8.xml" Id="R4060aa22fcc84108" /><Relationship Type="http://schemas.openxmlformats.org/officeDocument/2006/relationships/slide" Target="/ppt/slides/slide9.xml" Id="Ra9b805987d6e4d05" /><Relationship Type="http://schemas.openxmlformats.org/officeDocument/2006/relationships/slide" Target="/ppt/slides/slide10.xml" Id="Rf4ec0743b14e4da1" /><Relationship Type="http://schemas.openxmlformats.org/officeDocument/2006/relationships/slide" Target="/ppt/slides/slide11.xml" Id="R1c2206ef310c4212" /><Relationship Type="http://schemas.openxmlformats.org/officeDocument/2006/relationships/slide" Target="/ppt/slides/slide12.xml" Id="R0142330e72d94e4c" /><Relationship Type="http://schemas.openxmlformats.org/officeDocument/2006/relationships/slide" Target="/ppt/slides/slide13.xml" Id="R4d28be993475403c" /><Relationship Type="http://schemas.openxmlformats.org/officeDocument/2006/relationships/slide" Target="/ppt/slides/slide14.xml" Id="Rb04c1697162b44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94efd56ebc4e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44667a52354903" /><Relationship Type="http://schemas.openxmlformats.org/officeDocument/2006/relationships/notesMaster" Target="/ppt/notesMasters/notesMaster1.xml" Id="R26d6e3af004944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e518852e884cb1" /><Relationship Type="http://schemas.openxmlformats.org/officeDocument/2006/relationships/notesMaster" Target="/ppt/notesMasters/notesMaster1.xml" Id="Rca85a35b96384e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5f38ac70d84745" /><Relationship Type="http://schemas.openxmlformats.org/officeDocument/2006/relationships/notesMaster" Target="/ppt/notesMasters/notesMaster1.xml" Id="Rdfa2927056f648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368eddc4e348e3" /><Relationship Type="http://schemas.openxmlformats.org/officeDocument/2006/relationships/notesMaster" Target="/ppt/notesMasters/notesMaster1.xml" Id="R691db23d88184f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91e3c7e8a04575" /><Relationship Type="http://schemas.openxmlformats.org/officeDocument/2006/relationships/notesMaster" Target="/ppt/notesMasters/notesMaster1.xml" Id="Rdc5fa35e2d6e42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6d7178c117472a" /><Relationship Type="http://schemas.openxmlformats.org/officeDocument/2006/relationships/notesMaster" Target="/ppt/notesMasters/notesMaster1.xml" Id="R129993f85c8a45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3ccb4ac1a042b7" /><Relationship Type="http://schemas.openxmlformats.org/officeDocument/2006/relationships/notesMaster" Target="/ppt/notesMasters/notesMaster1.xml" Id="R9d5fb00580064c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64faaecb9a4aab" /><Relationship Type="http://schemas.openxmlformats.org/officeDocument/2006/relationships/notesMaster" Target="/ppt/notesMasters/notesMaster1.xml" Id="R60a87f7c8f6244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4712f5bb474ad9" /><Relationship Type="http://schemas.openxmlformats.org/officeDocument/2006/relationships/notesMaster" Target="/ppt/notesMasters/notesMaster1.xml" Id="R4206fc282d9d43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978d6c3a6f42ac" /><Relationship Type="http://schemas.openxmlformats.org/officeDocument/2006/relationships/notesMaster" Target="/ppt/notesMasters/notesMaster1.xml" Id="Re5f365fd1c034c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33447297b294595" /><Relationship Type="http://schemas.openxmlformats.org/officeDocument/2006/relationships/notesMaster" Target="/ppt/notesMasters/notesMaster1.xml" Id="R574ebfdbaf0b41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717ae392a54ae9" /><Relationship Type="http://schemas.openxmlformats.org/officeDocument/2006/relationships/notesMaster" Target="/ppt/notesMasters/notesMaster1.xml" Id="Ra9338cb4d67c4c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991ad58ad24036" /><Relationship Type="http://schemas.openxmlformats.org/officeDocument/2006/relationships/notesMaster" Target="/ppt/notesMasters/notesMaster1.xml" Id="R99e5979fe21c49f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ee880b2a9046e9" /><Relationship Type="http://schemas.openxmlformats.org/officeDocument/2006/relationships/notesMaster" Target="/ppt/notesMasters/notesMaster1.xml" Id="R9bdf644eea534b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{"section":"Assessment of the proposal","status":[["Proposal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Main explanation: 1–8. Supporting evidence and review choices: 9–14.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reader distinguish the model's shape from its location on Earth?</a:t>
            </a:r>
          </a:p>
          <a:p xmlns:a="http://schemas.openxmlformats.org/drawingml/2006/main">
            <a:r>
              <a:t>Proposed rule: The scene records local geometry separately from its geographic origin and physical orientation. A coordinate reference system (CRS) defines how to interpret the origin's axes, units and height.</a:t>
            </a:r>
          </a:p>
          <a:p xmlns:a="http://schemas.openxmlformats.org/drawingml/2006/main">
            <a:r>
              <a:t>Expected: A reader has enough source information to place the model, without interpreting longitude or latitude as a distance or adding computed results to the source schema.</a:t>
            </a:r>
          </a:p>
          <a:p xmlns:a="http://schemas.openxmlformats.org/drawingml/2006/main">
            <a:r>
              <a:t>Observed: The candidate defines position and orientation inputs, with concrete component, unit, default and evaluation rules. Ordinary model transforms remain separate.</a:t>
            </a:r>
          </a:p>
          <a:p xmlns:a="http://schemas.openxmlformats.org/drawingml/2006/main">
            <a:r>
              <a:t>Implication for proposal quality: These definitions make the intended inputs explicit. Their usefulness depends on the agreed meanings, not on choosing a particular implementation library.</a:t>
            </a:r>
          </a:p>
          <a:p xmlns:a="http://schemas.openxmlformats.org/drawingml/2006/main">
            <a:r>
              <a:t>Limit: This is an explanation of proposed definitions. The group still needs to review them.</a:t>
            </a:r>
          </a:p>
          <a:p xmlns:a="http://schemas.openxmlformats.org/drawingml/2006/main">
            <a:r>
              <a:t>Proposal: #### Authored properties at proposal/proposal-source.txt:1523</a:t>
            </a:r>
          </a:p>
          <a:p xmlns:a="http://schemas.openxmlformats.org/drawingml/2006/main">
            <a:r>
              <a:t>Functional requirements: [{"id":9,"title":"Positions, and offsets from them.","line":777},{"id":10,"title":"Offsets along the axes of their position.","line":795},{"id":12,"title":"No angle read as a length.","line":831},{"id":14,"title":"Scene conventions stay the scene's.","line":857},{"id":15,"title":"Placement separate from conformance.","line":870}]</a:t>
            </a:r>
          </a:p>
          <a:p xmlns:a="http://schemas.openxmlformats.org/drawingml/2006/main">
            <a:r>
              <a:t>Image role: Recorded numerical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changing coordinate systems preserve physical placement?</a:t>
            </a:r>
          </a:p>
          <a:p xmlns:a="http://schemas.openxmlformats.org/drawingml/2006/main">
            <a:r>
              <a:t>Proposed rule: CRS conversion expresses the same physical placement using different coordinates. The reader computes projection effects instead of recording them as additional source properties.</a:t>
            </a:r>
          </a:p>
          <a:p xmlns:a="http://schemas.openxmlformats.org/drawingml/2006/main">
            <a:r>
              <a:t>Expected: Longitude and latitude can become map east and north coordinates while the tower stays at the same physical place.</a:t>
            </a:r>
          </a:p>
          <a:p xmlns:a="http://schemas.openxmlformats.org/drawingml/2006/main">
            <a:r>
              <a:t>Observed: The illustration converts longitude, latitude and height into map coordinates. The physical site stays the same; map north and local scale can differ.</a:t>
            </a:r>
          </a:p>
          <a:p xmlns:a="http://schemas.openxmlformats.org/drawingml/2006/main">
            <a:r>
              <a:t>Implication for proposal quality: The proposed rules distinguish a new coordinate representation from a physical move. An image explains this distinction; numerical controls must test it.</a:t>
            </a:r>
          </a:p>
          <a:p xmlns:a="http://schemas.openxmlformats.org/drawingml/2006/main">
            <a:r>
              <a:t>Limit: The location, height and orientation are illustrative. This image explains the proposed math and does not verify surveyed Paris placement.</a:t>
            </a:r>
          </a:p>
          <a:p xmlns:a="http://schemas.openxmlformats.org/drawingml/2006/main">
            <a:r>
              <a:t>Proposal: ### Source placement evaluation and transform order at proposal/proposal-source.txt:1810</a:t>
            </a:r>
          </a:p>
          <a:p xmlns:a="http://schemas.openxmlformats.org/drawingml/2006/main">
            <a:r>
              <a:t>Functional requirements: [{"id":9,"title":"Positions, and offsets from them.","line":777},{"id":12,"title":"No angle read as a length.","line":831},{"id":13,"title":"One axis mapping.","line":845},{"id":16,"title":"One CRS out.","line":882},{"id":19,"title":"Resolution leaves the scene as authored.","line":932}]</a:t>
            </a:r>
          </a:p>
          <a:p xmlns:a="http://schemas.openxmlformats.org/drawingml/2006/main">
            <a:r>
              <a:t>Image role: informative illustration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In which coordinates do an author's scale, rotation and translation operate?</a:t>
            </a:r>
          </a:p>
          <a:p xmlns:a="http://schemas.openxmlformats.org/drawingml/2006/main">
            <a:r>
              <a:t>Proposed rule: On an object with its own CRS binding, ordinary USD transforms (xformOps) adjust the resolved placement in a fixed project working frame. The requested output CRS does not reinterpret those adjustment values.</a:t>
            </a:r>
          </a:p>
          <a:p xmlns:a="http://schemas.openxmlformats.org/drawingml/2006/main">
            <a:r>
              <a:t>Expected: A project adjustment moves or resizes the placed model while its source geospatial inputs remain unchanged. The proposal separately specifies how child transforms retain model-local meaning.</a:t>
            </a:r>
          </a:p>
          <a:p xmlns:a="http://schemas.openxmlformats.org/drawingml/2006/main">
            <a:r>
              <a:t>Observed: The illustration applies scale 1.15, rotation 20 degrees, then moves 120 m east and 60 m south. A child-transform control separates two interpretations by 4.222 m.</a:t>
            </a:r>
          </a:p>
          <a:p xmlns:a="http://schemas.openxmlformats.org/drawingml/2006/main">
            <a:r>
              <a:t>Implication for proposal quality: Order changes the result. The control tests the agreed anchor/child distinction while detailed chart and instance conventions remain candidates.</a:t>
            </a:r>
          </a:p>
          <a:p xmlns:a="http://schemas.openxmlformats.org/drawingml/2006/main">
            <a:r>
              <a:t>Limit: The image is informative. Feedback supports project adjustments versus model-local child offsets; detailed rules still need review.</a:t>
            </a:r>
          </a:p>
          <a:p xmlns:a="http://schemas.openxmlformats.org/drawingml/2006/main">
            <a:r>
              <a:t>Proposal: #### Evaluation at proposal/proposal-source.txt:1910</a:t>
            </a:r>
          </a:p>
          <a:p xmlns:a="http://schemas.openxmlformats.org/drawingml/2006/main">
            <a:r>
              <a:t>Functional requirements: [{"id":9,"title":"Positions, and offsets from them.","line":777},{"id":14,"title":"Scene conventions stay the scene's.","line":857},{"id":15,"title":"Placement separate from conformance.","line":870},{"id":17,"title":"The same answer for every consumer.","line":902},{"id":19,"title":"Resolution leaves the scene as authored.","line":932}]</a:t>
            </a:r>
          </a:p>
          <a:p xmlns:a="http://schemas.openxmlformats.org/drawingml/2006/main">
            <a:r>
              <a:t>Image role: informative illustration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separate implementations derive the same coordinates from the proposed inputs and rules?</a:t>
            </a:r>
          </a:p>
          <a:p xmlns:a="http://schemas.openxmlformats.org/drawingml/2006/main">
            <a:r>
              <a:t>Proposed rule: Consumers use the same declared coordinate meanings and resolution rules for a requested output. Agreement must be assessed with declared units and numerical evidence.</a:t>
            </a:r>
          </a:p>
          <a:p xmlns:a="http://schemas.openxmlformats.org/drawingml/2006/main">
            <a:r>
              <a:t>Expected: Python and C++ readers resolve the same partner points into matching output coordinates within the recorded tolerance.</a:t>
            </a:r>
          </a:p>
          <a:p xmlns:a="http://schemas.openxmlformats.org/drawingml/2006/main">
            <a:r>
              <a:t>Observed: France and Colorado points resolve through both readers. The maximum measured difference over the recorded coordinates is 3.39e-08 m.</a:t>
            </a:r>
          </a:p>
          <a:p xmlns:a="http://schemas.openxmlformats.org/drawingml/2006/main">
            <a:r>
              <a:t>Implication for proposal quality: The compared cases support reproducible interpretation of the proposed placement rules. They do not establish coverage of every rule or every input layout.</a:t>
            </a:r>
          </a:p>
          <a:p xmlns:a="http://schemas.openxmlformats.org/drawingml/2006/main">
            <a:r>
              <a:t>Limit: Both readers use PROJ and share dataset decoding. Agreement is limited to tested domains and is not independent geodetic validation.</a:t>
            </a:r>
          </a:p>
          <a:p xmlns:a="http://schemas.openxmlformats.org/drawingml/2006/main">
            <a:r>
              <a:t>Proposal: ### Extent and result comparison at proposal/proposal-source.txt:2042</a:t>
            </a:r>
          </a:p>
          <a:p xmlns:a="http://schemas.openxmlformats.org/drawingml/2006/main">
            <a:r>
              <a:t>Functional requirements: [{"id":4,"title":"A site's own grid is a CRS like any other.","line":674},{"id":13,"title":"One axis mapping.","line":845},{"id":16,"title":"One CRS out.","line":882},{"id":17,"title":"The same answer for every consumer.","line":902},{"id":18,"title":"Coordinates back out.","line":917},{"id":28,"title":"A result says what produced it.","line":1099},{"id":29,"title":"Implementable from the text alone.","line":1117}]</a:t>
            </a:r>
          </a:p>
          <a:p xmlns:a="http://schemas.openxmlformats.org/drawingml/2006/main">
            <a:r>
              <a:t>Image role: Recorded numerical evidence</a:t>
            </a:r>
          </a:p>
          <a:p xmlns:a="http://schemas.openxmlformats.org/drawingml/2006/main">
            <a:r>
              <a:t>The tables round one point per dataset to six decimals in their declared units. Shared PROJ and decoding limit independence. Component, magnitude and angular reporting now pass the independent counterexample. {"France_01":{"source":[1661099.039,8180053.117,37.298],"source_label":"CC49","target_label":"Lambert-93","unit":"m","python":[661101.1094171533,6857834.256535667,37.297999998112694],"native":[661101.1094171533,6857834.256535667,37.298000000906654],"ov":[661101.1094171533,6857834.256535667,37.297999998112694]},"Colorado_02":{"source":[3108002.1122,1752265.0666,5482.9424],"source_label":"State Plane","target_label":"Westminster site grid","unit":"ftUS","python":[3108871.450100667,1206317.4694031866,5484.677949332321],"native":[3108871.450100667,1206317.469403112,5484.677949268161],"ov":[3108871.450100667,1206317.4694031866,5484.677949332321]}}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renderer use the result without implementing geospatial evaluation?</a:t>
            </a:r>
          </a:p>
          <a:p xmlns:a="http://schemas.openxmlformats.org/drawingml/2006/main">
            <a:r>
              <a:t>Proposed rule: An explicit bake creates a derived copy containing resolved geometry and ordinary transforms. It retains the output coordinate context and applies each placement effect once.</a:t>
            </a:r>
          </a:p>
          <a:p xmlns:a="http://schemas.openxmlformats.org/drawingml/2006/main">
            <a:r>
              <a:t>Expected: A USD renderer reads the derived copy as ordinary geometry while the source scene keeps its authored geospatial inputs.</a:t>
            </a:r>
          </a:p>
          <a:p xmlns:a="http://schemas.openxmlformats.org/drawingml/2006/main">
            <a:r>
              <a:t>Observed: Native Hydra/Storm renders the ordinary USD bake. A double-precision origin keeps local points small; fresh readers recover the placement.</a:t>
            </a:r>
          </a:p>
          <a:p xmlns:a="http://schemas.openxmlformats.org/drawingml/2006/main">
            <a:r>
              <a:t>Implication for proposal quality: Unaware viewers receive resolved ordinary geometry. Fresh checks reject duplicate meshes and retain an unrelated applied schema.</a:t>
            </a:r>
          </a:p>
          <a:p xmlns:a="http://schemas.openxmlformats.org/drawingml/2006/main">
            <a:r>
              <a:t>Limit: This is a recorded native render. General materials, primvars and continuous coverage remain unverified.</a:t>
            </a:r>
          </a:p>
          <a:p xmlns:a="http://schemas.openxmlformats.org/drawingml/2006/main">
            <a:r>
              <a:t>Proposal: ### Explicit export and sampling at proposal/proposal-source.txt:2095</a:t>
            </a:r>
          </a:p>
          <a:p xmlns:a="http://schemas.openxmlformats.org/drawingml/2006/main">
            <a:r>
              <a:t>Functional requirements: [{"id":17,"title":"The same answer for every consumer.","line":902},{"id":19,"title":"Resolution leaves the scene as authored.","line":932},{"id":23,"title":"Detail that does not depend on location.","line":1038},{"id":25,"title":"Additive for consumers that ignore it.","line":1062},{"id":29,"title":"Implementable from the text alone.","line":1117}]</a:t>
            </a:r>
          </a:p>
          <a:p xmlns:a="http://schemas.openxmlformats.org/drawingml/2006/main">
            <a:r>
              <a:t>Image role: recorded native render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the scene make a native measurement dataset usable without rewriting its values or guessing what its coordinates mean?</a:t>
            </a:r>
          </a:p>
          <a:p xmlns:a="http://schemas.openxmlformats.org/drawingml/2006/main">
            <a:r>
              <a:t>Proposed rule: The scene identifies the asset, field and coordinate domain. The reader resolves sample locations while preserving their association with values, missing-data masks and observation times.</a:t>
            </a:r>
          </a:p>
          <a:p xmlns:a="http://schemas.openxmlformats.org/drawingml/2006/main">
            <a:r>
              <a:t>Expected: The same sample keeps the same measurement value and observation time whether its location is returned as longitude/latitude/height or Earth-centred Cartesian coordinates.</a:t>
            </a:r>
          </a:p>
          <a:p xmlns:a="http://schemas.openxmlformats.org/drawingml/2006/main">
            <a:r>
              <a:t>Observed: The synthetic global temperature case returns both coordinate forms for 154 samples and preserves the native values and two observation times.</a:t>
            </a:r>
          </a:p>
          <a:p xmlns:a="http://schemas.openxmlformats.org/drawingml/2006/main">
            <a:r>
              <a:t>Implication for proposal quality: The example exercises larger-scale analytical use, beyond model rendering. The proposal's association rule also identifies the later shared-decoder mistake as a failure.</a:t>
            </a:r>
          </a:p>
          <a:p xmlns:a="http://schemas.openxmlformats.org/drawingml/2006/main">
            <a:r>
              <a:t>Limit: Synthetic values. Dimension-name tests check associations independently of the shared decoder.</a:t>
            </a:r>
          </a:p>
          <a:p xmlns:a="http://schemas.openxmlformats.org/drawingml/2006/main">
            <a:r>
              <a:t>Proposal: ### External measurement association at proposal/proposal-source.txt:1610</a:t>
            </a:r>
          </a:p>
          <a:p xmlns:a="http://schemas.openxmlformats.org/drawingml/2006/main">
            <a:r>
              <a:t>Functional requirements: [{"id":8,"title":"Brought-in data keeps its coordinates and its CRS.","line":751},{"id":12,"title":"No angle read as a length.","line":831},{"id":18,"title":"Coordinates back out.","line":917},{"id":19,"title":"Resolution leaves the scene as authored.","line":932},{"id":21,"title":"Never placed by a guess.","line":968},{"id":30,"title":"Measurements remain usable as data.","line":1003}]</a:t>
            </a:r>
          </a:p>
          <a:p xmlns:a="http://schemas.openxmlformats.org/drawingml/2006/main">
            <a:r>
              <a:t>Image role: plot of recorded synthetic 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{"section":"Fresh independent audit","status":[["Proposal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them."]],"issues":[["Surface lighting directions","Remaining: normal sampling has no justified domain/error bound; projected difference about 1.24 degrees."],["Repeated models","Corrected: an unbound library prototype receives its instancer placement in both readers."],["Baked geometry","Corrected: two source meshes yield exactly two baked meshes; extras are rejected."],["Measurement locations","Corrected: all six measurements retain the coordinates declared by dimension names."],["Other scene information","Corrected: the bake retains MotionAPI and its velocity-scale value."],["Error reporting","Corrected: reports include component errors, magnitudes and angular errors."],["Invalid input detection","Corrected: both readers reject an invalid child placement field."]]}</a:t>
            </a:r>
          </a:p>
          <a:p xmlns:a="http://schemas.openxmlformats.org/drawingml/2006/main">
            <a:r>
              <a:t>No additional model blocker was established by this audit; this is not an exhaustive finding. R1 remains unreproduced.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project's local survey grid participate as a defined CRS?</a:t>
            </a:r>
          </a:p>
          <a:p xmlns:a="http://schemas.openxmlformats.org/drawingml/2006/main">
            <a:r>
              <a:t>Proposed rule: Site calibration records how a local survey grid relates to a broader coordinate system. The source WKT, a standard text description, carries that relationship and its units.</a:t>
            </a:r>
          </a:p>
          <a:p xmlns:a="http://schemas.openxmlformats.org/drawingml/2006/main">
            <a:r>
              <a:t>Expected: The partner survey resolves into the calibrated site grid using US survey feet, separately from the scene's model units and up direction.</a:t>
            </a:r>
          </a:p>
          <a:p xmlns:a="http://schemas.openxmlformats.org/drawingml/2006/main">
            <a:r>
              <a:t>Observed: The original LandXML survey breaklines resolve and reach an ordinary USD bake rendered by Storm.</a:t>
            </a:r>
          </a:p>
          <a:p xmlns:a="http://schemas.openxmlformats.org/drawingml/2006/main">
            <a:r>
              <a:t>Implication for proposal quality: The case supports a site's calibrated CRS using partner survey lines. It does not establish independent survey accuracy.</a:t>
            </a:r>
          </a:p>
          <a:p xmlns:a="http://schemas.openxmlformats.org/drawingml/2006/main">
            <a:r>
              <a:t>Limit: The image shows survey breaklines. It does not independently validate the survey or certify a continuous terrain surface.</a:t>
            </a:r>
          </a:p>
          <a:p xmlns:a="http://schemas.openxmlformats.org/drawingml/2006/main">
            <a:r>
              <a:t>Proposal: #### Decision on question 7: site calibration at proposal/proposal-source.txt:1294</a:t>
            </a:r>
          </a:p>
          <a:p xmlns:a="http://schemas.openxmlformats.org/drawingml/2006/main">
            <a:r>
              <a:t>Functional requirements: [{"id":4,"title":"A site's own grid is a CRS like any other.","line":674},{"id":14,"title":"Scene conventions stay the scene's.","line":857},{"id":15,"title":"Placement separate from conformance.","line":870},{"id":17,"title":"The same answer for every consumer.","line":902}]</a:t>
            </a:r>
          </a:p>
          <a:p xmlns:a="http://schemas.openxmlformats.org/drawingml/2006/main">
            <a:r>
              <a:t>Image role: recorded native render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incomplete source metadata still support an honestly limited workflow?</a:t>
            </a:r>
          </a:p>
          <a:p xmlns:a="http://schemas.openxmlformats.org/drawingml/2006/main">
            <a:r>
              <a:t>Proposed rule: A consumer does not invent missing coordinate meaning. An explicitly horizontal association can support horizontal resolution while leaving uninterpreted third components unchanged.</a:t>
            </a:r>
          </a:p>
          <a:p xmlns:a="http://schemas.openxmlformats.org/drawingml/2006/main">
            <a:r>
              <a:t>Expected: The horizontal copy resolves into the UTM 32 map system. The original GeoJSON remains unchanged, and no height reference is guessed.</a:t>
            </a:r>
          </a:p>
          <a:p xmlns:a="http://schemas.openxmlformats.org/drawingml/2006/main">
            <a:r>
              <a:t>Observed: The horizontal railway copy resolves 15,822 vertices across 2,386 parts. The plot uses display-only offsets.</a:t>
            </a:r>
          </a:p>
          <a:p xmlns:a="http://schemas.openxmlformats.org/drawingml/2006/main">
            <a:r>
              <a:t>Implication for proposal quality: This case exercises visible limits on interpretation, not a silent assumption that every three-number tuple is a valid geographic 3D position.</a:t>
            </a:r>
          </a:p>
          <a:p xmlns:a="http://schemas.openxmlformats.org/drawingml/2006/main">
            <a:r>
              <a:t>Limit: The original third components remain uninterpreted. This demonstration supports horizontal placement only.</a:t>
            </a:r>
          </a:p>
          <a:p xmlns:a="http://schemas.openxmlformats.org/drawingml/2006/main">
            <a:r>
              <a:t>Proposal: ### External measurement association at proposal/proposal-source.txt:1610</a:t>
            </a:r>
          </a:p>
          <a:p xmlns:a="http://schemas.openxmlformats.org/drawingml/2006/main">
            <a:r>
              <a:t>Functional requirements: [{"id":8,"title":"Brought-in data keeps its coordinates and its CRS.","line":751},{"id":12,"title":"No angle read as a length.","line":831},{"id":19,"title":"Resolution leaves the scene as authored.","line":932},{"id":21,"title":"Never placed by a guess.","line":968}]</a:t>
            </a:r>
          </a:p>
          <a:p xmlns:a="http://schemas.openxmlformats.org/drawingml/2006/main">
            <a:r>
              <a:t>Image role: plot of recorded resolved geometry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the proposal say how to resolve positions between authored moments?</a:t>
            </a:r>
          </a:p>
          <a:p xmlns:a="http://schemas.openxmlformats.org/drawingml/2006/main">
            <a:r>
              <a:t>Proposed rule: Interpolate the authored source location first, then convert coordinates. Interpolating already-converted endpoints can produce a different path.</a:t>
            </a:r>
          </a:p>
          <a:p xmlns:a="http://schemas.openxmlformats.org/drawingml/2006/main">
            <a:r>
              <a:t>Expected: At the middle sample, both readers return the converted source-interpolated position. An ordinary bake states exactly which samples it preserves.</a:t>
            </a:r>
          </a:p>
          <a:p xmlns:a="http://schemas.openxmlformats.org/drawingml/2006/main">
            <a:r>
              <a:t>Observed: In the equatorial test, the source longitude spans 0 to 2 degrees. Interpolating converted endpoints misses the source-first midpoint by 971.421 m.</a:t>
            </a:r>
          </a:p>
          <a:p xmlns:a="http://schemas.openxmlformats.org/drawingml/2006/main">
            <a:r>
              <a:t>Implication for proposal quality: The distinguishing control makes the ordering rule testable. Preserving sample times alone cannot prove preservation of the original trajectory between samples.</a:t>
            </a:r>
          </a:p>
          <a:p xmlns:a="http://schemas.openxmlformats.org/drawingml/2006/main">
            <a:r>
              <a:t>Limit: The bake preserves time codes 0, 5, 10 and 48 time codes per second. It provides no original-trajectory guarantee between those samples.</a:t>
            </a:r>
          </a:p>
          <a:p xmlns:a="http://schemas.openxmlformats.org/drawingml/2006/main">
            <a:r>
              <a:t>Proposal: #### Evaluation at proposal/proposal-source.txt:1910</a:t>
            </a:r>
          </a:p>
          <a:p xmlns:a="http://schemas.openxmlformats.org/drawingml/2006/main">
            <a:r>
              <a:t>Functional requirements: [{"id":20,"title":"Positions between recorded moments.","line":951},{"id":29,"title":"Implementable from the text alone.","line":1117}]</a:t>
            </a:r>
          </a:p>
          <a:p xmlns:a="http://schemas.openxmlformats.org/drawingml/2006/main">
            <a:r>
              <a:t>Image role: Recorded numerical evidence</a:t>
            </a:r>
          </a:p>
          <a:p xmlns:a="http://schemas.openxmlformats.org/drawingml/2006/main">
            <a:r>
              <a:t>The chart uses literal values from frozen source samples [[6378137,0,0],[6377165.5788417,111313.83923667613,0],[6374251.6112710945,222593.77119959943,0]]; midpoint difference 971.4211583005459 m. Whole-metre chart labels; six-decimal workbook values. No continuous error curve is claimed.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{"section":"Proposed choices awaiting agreement","status":[["Proposal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[["Physical orientation","Input-only meaning is supported. Stored quaternion versus one heading/pitch/roll tuple and its interpolation need review."],["The object with its own georeference","Project adjustment meaning is supported. The detailed fixed working-frame convention remains a candidate."],["Child objects","Model-local meaning is supported. The follow-up specifies chart/reset details and tests that offsets retain their interpretation."],["Independently georeferenced repeated models","Keep a prototype's own geographic placement and apply each instance effect once."],["Geographic queries and scene geometry","Return longitude/latitude/height for geographic queries. Cartesian geometry and bounds use the datum's Earth-centred frame."]]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{"section":"Proposed choices awaiting agreement","status":[["Proposal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[["Native data association","Name the asset, format, field and coordinate domain. Preserve the association between values, locations and observation times."],["WKT string normalization","A prescribed text form supports token comparison. Different normalized texts can still describe equivalent CRSs."],["Semantic CRS comparison","Specify equivalence criteria and the comparison domain, accounting for relevant axes, units and metadata."],["Dependency declaration using Profiles","Declare the composed scene's need for geospatial interpretation, including unloaded content. Writers and assemblers maintain the declaration."],["Baked output context","Record a Cartesian CRS and ordinary double-precision origin. Preserve precision and space/time coverage."]]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{"section":"Detailed evidence","status":[["Proposal definitions","A focused requirements baseline is separate from the full candidate used for execution. Supported meaning and pending conventions are distinguished."],["Newly confirmed model gap","No additional undefined model rule was confirmed in reviewed paths. This is a scoped assessment, not an exhaustive completeness proof."],["Implementation evidence","The selected cases work. 6 prior defects pass fresh counterexamples; 1 remains unresolved."],["Deferred capabilities","Coordinate epochs and scene-authored transformation resources remain on the roadmap. Initial choices must preserve a path to adding them."]]}</a:t>
            </a:r>
          </a:p>
          <a:p xmlns:a="http://schemas.openxmlformats.org/drawingml/2006/main">
            <a:r>
              <a:t>[["Python and C++ readers","213,231 coordinate results per reader. Maximum measured difference 3.39e-08 m. They share PROJ and native dataset decoding."],["Omniverse stage geometry integration","Reuses Python placement. Recorded readback covers 177,864 geometry vertices and 36 edit, failure and recovery checks, across 35 jobs."],["Hydra / Storm","Two selected ordinary USD bakes reach native rendering. This consumer path uses the C++ placement results."],["Recorded tests","70 regressions and 61 distinguishing controls passed. Fresh independent diagnostics verify six repairs and retain the unresolved normal case."],["Source preservation","Original inputs and all frozen execution files remained unchanged during this run. The immutable receipt identifies the exact executed content."],["Bake readbacks","11 selected exports were checked. The fresh nested-geometry counterexample verifies the complete inventory, including unexpected extras."]]</a:t>
            </a:r>
          </a:p>
          <a:p xmlns:a="http://schemas.openxmlformats.org/drawingml/2006/main">
            <a:r>
              <a:t>README SHA-256 708a3b5c2d26a82e32e7ec3c381c2ebb7cda8274fd4567709f98d76d85ca8f6c</a:t>
            </a:r>
          </a:p>
          <a:p xmlns:a="http://schemas.openxmlformats.org/drawingml/2006/main">
            <a:r>
              <a:t>Proposal SHA-256 28768109389139a56d5c8e5f473446bfa46dd1ab46a48924165b97fb92cb7ae9</a:t>
            </a:r>
          </a:p>
          <a:p xmlns:a="http://schemas.openxmlformats.org/drawingml/2006/main">
            <a:r>
              <a:t>Immutable execution receipt SHA-256 b12019e039ab52f930fb2f4321ca2289875bcdefbd3dbbd669b72a8689647e46</a:t>
            </a:r>
          </a:p>
          <a:p xmlns:a="http://schemas.openxmlformats.org/drawingml/2006/main">
            <a:r>
              <a:t>Later audit SHA-256 e7e5278ba30509b5a3e94196ffdb6d59aaa54eadacae97022f6ffab098d94a9a</a:t>
            </a:r>
          </a:p>
          <a:p xmlns:a="http://schemas.openxmlformats.org/drawingml/2006/main">
            <a:r>
              <a:t>Fresh October 8 execution of the local stacked follow-up, with clause-traced adapter repairs and repeated independent diagnostics. No changes have been published.</a:t>
            </a:r>
          </a:p>
          <a:p xmlns:a="http://schemas.openxmlformats.org/drawingml/2006/main">
            <a:r>
              <a:t>Eiffel mesh credit: SDC PERFORMANCE, https://sketchfab.com/3d-models/free-la-tour-eiffel-8553f94d06e24cb4b0fde1080f281674 ; CC BY 4.0 https://creativecommons.org/licenses/by/4.0/ . Illustrative context is not surveyed ground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ddcf68d1434f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d5208c61dc42f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25d8bdd8849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f805f748fd4f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6ef6803b34b9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79aac558a64b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BB5223-5EEC-44E0-AE9A-8D60D412E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11BF116-BB13-46A9-90BE-2E473EF69C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CB66F-27A5-4AE5-BCD3-AEAC8EE46F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E279D9-2EB9-416D-A08E-5E01B5862D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C70189C-322D-4E71-A2D1-BFAC583950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44A410-EB75-4A5B-9E35-5A33E8322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7B4911-8414-46C6-BD4E-8A208B2817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0785BDE-9A24-4D8D-AB5A-9E6CEE9EFD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7322A0-617E-4A6D-9B63-543C50B1B6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3F0FC4-FCCF-498D-B8AB-DC92CFA921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e06f5304ec4d1b" /><Relationship Type="http://schemas.openxmlformats.org/officeDocument/2006/relationships/slideLayout" Target="/ppt/slideLayouts/slideLayout1.xml" Id="R47389a25d2694ec1" /><Relationship Type="http://schemas.openxmlformats.org/officeDocument/2006/relationships/slideLayout" Target="/ppt/slideLayouts/slideLayout2.xml" Id="R5c9e4b39db504ff9" /><Relationship Type="http://schemas.openxmlformats.org/officeDocument/2006/relationships/slideLayout" Target="/ppt/slideLayouts/slideLayout3.xml" Id="R974c490a934049ea" /><Relationship Type="http://schemas.openxmlformats.org/officeDocument/2006/relationships/slideLayout" Target="/ppt/slideLayouts/slideLayout4.xml" Id="R4bfcf0087f034859" /><Relationship Type="http://schemas.openxmlformats.org/officeDocument/2006/relationships/slideLayout" Target="/ppt/slideLayouts/slideLayout5.xml" Id="R9eb25a25fd9a4fc1" /><Relationship Type="http://schemas.openxmlformats.org/officeDocument/2006/relationships/slideLayout" Target="/ppt/slideLayouts/slideLayout6.xml" Id="Rac238190cc9249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389a25d2694ec1"/>
    <p:sldLayoutId xmlns:r="http://schemas.openxmlformats.org/officeDocument/2006/relationships" id="2147483650" r:id="R5c9e4b39db504ff9"/>
    <p:sldLayoutId xmlns:r="http://schemas.openxmlformats.org/officeDocument/2006/relationships" id="2147483651" r:id="R974c490a934049ea"/>
    <p:sldLayoutId xmlns:r="http://schemas.openxmlformats.org/officeDocument/2006/relationships" id="2147483652" r:id="R4bfcf0087f034859"/>
    <p:sldLayoutId xmlns:r="http://schemas.openxmlformats.org/officeDocument/2006/relationships" id="2147483653" r:id="R9eb25a25fd9a4fc1"/>
    <p:sldLayoutId xmlns:r="http://schemas.openxmlformats.org/officeDocument/2006/relationships" id="2147483654" r:id="Rac238190cc9249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445a2e1ff14219" /><Relationship Type="http://schemas.openxmlformats.org/officeDocument/2006/relationships/notesSlide" Target="/ppt/notesSlides/notesSlide1.xml" Id="Ra394659f2d164a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00f498b0aa4d7b" /><Relationship Type="http://schemas.openxmlformats.org/officeDocument/2006/relationships/notesSlide" Target="/ppt/notesSlides/notesSlide2.xml" Id="R9a76664958fa4e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8c79340554e33" /><Relationship Type="http://schemas.openxmlformats.org/officeDocument/2006/relationships/image" Target="/ppt/media/image.png" Id="Rb8d858c899bd4a9d" /><Relationship Type="http://schemas.openxmlformats.org/officeDocument/2006/relationships/notesSlide" Target="/ppt/notesSlides/notesSlide3.xml" Id="R85d5e3f9eba447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7752f0118f42c6" /><Relationship Type="http://schemas.openxmlformats.org/officeDocument/2006/relationships/image" Target="/ppt/media/image2.png" Id="Rd07a50b13ce94e34" /><Relationship Type="http://schemas.openxmlformats.org/officeDocument/2006/relationships/notesSlide" Target="/ppt/notesSlides/notesSlide4.xml" Id="Rbda2ff1b79d44a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8697592bae4cca" /><Relationship Type="http://schemas.openxmlformats.org/officeDocument/2006/relationships/notesSlide" Target="/ppt/notesSlides/notesSlide5.xml" Id="Rd46f88484eda41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2a85148e3c4109" /><Relationship Type="http://schemas.openxmlformats.org/officeDocument/2006/relationships/image" Target="/ppt/media/image3.png" Id="R69731ffa422042f8" /><Relationship Type="http://schemas.openxmlformats.org/officeDocument/2006/relationships/notesSlide" Target="/ppt/notesSlides/notesSlide6.xml" Id="R425c973d9c624b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610005ce254a23" /><Relationship Type="http://schemas.openxmlformats.org/officeDocument/2006/relationships/image" Target="/ppt/media/image4.png" Id="R55dd3fba41f648b8" /><Relationship Type="http://schemas.openxmlformats.org/officeDocument/2006/relationships/notesSlide" Target="/ppt/notesSlides/notesSlide7.xml" Id="R35ac39a811414f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308198f2404992" /><Relationship Type="http://schemas.openxmlformats.org/officeDocument/2006/relationships/notesSlide" Target="/ppt/notesSlides/notesSlide8.xml" Id="R148408067b4e48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4a2d2c7fb840a5" /><Relationship Type="http://schemas.openxmlformats.org/officeDocument/2006/relationships/image" Target="/ppt/media/image5.png" Id="R2efcedba11f14ad1" /><Relationship Type="http://schemas.openxmlformats.org/officeDocument/2006/relationships/notesSlide" Target="/ppt/notesSlides/notesSlide9.xml" Id="Rc8633676d3f342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ce2562d9434de5" /><Relationship Type="http://schemas.openxmlformats.org/officeDocument/2006/relationships/image" Target="/ppt/media/image6.png" Id="R2e02d866ed564574" /><Relationship Type="http://schemas.openxmlformats.org/officeDocument/2006/relationships/notesSlide" Target="/ppt/notesSlides/notesSlide10.xml" Id="Rcc67e0d8605f4b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f19bc0113e43a3" /><Relationship Type="http://schemas.openxmlformats.org/officeDocument/2006/relationships/chart" Target="/ppt/slides/charts/chart1.xml" Id="R737f6c6caba24874" /><Relationship Type="http://schemas.openxmlformats.org/officeDocument/2006/relationships/notesSlide" Target="/ppt/notesSlides/notesSlide11.xml" Id="R32d933e839524d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28fb6486474827" /><Relationship Type="http://schemas.openxmlformats.org/officeDocument/2006/relationships/notesSlide" Target="/ppt/notesSlides/notesSlide12.xml" Id="R07bf342faa654e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79c60537084c42" /><Relationship Type="http://schemas.openxmlformats.org/officeDocument/2006/relationships/notesSlide" Target="/ppt/notesSlides/notesSlide13.xml" Id="Rb78143b191114d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6afc80462b4dc6" /><Relationship Type="http://schemas.openxmlformats.org/officeDocument/2006/relationships/notesSlide" Target="/ppt/notesSlides/notesSlide14.xml" Id="Ra0274dc11c5749b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Error from interpolating converted endpoints</c:v>
          </c:tx>
          <c:spPr>
            <a:solidFill xmlns:a="http://schemas.openxmlformats.org/drawingml/2006/main">
              <a:srgbClr val="A25D20"/>
            </a:solidFill>
          </c:spP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</c:v>
                </c:pt>
                <c:pt idx="1">
                  <c:v>971.421158</c:v>
                </c:pt>
                <c:pt idx="2">
                  <c:v>0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USD sample time code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Distance from source-first result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39C9E5-DF6F-4457-B0B3-C80E3076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Geospatial proposal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C77EB-E9C4-44C3-8E48-EBA8BE15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1552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USD describes a 3D model's shape and size. Geospatial information says where it belongs on Earth, so models, surveys and measurements can work together.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A9F4F-FF3E-494E-90AE-08B943FB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97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local split gives reviewers a focused requirements baseline and a separate full model/runtime candidate. Clearer array, invalid-input and bake rules now have fresh tests.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F12E0-4D5D-4755-B730-A288F2D2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All prior recorded numeric results match. Six audited defects are corrected; normal sampling remains unresolved. Orientation storage and detailed conventions still need review.</a:t>
            </a:r>
          </a:p>
        </p:txBody>
      </p:sp>
    </p:spTree>
    <p:extLst>
      <p:ext uri="{BB962C8B-B14F-4D97-AF65-F5344CB8AC3E}">
        <p14:creationId xmlns:p14="http://schemas.microsoft.com/office/powerpoint/2010/main" val="16743836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05D2E-B59A-4A21-AE8D-177F977D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 geographic location for a 3D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894154-04AC-445D-9F96-91709503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752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a reader distinguish the model's shape from its location on Earth?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36966-D90A-45AC-81F1-BDA953897139}"/>
              </a:ext>
            </a:extLst>
          </p:cNvPr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information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 meaning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Model geometry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Shape and local distances, with declared model units and up direction. In USD: points, metersPerUnit and upAxis.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Coordinate reference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CRS binding refers to WKT, the standard text description of the location's axes, units and height meaning.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origin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crs:position locates the model origin. The illustrative example uses longitude 2.2945 degrees, latitude 48.8584 degrees and ellipsoidal height 80 m.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crs:orientation says which way the model faces and tilts relative to local east, north and up at its origin.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F0828-9793-4813-A65B-ADFABF4C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A reader has enough source information to place the model, without interpreting longitude or latitude as a distance or adding computed results to the source schema.</a:t>
            </a:r>
          </a:p>
        </p:txBody>
      </p:sp>
    </p:spTree>
    <p:extLst>
      <p:ext uri="{BB962C8B-B14F-4D97-AF65-F5344CB8AC3E}">
        <p14:creationId xmlns:p14="http://schemas.microsoft.com/office/powerpoint/2010/main" val="1763462481"/>
      </p:ext>
    </p:extLst>
  </p:cSld>
</p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9" name="">
            <ns1:extLst>
              <ns1:ext uri="{FF2B5EF4-FFF2-40B4-BE49-F238E27FC236}">
                <ns2:creationId id="{3D86A9BA-8A12-415A-BFB4-AFE6D8B382F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323850"/>
            <ns1:ext cx="10972800" cy="9906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One physical place, different coordinates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95DF31BE-574A-427B-899C-1A671E863588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1400175"/>
            <ns1:ext cx="10972800" cy="7715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Does changing coordinate systems preserve physical placement?</ns1:t>
            </ns1:r>
          </ns1:p>
        </ns0:txBody>
      </ns0:sp>
      <ns0:pic>
        <ns0:nvPicPr>
          <ns0:cNvPr id="3" name="">
            <ns1:extLst>
              <ns1:ext uri="{FF2B5EF4-FFF2-40B4-BE49-F238E27FC236}">
                <ns2:creationId id="{D1B9E510-DBB8-4A17-A926-CC2A7BC0E611}"/>
              </ns1:ext>
            </ns1:extLst>
          </ns0:cNvPr>
          <ns0:cNvPicPr>
            <ns1:picLocks noChangeAspect="1"/>
          </ns0:cNvPicPr>
          <ns0:nvPr/>
        </ns0:nvPicPr>
        <ns0:blipFill>
          <ns1:blip ns3:embed="Rb8d858c899bd4a9d"/>
          <ns1:srcRect l="0" t="8974" r="0" b="33333"/>
          <ns1:stretch/>
        </ns0:blipFill>
        <ns0:spPr>
          <ns1:xfrm>
            <ns1:off x="609600" y="2381250"/>
            <ns1:ext cx="7258050" cy="4086225"/>
          </ns1:xfrm>
          <ns1:prstGeom prst="rect">
            <ns1:avLst/>
          </ns1:prstGeom>
        </ns0:spPr>
      </ns0:pic>
      <ns0:sp>
        <ns0:nvSpPr>
          <ns0:cNvPr id="4" name="">
            <ns1:extLst>
              <ns1:ext uri="{FF2B5EF4-FFF2-40B4-BE49-F238E27FC236}">
                <ns2:creationId id="{AA1FB82F-B4E3-4407-BC1E-6CB4CAD6D4A2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381250"/>
            <ns1:ext cx="3343275" cy="3048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Observed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AFBC5CDA-3B79-4986-B954-948331925C04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733675"/>
            <ns1:ext cx="3343275" cy="16002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The illustration converts longitude, latitude and height into map coordinates. The physical site stays the same; map north and local scale can differ.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5E7D78C6-AD82-4579-A2AB-45EC61855353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429125"/>
            <ns1:ext cx="3343275" cy="3143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What it establishes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F5C322F2-F9BD-4F8E-9897-CB49546197A9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791075"/>
            <ns1:ext cx="3343275" cy="18002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The proposed rules distinguish a new coordinate representation from a physical move. An image explains this distinction; numerical controls must test it.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7187F4B5-F0FB-492A-9A32-9AAD47943FD7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534150"/>
            <ns1:ext cx="7258050" cy="2381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pPr>
            <ns1:r>
              <ns1: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rPr>
              <ns1:t>Informative illustration. Limits in the notes and README.</ns1:t>
            </ns1:r>
          </ns1:p>
        </ns0:txBody>
      </ns0:sp>
    </ns0:spTree>
    <ns0:extLst>
      <ns0:ext uri="{BB962C8B-B14F-4D97-AF65-F5344CB8AC3E}">
        <ns4:creationId val="773685833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9" name="">
            <ns1:extLst>
              <ns1:ext uri="{FF2B5EF4-FFF2-40B4-BE49-F238E27FC236}">
                <ns2:creationId id="{1C1CDA5B-1267-47BD-B596-97FA948C4411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323850"/>
            <ns1:ext cx="10972800" cy="9906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3150" b="1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Ordinary model adjustments after placement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0EE40F72-06B4-4962-822C-46F180EFB9A6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1400175"/>
            <ns1:ext cx="10972800" cy="7715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2325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In which coordinates do an author's scale, rotation and translation operate?</ns1:t>
            </ns1:r>
          </ns1:p>
        </ns0:txBody>
      </ns0:sp>
      <ns0:pic>
        <ns0:nvPicPr>
          <ns0:cNvPr id="3" name="">
            <ns1:extLst>
              <ns1:ext uri="{FF2B5EF4-FFF2-40B4-BE49-F238E27FC236}">
                <ns2:creationId id="{5B2F041A-55EA-4CF6-B4CB-DDC39D22D3DD}"/>
              </ns1:ext>
            </ns1:extLst>
          </ns0:cNvPr>
          <ns0:cNvPicPr>
            <ns1:picLocks noChangeAspect="1"/>
          </ns0:cNvPicPr>
          <ns0:nvPr/>
        </ns0:nvPicPr>
        <ns0:blipFill>
          <ns1:blip ns3:embed="Rd07a50b13ce94e34"/>
          <ns1:srcRect l="0" t="8974" r="0" b="33333"/>
          <ns1:stretch/>
        </ns0:blipFill>
        <ns0:spPr>
          <ns1:xfrm>
            <ns1:off x="609600" y="2381250"/>
            <ns1:ext cx="7258050" cy="4086225"/>
          </ns1:xfrm>
          <ns1:prstGeom prst="rect">
            <ns1:avLst/>
          </ns1:prstGeom>
        </ns0:spPr>
      </ns0:pic>
      <ns0:sp>
        <ns0:nvSpPr>
          <ns0:cNvPr id="4" name="">
            <ns1:extLst>
              <ns1:ext uri="{FF2B5EF4-FFF2-40B4-BE49-F238E27FC236}">
                <ns2:creationId id="{2AFA0065-3D73-4AB4-93BA-76B91A21689E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381250"/>
            <ns1:ext cx="3343275" cy="3048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Observed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60A36E72-4900-410B-B28D-FD54E2625377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2733675"/>
            <ns1:ext cx="3343275" cy="1600200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The illustration applies scale 1.15, rotation 20 degrees, then moves 120 m east and 60 m south. A child-transform control separates two interpretations by 4.222 m.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E7275140-8A84-4DC4-B145-B6805AB43F50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429125"/>
            <ns1:ext cx="3343275" cy="3143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defRPr>
            </ns1:pPr>
            <ns1:r>
              <ns1:rPr sz="1650" b="1">
                <ns1:solidFill>
                  <ns1:srgbClr val="157C87"/>
                </ns1:solidFill>
                <ns1:latin typeface="Arial"/>
                <ns1:ea typeface="Arial"/>
                <ns1:cs typeface="Arial"/>
              </ns1:rPr>
              <ns1:t>What it establishes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58C9DD7D-66BF-432A-9FC4-B91012BC2DA9}"/>
              </ns1:ext>
            </ns1:extLst>
          </ns0:cNvPr>
          <ns0:cNvSpPr>
            <ns1:spLocks noGrp="1"/>
          </ns0:cNvSpPr>
          <ns0:nvPr/>
        </ns0:nvSpPr>
        <ns0:spPr>
          <ns1:xfrm>
            <ns1:off x="8239125" y="4791075"/>
            <ns1:ext cx="3343275" cy="18002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213744"/>
                </ns1:solidFill>
                <ns1:latin typeface="Arial"/>
                <ns1:ea typeface="Arial"/>
                <ns1:cs typeface="Arial"/>
              </ns1:rPr>
              <ns1:t>Order changes the result. The control tests the agreed anchor/child distinction while detailed chart and instance conventions remain candidates.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640CC6FE-9A8D-4087-B2FE-61F6458301F3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534150"/>
            <ns1:ext cx="7258050" cy="238125"/>
          </ns1:xfrm>
          <ns1:prstGeom prst="rect">
            <ns1:avLst/>
          </ns1:prstGeom>
          <ns1:solidFill>
            <ns1:srgbClr val="FFFFFF"/>
          </ns1:solidFill>
          <ns1:ln w="0">
            <ns1:solidFill>
              <ns1:srgbClr val="FFFFFF"/>
            </ns1:solidFill>
          </ns1:ln>
        </ns0:spPr>
        <ns0:txBody>
          <ns1:bodyPr anchor="t">
            <ns1:noAutofit/>
          </ns1:bodyPr>
          <ns1:lstStyle>
            <ns1:def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defPPr>
          </ns1:lstStyle>
          <ns1:p>
            <ns1:pPr>
              <ns1:def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defRPr>
            </ns1:pPr>
            <ns1:r>
              <ns1:rPr sz="1350" b="0">
                <ns1:solidFill>
                  <ns1:srgbClr val="526B79"/>
                </ns1:solidFill>
                <ns1:latin typeface="Arial"/>
                <ns1:ea typeface="Arial"/>
                <ns1:cs typeface="Arial"/>
              </ns1:rPr>
              <ns1:t>Informative illustration. Limits in the notes and README.</ns1:t>
            </ns1:r>
          </ns1:p>
        </ns0:txBody>
      </ns0:sp>
    </ns0:spTree>
    <ns0:extLst>
      <ns0:ext uri="{BB962C8B-B14F-4D97-AF65-F5344CB8AC3E}">
        <ns4:creationId val="1795429975"/>
      </ns0:ext>
    </ns0:extLst>
  </ns0:cSld>
</ns0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8F6AE-F813-4737-BF5A-96A71640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same rules in two placement readers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A8A7B-7FD6-4053-AA70-4E6294F3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separate implementations derive the same coordinates from the proposed inputs and rules?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6EAB3-9548-4F44-9D49-1DA69B1E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France: CC49 to Lambert-93, metres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A487A-6D8C-4CA0-8A55-38B25EA0726C}"/>
              </a:ext>
            </a:extLst>
          </p:cNvPr>
          <p:cNvGraphicFramePr/>
          <p:nvPr/>
        </p:nvGraphicFramePr>
        <p:xfrm>
          <a:off xmlns:a="http://schemas.openxmlformats.org/drawingml/2006/main" x="609600" y="2733675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9BC29-F537-4556-88DC-D3E9A3FB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Colorado: State Plane to site grid, US survey feet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00BC3-E6C5-42C0-A782-43161CFFA228}"/>
              </a:ext>
            </a:extLst>
          </p:cNvPr>
          <p:cNvGraphicFramePr/>
          <p:nvPr/>
        </p:nvGraphicFramePr>
        <p:xfrm>
          <a:off xmlns:a="http://schemas.openxmlformats.org/drawingml/2006/main" x="609600" y="4667250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36EB1-4787-4B8D-8DE7-72346DD2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readers use PROJ and share dataset decoding.</a:t>
            </a:r>
          </a:p>
        </p:txBody>
      </p:sp>
    </p:spTree>
    <p:extLst>
      <p:ext uri="{BB962C8B-B14F-4D97-AF65-F5344CB8AC3E}">
        <p14:creationId xmlns:p14="http://schemas.microsoft.com/office/powerpoint/2010/main" val="14334576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839B3-EF91-499F-B0CF-FC7A652E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Ordinary USD geometry for rendering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B1B87-B39E-4EDA-A365-0F8D1CF1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renderer use the result without implementing geospatial evaluation?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0ACF7-D592-43B7-AB26-2A9305C3A0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731ffa422042f8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0E8D1-1151-4D88-AC43-511AC9C6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54E40-F8C1-4638-A7A0-CEF1138A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Native Hydra/Storm renders the ordinary USD bake. A double-precision origin keeps local points small; fresh readers recover the placement.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6D8F5-262D-4793-AADD-D8550E01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21F56-1397-45AB-80BE-51BE6A1C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Unaware viewers receive resolved ordinary geometry. Fresh checks reject duplicate meshes and retain an unrelated applied schema.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DBB13-2B5B-48D3-B2AC-E7AA50E5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4933904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DEBFD0-223D-499A-9C9D-EEB69517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Measurements stay paired with their locations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0042F4-5461-4D9F-98F0-01A2508B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the scene make a native measurement dataset usable without rewriting its values or guessing what its coordinates mean?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83AA4-94B5-4A56-A2B2-5D0DD0781D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3fba41f648b8"/>
          <a:stretch xmlns:a="http://schemas.openxmlformats.org/drawingml/2006/main"/>
        </p:blipFill>
        <p:spPr>
          <a:xfrm xmlns:a="http://schemas.openxmlformats.org/drawingml/2006/main">
            <a:off x="2801937" y="2371725"/>
            <a:ext cx="6588125" cy="3162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FC8D4-1215-43D9-AAA3-65B7EF56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synthetic global temperature case returns both coordinate forms for 154 samples and preserves the native values and two observation times.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5298A-05D9-4689-AA04-1F8065D6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Synthetic values. Dimension-name tests check associations independently of the shared decoder.</a:t>
            </a:r>
          </a:p>
        </p:txBody>
      </p:sp>
    </p:spTree>
    <p:extLst>
      <p:ext uri="{BB962C8B-B14F-4D97-AF65-F5344CB8AC3E}">
        <p14:creationId xmlns:p14="http://schemas.microsoft.com/office/powerpoint/2010/main" val="8109603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E0C46-94AA-4C57-880E-62554390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Fresh independent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94DF4-E680-4715-BEC3-98417678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Six prior defects pass fresh counterexamples; one remains unresolved.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E60BC6-AB7D-4F3E-B36E-02C8654A53A3}"/>
              </a:ext>
            </a:extLst>
          </p:cNvPr>
          <p:cNvGraphicFramePr/>
          <p:nvPr/>
        </p:nvGraphicFramePr>
        <p:xfrm>
          <a:off xmlns:a="http://schemas.openxmlformats.org/drawingml/2006/main" x="609600" y="21812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Affected behavior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Fresh audit result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Surface lighting directions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Remaining: normal sampling has no justified domain/error bound; projected difference about 1.24 degrees.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Repeated models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an unbound library prototype receives its instancer placement in both readers.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Baked geometry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two source meshes yield exactly two baked meshes; extras are rejected.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Measurement locations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all six measurements retain the coordinates declared by dimension names.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Other scene information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the bake retains MotionAPI and its velocity-scale value.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Error reporting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reports include component errors, magnitudes and angular errors.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44053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Invalid input detection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Corrected: both readers reject an invalid child placement field.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64DE42-4A0A-4FA5-BC89-B680E3E1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Normal sampling still needs justified domain/error evidence. Do not turn its shortcut into a proposal rule.</a:t>
            </a:r>
          </a:p>
        </p:txBody>
      </p:sp>
    </p:spTree>
    <p:extLst>
      <p:ext uri="{BB962C8B-B14F-4D97-AF65-F5344CB8AC3E}">
        <p14:creationId xmlns:p14="http://schemas.microsoft.com/office/powerpoint/2010/main" val="4867154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7941E-35C9-495E-9987-7FFB410D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 construction site's own survey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9EF4F-DFF8-4405-A447-DCA3DDDD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project's local survey grid participate as a defined CRS?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54BFF-712E-4472-9CC2-0CC9FD258A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cedba11f14ad1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AB235-C44A-41F7-8D58-09ECBD19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ED7D4D-5973-4C4F-BB21-16ABBEF1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original LandXML survey breaklines resolve and reach an ordinary USD bake rendered by Storm.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BA30B3-C2CE-44E6-B33F-CAD0CC72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F189A-E063-4C8A-9FC0-CCFCFA63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case supports a site's calibrated CRS using partner survey lines. It does not establish independent survey accuracy.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71068-74FC-4568-A57A-66802C5B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6662068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EAF67-1390-4799-B7DD-5CD31763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Useful horizontal placement without invented height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6A695-28E5-4D86-8A7A-DB6954A1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incomplete source metadata still support an honestly limited workflow?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260F1B-37C8-46F2-9899-BEBC6ACD6F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02d866ed564574"/>
          <a:stretch xmlns:a="http://schemas.openxmlformats.org/drawingml/2006/main"/>
        </p:blipFill>
        <p:spPr>
          <a:xfrm xmlns:a="http://schemas.openxmlformats.org/drawingml/2006/main">
            <a:off x="1878478" y="2381250"/>
            <a:ext cx="4720294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D2866-C0AE-447F-8355-BD923741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20BE06-00E2-40E6-806B-A20C8BF2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horizontal railway copy resolves 15,822 vertices across 2,386 parts. The plot uses display-only offsets.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D6A29-2FF0-432D-A10D-9DEA0B61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E1BB47-20E9-4B26-8668-3A1167A6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This case exercises visible limits on interpretation, not a silent assumption that every three-number tuple is a valid geographic 3D position.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6DF49-A3FB-4C87-B501-3A3264A2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Plot of recorded resolved geometry.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4658052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8F204-8723-436A-BF7F-03B1E7F1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Animation evaluation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40F4B-5382-42BB-B555-FE28CD34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Interpolate the authored source location first, then convert coordinates. Interpolating already-converted endpoints can produce a different path.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4819782F-2B50-43D3-80EB-D1D8C64785F6}"/>
              </a:ext>
            </a:extLst>
          </p:cNvPr>
          <p:cNvGraphicFramePr/>
          <p:nvPr/>
        </p:nvGraphicFramePr>
        <p:xfrm>
          <a:off xmlns:a="http://schemas.openxmlformats.org/drawingml/2006/main" x="428625" y="2524125"/>
          <a:ext xmlns:a="http://schemas.openxmlformats.org/drawingml/2006/main" cx="7200900" cy="3886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7f6c6caba2487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714EE2-9E5C-4D9B-A271-23F1B303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81275"/>
            <a:ext cx="3486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Why the order matters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FC832-D3F4-4D84-9B35-69442FCC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67075"/>
            <a:ext cx="34861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distinguishing control makes the ordering rule testable. Preserving sample times alone cannot prove preservation of the original trajectory between samples.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1027ED-4A1E-4EE1-B372-BEAC9378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34861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bake preserves time codes 0, 5, 10 and 48 time codes per second. It provides no original-trajectory guarantee between those samples.</a:t>
            </a:r>
          </a:p>
        </p:txBody>
      </p:sp>
    </p:spTree>
    <p:extLst>
      <p:ext uri="{BB962C8B-B14F-4D97-AF65-F5344CB8AC3E}">
        <p14:creationId xmlns:p14="http://schemas.microsoft.com/office/powerpoint/2010/main" val="15809273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6774B-7F2B-48AF-9D5B-65941AAE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Placement choices under review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6E468-D0C7-41BD-B066-6163EA746BE4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Supported meaning and candidate detail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Input-only meaning is supported. Stored quaternion versus one heading/pitch/roll tuple and its interpolation need review.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object with its own georeference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Project adjustment meaning is supported. The detailed fixed working-frame convention remains a candidate.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objects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Model-local meaning is supported. The follow-up specifies chart/reset details and tests that offsets retain their interpretation.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Independently georeferenced repeated models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Keep a prototype's own geographic placement and apply each instance effect once.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queries and scene geometry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Return longitude/latitude/height for geographic queries. Cartesian geometry and bounds use the datum's Earth-centred frame.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18E34D-242F-4065-B85A-6DF13EC7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Review stored orientation and detailed conventions; keep the supported input-only meaning.</a:t>
            </a:r>
          </a:p>
        </p:txBody>
      </p:sp>
    </p:spTree>
    <p:extLst>
      <p:ext uri="{BB962C8B-B14F-4D97-AF65-F5344CB8AC3E}">
        <p14:creationId xmlns:p14="http://schemas.microsoft.com/office/powerpoint/2010/main" val="20596460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D7A22-F0D1-4E8E-A06D-1313101D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Data and declaration choices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426E1-D85F-409F-92C1-18F056F48C77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Supported meaning and candidate detail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Native data association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Name the asset, format, field and coordinate domain. Preserve the association between values, locations and observation times.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WKT string normalization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prescribed text form supports token comparison. Different normalized texts can still describe equivalent CRSs.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Semantic CRS comparison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Specify equivalence criteria and the comparison domain, accounting for relevant axes, units and metadata.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Dependency declaration using Profiles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Declare the composed scene's need for geospatial interpretation, including unloaded content. Writers and assemblers maintain the declaration.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Baked output context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Record a Cartesian CRS and ordinary double-precision origin. Preserve precision and space/time coverage.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5E1FF-DAD5-413D-B09B-2CF3FE0E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Coordinate epochs and scene-authored operation/resource controls remain deferred without foreclosing later support.</a:t>
            </a:r>
          </a:p>
        </p:txBody>
      </p:sp>
    </p:spTree>
    <p:extLst>
      <p:ext uri="{BB962C8B-B14F-4D97-AF65-F5344CB8AC3E}">
        <p14:creationId xmlns:p14="http://schemas.microsoft.com/office/powerpoint/2010/main" val="13542881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DA65A-F5AE-4A29-A568-644D37B5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Evidence and its limits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D8B17-AEEC-438A-88BC-789A1370D361}"/>
              </a:ext>
            </a:extLst>
          </p:cNvPr>
          <p:cNvGraphicFramePr/>
          <p:nvPr/>
        </p:nvGraphicFramePr>
        <p:xfrm>
          <a:off xmlns:a="http://schemas.openxmlformats.org/drawingml/2006/main" x="609600" y="1438275"/>
          <a:ext xmlns:a="http://schemas.openxmlformats.org/drawingml/2006/main" cx="10972800" cy="4371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Path or check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evidence</a:t>
                      </a:r>
                    </a:p>
                  </a:txBody>
                  <a:tcPr marL="95250" marR="95250" marT="19050" marB="19050">
                    <a:solidFill>
                      <a:srgbClr val="213744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Python and C++ readers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213,231 coordinate results per reader. Maximum measured difference 3.39e-08 m. They share PROJ and native dataset decoding.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Omniverse stage geometry integration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Reuses Python placement. Recorded readback covers 177,864 geometry vertices and 36 edit, failure and recovery checks, across 35 jobs.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Hydra / Storm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Two selected ordinary USD bakes reach native rendering. This consumer path uses the C++ placement results.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Recorded tests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70 regressions and 61 distinguishing controls passed. Fresh independent diagnostics verify six repairs and retain the unresolved normal case.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Source preservation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Original inputs and all frozen execution files remained unchanged during this run. The immutable receipt identifies the exact executed content.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 readbacks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11 selected exports were checked. The fresh nested-geometry counterexample verifies the complete inventory, including unexpected extras.</a:t>
                      </a:r>
                    </a:p>
                  </a:txBody>
                  <a:tcPr marL="95250" marR="95250" marT="19050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C3C2D-0E32-433F-A1CD-8C840C55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There are two placement readers. Omniverse reuses Python with a verified stage geometry sink. Hydra consumes a C++-resolved ordinary USD bake.</a:t>
            </a:r>
          </a:p>
        </p:txBody>
      </p:sp>
    </p:spTree>
    <p:extLst>
      <p:ext uri="{BB962C8B-B14F-4D97-AF65-F5344CB8AC3E}">
        <p14:creationId xmlns:p14="http://schemas.microsoft.com/office/powerpoint/2010/main" val="1941559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2026-10-08T17:02:54.1660000Z</dcterms:created>
  <dcterms:modified xsi:type="dcterms:W3CDTF">2026-10-08T17:02:54.1660000Z</dcterms:modified>
</coreProperties>
</file>