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bb7040867b4d4d" /><Relationship Type="http://schemas.openxmlformats.org/officeDocument/2006/relationships/extended-properties" Target="/docProps/app.xml" Id="R0f390ff2011f4d20" /><Relationship Type="http://schemas.openxmlformats.org/officeDocument/2006/relationships/officeDocument" Target="/ppt/presentation.xml" Id="Rb8bdbb10b26149e3" /></Relationships>
</file>

<file path=ppt/presentation.xml><?xml version="1.0" encoding="utf-8"?>
<p:presentation xmlns:p="http://schemas.openxmlformats.org/presentationml/2006/main">
  <p:sldMasterIdLst>
    <p:sldMasterId xmlns:r="http://schemas.openxmlformats.org/officeDocument/2006/relationships" id="2147483648" r:id="Rd2f98ce101884ce5"/>
  </p:sldMasterIdLst>
  <p:notesMasterIdLst>
    <p:notesMasterId xmlns:r="http://schemas.openxmlformats.org/officeDocument/2006/relationships" r:id="R6852e5fbf253479b"/>
  </p:notesMasterIdLst>
  <p:sldIdLst>
    <p:sldId xmlns:r="http://schemas.openxmlformats.org/officeDocument/2006/relationships" id="256" r:id="Rc5d0e56c67e24742"/>
    <p:sldId xmlns:r="http://schemas.openxmlformats.org/officeDocument/2006/relationships" id="257" r:id="R385ffb50fdb440c9"/>
    <p:sldId xmlns:r="http://schemas.openxmlformats.org/officeDocument/2006/relationships" id="258" r:id="R372cbd6bff594be9"/>
    <p:sldId xmlns:r="http://schemas.openxmlformats.org/officeDocument/2006/relationships" id="259" r:id="Rd127415537ad474a"/>
    <p:sldId xmlns:r="http://schemas.openxmlformats.org/officeDocument/2006/relationships" id="260" r:id="R953e32c92e8248c7"/>
    <p:sldId xmlns:r="http://schemas.openxmlformats.org/officeDocument/2006/relationships" id="261" r:id="R7f1a9e710df34074"/>
    <p:sldId xmlns:r="http://schemas.openxmlformats.org/officeDocument/2006/relationships" id="262" r:id="R2b336a8ee29d4dd6"/>
    <p:sldId xmlns:r="http://schemas.openxmlformats.org/officeDocument/2006/relationships" id="263" r:id="R8fe90b2ee6b7420d"/>
    <p:sldId xmlns:r="http://schemas.openxmlformats.org/officeDocument/2006/relationships" id="264" r:id="R0ac8ed65ef794810"/>
    <p:sldId xmlns:r="http://schemas.openxmlformats.org/officeDocument/2006/relationships" id="265" r:id="Raea5d71af58d476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ef33975b1c447c" /><Relationship Type="http://schemas.openxmlformats.org/officeDocument/2006/relationships/slideMaster" Target="/ppt/slideMasters/slideMaster1.xml" Id="Rd2f98ce101884ce5" /><Relationship Type="http://schemas.openxmlformats.org/officeDocument/2006/relationships/notesMaster" Target="/ppt/notesMasters/notesMaster1.xml" Id="R6852e5fbf253479b" /><Relationship Type="http://schemas.openxmlformats.org/officeDocument/2006/relationships/presProps" Target="/ppt/presProps.xml" Id="R0b92da10ac074113" /><Relationship Type="http://schemas.openxmlformats.org/officeDocument/2006/relationships/tableStyles" Target="/ppt/tableStyles.xml" Id="R876224d25bec464b" /><Relationship Type="http://schemas.openxmlformats.org/officeDocument/2006/relationships/slide" Target="/ppt/slides/slide1.xml" Id="Rc5d0e56c67e24742" /><Relationship Type="http://schemas.openxmlformats.org/officeDocument/2006/relationships/slide" Target="/ppt/slides/slide2.xml" Id="R385ffb50fdb440c9" /><Relationship Type="http://schemas.openxmlformats.org/officeDocument/2006/relationships/slide" Target="/ppt/slides/slide3.xml" Id="R372cbd6bff594be9" /><Relationship Type="http://schemas.openxmlformats.org/officeDocument/2006/relationships/slide" Target="/ppt/slides/slide4.xml" Id="Rd127415537ad474a" /><Relationship Type="http://schemas.openxmlformats.org/officeDocument/2006/relationships/slide" Target="/ppt/slides/slide5.xml" Id="R953e32c92e8248c7" /><Relationship Type="http://schemas.openxmlformats.org/officeDocument/2006/relationships/slide" Target="/ppt/slides/slide6.xml" Id="R7f1a9e710df34074" /><Relationship Type="http://schemas.openxmlformats.org/officeDocument/2006/relationships/slide" Target="/ppt/slides/slide7.xml" Id="R2b336a8ee29d4dd6" /><Relationship Type="http://schemas.openxmlformats.org/officeDocument/2006/relationships/slide" Target="/ppt/slides/slide8.xml" Id="R8fe90b2ee6b7420d" /><Relationship Type="http://schemas.openxmlformats.org/officeDocument/2006/relationships/slide" Target="/ppt/slides/slide9.xml" Id="R0ac8ed65ef794810" /><Relationship Type="http://schemas.openxmlformats.org/officeDocument/2006/relationships/slide" Target="/ppt/slides/slide10.xml" Id="Raea5d71af58d476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307664378247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46038d694b4d6d" /><Relationship Type="http://schemas.openxmlformats.org/officeDocument/2006/relationships/notesMaster" Target="/ppt/notesMasters/notesMaster1.xml" Id="Ra9aea06b8e9f4e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b58ba729524841" /><Relationship Type="http://schemas.openxmlformats.org/officeDocument/2006/relationships/notesMaster" Target="/ppt/notesMasters/notesMaster1.xml" Id="R84177c7296174b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aefbf9f26b4845" /><Relationship Type="http://schemas.openxmlformats.org/officeDocument/2006/relationships/notesMaster" Target="/ppt/notesMasters/notesMaster1.xml" Id="R5575357e5dd649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a41af54b974013" /><Relationship Type="http://schemas.openxmlformats.org/officeDocument/2006/relationships/notesMaster" Target="/ppt/notesMasters/notesMaster1.xml" Id="Re7c8f398d57043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a7d20dcd604a95" /><Relationship Type="http://schemas.openxmlformats.org/officeDocument/2006/relationships/notesMaster" Target="/ppt/notesMasters/notesMaster1.xml" Id="Rcf463103c4c747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5d6d8fe29504545" /><Relationship Type="http://schemas.openxmlformats.org/officeDocument/2006/relationships/notesMaster" Target="/ppt/notesMasters/notesMaster1.xml" Id="R1a710cdff9c94b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e79a29986c40cd" /><Relationship Type="http://schemas.openxmlformats.org/officeDocument/2006/relationships/notesMaster" Target="/ppt/notesMasters/notesMaster1.xml" Id="Rc760f3041c5f49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ccb11d311f402d" /><Relationship Type="http://schemas.openxmlformats.org/officeDocument/2006/relationships/notesMaster" Target="/ppt/notesMasters/notesMaster1.xml" Id="R3765fc69fe28421d"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cc52047a3f416c" /><Relationship Type="http://schemas.openxmlformats.org/officeDocument/2006/relationships/notesMaster" Target="/ppt/notesMasters/notesMaster1.xml" Id="R4bbeb3b888cc4b2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d248588ad549ec" /><Relationship Type="http://schemas.openxmlformats.org/officeDocument/2006/relationships/notesMaster" Target="/ppt/notesMasters/notesMaster1.xml" Id="R24878222ce3048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"Eiffel: see the placement and its coordinate context". README SHA-256: 01408124fc1c52c7d79073019b50673048eb648879ae9696b81c76a91f0bc30e</a:t>
            </a:r>
          </a:p>
          <a:p xmlns:a="http://schemas.openxmlformats.org/drawingml/2006/main">
            <a:r>
              <a:t>The Eiffel model is placed at Lambert-93 E 648,237.125 m, N 6,862,251.890 m and IGN69 height 33.79 m, with a 45° CRS orientation. The same authored model resolves into Lambert-93, two UTM zones and ECEF.</a:t>
            </a:r>
          </a:p>
          <a:p xmlns:a="http://schemas.openxmlformats.org/drawingml/2006/main">
            <a:r>
              <a:t/>
            </a:r>
          </a:p>
          <a:p xmlns:a="http://schemas.openxmlformats.org/drawingml/2006/main">
            <a:r>
              <a:t>![Native Hydra/Storm Eiffel render](delivery/tower-native.png)</a:t>
            </a:r>
          </a:p>
          <a:p xmlns:a="http://schemas.openxmlformats.org/drawingml/2006/main">
            <a:r>
              <a:t/>
            </a:r>
          </a:p>
          <a:p xmlns:a="http://schemas.openxmlformats.org/drawingml/2006/main">
            <a:r>
              <a:t>![Resolved coordinate footprint and controls](delivery/tower-plan.png)</a:t>
            </a:r>
          </a:p>
          <a:p xmlns:a="http://schemas.openxmlformats.org/drawingml/2006/main">
            <a:r>
              <a:t/>
            </a:r>
          </a:p>
          <a:p xmlns:a="http://schemas.openxmlformats.org/drawingml/2006/main">
            <a:r>
              <a:t>The first image is an actual native Hydra/Storm draw from the early candidate scene-index override, before instance propagation and flattening. The second is a headless query plot in named coordinate axes. Ground and cardinal controls are illustrative, not a surveyed Paris dataset. Both images are needed: appearance alone is insufficient evidence of correct placement.</a:t>
            </a:r>
          </a:p>
          <a:p xmlns:a="http://schemas.openxmlformats.org/drawingml/2006/main">
            <a:r>
              <a:t/>
            </a:r>
          </a:p>
          <a:p xmlns:a="http://schemas.openxmlformats.org/drawingml/2006/main">
            <a:r>
              <a:t>The original model's erroneous `metersPerUnit=0.01` metadata remains untouched. Its known metre geometry and Y-up convention are handled by the writer's assembly corrective. Reader code does not infer correct units from the shape of a familiar building. Model credit: SDC PERFORMANCE™️ (https://sketchfab.com/Lambo_SC04); CC-BY-4.0 (http://creativecommons.org/licenses/by/4.0/); [original source](https://sketchfab.com/3d-models/free-la-tour-eiffel-8553f94d06e24cb4b0fde1080f281674).</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"The problem: numbers alone do not place an asset". README SHA-256: 01408124fc1c52c7d79073019b50673048eb648879ae9696b81c76a91f0bc30e</a:t>
            </a:r>
          </a:p>
          <a:p xmlns:a="http://schemas.openxmlformats.org/drawingml/2006/main">
            <a:r>
              <a:t>A USD transform says how local geometry moves within a scene. It does not say which Earth reference defines a coordinate, which vertical datum defines its height, or how a site's calibrated grid relates to another project's coordinates.</a:t>
            </a:r>
          </a:p>
          <a:p xmlns:a="http://schemas.openxmlformats.org/drawingml/2006/main">
            <a:r>
              <a:t/>
            </a:r>
          </a:p>
          <a:p xmlns:a="http://schemas.openxmlformats.org/drawingml/2006/main">
            <a:r>
              <a:t>Consider an ordinary point `(3,4,5)`, a child translate `(1,0,0)` and a model translate `(7,8,9)`. An unaware USD reader returns `(11,12,14)`. Add an explicit CRS position `(1000,2000,30)`, a 90° orientation and scale `(2,1,1)`: the candidate geospatial reader returns `(1003,2016,44)`. Swapping the order or resolving only the origin gives a different answer. The test is hand-worked and noncommuting; it does not copy an implementation's answer into the requirement.</a:t>
            </a:r>
          </a:p>
          <a:p xmlns:a="http://schemas.openxmlformats.org/drawingml/2006/main">
            <a:r>
              <a:t/>
            </a:r>
          </a:p>
          <a:p xmlns:a="http://schemas.openxmlformats.org/drawingml/2006/main">
            <a:r>
              <a:t>The authored point, ordinary transforms and CRS facts stay intact. Consumers can inspect the source CRS and separately request resolved coordinates. Another output CRS must change the expression of the same physical placement, not quietly reinterpret ordinary adjustment numbers in a new set of axes.</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"Three authored facts, followed by ordinary transforms". README SHA-256: 01408124fc1c52c7d79073019b50673048eb648879ae9696b81c76a91f0bc30e</a:t>
            </a:r>
          </a:p>
          <a:p xmlns:a="http://schemas.openxmlformats.org/drawingml/2006/main">
            <a:r>
              <a:t>A complete WKT definition identifies the coordinate reference system. A binding identifies which definition applies. Separate position, orientation and scale place a model; ordinary USD transforms apply after geospatial placement and resolution.</a:t>
            </a:r>
          </a:p>
          <a:p xmlns:a="http://schemas.openxmlformats.org/drawingml/2006/main">
            <a:r>
              <a:t/>
            </a:r>
          </a:p>
          <a:p xmlns:a="http://schemas.openxmlformats.org/drawingml/2006/main">
            <a:r>
              <a:t>| Authored fact | Experimental representation | Meaning |</a:t>
            </a:r>
          </a:p>
          <a:p xmlns:a="http://schemas.openxmlformats.org/drawingml/2006/main">
            <a:r>
              <a:t>|---|---|---|</a:t>
            </a:r>
          </a:p>
          <a:p xmlns:a="http://schemas.openxmlformats.org/drawingml/2006/main">
            <a:r>
              <a:t>| Complete CRS definition | `CoordinateReferenceSystem`, uniform token `crs:wkt` | Whole CRS WKT2 is authoritative; no duplicate datum, unit, projection or calibration fields. |</a:t>
            </a:r>
          </a:p>
          <a:p xmlns:a="http://schemas.openxmlformats.org/drawingml/2006/main">
            <a:r>
              <a:t>| Source association | `rel crs:binding` | Nearest direct binding wins for source coordinates; independently bound assets retain their source definition. |</a:t>
            </a:r>
          </a:p>
          <a:p xmlns:a="http://schemas.openxmlformats.org/drawingml/2006/main">
            <a:r>
              <a:t>| Model placement | `double3 crs:position`, `quatd crs:orientation`, `double3 crs:scale` | Absolute origin plus full oriented/scaled local frame; geometry remains ordinary local USD lengths. |</a:t>
            </a:r>
          </a:p>
          <a:p xmlns:a="http://schemas.openxmlformats.org/drawingml/2006/main">
            <a:r>
              <a:t>| Measurement coordinates | `rel crs:coordinateProperties` targets `double3[]` properties | Identify coordinate arrays explicitly; values, indices and recorded times remain dataset data. |</a:t>
            </a:r>
          </a:p>
          <a:p xmlns:a="http://schemas.openxmlformats.org/drawingml/2006/main">
            <a:r>
              <a:t>| Complete-asset dependency | root `customLayerData.geospatialResolutionRequired` | Writer-maintained declaration readable without discovering it through traversal. |</a:t>
            </a:r>
          </a:p>
          <a:p xmlns:a="http://schemas.openxmlformats.org/drawingml/2006/main">
            <a:r>
              <a:t/>
            </a:r>
          </a:p>
          <a:p xmlns:a="http://schemas.openxmlformats.org/drawingml/2006/main">
            <a:r>
              <a:t>The relationship fields live in a codeless applied schema. This experiment does not propose callable API signatures as standard text. A directly bound model excludes its ancestors' ordinary xformOps; it does not author or alter `resetXformStack`. Its own ordinary matrix and descendant matrices remain ordinary USD data.</a:t>
            </a:r>
          </a:p>
          <a:p xmlns:a="http://schemas.openxmlformats.org/drawingml/2006/main">
            <a:r>
              <a:t/>
            </a:r>
          </a:p>
          <a:p xmlns:a="http://schemas.openxmlformats.org/drawingml/2006/main">
            <a:r>
              <a:t>Projected tuples use easting/northing/up; geographic tuples use longitude/latitude/height; geocentric tuples use XYZ. CRS component units remain authoritative. Writers conform geometry to stage units and up-axis separately from CRS placement. The candidate specifies the working context used to transport post transforms between requested outputs; a labeled alternative that keeps post numbers unchanged in output axes fails the physical-placement control.</a:t>
            </a:r>
          </a:p>
          <a:p xmlns:a="http://schemas.openxmlformats.org/drawingml/2006/main">
            <a:r>
              <a:t/>
            </a:r>
          </a:p>
          <a:p xmlns:a="http://schemas.openxmlformats.org/drawingml/2006/main">
            <a:r>
              <a:t>[Data model](proposal/data-model.md), [runtime behavior](proposal/runtime-behavior.md), [distinguishing examples](proposal/distinguishing-examples.md) and [requirement trace](proposal/traceability.md) are the normative description **of this experiment**, not implementation notes retrofitted into the proposal.</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"Colorado and France: complete CRS definitions do real work". README SHA-256: 01408124fc1c52c7d79073019b50673048eb648879ae9696b81c76a91f0bc30e</a:t>
            </a:r>
          </a:p>
          <a:p xmlns:a="http://schemas.openxmlformats.org/drawingml/2006/main">
            <a:r>
              <a:t>The partner data exercise geographic, projected, compound height and derived site-calibration definitions. Colorado keeps US survey feet and its full horizontal/vertical site calibration in WKT; France keeps Lambert-93/CC49 and IGN69 height meaning.</a:t>
            </a:r>
          </a:p>
          <a:p xmlns:a="http://schemas.openxmlformats.org/drawingml/2006/main">
            <a:r>
              <a:t/>
            </a:r>
          </a:p>
          <a:p xmlns:a="http://schemas.openxmlformats.org/drawingml/2006/main">
            <a:r>
              <a:t>![Colorado original breaklines in native Hydra](delivery/terrain-native.png)</a:t>
            </a:r>
          </a:p>
          <a:p xmlns:a="http://schemas.openxmlformats.org/drawingml/2006/main">
            <a:r>
              <a:t/>
            </a:r>
          </a:p>
          <a:p xmlns:a="http://schemas.openxmlformats.org/drawingml/2006/main">
            <a:r>
              <a:t>![Calibrated Colorado query plot](delivery/colorado-terrain.png)</a:t>
            </a:r>
          </a:p>
          <a:p xmlns:a="http://schemas.openxmlformats.org/drawingml/2006/main">
            <a:r>
              <a:t/>
            </a:r>
          </a:p>
          <a:p xmlns:a="http://schemas.openxmlformats.org/drawingml/2006/main">
            <a:r>
              <a:t>The LandXML contains 14,359 vertices in 710 coordinate parts. It is displayed as original breaklines, without inventing a terrain TIN. Source N/E/H order is explicitly mapped to E/N/H, with metre local geometry and a double coordinate anchor. Five Colorado and 59 France controls are checked in their supplied reference systems.</a:t>
            </a:r>
          </a:p>
          <a:p xmlns:a="http://schemas.openxmlformats.org/drawingml/2006/main">
            <a:r>
              <a:t/>
            </a:r>
          </a:p>
          <a:p xmlns:a="http://schemas.openxmlformats.org/drawingml/2006/main">
            <a:r>
              <a:t>| Supplied control comparison | Points | Maximum CSV discrepancy (mm) |</a:t>
            </a:r>
          </a:p>
          <a:p xmlns:a="http://schemas.openxmlformats.org/drawingml/2006/main">
            <a:r>
              <a:t>|---|---:|---:|</a:t>
            </a:r>
          </a:p>
          <a:p xmlns:a="http://schemas.openxmlformats.org/drawingml/2006/main">
            <a:r>
              <a:t>| Colorado_01 → Colorado_02 | 5 | 0.0212 |</a:t>
            </a:r>
          </a:p>
          <a:p xmlns:a="http://schemas.openxmlformats.org/drawingml/2006/main">
            <a:r>
              <a:t>| Colorado_02 → Colorado_03 | 5 | 0.0342 |</a:t>
            </a:r>
          </a:p>
          <a:p xmlns:a="http://schemas.openxmlformats.org/drawingml/2006/main">
            <a:r>
              <a:t>| France_01 → France_02 | 59 | 0.0608 |</a:t>
            </a:r>
          </a:p>
          <a:p xmlns:a="http://schemas.openxmlformats.org/drawingml/2006/main">
            <a:r>
              <a:t>| France_01 → France_03 | 59 | 0.0822 |</a:t>
            </a:r>
          </a:p>
          <a:p xmlns:a="http://schemas.openxmlformats.org/drawingml/2006/main">
            <a:r>
              <a:t>| France_01 → France_04 | 59 | 0.0496 |</a:t>
            </a:r>
          </a:p>
          <a:p xmlns:a="http://schemas.openxmlformats.org/drawingml/2006/main">
            <a:r>
              <a:t/>
            </a:r>
          </a:p>
          <a:p xmlns:a="http://schemas.openxmlformats.org/drawingml/2006/main">
            <a:r>
              <a:t>The supplied CSVs were computed with PROJ 9.8.1. These comparisons test intake, association and rounding, not independent-engine or survey accuracy. Required height grids are [identified and hash-verified](delivery/resources.json); missing resources reject the whole result. Ordinary datum/height operations are exercised without adding USD properties for engine-selected grids.</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"The same authored data reaches three consumers". README SHA-256: 01408124fc1c52c7d79073019b50673048eb648879ae9696b81c76a91f0bc30e</a:t>
            </a:r>
          </a:p>
          <a:p xmlns:a="http://schemas.openxmlformats.org/drawingml/2006/main">
            <a:r>
              <a:t>Headless USD queries, the native C++ Hydra resolver and the separate live OV resolver agree across all 27 jobs. Each derives placements from the authored scene; neither runtime consumes a headless result snapshot.</a:t>
            </a:r>
          </a:p>
          <a:p xmlns:a="http://schemas.openxmlformats.org/drawingml/2006/main">
            <a:r>
              <a:t/>
            </a:r>
          </a:p>
          <a:p xmlns:a="http://schemas.openxmlformats.org/drawingml/2006/main">
            <a:r>
              <a:t>| Dataset | Jobs | Samples per job | Native vs headless max (mm) | OV vs headless max (mm) |</a:t>
            </a:r>
          </a:p>
          <a:p xmlns:a="http://schemas.openxmlformats.org/drawingml/2006/main">
            <a:r>
              <a:t>|---|---:|---:|---:|---:|</a:t>
            </a:r>
          </a:p>
          <a:p xmlns:a="http://schemas.openxmlformats.org/drawingml/2006/main">
            <a:r>
              <a:t>| Eiffel model + context | 4 | 163,440 | 0.000000 | 0.000000 |</a:t>
            </a:r>
          </a:p>
          <a:p xmlns:a="http://schemas.openxmlformats.org/drawingml/2006/main">
            <a:r>
              <a:t>| Colorado breaklines | 3 | 14,359 | 0.000104 | 0.000000 |</a:t>
            </a:r>
          </a:p>
          <a:p xmlns:a="http://schemas.openxmlformats.org/drawingml/2006/main">
            <a:r>
              <a:t>| Original railway | 3 | 15,822 | 0.000002 | 0.000000 |</a:t>
            </a:r>
          </a:p>
          <a:p xmlns:a="http://schemas.openxmlformats.org/drawingml/2006/main">
            <a:r>
              <a:t>| Synthetic city imagery | 2 | 4,096 | 0.000000 | 0.000000 |</a:t>
            </a:r>
          </a:p>
          <a:p xmlns:a="http://schemas.openxmlformats.org/drawingml/2006/main">
            <a:r>
              <a:t>| Global scalar grid | 3 | 2,664 | 0.000000 | 0.000000 |</a:t>
            </a:r>
          </a:p>
          <a:p xmlns:a="http://schemas.openxmlformats.org/drawingml/2006/main">
            <a:r>
              <a:t>| Composition + time | 3 | 6 | 0.000002 | 0.000000 |</a:t>
            </a:r>
          </a:p>
          <a:p xmlns:a="http://schemas.openxmlformats.org/drawingml/2006/main">
            <a:r>
              <a:t>| Native + point instances | 2 | 15 | 0.000000 | 0.000000 |</a:t>
            </a:r>
          </a:p>
          <a:p xmlns:a="http://schemas.openxmlformats.org/drawingml/2006/main">
            <a:r>
              <a:t>| Partner controls | 7 | 5 / 59 | 0.000000 | 0.000000 |</a:t>
            </a:r>
          </a:p>
          <a:p xmlns:a="http://schemas.openxmlformats.org/drawingml/2006/main">
            <a:r>
              <a:t/>
            </a:r>
          </a:p>
          <a:p xmlns:a="http://schemas.openxmlformats.org/drawingml/2006/main">
            <a:r>
              <a:t>Partner controls account for seven of the 27 jobs. Sample counts include repeated output selections; they are not counts of distinct real-world observations. Full arrays, source-property associations, target definitions and engine-reported operations accompany the receipt in compressed coordinate artifacts.</a:t>
            </a:r>
          </a:p>
          <a:p xmlns:a="http://schemas.openxmlformats.org/drawingml/2006/main">
            <a:r>
              <a:t/>
            </a:r>
          </a:p>
          <a:p xmlns:a="http://schemas.openxmlformats.org/drawingml/2006/main">
            <a:r>
              <a:t>For example, the **same first Colorado breakline vertex**, resolved into NAD83 / UTM zone 13N with ellipsoidal height, is:</a:t>
            </a:r>
          </a:p>
          <a:p xmlns:a="http://schemas.openxmlformats.org/drawingml/2006/main">
            <a:r>
              <a:t/>
            </a:r>
          </a:p>
          <a:p xmlns:a="http://schemas.openxmlformats.org/drawingml/2006/main">
            <a:r>
              <a:t>| Implementation | Easting (m) | Northing (m) | Height (m) |</a:t>
            </a:r>
          </a:p>
          <a:p xmlns:a="http://schemas.openxmlformats.org/drawingml/2006/main">
            <a:r>
              <a:t>|---|---:|---:|---:|</a:t>
            </a:r>
          </a:p>
          <a:p xmlns:a="http://schemas.openxmlformats.org/drawingml/2006/main">
            <a:r>
              <a:t>| Headless USD | 490154.882832 | 4416473.740389 | 1655.208918 |</a:t>
            </a:r>
          </a:p>
          <a:p xmlns:a="http://schemas.openxmlformats.org/drawingml/2006/main">
            <a:r>
              <a:t>| Native Hydra resolver | 490154.882832 | 4416473.740389 | 1655.208918 |</a:t>
            </a:r>
          </a:p>
          <a:p xmlns:a="http://schemas.openxmlformats.org/drawingml/2006/main">
            <a:r>
              <a:t>| Live OV resolver | 490154.882832 | 4416473.740389 | 1655.208918 |</a:t>
            </a:r>
          </a:p>
          <a:p xmlns:a="http://schemas.openxmlformats.org/drawingml/2006/main">
            <a:r>
              <a:t/>
            </a:r>
          </a:p>
          <a:p xmlns:a="http://schemas.openxmlformats.org/drawingml/2006/main">
            <a:r>
              <a:t>Native rendering additionally checks the final scene-index geometry matrices and actual instancer transforms. Live OV reads geometry ingested into its runtime, writes derived placement/coordinate results there and reads them back. It exercises source edits, changed time/output requests, invalid-result removal and recovery. No OV screenshot or OV visual-render parity is claimed.</a:t>
            </a:r>
          </a:p>
          <a:p xmlns:a="http://schemas.openxmlformats.org/drawingml/2006/main">
            <a:r>
              <a:t/>
            </a:r>
          </a:p>
          <a:p xmlns:a="http://schemas.openxmlformats.org/drawingml/2006/main">
            <a:r>
              <a:t>Runtime independence and geodetic-engine independence are different. All three use PROJ: native 9.4.1, Python/OV 9.8.1. USD versions are headless 26.8, native 26.11, OV 25.11. Stock core source, native binary hashes and loaded-plugin exclusions are recorded; no retired geospatial runtime is used.</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"City analysis returns data, not just a picture". README SHA-256: 01408124fc1c52c7d79073019b50673048eb648879ae9696b81c76a91f0bc30e</a:t>
            </a:r>
          </a:p>
          <a:p xmlns:a="http://schemas.openxmlformats.org/drawingml/2006/main">
            <a:r>
              <a:t>A 64 × 64 synthetic red/NIR image yields 1,850 samples above NDVI 0.3. The result returns locations in the requested CRS while preserving source indices, values and observation times.</a:t>
            </a:r>
          </a:p>
          <a:p xmlns:a="http://schemas.openxmlformats.org/drawingml/2006/main">
            <a:r>
              <a:t/>
            </a:r>
          </a:p>
          <a:p xmlns:a="http://schemas.openxmlformats.org/drawingml/2006/main">
            <a:r>
              <a:t>![City measurement analysis and requested coordinate results](delivery/city-analysis.png)</a:t>
            </a:r>
          </a:p>
          <a:p xmlns:a="http://schemas.openxmlformats.org/drawingml/2006/main">
            <a:r>
              <a:t/>
            </a:r>
          </a:p>
          <a:p xmlns:a="http://schemas.openxmlformats.org/drawingml/2006/main">
            <a:r>
              <a:t>[Selected GeoJSON features](delivery/city-selected-features.geojson) and [the paired analysis product](delivery/city-analysis-product.json) are usable without a renderer. The heatmap is a scientific headless-query visualization. Its bands, observation time and 80 m ellipsoidal sample height are explicit synthetic inputs; it makes no real land-use claim.</a:t>
            </a:r>
          </a:p>
          <a:p xmlns:a="http://schemas.openxmlformats.org/drawingml/2006/main">
            <a:r>
              <a:t/>
            </a:r>
          </a:p>
          <a:p xmlns:a="http://schemas.openxmlformats.org/drawingml/2006/main">
            <a:r>
              <a:t>The [original railway query](delivery/railway-query.png) carries all 15,822 vertices and 2,386 coordinate parts from the supplied GeoJSON into UTM, geographic and ECEF results. Its third coordinate is conditionally interpreted as WGS84 ellipsoidal height because the original EPSG:4326 label alone does not specify a height reference. Original topology and source coordinates remain available.</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"Global measurements keep coordinates, values and time together". README SHA-256: 01408124fc1c52c7d79073019b50673048eb648879ae9696b81c76a91f0bc30e</a:t>
            </a:r>
          </a:p>
          <a:p xmlns:a="http://schemas.openxmlformats.org/drawingml/2006/main">
            <a:r>
              <a:t>The original 37 × 72 scalar grid resolves all 2,664 locations globally in ECEF and geographic coordinates. Values remain associated with their coordinates and grid indices across two recorded times.</a:t>
            </a:r>
          </a:p>
          <a:p xmlns:a="http://schemas.openxmlformats.org/drawingml/2006/main">
            <a:r>
              <a:t/>
            </a:r>
          </a:p>
          <a:p xmlns:a="http://schemas.openxmlformats.org/drawingml/2006/main">
            <a:r>
              <a:t>![Global coordinate coverage](delivery/global-ecef.png)</a:t>
            </a:r>
          </a:p>
          <a:p xmlns:a="http://schemas.openxmlformats.org/drawingml/2006/main">
            <a:r>
              <a:t/>
            </a:r>
          </a:p>
          <a:p xmlns:a="http://schemas.openxmlformats.org/drawingml/2006/main">
            <a:r>
              <a:t>![Original values and explicitly synthetic change](delivery/climate-analysis.png)</a:t>
            </a:r>
          </a:p>
          <a:p xmlns:a="http://schemas.openxmlformats.org/drawingml/2006/main">
            <a:r>
              <a:t/>
            </a:r>
          </a:p>
          <a:p xmlns:a="http://schemas.openxmlformats.org/drawingml/2006/main">
            <a:r>
              <a:t>The initial scalar field comes from the supplied NetCDF; its units and heights are not authored in that file. Positions use explicitly assumed zero ellipsoidal height. The second time is an explicitly synthetic perturbation, not an observed trend or forecast. [The analytic product](delivery/climate-analysis-product.json) preserves both value arrays with the same coordinate indices. These are scientific query plots, not Hydra renders and not one global tangent plane.</a:t>
            </a:r>
          </a:p>
          <a:p xmlns:a="http://schemas.openxmlformats.org/drawingml/2006/main">
            <a:r>
              <a:t/>
            </a:r>
          </a:p>
          <a:p xmlns:a="http://schemas.openxmlformats.org/drawingml/2006/main">
            <a:r>
              <a:t>This exercises useful larger-scale data workflows alongside construction-site placement. Initial scope does not impose a site-sized domain on measurements or make later coordinate-epoch support impossible.</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"Composition, edits and explicit export survive real consumption". README SHA-256: 01408124fc1c52c7d79073019b50673048eb648879ae9696b81c76a91f0bc30e</a:t>
            </a:r>
          </a:p>
          <a:p xmlns:a="http://schemas.openxmlformats.org/drawingml/2006/main">
            <a:r>
              <a:t>Three USD native instances and three point instances share geometry while receiving distinct resolved placements. References, stronger opinions, variants, source interpolation, stage units and Y/Z up-axis are exercised with independent controls.</a:t>
            </a:r>
          </a:p>
          <a:p xmlns:a="http://schemas.openxmlformats.org/drawingml/2006/main">
            <a:r>
              <a:t/>
            </a:r>
          </a:p>
          <a:p xmlns:a="http://schemas.openxmlformats.org/drawingml/2006/main">
            <a:r>
              <a:t>![Three native and three point instances consumed by Hydra](delivery/instances-native.png)</a:t>
            </a:r>
          </a:p>
          <a:p xmlns:a="http://schemas.openxmlformats.org/drawingml/2006/main">
            <a:r>
              <a:t/>
            </a:r>
          </a:p>
          <a:p xmlns:a="http://schemas.openxmlformats.org/drawingml/2006/main">
            <a:r>
              <a:t>The native scene index recomputes on source notices; the rendered model's +10 m position edit is checked and restored. Live OV updates after authored edits and request changes; a broken definition reports failure, hides stale model results, clears stale measurement results, then recovers after restoration. The source's complete used-layer set matches its original contents after each test. Snapshot parity and filter-call counts alone are not accepted as consumption evidence.</a:t>
            </a:r>
          </a:p>
          <a:p xmlns:a="http://schemas.openxmlformats.org/drawingml/2006/main">
            <a:r>
              <a:t/>
            </a:r>
          </a:p>
          <a:p xmlns:a="http://schemas.openxmlformats.org/drawingml/2006/main">
            <a:r>
              <a:t>Source position interpolation occurs **before** nonlinear CRS conversion. A hand-reasoned test distinguishes this from interpolating already-projected endpoints. Ordinary USD consumers continue to see exactly the original ordinary transform interpretation.</a:t>
            </a:r>
          </a:p>
          <a:p xmlns:a="http://schemas.openxmlformats.org/drawingml/2006/main">
            <a:r>
              <a:t/>
            </a:r>
          </a:p>
          <a:p xmlns:a="http://schemas.openxmlformats.org/drawingml/2006/main">
            <a:r>
              <a:t>Five derived assets are written with the requested output WKT and explicit sample times 0, 5 and 10. They bake post transforms once, retain small local float geometry with double anchors, preserve measurement values/times and are resolved by a fresh reader. There is no private “already resolved” flag.</a:t>
            </a:r>
          </a:p>
          <a:p xmlns:a="http://schemas.openxmlformats.org/drawingml/2006/main">
            <a:r>
              <a:t/>
            </a:r>
          </a:p>
          <a:p xmlns:a="http://schemas.openxmlformats.org/drawingml/2006/main">
            <a:r>
              <a:t>| Exported dataset | Output | Geometry roundtrip max | Measurement roundtrip max |</a:t>
            </a:r>
          </a:p>
          <a:p xmlns:a="http://schemas.openxmlformats.org/drawingml/2006/main">
            <a:r>
              <a:t>|---|---|---:|---:|</a:t>
            </a:r>
          </a:p>
          <a:p xmlns:a="http://schemas.openxmlformats.org/drawingml/2006/main">
            <a:r>
              <a:t>| composition | utm31 | 0.00 µm | 0.00 µm |</a:t>
            </a:r>
          </a:p>
          <a:p xmlns:a="http://schemas.openxmlformats.org/drawingml/2006/main">
            <a:r>
              <a:t>| tower | utm31 | 30.88 µm | 0.00 µm |</a:t>
            </a:r>
          </a:p>
          <a:p xmlns:a="http://schemas.openxmlformats.org/drawingml/2006/main">
            <a:r>
              <a:t>| terrain | Colorado_02 | 15.64 µm | 0.00 µm |</a:t>
            </a:r>
          </a:p>
          <a:p xmlns:a="http://schemas.openxmlformats.org/drawingml/2006/main">
            <a:r>
              <a:t>| city | utm31 | 0.00 µm | 0.00 µm |</a:t>
            </a:r>
          </a:p>
          <a:p xmlns:a="http://schemas.openxmlformats.org/drawingml/2006/main">
            <a:r>
              <a:t>| climate | ecef | 0.00 µm | 0.00 µm |</a:t>
            </a:r>
          </a:p>
          <a:p xmlns:a="http://schemas.openxmlformats.org/drawingml/2006/main">
            <a:r>
              <a:t/>
            </a:r>
          </a:p>
          <a:p xmlns:a="http://schemas.openxmlformats.org/drawingml/2006/main">
            <a:r>
              <a:t>These are sampled exports, with their interpolation policy recorded; arbitrary continuous-time equivalence is not implied. The stock validator checks authored facts, rather than certifying geodetic accuracy or discovering hidden unloaded dependencies.</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"Precision is measured; a continuous extent bound remains open". README SHA-256: 01408124fc1c52c7d79073019b50673048eb648879ae9696b81c76a91f0bc30e</a:t>
            </a:r>
          </a:p>
          <a:p xmlns:a="http://schemas.openxmlformats.org/drawingml/2006/main">
            <a:r>
              <a:t>Double coordinate anchors and small local floats preserve detail away from the origin. But one affine model frame approximates a nonlinear transformation, and the error grows with the model's spatial extent.</a:t>
            </a:r>
          </a:p>
          <a:p xmlns:a="http://schemas.openxmlformats.org/drawingml/2006/main">
            <a:r>
              <a:t/>
            </a:r>
          </a:p>
          <a:p xmlns:a="http://schemas.openxmlformats.org/drawingml/2006/main">
            <a:r>
              <a:t>For a UTM frame projected into ECEF, 289 sampled points per square give:</a:t>
            </a:r>
          </a:p>
          <a:p xmlns:a="http://schemas.openxmlformats.org/drawingml/2006/main">
            <a:r>
              <a:t/>
            </a:r>
          </a:p>
          <a:p xmlns:a="http://schemas.openxmlformats.org/drawingml/2006/main">
            <a:r>
              <a:t>| Sampled domain half-extent | Samples | Maximum affine discrepancy |</a:t>
            </a:r>
          </a:p>
          <a:p xmlns:a="http://schemas.openxmlformats.org/drawingml/2006/main">
            <a:r>
              <a:t>|---|---:|---:|</a:t>
            </a:r>
          </a:p>
          <a:p xmlns:a="http://schemas.openxmlformats.org/drawingml/2006/main">
            <a:r>
              <a:t>| ±1 m | 289 | 1.59728973e-07 m |</a:t>
            </a:r>
          </a:p>
          <a:p xmlns:a="http://schemas.openxmlformats.org/drawingml/2006/main">
            <a:r>
              <a:t>| ±10 m | 289 | 1.56920427e-05 m |</a:t>
            </a:r>
          </a:p>
          <a:p xmlns:a="http://schemas.openxmlformats.org/drawingml/2006/main">
            <a:r>
              <a:t>| ±100 m | 289 | 0.00156852519 m |</a:t>
            </a:r>
          </a:p>
          <a:p xmlns:a="http://schemas.openxmlformats.org/drawingml/2006/main">
            <a:r>
              <a:t>| ±1,000 m | 289 | 0.156846084 m |</a:t>
            </a:r>
          </a:p>
          <a:p xmlns:a="http://schemas.openxmlformats.org/drawingml/2006/main">
            <a:r>
              <a:t>| ±10,000 m | 289 | 15.6846085 m |</a:t>
            </a:r>
          </a:p>
          <a:p xmlns:a="http://schemas.openxmlformats.org/drawingml/2006/main">
            <a:r>
              <a:t>| ±100,000 m | 289 | 1568.44951 m |</a:t>
            </a:r>
          </a:p>
          <a:p xmlns:a="http://schemas.openxmlformats.org/drawingml/2006/main">
            <a:r>
              <a:t/>
            </a:r>
          </a:p>
          <a:p xmlns:a="http://schemas.openxmlformats.org/drawingml/2006/main">
            <a:r>
              <a:t>At an absolute float coordinate around 481,948 m, one float step is 31.25 mm. Keeping a double anchor and small float geometry avoids that source of quantization. The frame uses a 1 m physical derivative probe; 0.25 m and 4 m probes are compared in tests. Probe stability and finite sample maxima are **not a certified continuous surface bound**.</a:t>
            </a:r>
          </a:p>
          <a:p xmlns:a="http://schemas.openxmlformats.org/drawingml/2006/main">
            <a:r>
              <a:t/>
            </a:r>
          </a:p>
          <a:p xmlns:a="http://schemas.openxmlformats.org/drawingml/2006/main">
            <a:r>
              <a:t>R24 therefore remains a substantive design gap: the proposal needs a contract for extent, approximation/error reporting and when subdivision or another representation is required. All selected demonstrations ran; this question is not a deferred implementation task. Engine-attributed operation accuracy estimates also do not include ordinary post transforms, affine approximation or survey truth.</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Canonical source: README.md, section "Remaining decisions and the path forward". README SHA-256: 01408124fc1c52c7d79073019b50673048eb648879ae9696b81c76a91f0bc30e</a:t>
            </a:r>
          </a:p>
          <a:p xmlns:a="http://schemas.openxmlformats.org/drawingml/2006/main">
            <a:r>
              <a:t>The executed candidate provides reviewable answers for exact placement fields, adjustment context, geographic/geocentric tuples, WKT string normalization, measurement association, dependency declarations and sampled export records. The group still needs to choose those contracts and settle the continuous extent/error requirement.</a:t>
            </a:r>
          </a:p>
          <a:p xmlns:a="http://schemas.openxmlformats.org/drawingml/2006/main">
            <a:r>
              <a:t/>
            </a:r>
          </a:p>
          <a:p xmlns:a="http://schemas.openxmlformats.org/drawingml/2006/main">
            <a:r>
              <a:t>[The decision table](proposal/runtime-open-decisions.md) separates already retained answers from experimental choices and genuine gaps. WKT **string** normalization is lexical: it preserves quoted metadata, component order, identifiers, remarks and extensions, and does not claim semantic CRS equivalence. Tokens must already match that normal form. Different metadata can still produce different tokens for equivalent numerical operations.</a:t>
            </a:r>
          </a:p>
          <a:p xmlns:a="http://schemas.openxmlformats.org/drawingml/2006/main">
            <a:r>
              <a:t/>
            </a:r>
          </a:p>
          <a:p xmlns:a="http://schemas.openxmlformats.org/drawingml/2006/main">
            <a:r>
              <a:t>Coordinate epochs are deferred in representation, interpretation and computation. `COORDINATEMETADATA` wrappers and requests that need time-dependent transformations fail explicitly. CRS `FRAMEEPOCH` information remains in WKT; it is not a coordinate epoch. No synthetic epoch attribute or default is introduced, and the separation of CRS definitions, source associations and recorded dataset times preserves the ability to add an authoritative epoch model later.</a:t>
            </a:r>
          </a:p>
          <a:p xmlns:a="http://schemas.openxmlformats.org/drawingml/2006/main">
            <a:r>
              <a:t/>
            </a:r>
          </a:p>
          <a:p xmlns:a="http://schemas.openxmlformats.org/drawingml/2006/main">
            <a:r>
              <a:t>The reverse audit checks both directions: implementation facts/behavior must follow the frozen text, and that text must follow requirements and established data ownership rather than justify runtime conveniences. Corrections during this run fixed consumer integration and test-asset structure without adding new authored fields to rescue the implementation.</a:t>
            </a:r>
          </a:p>
          <a:p xmlns:a="http://schemas.openxmlformats.org/drawingml/2006/main">
            <a:r>
              <a:t>Figures are executed evidence; synthetic and conditional source assumptions remain labeled. Candidate contracts are experimental.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97c2471f6547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ffe3cc036e41f1" /><Relationship Type="http://schemas.openxmlformats.org/officeDocument/2006/relationships/slideLayout" Target="/ppt/slideLayouts/slideLayout1.xml" Id="R0cb0469c72984d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b0469c72984d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5488bc40f9e4625" /><Relationship Type="http://schemas.openxmlformats.org/officeDocument/2006/relationships/image" Target="/ppt/media/image.png" Id="Rc8cb64c46bc04431" /><Relationship Type="http://schemas.openxmlformats.org/officeDocument/2006/relationships/image" Target="/ppt/media/image2.png" Id="R5e353869e0d14252" /><Relationship Type="http://schemas.openxmlformats.org/officeDocument/2006/relationships/notesSlide" Target="/ppt/notesSlides/notesSlide1.xml" Id="R93b832f3967949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a9716f760164a2c" /><Relationship Type="http://schemas.openxmlformats.org/officeDocument/2006/relationships/notesSlide" Target="/ppt/notesSlides/notesSlide2.xml" Id="R94b0411b72584d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2ce3149ecc48d3" /><Relationship Type="http://schemas.openxmlformats.org/officeDocument/2006/relationships/notesSlide" Target="/ppt/notesSlides/notesSlide3.xml" Id="Rcd67dd8e5fb149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41755a79ecd4b1e" /><Relationship Type="http://schemas.openxmlformats.org/officeDocument/2006/relationships/image" Target="/ppt/media/image3.png" Id="R40a0d493f049420f" /><Relationship Type="http://schemas.openxmlformats.org/officeDocument/2006/relationships/image" Target="/ppt/media/image4.png" Id="R3cc57365b63447f3" /><Relationship Type="http://schemas.openxmlformats.org/officeDocument/2006/relationships/notesSlide" Target="/ppt/notesSlides/notesSlide4.xml" Id="R28f48a38facd44d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3e1eaa2c29543b4" /><Relationship Type="http://schemas.openxmlformats.org/officeDocument/2006/relationships/notesSlide" Target="/ppt/notesSlides/notesSlide5.xml" Id="R3990ca39d0e440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cd27ed130a4456" /><Relationship Type="http://schemas.openxmlformats.org/officeDocument/2006/relationships/image" Target="/ppt/media/image5.png" Id="R32ba9bbd2bea4684" /><Relationship Type="http://schemas.openxmlformats.org/officeDocument/2006/relationships/notesSlide" Target="/ppt/notesSlides/notesSlide6.xml" Id="Raff4a6ffe35648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305903216e84f41" /><Relationship Type="http://schemas.openxmlformats.org/officeDocument/2006/relationships/image" Target="/ppt/media/image6.png" Id="R99c6817f0ce34ee2" /><Relationship Type="http://schemas.openxmlformats.org/officeDocument/2006/relationships/image" Target="/ppt/media/image7.png" Id="Red82454160ad4142" /><Relationship Type="http://schemas.openxmlformats.org/officeDocument/2006/relationships/notesSlide" Target="/ppt/notesSlides/notesSlide7.xml" Id="R1292c95f17e1402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ef32f85b104e5f" /><Relationship Type="http://schemas.openxmlformats.org/officeDocument/2006/relationships/image" Target="/ppt/media/image8.png" Id="R6d8e8e0f4119468a" /><Relationship Type="http://schemas.openxmlformats.org/officeDocument/2006/relationships/notesSlide" Target="/ppt/notesSlides/notesSlide8.xml" Id="R67aa268c656a47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a2d91f93bf04fe3" /><Relationship Type="http://schemas.openxmlformats.org/officeDocument/2006/relationships/notesSlide" Target="/ppt/notesSlides/notesSlide9.xml" Id="R43795317a92748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0f0a66989c54a38" /><Relationship Type="http://schemas.openxmlformats.org/officeDocument/2006/relationships/notesSlide" Target="/ppt/notesSlides/notesSlide10.xml" Id="R9321d09fc8564a92" /></Relationships>
</file>

<file path=ppt/slides/slide1.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3A3C37-68E7-4738-ACBD-58B351347869}"/>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E6A31F34-CD62-4907-B51C-FAC3EEDBF662}"/>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BCDD5649-2777-4DF9-A3C1-C5BB5CA97C20}"/>
              </a:ext>
            </a:extLst>
          </p:cNvPr>
          <p:cNvSpPr>
            <a:spLocks xmlns:a="http://schemas.openxmlformats.org/drawingml/2006/main" noGrp="1"/>
          </p:cNvSpPr>
          <p:nvPr/>
        </p:nvSpPr>
        <p:spPr>
          <a:xfrm xmlns:a="http://schemas.openxmlformats.org/drawingml/2006/main">
            <a:off x="0" y="0"/>
            <a:ext cx="6858000" cy="685800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8cb64c46bc04431"/>
          <a:stretch xmlns:a="http://schemas.openxmlformats.org/drawingml/2006/main"/>
        </p:blipFill>
        <p:spPr>
          <a:xfrm xmlns:a="http://schemas.openxmlformats.org/drawingml/2006/main">
            <a:off x="0" y="1833563"/>
            <a:ext cx="6858000" cy="3857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305D2F3-B863-49BC-94D7-2F1217BAAB75}"/>
              </a:ext>
            </a:extLst>
          </p:cNvPr>
          <p:cNvSpPr>
            <a:spLocks xmlns:a="http://schemas.openxmlformats.org/drawingml/2006/main" noGrp="1"/>
          </p:cNvSpPr>
          <p:nvPr/>
        </p:nvSpPr>
        <p:spPr>
          <a:xfrm xmlns:a="http://schemas.openxmlformats.org/drawingml/2006/main">
            <a:off x="514350" y="495300"/>
            <a:ext cx="6096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117E89"/>
                </a:solidFill>
                <a:latin typeface="Arial"/>
                <a:ea typeface="Arial"/>
                <a:cs typeface="Arial"/>
              </a:defRPr>
            </a:pPr>
            <a:r>
              <a:rPr sz="1350" b="1">
                <a:solidFill>
                  <a:srgbClr val="117E89"/>
                </a:solidFill>
                <a:latin typeface="Arial"/>
                <a:ea typeface="Arial"/>
                <a:cs typeface="Arial"/>
              </a:rPr>
              <a:t>GEOSPATIAL IN USD + OV</a:t>
            </a:r>
          </a:p>
        </p:txBody>
      </p:sp>
      <p:sp>
        <p:nvSpPr>
          <p:cNvPr id="6" name="">
            <a:extLst xmlns:a="http://schemas.openxmlformats.org/drawingml/2006/main">
              <a:ext uri="{FF2B5EF4-FFF2-40B4-BE49-F238E27FC236}">
                <a16:creationId xmlns:a16="http://schemas.microsoft.com/office/drawing/2014/main" id="{05492C02-A7D0-434C-978F-770060C010CF}"/>
              </a:ext>
            </a:extLst>
          </p:cNvPr>
          <p:cNvSpPr>
            <a:spLocks xmlns:a="http://schemas.openxmlformats.org/drawingml/2006/main" noGrp="1"/>
          </p:cNvSpPr>
          <p:nvPr/>
        </p:nvSpPr>
        <p:spPr>
          <a:xfrm xmlns:a="http://schemas.openxmlformats.org/drawingml/2006/main">
            <a:off x="514350" y="885825"/>
            <a:ext cx="6191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a:solidFill>
                  <a:srgbClr val="163641"/>
                </a:solidFill>
                <a:latin typeface="Arial"/>
                <a:ea typeface="Arial"/>
                <a:cs typeface="Arial"/>
              </a:defRPr>
            </a:pPr>
            <a:r>
              <a:rPr sz="3225" b="1">
                <a:solidFill>
                  <a:srgbClr val="163641"/>
                </a:solidFill>
                <a:latin typeface="Arial"/>
                <a:ea typeface="Arial"/>
                <a:cs typeface="Arial"/>
              </a:rPr>
              <a:t>Geospatial meaning</a:t>
            </a:r>
          </a:p>
          <a:p xmlns:a="http://schemas.openxmlformats.org/drawingml/2006/main">
            <a:pPr>
              <a:defRPr sz="3225" b="1">
                <a:solidFill>
                  <a:srgbClr val="163641"/>
                </a:solidFill>
                <a:latin typeface="Arial"/>
                <a:ea typeface="Arial"/>
                <a:cs typeface="Arial"/>
              </a:defRPr>
            </a:pPr>
            <a:r>
              <a:rPr sz="3225" b="1">
                <a:solidFill>
                  <a:srgbClr val="163641"/>
                </a:solidFill>
                <a:latin typeface="Arial"/>
                <a:ea typeface="Arial"/>
                <a:cs typeface="Arial"/>
              </a:rPr>
              <a:t>that survives</a:t>
            </a:r>
          </a:p>
          <a:p xmlns:a="http://schemas.openxmlformats.org/drawingml/2006/main">
            <a:pPr>
              <a:defRPr sz="3225" b="1">
                <a:solidFill>
                  <a:srgbClr val="163641"/>
                </a:solidFill>
                <a:latin typeface="Arial"/>
                <a:ea typeface="Arial"/>
                <a:cs typeface="Arial"/>
              </a:defRPr>
            </a:pPr>
            <a:r>
              <a:rPr sz="3225" b="1">
                <a:solidFill>
                  <a:srgbClr val="163641"/>
                </a:solidFill>
                <a:latin typeface="Arial"/>
                <a:ea typeface="Arial"/>
                <a:cs typeface="Arial"/>
              </a:rPr>
              <a:t>USD composition</a:t>
            </a:r>
          </a:p>
        </p:txBody>
      </p:sp>
      <p:sp>
        <p:nvSpPr>
          <p:cNvPr id="7" name="">
            <a:extLst xmlns:a="http://schemas.openxmlformats.org/drawingml/2006/main">
              <a:ext uri="{FF2B5EF4-FFF2-40B4-BE49-F238E27FC236}">
                <a16:creationId xmlns:a16="http://schemas.microsoft.com/office/drawing/2014/main" id="{705E8DB6-65D5-4974-ABFC-BA59AFC3F964}"/>
              </a:ext>
            </a:extLst>
          </p:cNvPr>
          <p:cNvSpPr>
            <a:spLocks xmlns:a="http://schemas.openxmlformats.org/drawingml/2006/main" noGrp="1"/>
          </p:cNvSpPr>
          <p:nvPr/>
        </p:nvSpPr>
        <p:spPr>
          <a:xfrm xmlns:a="http://schemas.openxmlformats.org/drawingml/2006/main">
            <a:off x="7143750" y="495300"/>
            <a:ext cx="4552950" cy="5667375"/>
          </a:xfrm>
          <a:prstGeom xmlns:a="http://schemas.openxmlformats.org/drawingml/2006/main" prst="rect">
            <a:avLst/>
          </a:prstGeom>
          <a:solidFill xmlns:a="http://schemas.openxmlformats.org/drawingml/2006/main">
            <a:srgbClr val="E4EFF1"/>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e353869e0d14252"/>
          <a:stretch xmlns:a="http://schemas.openxmlformats.org/drawingml/2006/main"/>
        </p:blipFill>
        <p:spPr>
          <a:xfrm xmlns:a="http://schemas.openxmlformats.org/drawingml/2006/main">
            <a:off x="7813385" y="695325"/>
            <a:ext cx="3213680" cy="29337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43821DD-3FA1-45A7-9725-FD7DFF551E63}"/>
              </a:ext>
            </a:extLst>
          </p:cNvPr>
          <p:cNvSpPr>
            <a:spLocks xmlns:a="http://schemas.openxmlformats.org/drawingml/2006/main" noGrp="1"/>
          </p:cNvSpPr>
          <p:nvPr/>
        </p:nvSpPr>
        <p:spPr>
          <a:xfrm xmlns:a="http://schemas.openxmlformats.org/drawingml/2006/main">
            <a:off x="7486650" y="3695700"/>
            <a:ext cx="39433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The Eiffel model is placed at Lambert-93 E 648,237.125 m, N 6,862,251.890 m and IGN69 height 33.79 m, with a 45° CRS orientation. The same authored model resolves into Lambert-93, two UTM zones and ECEF.</a:t>
            </a:r>
          </a:p>
        </p:txBody>
      </p:sp>
      <p:sp>
        <p:nvSpPr>
          <p:cNvPr id="10" name="">
            <a:extLst xmlns:a="http://schemas.openxmlformats.org/drawingml/2006/main">
              <a:ext uri="{FF2B5EF4-FFF2-40B4-BE49-F238E27FC236}">
                <a16:creationId xmlns:a16="http://schemas.microsoft.com/office/drawing/2014/main" id="{33CC2395-5E40-4075-89B1-E16ACF55F5D7}"/>
              </a:ext>
            </a:extLst>
          </p:cNvPr>
          <p:cNvSpPr>
            <a:spLocks xmlns:a="http://schemas.openxmlformats.org/drawingml/2006/main" noGrp="1"/>
          </p:cNvSpPr>
          <p:nvPr/>
        </p:nvSpPr>
        <p:spPr>
          <a:xfrm xmlns:a="http://schemas.openxmlformats.org/drawingml/2006/main">
            <a:off x="7486650" y="5172075"/>
            <a:ext cx="39433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75" b="0">
                <a:solidFill>
                  <a:srgbClr val="526D76"/>
                </a:solidFill>
                <a:latin typeface="Arial"/>
                <a:ea typeface="Arial"/>
                <a:cs typeface="Arial"/>
              </a:defRPr>
            </a:pPr>
            <a:r>
              <a:rPr sz="1275" b="0">
                <a:solidFill>
                  <a:srgbClr val="526D76"/>
                </a:solidFill>
                <a:latin typeface="Arial"/>
                <a:ea typeface="Arial"/>
                <a:cs typeface="Arial"/>
              </a:rPr>
              <a:t>Native Hydra render + named coordinate query.</a:t>
            </a:r>
          </a:p>
          <a:p xmlns:a="http://schemas.openxmlformats.org/drawingml/2006/main">
            <a:pPr>
              <a:defRPr sz="1275" b="0">
                <a:solidFill>
                  <a:srgbClr val="526D76"/>
                </a:solidFill>
                <a:latin typeface="Arial"/>
                <a:ea typeface="Arial"/>
                <a:cs typeface="Arial"/>
              </a:defRPr>
            </a:pPr>
            <a:r>
              <a:rPr sz="1275" b="0">
                <a:solidFill>
                  <a:srgbClr val="526D76"/>
                </a:solidFill>
                <a:latin typeface="Arial"/>
                <a:ea typeface="Arial"/>
                <a:cs typeface="Arial"/>
              </a:rPr>
              <a:t>Illustrative controls; no survey accuracy claim.</a:t>
            </a:r>
          </a:p>
        </p:txBody>
      </p:sp>
    </p:spTree>
    <p:extLst>
      <p:ext uri="{BB962C8B-B14F-4D97-AF65-F5344CB8AC3E}">
        <p14:creationId xmlns:p14="http://schemas.microsoft.com/office/powerpoint/2010/main" val="833158709"/>
      </p:ext>
    </p:extLst>
  </p:cSld>
</p:sld>
</file>

<file path=ppt/slides/slide2.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8A5A5A0-5A6D-4DBA-A8B7-75CEE22DAC29}"/>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F3A601A1-8B73-42F9-B92F-C02BF128FA3E}"/>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9939A652-ADB4-4168-BD3C-0BE04EC9A3A3}"/>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Numbers alone do not place an asset</a:t>
            </a:r>
          </a:p>
        </p:txBody>
      </p:sp>
      <p:sp>
        <p:nvSpPr>
          <p:cNvPr id="4" name="">
            <a:extLst xmlns:a="http://schemas.openxmlformats.org/drawingml/2006/main">
              <a:ext uri="{FF2B5EF4-FFF2-40B4-BE49-F238E27FC236}">
                <a16:creationId xmlns:a16="http://schemas.microsoft.com/office/drawing/2014/main" id="{58207F22-410D-4FBE-BE6B-DDA34945EC1A}"/>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1087FE-182E-45F9-84F4-D12D29B64AE4}"/>
              </a:ext>
            </a:extLst>
          </p:cNvPr>
          <p:cNvSpPr>
            <a:spLocks xmlns:a="http://schemas.openxmlformats.org/drawingml/2006/main" noGrp="1"/>
          </p:cNvSpPr>
          <p:nvPr/>
        </p:nvSpPr>
        <p:spPr>
          <a:xfrm xmlns:a="http://schemas.openxmlformats.org/drawingml/2006/main">
            <a:off x="495300" y="15621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63641"/>
                </a:solidFill>
                <a:latin typeface="Arial"/>
                <a:ea typeface="Arial"/>
                <a:cs typeface="Arial"/>
              </a:defRPr>
            </a:pPr>
            <a:r>
              <a:rPr sz="1875" b="0">
                <a:solidFill>
                  <a:srgbClr val="163641"/>
                </a:solidFill>
                <a:latin typeface="Arial"/>
                <a:ea typeface="Arial"/>
                <a:cs typeface="Arial"/>
              </a:rPr>
              <a:t>A USD transform says how local geometry moves within a scene. It does not say which Earth reference defines a coordinate, which vertical datum defines its height, or how a site's calibrated grid relates to another project's coordinates.</a:t>
            </a:r>
          </a:p>
        </p:txBody>
      </p:sp>
      <p:sp>
        <p:nvSpPr>
          <p:cNvPr id="6" name="">
            <a:extLst xmlns:a="http://schemas.openxmlformats.org/drawingml/2006/main">
              <a:ext uri="{FF2B5EF4-FFF2-40B4-BE49-F238E27FC236}">
                <a16:creationId xmlns:a16="http://schemas.microsoft.com/office/drawing/2014/main" id="{94E80956-5E5C-45E1-A410-8176F3423432}"/>
              </a:ext>
            </a:extLst>
          </p:cNvPr>
          <p:cNvSpPr>
            <a:spLocks xmlns:a="http://schemas.openxmlformats.org/drawingml/2006/main" noGrp="1"/>
          </p:cNvSpPr>
          <p:nvPr/>
        </p:nvSpPr>
        <p:spPr>
          <a:xfrm xmlns:a="http://schemas.openxmlformats.org/drawingml/2006/main">
            <a:off x="495300" y="2647950"/>
            <a:ext cx="3409950" cy="26860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52B8A02-CAD8-4206-8361-1F4B8DB2ABE8}"/>
              </a:ext>
            </a:extLst>
          </p:cNvPr>
          <p:cNvSpPr>
            <a:spLocks xmlns:a="http://schemas.openxmlformats.org/drawingml/2006/main" noGrp="1"/>
          </p:cNvSpPr>
          <p:nvPr/>
        </p:nvSpPr>
        <p:spPr>
          <a:xfrm xmlns:a="http://schemas.openxmlformats.org/drawingml/2006/main">
            <a:off x="4381500" y="2647950"/>
            <a:ext cx="3409950" cy="2686050"/>
          </a:xfrm>
          <a:prstGeom xmlns:a="http://schemas.openxmlformats.org/drawingml/2006/main" prst="rect">
            <a:avLst/>
          </a:prstGeom>
          <a:solidFill xmlns:a="http://schemas.openxmlformats.org/drawingml/2006/main">
            <a:srgbClr val="E4EFF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CA7149A-6672-45DA-9D02-727B61CB0140}"/>
              </a:ext>
            </a:extLst>
          </p:cNvPr>
          <p:cNvSpPr>
            <a:spLocks xmlns:a="http://schemas.openxmlformats.org/drawingml/2006/main" noGrp="1"/>
          </p:cNvSpPr>
          <p:nvPr/>
        </p:nvSpPr>
        <p:spPr>
          <a:xfrm xmlns:a="http://schemas.openxmlformats.org/drawingml/2006/main">
            <a:off x="8267700" y="2647950"/>
            <a:ext cx="3429000" cy="2686050"/>
          </a:xfrm>
          <a:prstGeom xmlns:a="http://schemas.openxmlformats.org/drawingml/2006/main" prst="rect">
            <a:avLst/>
          </a:prstGeom>
          <a:solidFill xmlns:a="http://schemas.openxmlformats.org/drawingml/2006/main">
            <a:srgbClr val="163641"/>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5C81AC3-CBC9-4ADC-A641-32F8518AB40B}"/>
              </a:ext>
            </a:extLst>
          </p:cNvPr>
          <p:cNvSpPr>
            <a:spLocks xmlns:a="http://schemas.openxmlformats.org/drawingml/2006/main" noGrp="1"/>
          </p:cNvSpPr>
          <p:nvPr/>
        </p:nvSpPr>
        <p:spPr>
          <a:xfrm xmlns:a="http://schemas.openxmlformats.org/drawingml/2006/main">
            <a:off x="714375" y="2828925"/>
            <a:ext cx="297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117E89"/>
                </a:solidFill>
                <a:latin typeface="Arial"/>
                <a:ea typeface="Arial"/>
                <a:cs typeface="Arial"/>
              </a:defRPr>
            </a:pPr>
            <a:r>
              <a:rPr sz="1350" b="1">
                <a:solidFill>
                  <a:srgbClr val="117E89"/>
                </a:solidFill>
                <a:latin typeface="Arial"/>
                <a:ea typeface="Arial"/>
                <a:cs typeface="Arial"/>
              </a:rPr>
              <a:t>LOCAL USD</a:t>
            </a:r>
          </a:p>
        </p:txBody>
      </p:sp>
      <p:sp>
        <p:nvSpPr>
          <p:cNvPr id="10" name="">
            <a:extLst xmlns:a="http://schemas.openxmlformats.org/drawingml/2006/main">
              <a:ext uri="{FF2B5EF4-FFF2-40B4-BE49-F238E27FC236}">
                <a16:creationId xmlns:a16="http://schemas.microsoft.com/office/drawing/2014/main" id="{B1A853A4-0D79-48A7-8EE1-B392BD779487}"/>
              </a:ext>
            </a:extLst>
          </p:cNvPr>
          <p:cNvSpPr>
            <a:spLocks xmlns:a="http://schemas.openxmlformats.org/drawingml/2006/main" noGrp="1"/>
          </p:cNvSpPr>
          <p:nvPr/>
        </p:nvSpPr>
        <p:spPr>
          <a:xfrm xmlns:a="http://schemas.openxmlformats.org/drawingml/2006/main">
            <a:off x="714375" y="3352800"/>
            <a:ext cx="2971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Point (3,4,5)</a:t>
            </a:r>
          </a:p>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Child translate (1,0,0)</a:t>
            </a:r>
          </a:p>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Model translate (7,8,9)</a:t>
            </a:r>
          </a:p>
        </p:txBody>
      </p:sp>
      <p:sp>
        <p:nvSpPr>
          <p:cNvPr id="11" name="">
            <a:extLst xmlns:a="http://schemas.openxmlformats.org/drawingml/2006/main">
              <a:ext uri="{FF2B5EF4-FFF2-40B4-BE49-F238E27FC236}">
                <a16:creationId xmlns:a16="http://schemas.microsoft.com/office/drawing/2014/main" id="{BE4ABD7E-2338-44F8-8B0B-1C52EA838006}"/>
              </a:ext>
            </a:extLst>
          </p:cNvPr>
          <p:cNvSpPr>
            <a:spLocks xmlns:a="http://schemas.openxmlformats.org/drawingml/2006/main" noGrp="1"/>
          </p:cNvSpPr>
          <p:nvPr/>
        </p:nvSpPr>
        <p:spPr>
          <a:xfrm xmlns:a="http://schemas.openxmlformats.org/drawingml/2006/main">
            <a:off x="4619625" y="282892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117E89"/>
                </a:solidFill>
                <a:latin typeface="Arial"/>
                <a:ea typeface="Arial"/>
                <a:cs typeface="Arial"/>
              </a:defRPr>
            </a:pPr>
            <a:r>
              <a:rPr sz="1350" b="1">
                <a:solidFill>
                  <a:srgbClr val="117E89"/>
                </a:solidFill>
                <a:latin typeface="Arial"/>
                <a:ea typeface="Arial"/>
                <a:cs typeface="Arial"/>
              </a:rPr>
              <a:t>ORDINARY READER</a:t>
            </a:r>
          </a:p>
        </p:txBody>
      </p:sp>
      <p:sp>
        <p:nvSpPr>
          <p:cNvPr id="12" name="">
            <a:extLst xmlns:a="http://schemas.openxmlformats.org/drawingml/2006/main">
              <a:ext uri="{FF2B5EF4-FFF2-40B4-BE49-F238E27FC236}">
                <a16:creationId xmlns:a16="http://schemas.microsoft.com/office/drawing/2014/main" id="{E832238C-FC05-4A46-B796-F324DB32899F}"/>
              </a:ext>
            </a:extLst>
          </p:cNvPr>
          <p:cNvSpPr>
            <a:spLocks xmlns:a="http://schemas.openxmlformats.org/drawingml/2006/main" noGrp="1"/>
          </p:cNvSpPr>
          <p:nvPr/>
        </p:nvSpPr>
        <p:spPr>
          <a:xfrm xmlns:a="http://schemas.openxmlformats.org/drawingml/2006/main">
            <a:off x="4619625" y="348615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a:solidFill>
                  <a:srgbClr val="163641"/>
                </a:solidFill>
                <a:latin typeface="Arial"/>
                <a:ea typeface="Arial"/>
                <a:cs typeface="Arial"/>
              </a:defRPr>
            </a:pPr>
            <a:r>
              <a:rPr sz="2625" b="1">
                <a:solidFill>
                  <a:srgbClr val="163641"/>
                </a:solidFill>
                <a:latin typeface="Arial"/>
                <a:ea typeface="Arial"/>
                <a:cs typeface="Arial"/>
              </a:rPr>
              <a:t>(11,12,14)</a:t>
            </a:r>
          </a:p>
        </p:txBody>
      </p:sp>
      <p:sp>
        <p:nvSpPr>
          <p:cNvPr id="13" name="">
            <a:extLst xmlns:a="http://schemas.openxmlformats.org/drawingml/2006/main">
              <a:ext uri="{FF2B5EF4-FFF2-40B4-BE49-F238E27FC236}">
                <a16:creationId xmlns:a16="http://schemas.microsoft.com/office/drawing/2014/main" id="{A92A6191-E404-408C-812B-DBF4F78A297D}"/>
              </a:ext>
            </a:extLst>
          </p:cNvPr>
          <p:cNvSpPr>
            <a:spLocks xmlns:a="http://schemas.openxmlformats.org/drawingml/2006/main" noGrp="1"/>
          </p:cNvSpPr>
          <p:nvPr/>
        </p:nvSpPr>
        <p:spPr>
          <a:xfrm xmlns:a="http://schemas.openxmlformats.org/drawingml/2006/main">
            <a:off x="4619625" y="4371975"/>
            <a:ext cx="29051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a:solidFill>
                  <a:srgbClr val="526D76"/>
                </a:solidFill>
                <a:latin typeface="Arial"/>
                <a:ea typeface="Arial"/>
                <a:cs typeface="Arial"/>
              </a:defRPr>
            </a:pPr>
            <a:r>
              <a:rPr sz="1575" b="0">
                <a:solidFill>
                  <a:srgbClr val="526D76"/>
                </a:solidFill>
                <a:latin typeface="Arial"/>
                <a:ea typeface="Arial"/>
                <a:cs typeface="Arial"/>
              </a:rPr>
              <a:t>Ordinary transforms retain</a:t>
            </a:r>
          </a:p>
          <a:p xmlns:a="http://schemas.openxmlformats.org/drawingml/2006/main">
            <a:pPr>
              <a:defRPr sz="1575" b="0">
                <a:solidFill>
                  <a:srgbClr val="526D76"/>
                </a:solidFill>
                <a:latin typeface="Arial"/>
                <a:ea typeface="Arial"/>
                <a:cs typeface="Arial"/>
              </a:defRPr>
            </a:pPr>
            <a:r>
              <a:rPr sz="1575" b="0">
                <a:solidFill>
                  <a:srgbClr val="526D76"/>
                </a:solidFill>
                <a:latin typeface="Arial"/>
                <a:ea typeface="Arial"/>
                <a:cs typeface="Arial"/>
              </a:rPr>
              <a:t>their ordinary interpretation.</a:t>
            </a:r>
          </a:p>
        </p:txBody>
      </p:sp>
      <p:sp>
        <p:nvSpPr>
          <p:cNvPr id="14" name="">
            <a:extLst xmlns:a="http://schemas.openxmlformats.org/drawingml/2006/main">
              <a:ext uri="{FF2B5EF4-FFF2-40B4-BE49-F238E27FC236}">
                <a16:creationId xmlns:a16="http://schemas.microsoft.com/office/drawing/2014/main" id="{B8C474A7-BD79-4DCB-AB1C-BAD0933F9D4B}"/>
              </a:ext>
            </a:extLst>
          </p:cNvPr>
          <p:cNvSpPr>
            <a:spLocks xmlns:a="http://schemas.openxmlformats.org/drawingml/2006/main" noGrp="1"/>
          </p:cNvSpPr>
          <p:nvPr/>
        </p:nvSpPr>
        <p:spPr>
          <a:xfrm xmlns:a="http://schemas.openxmlformats.org/drawingml/2006/main">
            <a:off x="8486775" y="2828925"/>
            <a:ext cx="297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85D7DB"/>
                </a:solidFill>
                <a:latin typeface="Arial"/>
                <a:ea typeface="Arial"/>
                <a:cs typeface="Arial"/>
              </a:defRPr>
            </a:pPr>
            <a:r>
              <a:rPr sz="1350" b="1">
                <a:solidFill>
                  <a:srgbClr val="85D7DB"/>
                </a:solidFill>
                <a:latin typeface="Arial"/>
                <a:ea typeface="Arial"/>
                <a:cs typeface="Arial"/>
              </a:rPr>
              <a:t>CRS-AWARE READER</a:t>
            </a:r>
          </a:p>
        </p:txBody>
      </p:sp>
      <p:sp>
        <p:nvSpPr>
          <p:cNvPr id="15" name="">
            <a:extLst xmlns:a="http://schemas.openxmlformats.org/drawingml/2006/main">
              <a:ext uri="{FF2B5EF4-FFF2-40B4-BE49-F238E27FC236}">
                <a16:creationId xmlns:a16="http://schemas.microsoft.com/office/drawing/2014/main" id="{33731404-8FBE-4E1B-9993-7A04F42F8BF4}"/>
              </a:ext>
            </a:extLst>
          </p:cNvPr>
          <p:cNvSpPr>
            <a:spLocks xmlns:a="http://schemas.openxmlformats.org/drawingml/2006/main" noGrp="1"/>
          </p:cNvSpPr>
          <p:nvPr/>
        </p:nvSpPr>
        <p:spPr>
          <a:xfrm xmlns:a="http://schemas.openxmlformats.org/drawingml/2006/main">
            <a:off x="8486775" y="3467100"/>
            <a:ext cx="2971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(1003,2016,44)</a:t>
            </a:r>
          </a:p>
        </p:txBody>
      </p:sp>
      <p:sp>
        <p:nvSpPr>
          <p:cNvPr id="16" name="">
            <a:extLst xmlns:a="http://schemas.openxmlformats.org/drawingml/2006/main">
              <a:ext uri="{FF2B5EF4-FFF2-40B4-BE49-F238E27FC236}">
                <a16:creationId xmlns:a16="http://schemas.microsoft.com/office/drawing/2014/main" id="{8FBA256B-D3F5-4860-A2FB-353E707CF422}"/>
              </a:ext>
            </a:extLst>
          </p:cNvPr>
          <p:cNvSpPr>
            <a:spLocks xmlns:a="http://schemas.openxmlformats.org/drawingml/2006/main" noGrp="1"/>
          </p:cNvSpPr>
          <p:nvPr/>
        </p:nvSpPr>
        <p:spPr>
          <a:xfrm xmlns:a="http://schemas.openxmlformats.org/drawingml/2006/main">
            <a:off x="8486775" y="4295775"/>
            <a:ext cx="2971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Explicit position + orientation</a:t>
            </a:r>
          </a:p>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 scale; ordinary transforms after.</a:t>
            </a:r>
          </a:p>
        </p:txBody>
      </p:sp>
      <p:sp>
        <p:nvSpPr>
          <p:cNvPr id="17" name="">
            <a:extLst xmlns:a="http://schemas.openxmlformats.org/drawingml/2006/main">
              <a:ext uri="{FF2B5EF4-FFF2-40B4-BE49-F238E27FC236}">
                <a16:creationId xmlns:a16="http://schemas.microsoft.com/office/drawing/2014/main" id="{E28B065B-61CF-4F7E-AD24-9D942F77BE48}"/>
              </a:ext>
            </a:extLst>
          </p:cNvPr>
          <p:cNvSpPr>
            <a:spLocks xmlns:a="http://schemas.openxmlformats.org/drawingml/2006/main" noGrp="1"/>
          </p:cNvSpPr>
          <p:nvPr/>
        </p:nvSpPr>
        <p:spPr>
          <a:xfrm xmlns:a="http://schemas.openxmlformats.org/drawingml/2006/main">
            <a:off x="495300" y="55911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526D76"/>
                </a:solidFill>
                <a:latin typeface="Arial"/>
                <a:ea typeface="Arial"/>
                <a:cs typeface="Arial"/>
              </a:defRPr>
            </a:pPr>
            <a:r>
              <a:rPr sz="1650" b="0">
                <a:solidFill>
                  <a:srgbClr val="526D76"/>
                </a:solidFill>
                <a:latin typeface="Arial"/>
                <a:ea typeface="Arial"/>
                <a:cs typeface="Arial"/>
              </a:rPr>
              <a:t>A hand-worked noncommuting control catches an origin-only or wrong-order implementation.</a:t>
            </a:r>
          </a:p>
        </p:txBody>
      </p:sp>
    </p:spTree>
    <p:extLst>
      <p:ext uri="{BB962C8B-B14F-4D97-AF65-F5344CB8AC3E}">
        <p14:creationId xmlns:p14="http://schemas.microsoft.com/office/powerpoint/2010/main" val="148967305"/>
      </p:ext>
    </p:extLst>
  </p:cSld>
</p:sld>
</file>

<file path=ppt/slides/slide3.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75B4327-1136-4868-847E-54F75E19CFD0}"/>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DCD4DBA9-8C6B-414A-A9E1-FF8C7E49C62C}"/>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8D4BEA5A-EC75-4F76-8119-33C259B85761}"/>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CRS meaning first. Ordinary USD transforms after.</a:t>
            </a:r>
          </a:p>
        </p:txBody>
      </p:sp>
      <p:sp>
        <p:nvSpPr>
          <p:cNvPr id="4" name="">
            <a:extLst xmlns:a="http://schemas.openxmlformats.org/drawingml/2006/main">
              <a:ext uri="{FF2B5EF4-FFF2-40B4-BE49-F238E27FC236}">
                <a16:creationId xmlns:a16="http://schemas.microsoft.com/office/drawing/2014/main" id="{20720F90-7DC8-4ED0-BE4D-F1F534E60116}"/>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85887D-65DF-4421-9C00-57C8069A1DA2}"/>
              </a:ext>
            </a:extLst>
          </p:cNvPr>
          <p:cNvSpPr>
            <a:spLocks xmlns:a="http://schemas.openxmlformats.org/drawingml/2006/main" noGrp="1"/>
          </p:cNvSpPr>
          <p:nvPr/>
        </p:nvSpPr>
        <p:spPr>
          <a:xfrm xmlns:a="http://schemas.openxmlformats.org/drawingml/2006/main">
            <a:off x="495300" y="1514475"/>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A complete WKT definition identifies the coordinate reference system. A binding identifies which definition applies. Separate position, orientation and scale place a model; ordinary USD transforms apply after geospatial placement and resolution.</a:t>
            </a:r>
          </a:p>
        </p:txBody>
      </p:sp>
      <p:sp>
        <p:nvSpPr>
          <p:cNvPr id="6" name="">
            <a:extLst xmlns:a="http://schemas.openxmlformats.org/drawingml/2006/main">
              <a:ext uri="{FF2B5EF4-FFF2-40B4-BE49-F238E27FC236}">
                <a16:creationId xmlns:a16="http://schemas.microsoft.com/office/drawing/2014/main" id="{DB4378AE-1449-44D9-82C0-89F3D917D5EF}"/>
              </a:ext>
            </a:extLst>
          </p:cNvPr>
          <p:cNvSpPr>
            <a:spLocks xmlns:a="http://schemas.openxmlformats.org/drawingml/2006/main" noGrp="1"/>
          </p:cNvSpPr>
          <p:nvPr/>
        </p:nvSpPr>
        <p:spPr>
          <a:xfrm xmlns:a="http://schemas.openxmlformats.org/drawingml/2006/main">
            <a:off x="495300" y="2667000"/>
            <a:ext cx="2667000" cy="2257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A0DE6B-2C2E-447E-B696-44FF9A895539}"/>
              </a:ext>
            </a:extLst>
          </p:cNvPr>
          <p:cNvSpPr>
            <a:spLocks xmlns:a="http://schemas.openxmlformats.org/drawingml/2006/main" noGrp="1"/>
          </p:cNvSpPr>
          <p:nvPr/>
        </p:nvSpPr>
        <p:spPr>
          <a:xfrm xmlns:a="http://schemas.openxmlformats.org/drawingml/2006/main">
            <a:off x="704850" y="2867025"/>
            <a:ext cx="2238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117E89"/>
                </a:solidFill>
                <a:latin typeface="Arial"/>
                <a:ea typeface="Arial"/>
                <a:cs typeface="Arial"/>
              </a:defRPr>
            </a:pPr>
            <a:r>
              <a:rPr sz="1575" b="1">
                <a:solidFill>
                  <a:srgbClr val="117E8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7A1DF7B8-C31D-4BD1-BEB5-0DB91F8C75C4}"/>
              </a:ext>
            </a:extLst>
          </p:cNvPr>
          <p:cNvSpPr>
            <a:spLocks xmlns:a="http://schemas.openxmlformats.org/drawingml/2006/main" noGrp="1"/>
          </p:cNvSpPr>
          <p:nvPr/>
        </p:nvSpPr>
        <p:spPr>
          <a:xfrm xmlns:a="http://schemas.openxmlformats.org/drawingml/2006/main">
            <a:off x="704850" y="3352800"/>
            <a:ext cx="2247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1">
                <a:solidFill>
                  <a:srgbClr val="163641"/>
                </a:solidFill>
                <a:latin typeface="Arial"/>
                <a:ea typeface="Arial"/>
                <a:cs typeface="Arial"/>
              </a:defRPr>
            </a:pPr>
            <a:r>
              <a:rPr sz="1725" b="1">
                <a:solidFill>
                  <a:srgbClr val="163641"/>
                </a:solidFill>
                <a:latin typeface="Arial"/>
                <a:ea typeface="Arial"/>
                <a:cs typeface="Arial"/>
              </a:rPr>
              <a:t>COMPLETE WKT</a:t>
            </a:r>
          </a:p>
        </p:txBody>
      </p:sp>
      <p:sp>
        <p:nvSpPr>
          <p:cNvPr id="9" name="">
            <a:extLst xmlns:a="http://schemas.openxmlformats.org/drawingml/2006/main">
              <a:ext uri="{FF2B5EF4-FFF2-40B4-BE49-F238E27FC236}">
                <a16:creationId xmlns:a16="http://schemas.microsoft.com/office/drawing/2014/main" id="{D57CA58E-E0CD-49D2-8180-4A1C576CC1D0}"/>
              </a:ext>
            </a:extLst>
          </p:cNvPr>
          <p:cNvSpPr>
            <a:spLocks xmlns:a="http://schemas.openxmlformats.org/drawingml/2006/main" noGrp="1"/>
          </p:cNvSpPr>
          <p:nvPr/>
        </p:nvSpPr>
        <p:spPr>
          <a:xfrm xmlns:a="http://schemas.openxmlformats.org/drawingml/2006/main">
            <a:off x="704850" y="3886200"/>
            <a:ext cx="22479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Definition + component units</a:t>
            </a:r>
          </a:p>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Datum, height and site calibration</a:t>
            </a:r>
          </a:p>
        </p:txBody>
      </p:sp>
      <p:sp>
        <p:nvSpPr>
          <p:cNvPr id="10" name="">
            <a:extLst xmlns:a="http://schemas.openxmlformats.org/drawingml/2006/main">
              <a:ext uri="{FF2B5EF4-FFF2-40B4-BE49-F238E27FC236}">
                <a16:creationId xmlns:a16="http://schemas.microsoft.com/office/drawing/2014/main" id="{DB833012-10D6-4DE7-8FF0-159FBDA6589A}"/>
              </a:ext>
            </a:extLst>
          </p:cNvPr>
          <p:cNvSpPr>
            <a:spLocks xmlns:a="http://schemas.openxmlformats.org/drawingml/2006/main" noGrp="1"/>
          </p:cNvSpPr>
          <p:nvPr/>
        </p:nvSpPr>
        <p:spPr>
          <a:xfrm xmlns:a="http://schemas.openxmlformats.org/drawingml/2006/main">
            <a:off x="3333750" y="2667000"/>
            <a:ext cx="2667000" cy="2257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C9C801-A46F-4B66-B7B2-FDA7794F84DC}"/>
              </a:ext>
            </a:extLst>
          </p:cNvPr>
          <p:cNvSpPr>
            <a:spLocks xmlns:a="http://schemas.openxmlformats.org/drawingml/2006/main" noGrp="1"/>
          </p:cNvSpPr>
          <p:nvPr/>
        </p:nvSpPr>
        <p:spPr>
          <a:xfrm xmlns:a="http://schemas.openxmlformats.org/drawingml/2006/main">
            <a:off x="3543300" y="2867025"/>
            <a:ext cx="2238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117E89"/>
                </a:solidFill>
                <a:latin typeface="Arial"/>
                <a:ea typeface="Arial"/>
                <a:cs typeface="Arial"/>
              </a:defRPr>
            </a:pPr>
            <a:r>
              <a:rPr sz="1575" b="1">
                <a:solidFill>
                  <a:srgbClr val="117E89"/>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E695719E-B675-4A05-AE17-4B06C1B233B5}"/>
              </a:ext>
            </a:extLst>
          </p:cNvPr>
          <p:cNvSpPr>
            <a:spLocks xmlns:a="http://schemas.openxmlformats.org/drawingml/2006/main" noGrp="1"/>
          </p:cNvSpPr>
          <p:nvPr/>
        </p:nvSpPr>
        <p:spPr>
          <a:xfrm xmlns:a="http://schemas.openxmlformats.org/drawingml/2006/main">
            <a:off x="3543300" y="3352800"/>
            <a:ext cx="2247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1">
                <a:solidFill>
                  <a:srgbClr val="163641"/>
                </a:solidFill>
                <a:latin typeface="Arial"/>
                <a:ea typeface="Arial"/>
                <a:cs typeface="Arial"/>
              </a:defRPr>
            </a:pPr>
            <a:r>
              <a:rPr sz="1725" b="1">
                <a:solidFill>
                  <a:srgbClr val="163641"/>
                </a:solidFill>
                <a:latin typeface="Arial"/>
                <a:ea typeface="Arial"/>
                <a:cs typeface="Arial"/>
              </a:rPr>
              <a:t>BINDING</a:t>
            </a:r>
          </a:p>
        </p:txBody>
      </p:sp>
      <p:sp>
        <p:nvSpPr>
          <p:cNvPr id="13" name="">
            <a:extLst xmlns:a="http://schemas.openxmlformats.org/drawingml/2006/main">
              <a:ext uri="{FF2B5EF4-FFF2-40B4-BE49-F238E27FC236}">
                <a16:creationId xmlns:a16="http://schemas.microsoft.com/office/drawing/2014/main" id="{BE82096B-5F70-430B-A529-EEC0DB351549}"/>
              </a:ext>
            </a:extLst>
          </p:cNvPr>
          <p:cNvSpPr>
            <a:spLocks xmlns:a="http://schemas.openxmlformats.org/drawingml/2006/main" noGrp="1"/>
          </p:cNvSpPr>
          <p:nvPr/>
        </p:nvSpPr>
        <p:spPr>
          <a:xfrm xmlns:a="http://schemas.openxmlformats.org/drawingml/2006/main">
            <a:off x="3543300" y="3886200"/>
            <a:ext cx="22479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Source association</a:t>
            </a:r>
          </a:p>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Independent assets retain meaning</a:t>
            </a:r>
          </a:p>
        </p:txBody>
      </p:sp>
      <p:sp>
        <p:nvSpPr>
          <p:cNvPr id="14" name="">
            <a:extLst xmlns:a="http://schemas.openxmlformats.org/drawingml/2006/main">
              <a:ext uri="{FF2B5EF4-FFF2-40B4-BE49-F238E27FC236}">
                <a16:creationId xmlns:a16="http://schemas.microsoft.com/office/drawing/2014/main" id="{AE2F7D49-7122-4E09-8163-4036279FC90F}"/>
              </a:ext>
            </a:extLst>
          </p:cNvPr>
          <p:cNvSpPr>
            <a:spLocks xmlns:a="http://schemas.openxmlformats.org/drawingml/2006/main" noGrp="1"/>
          </p:cNvSpPr>
          <p:nvPr/>
        </p:nvSpPr>
        <p:spPr>
          <a:xfrm xmlns:a="http://schemas.openxmlformats.org/drawingml/2006/main">
            <a:off x="6172200" y="2667000"/>
            <a:ext cx="2667000" cy="2257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74556EF-E99F-497C-AB3A-0FFFFC80578B}"/>
              </a:ext>
            </a:extLst>
          </p:cNvPr>
          <p:cNvSpPr>
            <a:spLocks xmlns:a="http://schemas.openxmlformats.org/drawingml/2006/main" noGrp="1"/>
          </p:cNvSpPr>
          <p:nvPr/>
        </p:nvSpPr>
        <p:spPr>
          <a:xfrm xmlns:a="http://schemas.openxmlformats.org/drawingml/2006/main">
            <a:off x="6381750" y="2867025"/>
            <a:ext cx="2238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117E89"/>
                </a:solidFill>
                <a:latin typeface="Arial"/>
                <a:ea typeface="Arial"/>
                <a:cs typeface="Arial"/>
              </a:defRPr>
            </a:pPr>
            <a:r>
              <a:rPr sz="1575" b="1">
                <a:solidFill>
                  <a:srgbClr val="117E89"/>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84149F4F-401A-4E7A-B7E3-669C0E06CE43}"/>
              </a:ext>
            </a:extLst>
          </p:cNvPr>
          <p:cNvSpPr>
            <a:spLocks xmlns:a="http://schemas.openxmlformats.org/drawingml/2006/main" noGrp="1"/>
          </p:cNvSpPr>
          <p:nvPr/>
        </p:nvSpPr>
        <p:spPr>
          <a:xfrm xmlns:a="http://schemas.openxmlformats.org/drawingml/2006/main">
            <a:off x="6381750" y="3352800"/>
            <a:ext cx="2247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1">
                <a:solidFill>
                  <a:srgbClr val="163641"/>
                </a:solidFill>
                <a:latin typeface="Arial"/>
                <a:ea typeface="Arial"/>
                <a:cs typeface="Arial"/>
              </a:defRPr>
            </a:pPr>
            <a:r>
              <a:rPr sz="1725" b="1">
                <a:solidFill>
                  <a:srgbClr val="163641"/>
                </a:solidFill>
                <a:latin typeface="Arial"/>
                <a:ea typeface="Arial"/>
                <a:cs typeface="Arial"/>
              </a:rPr>
              <a:t>CRS PLACEMENT</a:t>
            </a:r>
          </a:p>
        </p:txBody>
      </p:sp>
      <p:sp>
        <p:nvSpPr>
          <p:cNvPr id="17" name="">
            <a:extLst xmlns:a="http://schemas.openxmlformats.org/drawingml/2006/main">
              <a:ext uri="{FF2B5EF4-FFF2-40B4-BE49-F238E27FC236}">
                <a16:creationId xmlns:a16="http://schemas.microsoft.com/office/drawing/2014/main" id="{213A84CD-D2F5-44F0-A92D-A1DBA20B2686}"/>
              </a:ext>
            </a:extLst>
          </p:cNvPr>
          <p:cNvSpPr>
            <a:spLocks xmlns:a="http://schemas.openxmlformats.org/drawingml/2006/main" noGrp="1"/>
          </p:cNvSpPr>
          <p:nvPr/>
        </p:nvSpPr>
        <p:spPr>
          <a:xfrm xmlns:a="http://schemas.openxmlformats.org/drawingml/2006/main">
            <a:off x="6381750" y="3886200"/>
            <a:ext cx="22479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Position + orientation + scale</a:t>
            </a:r>
          </a:p>
          <a:p xmlns:a="http://schemas.openxmlformats.org/drawingml/2006/main">
            <a:pPr>
              <a:defRPr sz="1500" b="0">
                <a:solidFill>
                  <a:srgbClr val="526D76"/>
                </a:solidFill>
                <a:latin typeface="Arial"/>
                <a:ea typeface="Arial"/>
                <a:cs typeface="Arial"/>
              </a:defRPr>
            </a:pPr>
            <a:r>
              <a:rPr sz="1500" b="0">
                <a:solidFill>
                  <a:srgbClr val="526D76"/>
                </a:solidFill>
                <a:latin typeface="Arial"/>
                <a:ea typeface="Arial"/>
                <a:cs typeface="Arial"/>
              </a:rPr>
              <a:t>Local geometry stays USD lengths</a:t>
            </a:r>
          </a:p>
        </p:txBody>
      </p:sp>
      <p:sp>
        <p:nvSpPr>
          <p:cNvPr id="18" name="">
            <a:extLst xmlns:a="http://schemas.openxmlformats.org/drawingml/2006/main">
              <a:ext uri="{FF2B5EF4-FFF2-40B4-BE49-F238E27FC236}">
                <a16:creationId xmlns:a16="http://schemas.microsoft.com/office/drawing/2014/main" id="{E1905090-D584-4031-9876-35E52B553ACF}"/>
              </a:ext>
            </a:extLst>
          </p:cNvPr>
          <p:cNvSpPr>
            <a:spLocks xmlns:a="http://schemas.openxmlformats.org/drawingml/2006/main" noGrp="1"/>
          </p:cNvSpPr>
          <p:nvPr/>
        </p:nvSpPr>
        <p:spPr>
          <a:xfrm xmlns:a="http://schemas.openxmlformats.org/drawingml/2006/main">
            <a:off x="9010650" y="2667000"/>
            <a:ext cx="2667000" cy="2257425"/>
          </a:xfrm>
          <a:prstGeom xmlns:a="http://schemas.openxmlformats.org/drawingml/2006/main" prst="rect">
            <a:avLst/>
          </a:prstGeom>
          <a:solidFill xmlns:a="http://schemas.openxmlformats.org/drawingml/2006/main">
            <a:srgbClr val="16364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54D0B11-2FB8-4128-AA01-B37D423D8E4D}"/>
              </a:ext>
            </a:extLst>
          </p:cNvPr>
          <p:cNvSpPr>
            <a:spLocks xmlns:a="http://schemas.openxmlformats.org/drawingml/2006/main" noGrp="1"/>
          </p:cNvSpPr>
          <p:nvPr/>
        </p:nvSpPr>
        <p:spPr>
          <a:xfrm xmlns:a="http://schemas.openxmlformats.org/drawingml/2006/main">
            <a:off x="9220200" y="2867025"/>
            <a:ext cx="2238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1">
                <a:solidFill>
                  <a:srgbClr val="85D7DB"/>
                </a:solidFill>
                <a:latin typeface="Arial"/>
                <a:ea typeface="Arial"/>
                <a:cs typeface="Arial"/>
              </a:defRPr>
            </a:pPr>
            <a:r>
              <a:rPr sz="1575" b="1">
                <a:solidFill>
                  <a:srgbClr val="85D7DB"/>
                </a:solidFill>
                <a:latin typeface="Arial"/>
                <a:ea typeface="Arial"/>
                <a:cs typeface="Arial"/>
              </a:rPr>
              <a:t>04</a:t>
            </a:r>
          </a:p>
        </p:txBody>
      </p:sp>
      <p:sp>
        <p:nvSpPr>
          <p:cNvPr id="20" name="">
            <a:extLst xmlns:a="http://schemas.openxmlformats.org/drawingml/2006/main">
              <a:ext uri="{FF2B5EF4-FFF2-40B4-BE49-F238E27FC236}">
                <a16:creationId xmlns:a16="http://schemas.microsoft.com/office/drawing/2014/main" id="{DC432B27-E69A-485D-8493-ED9F2D9E1F73}"/>
              </a:ext>
            </a:extLst>
          </p:cNvPr>
          <p:cNvSpPr>
            <a:spLocks xmlns:a="http://schemas.openxmlformats.org/drawingml/2006/main" noGrp="1"/>
          </p:cNvSpPr>
          <p:nvPr/>
        </p:nvSpPr>
        <p:spPr>
          <a:xfrm xmlns:a="http://schemas.openxmlformats.org/drawingml/2006/main">
            <a:off x="9220200" y="3352800"/>
            <a:ext cx="2247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ORDINARY USD</a:t>
            </a:r>
          </a:p>
        </p:txBody>
      </p:sp>
      <p:sp>
        <p:nvSpPr>
          <p:cNvPr id="21" name="">
            <a:extLst xmlns:a="http://schemas.openxmlformats.org/drawingml/2006/main">
              <a:ext uri="{FF2B5EF4-FFF2-40B4-BE49-F238E27FC236}">
                <a16:creationId xmlns:a16="http://schemas.microsoft.com/office/drawing/2014/main" id="{4304515B-186C-4895-9C7D-73BEBCC47253}"/>
              </a:ext>
            </a:extLst>
          </p:cNvPr>
          <p:cNvSpPr>
            <a:spLocks xmlns:a="http://schemas.openxmlformats.org/drawingml/2006/main" noGrp="1"/>
          </p:cNvSpPr>
          <p:nvPr/>
        </p:nvSpPr>
        <p:spPr>
          <a:xfrm xmlns:a="http://schemas.openxmlformats.org/drawingml/2006/main">
            <a:off x="9220200" y="3886200"/>
            <a:ext cx="22479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Post-placement adjustments</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Writer conformance stays separate</a:t>
            </a:r>
          </a:p>
        </p:txBody>
      </p:sp>
      <p:sp>
        <p:nvSpPr>
          <p:cNvPr id="22" name="">
            <a:extLst xmlns:a="http://schemas.openxmlformats.org/drawingml/2006/main">
              <a:ext uri="{FF2B5EF4-FFF2-40B4-BE49-F238E27FC236}">
                <a16:creationId xmlns:a16="http://schemas.microsoft.com/office/drawing/2014/main" id="{FC62E1D3-6851-4CF4-B8D5-D5DE54FF53D3}"/>
              </a:ext>
            </a:extLst>
          </p:cNvPr>
          <p:cNvSpPr>
            <a:spLocks xmlns:a="http://schemas.openxmlformats.org/drawingml/2006/main" noGrp="1"/>
          </p:cNvSpPr>
          <p:nvPr/>
        </p:nvSpPr>
        <p:spPr>
          <a:xfrm xmlns:a="http://schemas.openxmlformats.org/drawingml/2006/main">
            <a:off x="495300" y="53244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163641"/>
                </a:solidFill>
                <a:latin typeface="Arial"/>
                <a:ea typeface="Arial"/>
                <a:cs typeface="Arial"/>
              </a:defRPr>
            </a:pPr>
            <a:r>
              <a:rPr sz="2175" b="1">
                <a:solidFill>
                  <a:srgbClr val="163641"/>
                </a:solidFill>
                <a:latin typeface="Arial"/>
                <a:ea typeface="Arial"/>
                <a:cs typeface="Arial"/>
              </a:rPr>
              <a:t>Author meaning once. Derive results without altering source layers.</a:t>
            </a:r>
          </a:p>
        </p:txBody>
      </p:sp>
      <p:sp>
        <p:nvSpPr>
          <p:cNvPr id="23" name="">
            <a:extLst xmlns:a="http://schemas.openxmlformats.org/drawingml/2006/main">
              <a:ext uri="{FF2B5EF4-FFF2-40B4-BE49-F238E27FC236}">
                <a16:creationId xmlns:a16="http://schemas.microsoft.com/office/drawing/2014/main" id="{01C05B65-9DE2-44DE-B1B7-FE7D2ECD2A2E}"/>
              </a:ext>
            </a:extLst>
          </p:cNvPr>
          <p:cNvSpPr>
            <a:spLocks xmlns:a="http://schemas.openxmlformats.org/drawingml/2006/main" noGrp="1"/>
          </p:cNvSpPr>
          <p:nvPr/>
        </p:nvSpPr>
        <p:spPr>
          <a:xfrm xmlns:a="http://schemas.openxmlformats.org/drawingml/2006/main">
            <a:off x="495300" y="5819775"/>
            <a:ext cx="1095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26D76"/>
                </a:solidFill>
                <a:latin typeface="Arial"/>
                <a:ea typeface="Arial"/>
                <a:cs typeface="Arial"/>
              </a:defRPr>
            </a:pPr>
            <a:r>
              <a:rPr sz="1425" b="0">
                <a:solidFill>
                  <a:srgbClr val="526D76"/>
                </a:solidFill>
                <a:latin typeface="Arial"/>
                <a:ea typeface="Arial"/>
                <a:cs typeface="Arial"/>
              </a:rPr>
              <a:t>Exact experimental fields and adjustment context are frozen before code and remain reviewable choices.</a:t>
            </a:r>
          </a:p>
        </p:txBody>
      </p:sp>
    </p:spTree>
    <p:extLst>
      <p:ext uri="{BB962C8B-B14F-4D97-AF65-F5344CB8AC3E}">
        <p14:creationId xmlns:p14="http://schemas.microsoft.com/office/powerpoint/2010/main" val="1211603938"/>
      </p:ext>
    </p:extLst>
  </p:cSld>
</p:sld>
</file>

<file path=ppt/slides/slide4.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B47F2F-8FCC-47AB-A6B8-CB51A4976C19}"/>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81A42916-B22C-4CDE-8B01-03026B1D47A4}"/>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918AAC82-C70D-4416-A0E3-F9D3711838FA}"/>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Complete CRS definitions do real work</a:t>
            </a:r>
          </a:p>
        </p:txBody>
      </p:sp>
      <p:sp>
        <p:nvSpPr>
          <p:cNvPr id="4" name="">
            <a:extLst xmlns:a="http://schemas.openxmlformats.org/drawingml/2006/main">
              <a:ext uri="{FF2B5EF4-FFF2-40B4-BE49-F238E27FC236}">
                <a16:creationId xmlns:a16="http://schemas.microsoft.com/office/drawing/2014/main" id="{4E9F3922-74E6-4987-98D6-00300D7DEC69}"/>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2601EF-4E61-4DA4-B94C-F4B271DE77FD}"/>
              </a:ext>
            </a:extLst>
          </p:cNvPr>
          <p:cNvSpPr>
            <a:spLocks xmlns:a="http://schemas.openxmlformats.org/drawingml/2006/main" noGrp="1"/>
          </p:cNvSpPr>
          <p:nvPr/>
        </p:nvSpPr>
        <p:spPr>
          <a:xfrm xmlns:a="http://schemas.openxmlformats.org/drawingml/2006/main">
            <a:off x="495300" y="14954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The partner data exercise geographic, projected, compound height and derived site-calibration definitions. Colorado keeps US survey feet and its full horizontal/vertical site calibration in WKT; France keeps Lambert-93/CC49 and IGN69 height meaning.</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0a0d493f049420f"/>
          <a:stretch xmlns:a="http://schemas.openxmlformats.org/drawingml/2006/main"/>
        </p:blipFill>
        <p:spPr>
          <a:xfrm xmlns:a="http://schemas.openxmlformats.org/drawingml/2006/main">
            <a:off x="495300" y="2492573"/>
            <a:ext cx="5429250" cy="3053953"/>
          </a:xfrm>
          <a:prstGeom xmlns:a="http://schemas.openxmlformats.org/drawingml/2006/main" prst="rect">
            <a:avLst/>
          </a:prstGeom>
        </p:spPr>
      </p:pic>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cc57365b63447f3"/>
          <a:stretch xmlns:a="http://schemas.openxmlformats.org/drawingml/2006/main"/>
        </p:blipFill>
        <p:spPr>
          <a:xfrm xmlns:a="http://schemas.openxmlformats.org/drawingml/2006/main">
            <a:off x="6884283" y="2428875"/>
            <a:ext cx="4157484" cy="3000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7621A2E-CFF6-4C1A-95B6-63D56AB81DCF}"/>
              </a:ext>
            </a:extLst>
          </p:cNvPr>
          <p:cNvSpPr>
            <a:spLocks xmlns:a="http://schemas.openxmlformats.org/drawingml/2006/main" noGrp="1"/>
          </p:cNvSpPr>
          <p:nvPr/>
        </p:nvSpPr>
        <p:spPr>
          <a:xfrm xmlns:a="http://schemas.openxmlformats.org/drawingml/2006/main">
            <a:off x="609600" y="56007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1">
                <a:solidFill>
                  <a:srgbClr val="117E89"/>
                </a:solidFill>
                <a:latin typeface="Arial"/>
                <a:ea typeface="Arial"/>
                <a:cs typeface="Arial"/>
              </a:defRPr>
            </a:pPr>
            <a:r>
              <a:rPr sz="1500" b="1">
                <a:solidFill>
                  <a:srgbClr val="117E89"/>
                </a:solidFill>
                <a:latin typeface="Arial"/>
                <a:ea typeface="Arial"/>
                <a:cs typeface="Arial"/>
              </a:rPr>
              <a:t>Native Hydra / original LandXML</a:t>
            </a:r>
          </a:p>
        </p:txBody>
      </p:sp>
      <p:sp>
        <p:nvSpPr>
          <p:cNvPr id="9" name="">
            <a:extLst xmlns:a="http://schemas.openxmlformats.org/drawingml/2006/main">
              <a:ext uri="{FF2B5EF4-FFF2-40B4-BE49-F238E27FC236}">
                <a16:creationId xmlns:a16="http://schemas.microsoft.com/office/drawing/2014/main" id="{76132A55-910B-430D-A4C6-818A1A12275F}"/>
              </a:ext>
            </a:extLst>
          </p:cNvPr>
          <p:cNvSpPr>
            <a:spLocks xmlns:a="http://schemas.openxmlformats.org/drawingml/2006/main" noGrp="1"/>
          </p:cNvSpPr>
          <p:nvPr/>
        </p:nvSpPr>
        <p:spPr>
          <a:xfrm xmlns:a="http://schemas.openxmlformats.org/drawingml/2006/main">
            <a:off x="6353175" y="5600700"/>
            <a:ext cx="5238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1">
                <a:solidFill>
                  <a:srgbClr val="117E89"/>
                </a:solidFill>
                <a:latin typeface="Arial"/>
                <a:ea typeface="Arial"/>
                <a:cs typeface="Arial"/>
              </a:defRPr>
            </a:pPr>
            <a:r>
              <a:rPr sz="1500" b="1">
                <a:solidFill>
                  <a:srgbClr val="117E89"/>
                </a:solidFill>
                <a:latin typeface="Arial"/>
                <a:ea typeface="Arial"/>
                <a:cs typeface="Arial"/>
              </a:rPr>
              <a:t>Headless query / calibrated site axes</a:t>
            </a:r>
          </a:p>
        </p:txBody>
      </p:sp>
      <p:sp>
        <p:nvSpPr>
          <p:cNvPr id="10" name="">
            <a:extLst xmlns:a="http://schemas.openxmlformats.org/drawingml/2006/main">
              <a:ext uri="{FF2B5EF4-FFF2-40B4-BE49-F238E27FC236}">
                <a16:creationId xmlns:a16="http://schemas.microsoft.com/office/drawing/2014/main" id="{BFCA6AB2-E3DA-4A43-9241-EF518884D9E1}"/>
              </a:ext>
            </a:extLst>
          </p:cNvPr>
          <p:cNvSpPr>
            <a:spLocks xmlns:a="http://schemas.openxmlformats.org/drawingml/2006/main" noGrp="1"/>
          </p:cNvSpPr>
          <p:nvPr/>
        </p:nvSpPr>
        <p:spPr>
          <a:xfrm xmlns:a="http://schemas.openxmlformats.org/drawingml/2006/main">
            <a:off x="495300" y="5991225"/>
            <a:ext cx="112014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526D76"/>
                </a:solidFill>
                <a:latin typeface="Arial"/>
                <a:ea typeface="Arial"/>
                <a:cs typeface="Arial"/>
              </a:defRPr>
            </a:pPr>
            <a:r>
              <a:rPr sz="1350" b="0">
                <a:solidFill>
                  <a:srgbClr val="526D76"/>
                </a:solidFill>
                <a:latin typeface="Arial"/>
                <a:ea typeface="Arial"/>
                <a:cs typeface="Arial"/>
              </a:rPr>
              <a:t>5 Colorado + 59 France controls • Required height grids verified • CSVs use the same PROJ family</a:t>
            </a:r>
          </a:p>
        </p:txBody>
      </p:sp>
    </p:spTree>
    <p:extLst>
      <p:ext uri="{BB962C8B-B14F-4D97-AF65-F5344CB8AC3E}">
        <p14:creationId xmlns:p14="http://schemas.microsoft.com/office/powerpoint/2010/main" val="1822365015"/>
      </p:ext>
    </p:extLst>
  </p:cSld>
</p:sld>
</file>

<file path=ppt/slides/slide5.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62E5F64-AAB3-421E-A89F-5CAD29238AC6}"/>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F8B4B2CF-D16C-4015-9BED-26427CDCE2BF}"/>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F0458C6D-7C69-4CFA-8051-64D67A0F27EA}"/>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The same authored data reaches three consumers</a:t>
            </a:r>
          </a:p>
        </p:txBody>
      </p:sp>
      <p:sp>
        <p:nvSpPr>
          <p:cNvPr id="4" name="">
            <a:extLst xmlns:a="http://schemas.openxmlformats.org/drawingml/2006/main">
              <a:ext uri="{FF2B5EF4-FFF2-40B4-BE49-F238E27FC236}">
                <a16:creationId xmlns:a16="http://schemas.microsoft.com/office/drawing/2014/main" id="{880DA745-EA4F-4644-A4B9-510FB711AE17}"/>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1877CD-F7A0-4BF8-8107-06A7ADE069A8}"/>
              </a:ext>
            </a:extLst>
          </p:cNvPr>
          <p:cNvSpPr>
            <a:spLocks xmlns:a="http://schemas.openxmlformats.org/drawingml/2006/main" noGrp="1"/>
          </p:cNvSpPr>
          <p:nvPr/>
        </p:nvSpPr>
        <p:spPr>
          <a:xfrm xmlns:a="http://schemas.openxmlformats.org/drawingml/2006/main">
            <a:off x="495300" y="1476375"/>
            <a:ext cx="11096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Headless USD queries, the native C++ Hydra resolver and the separate live OV resolver agree across all 27 jobs. Each derives placements from the authored scene; neither runtime consumes a headless result snapshot.</a:t>
            </a:r>
          </a:p>
        </p:txBody>
      </p:sp>
      <p:graphicFrame>
        <p:nvGraphicFramePr>
          <p:cNvPr id="13" name=""/>
          <p:cNvGraphicFramePr/>
          <p:nvPr/>
        </p:nvGraphicFramePr>
        <p:xfrm>
          <a:off xmlns:a="http://schemas.openxmlformats.org/drawingml/2006/main" x="495300" y="2533650"/>
          <a:ext xmlns:a="http://schemas.openxmlformats.org/drawingml/2006/main" cx="11201400" cy="3267075"/>
        </p:xfrm>
        <a:graphic xmlns:a="http://schemas.openxmlformats.org/drawingml/2006/main">
          <a:graphicData uri="http://schemas.openxmlformats.org/drawingml/2006/table">
            <a:tbl>
              <a:tblPr/>
              <a:tblGrid>
                <a:gridCol w="5105400"/>
                <a:gridCol w="1000125"/>
                <a:gridCol w="2647950"/>
                <a:gridCol w="2447925"/>
              </a:tblGrid>
              <a:tr h="363008">
                <a:tc>
                  <a:txBody>
                    <a:bodyPr>
                      <a:noAutofit/>
                    </a:bodyPr>
                    <a:lstStyle/>
                    <a:p>
                      <a:r>
                        <a:rPr sz="1500" b="1">
                          <a:solidFill>
                            <a:srgbClr val="FFFFFF"/>
                          </a:solidFill>
                          <a:latin typeface="Arial"/>
                          <a:ea typeface="Arial"/>
                          <a:cs typeface="Arial"/>
                        </a:rPr>
                        <a:t>Dataset</a:t>
                      </a:r>
                    </a:p>
                  </a:txBody>
                  <a:tcPr marL="91440" marR="91440" marT="45720" marB="45720">
                    <a:solidFill>
                      <a:srgbClr val="163641"/>
                    </a:solidFill>
                  </a:tcPr>
                </a:tc>
                <a:tc>
                  <a:txBody>
                    <a:bodyPr>
                      <a:noAutofit/>
                    </a:bodyPr>
                    <a:lstStyle/>
                    <a:p>
                      <a:r>
                        <a:rPr sz="1500" b="1">
                          <a:solidFill>
                            <a:srgbClr val="FFFFFF"/>
                          </a:solidFill>
                          <a:latin typeface="Arial"/>
                          <a:ea typeface="Arial"/>
                          <a:cs typeface="Arial"/>
                        </a:rPr>
                        <a:t>Jobs</a:t>
                      </a:r>
                    </a:p>
                  </a:txBody>
                  <a:tcPr marL="91440" marR="91440" marT="45720" marB="45720">
                    <a:solidFill>
                      <a:srgbClr val="163641"/>
                    </a:solidFill>
                  </a:tcPr>
                </a:tc>
                <a:tc>
                  <a:txBody>
                    <a:bodyPr>
                      <a:noAutofit/>
                    </a:bodyPr>
                    <a:lstStyle/>
                    <a:p>
                      <a:r>
                        <a:rPr sz="1500" b="1">
                          <a:solidFill>
                            <a:srgbClr val="FFFFFF"/>
                          </a:solidFill>
                          <a:latin typeface="Arial"/>
                          <a:ea typeface="Arial"/>
                          <a:cs typeface="Arial"/>
                        </a:rPr>
                        <a:t>Native max (mm)</a:t>
                      </a:r>
                    </a:p>
                  </a:txBody>
                  <a:tcPr marL="91440" marR="91440" marT="45720" marB="45720">
                    <a:solidFill>
                      <a:srgbClr val="163641"/>
                    </a:solidFill>
                  </a:tcPr>
                </a:tc>
                <a:tc>
                  <a:txBody>
                    <a:bodyPr>
                      <a:noAutofit/>
                    </a:bodyPr>
                    <a:lstStyle/>
                    <a:p>
                      <a:r>
                        <a:rPr sz="1500" b="1">
                          <a:solidFill>
                            <a:srgbClr val="FFFFFF"/>
                          </a:solidFill>
                          <a:latin typeface="Arial"/>
                          <a:ea typeface="Arial"/>
                          <a:cs typeface="Arial"/>
                        </a:rPr>
                        <a:t>OV max (mm)</a:t>
                      </a:r>
                    </a:p>
                  </a:txBody>
                  <a:tcPr marL="91440" marR="91440" marT="45720" marB="45720">
                    <a:solidFill>
                      <a:srgbClr val="163641"/>
                    </a:solidFill>
                  </a:tcPr>
                </a:tc>
              </a:tr>
              <a:tr h="363008">
                <a:tc>
                  <a:txBody>
                    <a:bodyPr>
                      <a:noAutofit/>
                    </a:bodyPr>
                    <a:lstStyle/>
                    <a:p>
                      <a:r>
                        <a:rPr sz="1500" b="0">
                          <a:solidFill>
                            <a:srgbClr val="163641"/>
                          </a:solidFill>
                          <a:latin typeface="Arial"/>
                          <a:ea typeface="Arial"/>
                          <a:cs typeface="Arial"/>
                        </a:rPr>
                        <a:t>Eiffel model + context</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4</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r>
              <a:tr h="363008">
                <a:tc>
                  <a:txBody>
                    <a:bodyPr>
                      <a:noAutofit/>
                    </a:bodyPr>
                    <a:lstStyle/>
                    <a:p>
                      <a:r>
                        <a:rPr sz="1500" b="0">
                          <a:solidFill>
                            <a:srgbClr val="163641"/>
                          </a:solidFill>
                          <a:latin typeface="Arial"/>
                          <a:ea typeface="Arial"/>
                          <a:cs typeface="Arial"/>
                        </a:rPr>
                        <a:t>Colorado breaklines</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3</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0.000104</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E4EFF1"/>
                    </a:solidFill>
                  </a:tcPr>
                </a:tc>
              </a:tr>
              <a:tr h="363008">
                <a:tc>
                  <a:txBody>
                    <a:bodyPr>
                      <a:noAutofit/>
                    </a:bodyPr>
                    <a:lstStyle/>
                    <a:p>
                      <a:r>
                        <a:rPr sz="1500" b="0">
                          <a:solidFill>
                            <a:srgbClr val="163641"/>
                          </a:solidFill>
                          <a:latin typeface="Arial"/>
                          <a:ea typeface="Arial"/>
                          <a:cs typeface="Arial"/>
                        </a:rPr>
                        <a:t>Original railway</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3</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0.000002</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r>
              <a:tr h="363008">
                <a:tc>
                  <a:txBody>
                    <a:bodyPr>
                      <a:noAutofit/>
                    </a:bodyPr>
                    <a:lstStyle/>
                    <a:p>
                      <a:r>
                        <a:rPr sz="1500" b="0">
                          <a:solidFill>
                            <a:srgbClr val="163641"/>
                          </a:solidFill>
                          <a:latin typeface="Arial"/>
                          <a:ea typeface="Arial"/>
                          <a:cs typeface="Arial"/>
                        </a:rPr>
                        <a:t>Synthetic city imagery</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2</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E4EFF1"/>
                    </a:solidFill>
                  </a:tcPr>
                </a:tc>
              </a:tr>
              <a:tr h="363008">
                <a:tc>
                  <a:txBody>
                    <a:bodyPr>
                      <a:noAutofit/>
                    </a:bodyPr>
                    <a:lstStyle/>
                    <a:p>
                      <a:r>
                        <a:rPr sz="1500" b="0">
                          <a:solidFill>
                            <a:srgbClr val="163641"/>
                          </a:solidFill>
                          <a:latin typeface="Arial"/>
                          <a:ea typeface="Arial"/>
                          <a:cs typeface="Arial"/>
                        </a:rPr>
                        <a:t>Global scalar grid</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3</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r>
              <a:tr h="363008">
                <a:tc>
                  <a:txBody>
                    <a:bodyPr>
                      <a:noAutofit/>
                    </a:bodyPr>
                    <a:lstStyle/>
                    <a:p>
                      <a:r>
                        <a:rPr sz="1500" b="0">
                          <a:solidFill>
                            <a:srgbClr val="163641"/>
                          </a:solidFill>
                          <a:latin typeface="Arial"/>
                          <a:ea typeface="Arial"/>
                          <a:cs typeface="Arial"/>
                        </a:rPr>
                        <a:t>Composition + time</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3</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0.000002</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E4EFF1"/>
                    </a:solidFill>
                  </a:tcPr>
                </a:tc>
              </a:tr>
              <a:tr h="363008">
                <a:tc>
                  <a:txBody>
                    <a:bodyPr>
                      <a:noAutofit/>
                    </a:bodyPr>
                    <a:lstStyle/>
                    <a:p>
                      <a:r>
                        <a:rPr sz="1500" b="0">
                          <a:solidFill>
                            <a:srgbClr val="163641"/>
                          </a:solidFill>
                          <a:latin typeface="Arial"/>
                          <a:ea typeface="Arial"/>
                          <a:cs typeface="Arial"/>
                        </a:rPr>
                        <a:t>Native + point instances</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2</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FFFFFF"/>
                    </a:solidFill>
                  </a:tcPr>
                </a:tc>
              </a:tr>
              <a:tr h="363008">
                <a:tc>
                  <a:txBody>
                    <a:bodyPr>
                      <a:noAutofit/>
                    </a:bodyPr>
                    <a:lstStyle/>
                    <a:p>
                      <a:r>
                        <a:rPr sz="1500" b="0">
                          <a:solidFill>
                            <a:srgbClr val="163641"/>
                          </a:solidFill>
                          <a:latin typeface="Arial"/>
                          <a:ea typeface="Arial"/>
                          <a:cs typeface="Arial"/>
                        </a:rPr>
                        <a:t>Partner controls</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7</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E4EFF1"/>
                    </a:solidFill>
                  </a:tcPr>
                </a:tc>
                <a:tc>
                  <a:txBody>
                    <a:bodyPr>
                      <a:noAutofit/>
                    </a:bodyPr>
                    <a:lstStyle/>
                    <a:p>
                      <a:r>
                        <a:rPr sz="1500" b="0">
                          <a:solidFill>
                            <a:srgbClr val="163641"/>
                          </a:solidFill>
                          <a:latin typeface="Arial"/>
                          <a:ea typeface="Arial"/>
                          <a:cs typeface="Arial"/>
                        </a:rPr>
                        <a:t>0.000000</a:t>
                      </a:r>
                    </a:p>
                  </a:txBody>
                  <a:tcPr marL="91440" marR="91440" marT="45720" marB="45720">
                    <a:solidFill>
                      <a:srgbClr val="E4EFF1"/>
                    </a:solidFill>
                  </a:tcPr>
                </a:tc>
              </a:tr>
            </a:tbl>
          </a:graphicData>
        </a:graphic>
      </p:graphicFrame>
      <p:sp>
        <p:nvSpPr>
          <p:cNvPr id="7" name="">
            <a:extLst xmlns:a="http://schemas.openxmlformats.org/drawingml/2006/main">
              <a:ext uri="{FF2B5EF4-FFF2-40B4-BE49-F238E27FC236}">
                <a16:creationId xmlns:a16="http://schemas.microsoft.com/office/drawing/2014/main" id="{FAD5D7A3-BBCD-45A8-B3AE-7B8F0FFE844F}"/>
              </a:ext>
            </a:extLst>
          </p:cNvPr>
          <p:cNvSpPr>
            <a:spLocks xmlns:a="http://schemas.openxmlformats.org/drawingml/2006/main" noGrp="1"/>
          </p:cNvSpPr>
          <p:nvPr/>
        </p:nvSpPr>
        <p:spPr>
          <a:xfrm xmlns:a="http://schemas.openxmlformats.org/drawingml/2006/main">
            <a:off x="495300" y="5953125"/>
            <a:ext cx="1114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526D76"/>
                </a:solidFill>
                <a:latin typeface="Arial"/>
                <a:ea typeface="Arial"/>
                <a:cs typeface="Arial"/>
              </a:defRPr>
            </a:pPr>
            <a:r>
              <a:rPr sz="1350" b="0">
                <a:solidFill>
                  <a:srgbClr val="526D76"/>
                </a:solidFill>
                <a:latin typeface="Arial"/>
                <a:ea typeface="Arial"/>
                <a:cs typeface="Arial"/>
              </a:rPr>
              <a:t>Actual Hydra matrices / instancers + live OV result readback. Shared PROJ: numerical agreement ≠ independent geodetic accuracy.</a:t>
            </a:r>
          </a:p>
        </p:txBody>
      </p:sp>
    </p:spTree>
    <p:extLst>
      <p:ext uri="{BB962C8B-B14F-4D97-AF65-F5344CB8AC3E}">
        <p14:creationId xmlns:p14="http://schemas.microsoft.com/office/powerpoint/2010/main" val="1915589804"/>
      </p:ext>
    </p:extLst>
  </p:cSld>
</p:sld>
</file>

<file path=ppt/slides/slide6.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A72030-EE47-465C-84A4-4B6C5BF235B3}"/>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1158D2A6-D49B-4A90-BE3B-6F30BCBCA440}"/>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E9561983-3FC7-46C6-B21E-CAF8E0A9969F}"/>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City analysis returns data, not just a picture</a:t>
            </a:r>
          </a:p>
        </p:txBody>
      </p:sp>
      <p:sp>
        <p:nvSpPr>
          <p:cNvPr id="4" name="">
            <a:extLst xmlns:a="http://schemas.openxmlformats.org/drawingml/2006/main">
              <a:ext uri="{FF2B5EF4-FFF2-40B4-BE49-F238E27FC236}">
                <a16:creationId xmlns:a16="http://schemas.microsoft.com/office/drawing/2014/main" id="{DD6DA3BC-5FAB-4AF9-9FC2-B0DDB89BC8A0}"/>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D6A406-DE37-4B7C-8460-0504D6D68E1B}"/>
              </a:ext>
            </a:extLst>
          </p:cNvPr>
          <p:cNvSpPr>
            <a:spLocks xmlns:a="http://schemas.openxmlformats.org/drawingml/2006/main" noGrp="1"/>
          </p:cNvSpPr>
          <p:nvPr/>
        </p:nvSpPr>
        <p:spPr>
          <a:xfrm xmlns:a="http://schemas.openxmlformats.org/drawingml/2006/main">
            <a:off x="495300" y="1485900"/>
            <a:ext cx="11049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A 64 × 64 synthetic red/NIR image yields 1,850 samples above NDVI 0.3. The result returns locations in the requested CRS while preserving source indices, values and observation times.</a:t>
            </a:r>
          </a:p>
        </p:txBody>
      </p:sp>
      <p:sp>
        <p:nvSpPr>
          <p:cNvPr id="6" name="">
            <a:extLst xmlns:a="http://schemas.openxmlformats.org/drawingml/2006/main">
              <a:ext uri="{FF2B5EF4-FFF2-40B4-BE49-F238E27FC236}">
                <a16:creationId xmlns:a16="http://schemas.microsoft.com/office/drawing/2014/main" id="{B762ED06-6BE5-45EC-A5C9-D99B4F0B9538}"/>
              </a:ext>
            </a:extLst>
          </p:cNvPr>
          <p:cNvSpPr>
            <a:spLocks xmlns:a="http://schemas.openxmlformats.org/drawingml/2006/main" noGrp="1"/>
          </p:cNvSpPr>
          <p:nvPr/>
        </p:nvSpPr>
        <p:spPr>
          <a:xfrm xmlns:a="http://schemas.openxmlformats.org/drawingml/2006/main">
            <a:off x="495300" y="2438400"/>
            <a:ext cx="8972550" cy="3648075"/>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2ba9bbd2bea4684"/>
          <a:stretch xmlns:a="http://schemas.openxmlformats.org/drawingml/2006/main"/>
        </p:blipFill>
        <p:spPr>
          <a:xfrm xmlns:a="http://schemas.openxmlformats.org/drawingml/2006/main">
            <a:off x="1590617" y="2524125"/>
            <a:ext cx="6772390" cy="34956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331F667-DF88-46EB-AB60-EE5B90BADCAC}"/>
              </a:ext>
            </a:extLst>
          </p:cNvPr>
          <p:cNvSpPr>
            <a:spLocks xmlns:a="http://schemas.openxmlformats.org/drawingml/2006/main" noGrp="1"/>
          </p:cNvSpPr>
          <p:nvPr/>
        </p:nvSpPr>
        <p:spPr>
          <a:xfrm xmlns:a="http://schemas.openxmlformats.org/drawingml/2006/main">
            <a:off x="9677400" y="2438400"/>
            <a:ext cx="2019300" cy="3648075"/>
          </a:xfrm>
          <a:prstGeom xmlns:a="http://schemas.openxmlformats.org/drawingml/2006/main" prst="rect">
            <a:avLst/>
          </a:prstGeom>
          <a:solidFill xmlns:a="http://schemas.openxmlformats.org/drawingml/2006/main">
            <a:srgbClr val="E4EFF1"/>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2B3B714-276A-471B-85FC-FF7FA3536A5B}"/>
              </a:ext>
            </a:extLst>
          </p:cNvPr>
          <p:cNvSpPr>
            <a:spLocks xmlns:a="http://schemas.openxmlformats.org/drawingml/2006/main" noGrp="1"/>
          </p:cNvSpPr>
          <p:nvPr/>
        </p:nvSpPr>
        <p:spPr>
          <a:xfrm xmlns:a="http://schemas.openxmlformats.org/drawingml/2006/main">
            <a:off x="9877425" y="2762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075" b="1">
                <a:solidFill>
                  <a:srgbClr val="163641"/>
                </a:solidFill>
                <a:latin typeface="Arial"/>
                <a:ea typeface="Arial"/>
                <a:cs typeface="Arial"/>
              </a:defRPr>
            </a:pPr>
            <a:r>
              <a:rPr sz="3075" b="1">
                <a:solidFill>
                  <a:srgbClr val="163641"/>
                </a:solidFill>
                <a:latin typeface="Arial"/>
                <a:ea typeface="Arial"/>
                <a:cs typeface="Arial"/>
              </a:rPr>
              <a:t>1,850</a:t>
            </a:r>
          </a:p>
        </p:txBody>
      </p:sp>
      <p:sp>
        <p:nvSpPr>
          <p:cNvPr id="10" name="">
            <a:extLst xmlns:a="http://schemas.openxmlformats.org/drawingml/2006/main">
              <a:ext uri="{FF2B5EF4-FFF2-40B4-BE49-F238E27FC236}">
                <a16:creationId xmlns:a16="http://schemas.microsoft.com/office/drawing/2014/main" id="{00D43C32-943E-4DC8-B1D4-135B1DDD0DE8}"/>
              </a:ext>
            </a:extLst>
          </p:cNvPr>
          <p:cNvSpPr>
            <a:spLocks xmlns:a="http://schemas.openxmlformats.org/drawingml/2006/main" noGrp="1"/>
          </p:cNvSpPr>
          <p:nvPr/>
        </p:nvSpPr>
        <p:spPr>
          <a:xfrm xmlns:a="http://schemas.openxmlformats.org/drawingml/2006/main">
            <a:off x="9877425" y="3333750"/>
            <a:ext cx="1619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1">
                <a:solidFill>
                  <a:srgbClr val="117E89"/>
                </a:solidFill>
                <a:latin typeface="Arial"/>
                <a:ea typeface="Arial"/>
                <a:cs typeface="Arial"/>
              </a:defRPr>
            </a:pPr>
            <a:r>
              <a:rPr sz="1725" b="1">
                <a:solidFill>
                  <a:srgbClr val="117E89"/>
                </a:solidFill>
                <a:latin typeface="Arial"/>
                <a:ea typeface="Arial"/>
                <a:cs typeface="Arial"/>
              </a:rPr>
              <a:t>selected locations</a:t>
            </a:r>
          </a:p>
        </p:txBody>
      </p:sp>
      <p:sp>
        <p:nvSpPr>
          <p:cNvPr id="11" name="">
            <a:extLst xmlns:a="http://schemas.openxmlformats.org/drawingml/2006/main">
              <a:ext uri="{FF2B5EF4-FFF2-40B4-BE49-F238E27FC236}">
                <a16:creationId xmlns:a16="http://schemas.microsoft.com/office/drawing/2014/main" id="{D0F10D87-3D56-4B83-826D-DDC86109836C}"/>
              </a:ext>
            </a:extLst>
          </p:cNvPr>
          <p:cNvSpPr>
            <a:spLocks xmlns:a="http://schemas.openxmlformats.org/drawingml/2006/main" noGrp="1"/>
          </p:cNvSpPr>
          <p:nvPr/>
        </p:nvSpPr>
        <p:spPr>
          <a:xfrm xmlns:a="http://schemas.openxmlformats.org/drawingml/2006/main">
            <a:off x="9877425" y="4057650"/>
            <a:ext cx="1619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Coordinates</a:t>
            </a:r>
          </a:p>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Values</a:t>
            </a:r>
          </a:p>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Source indices</a:t>
            </a:r>
          </a:p>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Recorded times</a:t>
            </a:r>
          </a:p>
        </p:txBody>
      </p:sp>
      <p:sp>
        <p:nvSpPr>
          <p:cNvPr id="12" name="">
            <a:extLst xmlns:a="http://schemas.openxmlformats.org/drawingml/2006/main">
              <a:ext uri="{FF2B5EF4-FFF2-40B4-BE49-F238E27FC236}">
                <a16:creationId xmlns:a16="http://schemas.microsoft.com/office/drawing/2014/main" id="{6712F77F-F69A-4A70-A1FB-350235BCF7A1}"/>
              </a:ext>
            </a:extLst>
          </p:cNvPr>
          <p:cNvSpPr>
            <a:spLocks xmlns:a="http://schemas.openxmlformats.org/drawingml/2006/main" noGrp="1"/>
          </p:cNvSpPr>
          <p:nvPr/>
        </p:nvSpPr>
        <p:spPr>
          <a:xfrm xmlns:a="http://schemas.openxmlformats.org/drawingml/2006/main">
            <a:off x="495300" y="6105525"/>
            <a:ext cx="1114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75" b="0">
                <a:solidFill>
                  <a:srgbClr val="526D76"/>
                </a:solidFill>
                <a:latin typeface="Arial"/>
                <a:ea typeface="Arial"/>
                <a:cs typeface="Arial"/>
              </a:defRPr>
            </a:pPr>
            <a:r>
              <a:rPr sz="1275" b="0">
                <a:solidFill>
                  <a:srgbClr val="526D76"/>
                </a:solidFill>
                <a:latin typeface="Arial"/>
                <a:ea typeface="Arial"/>
                <a:cs typeface="Arial"/>
              </a:rPr>
              <a:t>Synthetic red/NIR and assumed 80 m ellipsoidal height. GeoJSON + paired analysis product accompany the run.</a:t>
            </a:r>
          </a:p>
        </p:txBody>
      </p:sp>
    </p:spTree>
    <p:extLst>
      <p:ext uri="{BB962C8B-B14F-4D97-AF65-F5344CB8AC3E}">
        <p14:creationId xmlns:p14="http://schemas.microsoft.com/office/powerpoint/2010/main" val="266541346"/>
      </p:ext>
    </p:extLst>
  </p:cSld>
</p:sld>
</file>

<file path=ppt/slides/slide7.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E1B1DF-F5CF-4A4E-B8D7-3D8EFA390BB7}"/>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D47020AC-C629-43DB-8099-A74C4E920AB9}"/>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8D2BB516-01DD-48A1-8BC8-E02FE7870114}"/>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Global coverage with coordinates and values intact</a:t>
            </a:r>
          </a:p>
        </p:txBody>
      </p:sp>
      <p:sp>
        <p:nvSpPr>
          <p:cNvPr id="4" name="">
            <a:extLst xmlns:a="http://schemas.openxmlformats.org/drawingml/2006/main">
              <a:ext uri="{FF2B5EF4-FFF2-40B4-BE49-F238E27FC236}">
                <a16:creationId xmlns:a16="http://schemas.microsoft.com/office/drawing/2014/main" id="{94E34230-CBAD-4AF3-A7B2-2844EE50DC17}"/>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8CFB47-2208-4E33-89AA-4B88879712DF}"/>
              </a:ext>
            </a:extLst>
          </p:cNvPr>
          <p:cNvSpPr>
            <a:spLocks xmlns:a="http://schemas.openxmlformats.org/drawingml/2006/main" noGrp="1"/>
          </p:cNvSpPr>
          <p:nvPr/>
        </p:nvSpPr>
        <p:spPr>
          <a:xfrm xmlns:a="http://schemas.openxmlformats.org/drawingml/2006/main">
            <a:off x="495300" y="1476375"/>
            <a:ext cx="11096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The original 37 × 72 scalar grid resolves all 2,664 locations globally in ECEF and geographic coordinates. Values remain associated with their coordinates and grid indices across two recorded times.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9c6817f0ce34ee2"/>
          <a:stretch xmlns:a="http://schemas.openxmlformats.org/drawingml/2006/main"/>
        </p:blipFill>
        <p:spPr>
          <a:xfrm xmlns:a="http://schemas.openxmlformats.org/drawingml/2006/main">
            <a:off x="942557" y="2409825"/>
            <a:ext cx="4601411" cy="34004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d82454160ad4142"/>
          <a:stretch xmlns:a="http://schemas.openxmlformats.org/drawingml/2006/main"/>
        </p:blipFill>
        <p:spPr>
          <a:xfrm xmlns:a="http://schemas.openxmlformats.org/drawingml/2006/main">
            <a:off x="6314316" y="2409825"/>
            <a:ext cx="5316467" cy="34766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CAA477A-441A-418F-8A32-61B7D2BD7FB5}"/>
              </a:ext>
            </a:extLst>
          </p:cNvPr>
          <p:cNvSpPr>
            <a:spLocks xmlns:a="http://schemas.openxmlformats.org/drawingml/2006/main" noGrp="1"/>
          </p:cNvSpPr>
          <p:nvPr/>
        </p:nvSpPr>
        <p:spPr>
          <a:xfrm xmlns:a="http://schemas.openxmlformats.org/drawingml/2006/main">
            <a:off x="495300" y="5943600"/>
            <a:ext cx="1114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526D76"/>
                </a:solidFill>
                <a:latin typeface="Arial"/>
                <a:ea typeface="Arial"/>
                <a:cs typeface="Arial"/>
              </a:defRPr>
            </a:pPr>
            <a:r>
              <a:rPr sz="1350" b="0">
                <a:solidFill>
                  <a:srgbClr val="526D76"/>
                </a:solidFill>
                <a:latin typeface="Arial"/>
                <a:ea typeface="Arial"/>
                <a:cs typeface="Arial"/>
              </a:rPr>
              <a:t>Scientific query visualizations • Original scalar values / units absent in source • Second time explicitly synthetic</a:t>
            </a:r>
          </a:p>
        </p:txBody>
      </p:sp>
    </p:spTree>
    <p:extLst>
      <p:ext uri="{BB962C8B-B14F-4D97-AF65-F5344CB8AC3E}">
        <p14:creationId xmlns:p14="http://schemas.microsoft.com/office/powerpoint/2010/main" val="1578374470"/>
      </p:ext>
    </p:extLst>
  </p:cSld>
</p:sld>
</file>

<file path=ppt/slides/slide8.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8128A92-5873-4269-9F8F-33BF69545D73}"/>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93EA6473-F789-4CAB-BD36-97DD6169094F}"/>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8CADEEC7-281C-4390-9D01-E559CAAC79F3}"/>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Composition and live edits reach real consumers</a:t>
            </a:r>
          </a:p>
        </p:txBody>
      </p:sp>
      <p:sp>
        <p:nvSpPr>
          <p:cNvPr id="4" name="">
            <a:extLst xmlns:a="http://schemas.openxmlformats.org/drawingml/2006/main">
              <a:ext uri="{FF2B5EF4-FFF2-40B4-BE49-F238E27FC236}">
                <a16:creationId xmlns:a16="http://schemas.microsoft.com/office/drawing/2014/main" id="{E3D52951-3AD1-40FD-9CF5-9C1232A3F6FE}"/>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471F32-5645-4308-B5CF-2EE8950193AA}"/>
              </a:ext>
            </a:extLst>
          </p:cNvPr>
          <p:cNvSpPr>
            <a:spLocks xmlns:a="http://schemas.openxmlformats.org/drawingml/2006/main" noGrp="1"/>
          </p:cNvSpPr>
          <p:nvPr/>
        </p:nvSpPr>
        <p:spPr>
          <a:xfrm xmlns:a="http://schemas.openxmlformats.org/drawingml/2006/main">
            <a:off x="495300" y="150495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Three USD native instances and three point instances share geometry while receiving distinct resolved placements. References, stronger opinions, variants, source interpolation, stage units and Y/Z up-axis are exercised with independent controls.</a:t>
            </a:r>
          </a:p>
        </p:txBody>
      </p:sp>
      <p:sp>
        <p:nvSpPr>
          <p:cNvPr id="6" name="">
            <a:extLst xmlns:a="http://schemas.openxmlformats.org/drawingml/2006/main">
              <a:ext uri="{FF2B5EF4-FFF2-40B4-BE49-F238E27FC236}">
                <a16:creationId xmlns:a16="http://schemas.microsoft.com/office/drawing/2014/main" id="{05479837-52C7-432C-8591-491369B3A156}"/>
              </a:ext>
            </a:extLst>
          </p:cNvPr>
          <p:cNvSpPr>
            <a:spLocks xmlns:a="http://schemas.openxmlformats.org/drawingml/2006/main" noGrp="1"/>
          </p:cNvSpPr>
          <p:nvPr/>
        </p:nvSpPr>
        <p:spPr>
          <a:xfrm xmlns:a="http://schemas.openxmlformats.org/drawingml/2006/main">
            <a:off x="495300" y="2524125"/>
            <a:ext cx="6000750" cy="3381375"/>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d8e8e0f4119468a"/>
          <a:stretch xmlns:a="http://schemas.openxmlformats.org/drawingml/2006/main"/>
        </p:blipFill>
        <p:spPr>
          <a:xfrm xmlns:a="http://schemas.openxmlformats.org/drawingml/2006/main">
            <a:off x="676275" y="2647950"/>
            <a:ext cx="5638800" cy="31718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3F786C4-2A90-4D9E-BBBD-BACEA9D21519}"/>
              </a:ext>
            </a:extLst>
          </p:cNvPr>
          <p:cNvSpPr>
            <a:spLocks xmlns:a="http://schemas.openxmlformats.org/drawingml/2006/main" noGrp="1"/>
          </p:cNvSpPr>
          <p:nvPr/>
        </p:nvSpPr>
        <p:spPr>
          <a:xfrm xmlns:a="http://schemas.openxmlformats.org/drawingml/2006/main">
            <a:off x="6762750" y="2524125"/>
            <a:ext cx="4933950" cy="3381375"/>
          </a:xfrm>
          <a:prstGeom xmlns:a="http://schemas.openxmlformats.org/drawingml/2006/main" prst="rect">
            <a:avLst/>
          </a:prstGeom>
          <a:solidFill xmlns:a="http://schemas.openxmlformats.org/drawingml/2006/main">
            <a:srgbClr val="E4EFF1"/>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A816D59-2052-43F0-95D6-F9CE5126E608}"/>
              </a:ext>
            </a:extLst>
          </p:cNvPr>
          <p:cNvSpPr>
            <a:spLocks xmlns:a="http://schemas.openxmlformats.org/drawingml/2006/main" noGrp="1"/>
          </p:cNvSpPr>
          <p:nvPr/>
        </p:nvSpPr>
        <p:spPr>
          <a:xfrm xmlns:a="http://schemas.openxmlformats.org/drawingml/2006/main">
            <a:off x="7010400" y="2771775"/>
            <a:ext cx="4429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a:solidFill>
                  <a:srgbClr val="163641"/>
                </a:solidFill>
                <a:latin typeface="Arial"/>
                <a:ea typeface="Arial"/>
                <a:cs typeface="Arial"/>
              </a:defRPr>
            </a:pPr>
            <a:r>
              <a:rPr sz="1875" b="1">
                <a:solidFill>
                  <a:srgbClr val="163641"/>
                </a:solidFill>
                <a:latin typeface="Arial"/>
                <a:ea typeface="Arial"/>
                <a:cs typeface="Arial"/>
              </a:rPr>
              <a:t>Source edit → consumed placement</a:t>
            </a:r>
          </a:p>
        </p:txBody>
      </p:sp>
      <p:sp>
        <p:nvSpPr>
          <p:cNvPr id="10" name="">
            <a:extLst xmlns:a="http://schemas.openxmlformats.org/drawingml/2006/main">
              <a:ext uri="{FF2B5EF4-FFF2-40B4-BE49-F238E27FC236}">
                <a16:creationId xmlns:a16="http://schemas.microsoft.com/office/drawing/2014/main" id="{1B15074B-7288-4FA0-9D7C-E5BCACEE6EAE}"/>
              </a:ext>
            </a:extLst>
          </p:cNvPr>
          <p:cNvSpPr>
            <a:spLocks xmlns:a="http://schemas.openxmlformats.org/drawingml/2006/main" noGrp="1"/>
          </p:cNvSpPr>
          <p:nvPr/>
        </p:nvSpPr>
        <p:spPr>
          <a:xfrm xmlns:a="http://schemas.openxmlformats.org/drawingml/2006/main">
            <a:off x="7010400" y="3295650"/>
            <a:ext cx="44291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Native source notices recompute</a:t>
            </a:r>
          </a:p>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rendered placement; +10 m edit verified.</a:t>
            </a:r>
          </a:p>
        </p:txBody>
      </p:sp>
      <p:sp>
        <p:nvSpPr>
          <p:cNvPr id="11" name="">
            <a:extLst xmlns:a="http://schemas.openxmlformats.org/drawingml/2006/main">
              <a:ext uri="{FF2B5EF4-FFF2-40B4-BE49-F238E27FC236}">
                <a16:creationId xmlns:a16="http://schemas.microsoft.com/office/drawing/2014/main" id="{4AE97CB0-39D1-4CA7-A59D-11572DFA1C7C}"/>
              </a:ext>
            </a:extLst>
          </p:cNvPr>
          <p:cNvSpPr>
            <a:spLocks xmlns:a="http://schemas.openxmlformats.org/drawingml/2006/main" noGrp="1"/>
          </p:cNvSpPr>
          <p:nvPr/>
        </p:nvSpPr>
        <p:spPr>
          <a:xfrm xmlns:a="http://schemas.openxmlformats.org/drawingml/2006/main">
            <a:off x="7010400" y="4105275"/>
            <a:ext cx="4429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1">
                <a:solidFill>
                  <a:srgbClr val="163641"/>
                </a:solidFill>
                <a:latin typeface="Arial"/>
                <a:ea typeface="Arial"/>
                <a:cs typeface="Arial"/>
              </a:defRPr>
            </a:pPr>
            <a:r>
              <a:rPr sz="1800" b="1">
                <a:solidFill>
                  <a:srgbClr val="163641"/>
                </a:solidFill>
                <a:latin typeface="Arial"/>
                <a:ea typeface="Arial"/>
                <a:cs typeface="Arial"/>
              </a:rPr>
              <a:t>Failure → stale results removed → recovery</a:t>
            </a:r>
          </a:p>
        </p:txBody>
      </p:sp>
      <p:sp>
        <p:nvSpPr>
          <p:cNvPr id="12" name="">
            <a:extLst xmlns:a="http://schemas.openxmlformats.org/drawingml/2006/main">
              <a:ext uri="{FF2B5EF4-FFF2-40B4-BE49-F238E27FC236}">
                <a16:creationId xmlns:a16="http://schemas.microsoft.com/office/drawing/2014/main" id="{41A73520-A60C-4BBF-B6DF-DB5045E84534}"/>
              </a:ext>
            </a:extLst>
          </p:cNvPr>
          <p:cNvSpPr>
            <a:spLocks xmlns:a="http://schemas.openxmlformats.org/drawingml/2006/main" noGrp="1"/>
          </p:cNvSpPr>
          <p:nvPr/>
        </p:nvSpPr>
        <p:spPr>
          <a:xfrm xmlns:a="http://schemas.openxmlformats.org/drawingml/2006/main">
            <a:off x="7010400" y="47910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Live OV hides invalid model results, clears</a:t>
            </a:r>
          </a:p>
          <a:p xmlns:a="http://schemas.openxmlformats.org/drawingml/2006/main">
            <a:pPr>
              <a:defRPr sz="1650" b="0">
                <a:solidFill>
                  <a:srgbClr val="163641"/>
                </a:solidFill>
                <a:latin typeface="Arial"/>
                <a:ea typeface="Arial"/>
                <a:cs typeface="Arial"/>
              </a:defRPr>
            </a:pPr>
            <a:r>
              <a:rPr sz="1650" b="0">
                <a:solidFill>
                  <a:srgbClr val="163641"/>
                </a:solidFill>
                <a:latin typeface="Arial"/>
                <a:ea typeface="Arial"/>
                <a:cs typeface="Arial"/>
              </a:rPr>
              <a:t>measurement results, then recovers.</a:t>
            </a:r>
          </a:p>
        </p:txBody>
      </p:sp>
      <p:sp>
        <p:nvSpPr>
          <p:cNvPr id="13" name="">
            <a:extLst xmlns:a="http://schemas.openxmlformats.org/drawingml/2006/main">
              <a:ext uri="{FF2B5EF4-FFF2-40B4-BE49-F238E27FC236}">
                <a16:creationId xmlns:a16="http://schemas.microsoft.com/office/drawing/2014/main" id="{94B9FF98-9A2B-4DF6-863A-82363D0844CF}"/>
              </a:ext>
            </a:extLst>
          </p:cNvPr>
          <p:cNvSpPr>
            <a:spLocks xmlns:a="http://schemas.openxmlformats.org/drawingml/2006/main" noGrp="1"/>
          </p:cNvSpPr>
          <p:nvPr/>
        </p:nvSpPr>
        <p:spPr>
          <a:xfrm xmlns:a="http://schemas.openxmlformats.org/drawingml/2006/main">
            <a:off x="495300" y="599122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526D76"/>
                </a:solidFill>
                <a:latin typeface="Arial"/>
                <a:ea typeface="Arial"/>
                <a:cs typeface="Arial"/>
              </a:defRPr>
            </a:pPr>
            <a:r>
              <a:rPr sz="1350" b="0">
                <a:solidFill>
                  <a:srgbClr val="526D76"/>
                </a:solidFill>
                <a:latin typeface="Arial"/>
                <a:ea typeface="Arial"/>
                <a:cs typeface="Arial"/>
              </a:rPr>
              <a:t>Five explicit exports re-resolved by a fresh reader. Values and recorded times preserved; no private skip flag.</a:t>
            </a:r>
          </a:p>
        </p:txBody>
      </p:sp>
    </p:spTree>
    <p:extLst>
      <p:ext uri="{BB962C8B-B14F-4D97-AF65-F5344CB8AC3E}">
        <p14:creationId xmlns:p14="http://schemas.microsoft.com/office/powerpoint/2010/main" val="1041044959"/>
      </p:ext>
    </p:extLst>
  </p:cSld>
</p:sld>
</file>

<file path=ppt/slides/slide9.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72E746F-90B8-498A-81CF-8F1EB8B01594}"/>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9851D3BD-F384-4813-BF21-21EE81E4B14C}"/>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500577A7-8FA7-4F12-B89D-CBD6E025544E}"/>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Precision is measured. Extent needs a contract.</a:t>
            </a:r>
          </a:p>
        </p:txBody>
      </p:sp>
      <p:sp>
        <p:nvSpPr>
          <p:cNvPr id="4" name="">
            <a:extLst xmlns:a="http://schemas.openxmlformats.org/drawingml/2006/main">
              <a:ext uri="{FF2B5EF4-FFF2-40B4-BE49-F238E27FC236}">
                <a16:creationId xmlns:a16="http://schemas.microsoft.com/office/drawing/2014/main" id="{B177D9B8-21D8-47FE-9A6B-562423A844A3}"/>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B996BD-25B7-425D-990D-AA1815DFEAF2}"/>
              </a:ext>
            </a:extLst>
          </p:cNvPr>
          <p:cNvSpPr>
            <a:spLocks xmlns:a="http://schemas.openxmlformats.org/drawingml/2006/main" noGrp="1"/>
          </p:cNvSpPr>
          <p:nvPr/>
        </p:nvSpPr>
        <p:spPr>
          <a:xfrm xmlns:a="http://schemas.openxmlformats.org/drawingml/2006/main">
            <a:off x="495300" y="1485900"/>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163641"/>
                </a:solidFill>
                <a:latin typeface="Arial"/>
                <a:ea typeface="Arial"/>
                <a:cs typeface="Arial"/>
              </a:defRPr>
            </a:pPr>
            <a:r>
              <a:rPr sz="1800" b="0">
                <a:solidFill>
                  <a:srgbClr val="163641"/>
                </a:solidFill>
                <a:latin typeface="Arial"/>
                <a:ea typeface="Arial"/>
                <a:cs typeface="Arial"/>
              </a:rPr>
              <a:t>Double coordinate anchors and small local floats preserve detail away from the origin. But one affine model frame approximates a nonlinear transformation, and the error grows with the model's spatial extent.</a:t>
            </a:r>
          </a:p>
        </p:txBody>
      </p:sp>
      <p:graphicFrame>
        <p:nvGraphicFramePr>
          <p:cNvPr id="17" name=""/>
          <p:cNvGraphicFramePr/>
          <p:nvPr/>
        </p:nvGraphicFramePr>
        <p:xfrm>
          <a:off xmlns:a="http://schemas.openxmlformats.org/drawingml/2006/main" x="495300" y="2695575"/>
          <a:ext xmlns:a="http://schemas.openxmlformats.org/drawingml/2006/main" cx="6553200" cy="2085975"/>
        </p:xfrm>
        <a:graphic xmlns:a="http://schemas.openxmlformats.org/drawingml/2006/main">
          <a:graphicData uri="http://schemas.openxmlformats.org/drawingml/2006/table">
            <a:tbl>
              <a:tblPr/>
              <a:tblGrid>
                <a:gridCol w="2533650"/>
                <a:gridCol w="981075"/>
                <a:gridCol w="3038475"/>
              </a:tblGrid>
              <a:tr h="521494">
                <a:tc>
                  <a:txBody>
                    <a:bodyPr>
                      <a:noAutofit/>
                    </a:bodyPr>
                    <a:lstStyle/>
                    <a:p>
                      <a:r>
                        <a:rPr sz="1650" b="1">
                          <a:solidFill>
                            <a:srgbClr val="FFFFFF"/>
                          </a:solidFill>
                          <a:latin typeface="Arial"/>
                          <a:ea typeface="Arial"/>
                          <a:cs typeface="Arial"/>
                        </a:rPr>
                        <a:t>Half-extent</a:t>
                      </a:r>
                    </a:p>
                  </a:txBody>
                  <a:tcPr marL="91440" marR="91440" marT="45720" marB="45720">
                    <a:solidFill>
                      <a:srgbClr val="163641"/>
                    </a:solidFill>
                  </a:tcPr>
                </a:tc>
                <a:tc>
                  <a:txBody>
                    <a:bodyPr>
                      <a:noAutofit/>
                    </a:bodyPr>
                    <a:lstStyle/>
                    <a:p>
                      <a:r>
                        <a:rPr sz="1650" b="1">
                          <a:solidFill>
                            <a:srgbClr val="FFFFFF"/>
                          </a:solidFill>
                          <a:latin typeface="Arial"/>
                          <a:ea typeface="Arial"/>
                          <a:cs typeface="Arial"/>
                        </a:rPr>
                        <a:t>Points</a:t>
                      </a:r>
                    </a:p>
                  </a:txBody>
                  <a:tcPr marL="91440" marR="91440" marT="45720" marB="45720">
                    <a:solidFill>
                      <a:srgbClr val="163641"/>
                    </a:solidFill>
                  </a:tcPr>
                </a:tc>
                <a:tc>
                  <a:txBody>
                    <a:bodyPr>
                      <a:noAutofit/>
                    </a:bodyPr>
                    <a:lstStyle/>
                    <a:p>
                      <a:r>
                        <a:rPr sz="1650" b="1">
                          <a:solidFill>
                            <a:srgbClr val="FFFFFF"/>
                          </a:solidFill>
                          <a:latin typeface="Arial"/>
                          <a:ea typeface="Arial"/>
                          <a:cs typeface="Arial"/>
                        </a:rPr>
                        <a:t>Affine discrepancy</a:t>
                      </a:r>
                    </a:p>
                  </a:txBody>
                  <a:tcPr marL="91440" marR="91440" marT="45720" marB="45720">
                    <a:solidFill>
                      <a:srgbClr val="163641"/>
                    </a:solidFill>
                  </a:tcPr>
                </a:tc>
              </a:tr>
              <a:tr h="521494">
                <a:tc>
                  <a:txBody>
                    <a:bodyPr>
                      <a:noAutofit/>
                    </a:bodyPr>
                    <a:lstStyle/>
                    <a:p>
                      <a:r>
                        <a:rPr sz="1650" b="0">
                          <a:solidFill>
                            <a:srgbClr val="163641"/>
                          </a:solidFill>
                          <a:latin typeface="Arial"/>
                          <a:ea typeface="Arial"/>
                          <a:cs typeface="Arial"/>
                        </a:rPr>
                        <a:t>±100 m</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1.57 mm</a:t>
                      </a:r>
                    </a:p>
                  </a:txBody>
                  <a:tcPr marL="91440" marR="91440" marT="45720" marB="45720">
                    <a:solidFill>
                      <a:srgbClr val="FFFFFF"/>
                    </a:solidFill>
                  </a:tcPr>
                </a:tc>
              </a:tr>
              <a:tr h="521494">
                <a:tc>
                  <a:txBody>
                    <a:bodyPr>
                      <a:noAutofit/>
                    </a:bodyPr>
                    <a:lstStyle/>
                    <a:p>
                      <a:r>
                        <a:rPr sz="1650" b="0">
                          <a:solidFill>
                            <a:srgbClr val="163641"/>
                          </a:solidFill>
                          <a:latin typeface="Arial"/>
                          <a:ea typeface="Arial"/>
                          <a:cs typeface="Arial"/>
                        </a:rPr>
                        <a:t>±1,000 m</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E4EFF1"/>
                    </a:solidFill>
                  </a:tcPr>
                </a:tc>
                <a:tc>
                  <a:txBody>
                    <a:bodyPr>
                      <a:noAutofit/>
                    </a:bodyPr>
                    <a:lstStyle/>
                    <a:p>
                      <a:r>
                        <a:rPr sz="1650" b="0">
                          <a:solidFill>
                            <a:srgbClr val="163641"/>
                          </a:solidFill>
                          <a:latin typeface="Arial"/>
                          <a:ea typeface="Arial"/>
                          <a:cs typeface="Arial"/>
                        </a:rPr>
                        <a:t>0.157 m</a:t>
                      </a:r>
                    </a:p>
                  </a:txBody>
                  <a:tcPr marL="91440" marR="91440" marT="45720" marB="45720">
                    <a:solidFill>
                      <a:srgbClr val="E4EFF1"/>
                    </a:solidFill>
                  </a:tcPr>
                </a:tc>
              </a:tr>
              <a:tr h="521494">
                <a:tc>
                  <a:txBody>
                    <a:bodyPr>
                      <a:noAutofit/>
                    </a:bodyPr>
                    <a:lstStyle/>
                    <a:p>
                      <a:r>
                        <a:rPr sz="1650" b="0">
                          <a:solidFill>
                            <a:srgbClr val="163641"/>
                          </a:solidFill>
                          <a:latin typeface="Arial"/>
                          <a:ea typeface="Arial"/>
                          <a:cs typeface="Arial"/>
                        </a:rPr>
                        <a:t>±10,000 m</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289</a:t>
                      </a:r>
                    </a:p>
                  </a:txBody>
                  <a:tcPr marL="91440" marR="91440" marT="45720" marB="45720">
                    <a:solidFill>
                      <a:srgbClr val="FFFFFF"/>
                    </a:solidFill>
                  </a:tcPr>
                </a:tc>
                <a:tc>
                  <a:txBody>
                    <a:bodyPr>
                      <a:noAutofit/>
                    </a:bodyPr>
                    <a:lstStyle/>
                    <a:p>
                      <a:r>
                        <a:rPr sz="1650" b="0">
                          <a:solidFill>
                            <a:srgbClr val="163641"/>
                          </a:solidFill>
                          <a:latin typeface="Arial"/>
                          <a:ea typeface="Arial"/>
                          <a:cs typeface="Arial"/>
                        </a:rPr>
                        <a:t>15.7 m</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30B79F3-BF7B-4852-9ED5-ED14B062400D}"/>
              </a:ext>
            </a:extLst>
          </p:cNvPr>
          <p:cNvSpPr>
            <a:spLocks xmlns:a="http://schemas.openxmlformats.org/drawingml/2006/main" noGrp="1"/>
          </p:cNvSpPr>
          <p:nvPr/>
        </p:nvSpPr>
        <p:spPr>
          <a:xfrm xmlns:a="http://schemas.openxmlformats.org/drawingml/2006/main">
            <a:off x="7334250" y="2695575"/>
            <a:ext cx="4362450" cy="2819400"/>
          </a:xfrm>
          <a:prstGeom xmlns:a="http://schemas.openxmlformats.org/drawingml/2006/main" prst="rect">
            <a:avLst/>
          </a:prstGeom>
          <a:solidFill xmlns:a="http://schemas.openxmlformats.org/drawingml/2006/main">
            <a:srgbClr val="16364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DB4C721-38D7-40F2-A25F-7EEDDFEB3BB7}"/>
              </a:ext>
            </a:extLst>
          </p:cNvPr>
          <p:cNvSpPr>
            <a:spLocks xmlns:a="http://schemas.openxmlformats.org/drawingml/2006/main" noGrp="1"/>
          </p:cNvSpPr>
          <p:nvPr/>
        </p:nvSpPr>
        <p:spPr>
          <a:xfrm xmlns:a="http://schemas.openxmlformats.org/drawingml/2006/main">
            <a:off x="7600950" y="2952750"/>
            <a:ext cx="3829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85D7DB"/>
                </a:solidFill>
                <a:latin typeface="Arial"/>
                <a:ea typeface="Arial"/>
                <a:cs typeface="Arial"/>
              </a:defRPr>
            </a:pPr>
            <a:r>
              <a:rPr sz="1350" b="1">
                <a:solidFill>
                  <a:srgbClr val="85D7DB"/>
                </a:solidFill>
                <a:latin typeface="Arial"/>
                <a:ea typeface="Arial"/>
                <a:cs typeface="Arial"/>
              </a:rPr>
              <a:t>SAMPLED DISCREPANCY</a:t>
            </a:r>
          </a:p>
        </p:txBody>
      </p:sp>
      <p:sp>
        <p:nvSpPr>
          <p:cNvPr id="9" name="">
            <a:extLst xmlns:a="http://schemas.openxmlformats.org/drawingml/2006/main">
              <a:ext uri="{FF2B5EF4-FFF2-40B4-BE49-F238E27FC236}">
                <a16:creationId xmlns:a16="http://schemas.microsoft.com/office/drawing/2014/main" id="{7EF56617-8929-4541-BA56-B11D08573019}"/>
              </a:ext>
            </a:extLst>
          </p:cNvPr>
          <p:cNvSpPr>
            <a:spLocks xmlns:a="http://schemas.openxmlformats.org/drawingml/2006/main" noGrp="1"/>
          </p:cNvSpPr>
          <p:nvPr/>
        </p:nvSpPr>
        <p:spPr>
          <a:xfrm xmlns:a="http://schemas.openxmlformats.org/drawingml/2006/main">
            <a:off x="7600950" y="3457575"/>
            <a:ext cx="382905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Finite samples do not</a:t>
            </a:r>
          </a:p>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establish a continuous</a:t>
            </a:r>
          </a:p>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surface error bound.</a:t>
            </a:r>
          </a:p>
        </p:txBody>
      </p:sp>
      <p:sp>
        <p:nvSpPr>
          <p:cNvPr id="10" name="">
            <a:extLst xmlns:a="http://schemas.openxmlformats.org/drawingml/2006/main">
              <a:ext uri="{FF2B5EF4-FFF2-40B4-BE49-F238E27FC236}">
                <a16:creationId xmlns:a16="http://schemas.microsoft.com/office/drawing/2014/main" id="{07CBA7FD-8E2C-4C36-BC88-1781F42734EF}"/>
              </a:ext>
            </a:extLst>
          </p:cNvPr>
          <p:cNvSpPr>
            <a:spLocks xmlns:a="http://schemas.openxmlformats.org/drawingml/2006/main" noGrp="1"/>
          </p:cNvSpPr>
          <p:nvPr/>
        </p:nvSpPr>
        <p:spPr>
          <a:xfrm xmlns:a="http://schemas.openxmlformats.org/drawingml/2006/main">
            <a:off x="495300" y="5181600"/>
            <a:ext cx="65246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D76"/>
                </a:solidFill>
                <a:latin typeface="Arial"/>
                <a:ea typeface="Arial"/>
                <a:cs typeface="Arial"/>
              </a:defRPr>
            </a:pPr>
            <a:r>
              <a:rPr sz="1725" b="0">
                <a:solidFill>
                  <a:srgbClr val="526D76"/>
                </a:solidFill>
                <a:latin typeface="Arial"/>
                <a:ea typeface="Arial"/>
                <a:cs typeface="Arial"/>
              </a:rPr>
              <a:t>Double anchor + small local floats avoids 31.25 mm float spacing at a 481,948 m absolute coordinate.</a:t>
            </a:r>
          </a:p>
        </p:txBody>
      </p:sp>
      <p:sp>
        <p:nvSpPr>
          <p:cNvPr id="11" name="">
            <a:extLst xmlns:a="http://schemas.openxmlformats.org/drawingml/2006/main">
              <a:ext uri="{FF2B5EF4-FFF2-40B4-BE49-F238E27FC236}">
                <a16:creationId xmlns:a16="http://schemas.microsoft.com/office/drawing/2014/main" id="{CF229694-F2C2-4777-99D3-B6F8C345B01F}"/>
              </a:ext>
            </a:extLst>
          </p:cNvPr>
          <p:cNvSpPr>
            <a:spLocks xmlns:a="http://schemas.openxmlformats.org/drawingml/2006/main" noGrp="1"/>
          </p:cNvSpPr>
          <p:nvPr/>
        </p:nvSpPr>
        <p:spPr>
          <a:xfrm xmlns:a="http://schemas.openxmlformats.org/drawingml/2006/main">
            <a:off x="495300" y="6086475"/>
            <a:ext cx="1114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526D76"/>
                </a:solidFill>
                <a:latin typeface="Arial"/>
                <a:ea typeface="Arial"/>
                <a:cs typeface="Arial"/>
              </a:defRPr>
            </a:pPr>
            <a:r>
              <a:rPr sz="1350" b="0">
                <a:solidFill>
                  <a:srgbClr val="526D76"/>
                </a:solidFill>
                <a:latin typeface="Arial"/>
                <a:ea typeface="Arial"/>
                <a:cs typeface="Arial"/>
              </a:rPr>
              <a:t>R24 needs an extent / approximation contract. This is a design finding, not a deferred demonstration.</a:t>
            </a:r>
          </a:p>
        </p:txBody>
      </p:sp>
    </p:spTree>
    <p:extLst>
      <p:ext uri="{BB962C8B-B14F-4D97-AF65-F5344CB8AC3E}">
        <p14:creationId xmlns:p14="http://schemas.microsoft.com/office/powerpoint/2010/main" val="640385932"/>
      </p:ext>
    </p:extLst>
  </p:cSld>
</p:sld>
</file>

<file path=ppt/slides/slide10.xml><?xml version="1.0" encoding="utf-8"?>
<p:sld xmlns:p="http://schemas.openxmlformats.org/presentationml/2006/main">
  <p:cSld>
    <p:bg>
      <p:bgPr>
        <a:solidFill xmlns:a="http://schemas.openxmlformats.org/drawingml/2006/main">
          <a:srgbClr val="F5F8F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C5F4A5-1341-4B8F-A317-7A9047AEBD44}"/>
              </a:ext>
            </a:extLst>
          </p:cNvPr>
          <p:cNvSpPr>
            <a:spLocks xmlns:a="http://schemas.openxmlformats.org/drawingml/2006/main" noGrp="1"/>
          </p:cNvSpPr>
          <p:nvPr/>
        </p:nvSpPr>
        <p:spPr>
          <a:xfrm xmlns:a="http://schemas.openxmlformats.org/drawingml/2006/main">
            <a:off x="495300" y="64770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a:solidFill>
                  <a:srgbClr val="526D76"/>
                </a:solidFill>
                <a:latin typeface="Arial"/>
                <a:ea typeface="Arial"/>
                <a:cs typeface="Arial"/>
              </a:defRPr>
            </a:pPr>
            <a:r>
              <a:rPr sz="975" b="0">
                <a:solidFill>
                  <a:srgbClr val="526D76"/>
                </a:solidFill>
                <a:latin typeface="Arial"/>
                <a:ea typeface="Arial"/>
                <a:cs typeface="Arial"/>
              </a:rPr>
              <a:t>EXPERIMENTAL CANDIDATE • OCTOBER 2 BUILD</a:t>
            </a:r>
          </a:p>
        </p:txBody>
      </p:sp>
      <p:sp>
        <p:nvSpPr>
          <p:cNvPr id="2" name="">
            <a:extLst xmlns:a="http://schemas.openxmlformats.org/drawingml/2006/main">
              <a:ext uri="{FF2B5EF4-FFF2-40B4-BE49-F238E27FC236}">
                <a16:creationId xmlns:a16="http://schemas.microsoft.com/office/drawing/2014/main" id="{2E9E5C55-9CE1-48D2-8959-5EC4D8DEF7A3}"/>
              </a:ext>
            </a:extLst>
          </p:cNvPr>
          <p:cNvSpPr>
            <a:spLocks xmlns:a="http://schemas.openxmlformats.org/drawingml/2006/main" noGrp="1"/>
          </p:cNvSpPr>
          <p:nvPr/>
        </p:nvSpPr>
        <p:spPr>
          <a:xfrm xmlns:a="http://schemas.openxmlformats.org/drawingml/2006/main">
            <a:off x="11239500" y="64770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0">
                <a:solidFill>
                  <a:srgbClr val="526D76"/>
                </a:solidFill>
                <a:latin typeface="Arial"/>
                <a:ea typeface="Arial"/>
                <a:cs typeface="Arial"/>
              </a:defRPr>
            </a:pPr>
            <a:r>
              <a:rPr sz="1050" b="0">
                <a:solidFill>
                  <a:srgbClr val="526D76"/>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A2D78DEB-DEDE-4588-906A-7DF00E71878E}"/>
              </a:ext>
            </a:extLst>
          </p:cNvPr>
          <p:cNvSpPr>
            <a:spLocks xmlns:a="http://schemas.openxmlformats.org/drawingml/2006/main" noGrp="1"/>
          </p:cNvSpPr>
          <p:nvPr/>
        </p:nvSpPr>
        <p:spPr>
          <a:xfrm xmlns:a="http://schemas.openxmlformats.org/drawingml/2006/main">
            <a:off x="495300" y="438150"/>
            <a:ext cx="1123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1">
                <a:solidFill>
                  <a:srgbClr val="163641"/>
                </a:solidFill>
                <a:latin typeface="Arial"/>
                <a:ea typeface="Arial"/>
                <a:cs typeface="Arial"/>
              </a:defRPr>
            </a:pPr>
            <a:r>
              <a:rPr sz="2925" b="1">
                <a:solidFill>
                  <a:srgbClr val="163641"/>
                </a:solidFill>
                <a:latin typeface="Arial"/>
                <a:ea typeface="Arial"/>
                <a:cs typeface="Arial"/>
              </a:rPr>
              <a:t>Executed evidence separates choices from gaps</a:t>
            </a:r>
          </a:p>
        </p:txBody>
      </p:sp>
      <p:sp>
        <p:nvSpPr>
          <p:cNvPr id="4" name="">
            <a:extLst xmlns:a="http://schemas.openxmlformats.org/drawingml/2006/main">
              <a:ext uri="{FF2B5EF4-FFF2-40B4-BE49-F238E27FC236}">
                <a16:creationId xmlns:a16="http://schemas.microsoft.com/office/drawing/2014/main" id="{258138AB-918C-43D0-85AD-5B342EFA13CC}"/>
              </a:ext>
            </a:extLst>
          </p:cNvPr>
          <p:cNvSpPr>
            <a:spLocks xmlns:a="http://schemas.openxmlformats.org/drawingml/2006/main" noGrp="1"/>
          </p:cNvSpPr>
          <p:nvPr/>
        </p:nvSpPr>
        <p:spPr>
          <a:xfrm xmlns:a="http://schemas.openxmlformats.org/drawingml/2006/main">
            <a:off x="495300" y="1276350"/>
            <a:ext cx="533400" cy="47625"/>
          </a:xfrm>
          <a:prstGeom xmlns:a="http://schemas.openxmlformats.org/drawingml/2006/main" prst="rect">
            <a:avLst/>
          </a:prstGeom>
          <a:solidFill xmlns:a="http://schemas.openxmlformats.org/drawingml/2006/main">
            <a:srgbClr val="117E8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93B667-017E-4BAA-92EC-D877B43EDE8E}"/>
              </a:ext>
            </a:extLst>
          </p:cNvPr>
          <p:cNvSpPr>
            <a:spLocks xmlns:a="http://schemas.openxmlformats.org/drawingml/2006/main" noGrp="1"/>
          </p:cNvSpPr>
          <p:nvPr/>
        </p:nvSpPr>
        <p:spPr>
          <a:xfrm xmlns:a="http://schemas.openxmlformats.org/drawingml/2006/main">
            <a:off x="495300" y="150495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The executed candidate provides reviewable answers for exact placement fields, adjustment context, geographic/geocentric tuples, WKT string normalization, measurement association, dependency declarations and sampled export records. The group still needs to choose those contracts and settle the continuous extent/error requirement.</a:t>
            </a:r>
          </a:p>
        </p:txBody>
      </p:sp>
      <p:sp>
        <p:nvSpPr>
          <p:cNvPr id="6" name="">
            <a:extLst xmlns:a="http://schemas.openxmlformats.org/drawingml/2006/main">
              <a:ext uri="{FF2B5EF4-FFF2-40B4-BE49-F238E27FC236}">
                <a16:creationId xmlns:a16="http://schemas.microsoft.com/office/drawing/2014/main" id="{8F3C7E93-3357-4860-9EC5-1D190EF1A91D}"/>
              </a:ext>
            </a:extLst>
          </p:cNvPr>
          <p:cNvSpPr>
            <a:spLocks xmlns:a="http://schemas.openxmlformats.org/drawingml/2006/main" noGrp="1"/>
          </p:cNvSpPr>
          <p:nvPr/>
        </p:nvSpPr>
        <p:spPr>
          <a:xfrm xmlns:a="http://schemas.openxmlformats.org/drawingml/2006/main">
            <a:off x="495300" y="2809875"/>
            <a:ext cx="5324475" cy="307657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BCAE09E-BE22-474A-8187-20CB8A2DE1C4}"/>
              </a:ext>
            </a:extLst>
          </p:cNvPr>
          <p:cNvSpPr>
            <a:spLocks xmlns:a="http://schemas.openxmlformats.org/drawingml/2006/main" noGrp="1"/>
          </p:cNvSpPr>
          <p:nvPr/>
        </p:nvSpPr>
        <p:spPr>
          <a:xfrm xmlns:a="http://schemas.openxmlformats.org/drawingml/2006/main">
            <a:off x="6096000" y="2809875"/>
            <a:ext cx="5600700" cy="3076575"/>
          </a:xfrm>
          <a:prstGeom xmlns:a="http://schemas.openxmlformats.org/drawingml/2006/main" prst="rect">
            <a:avLst/>
          </a:prstGeom>
          <a:solidFill xmlns:a="http://schemas.openxmlformats.org/drawingml/2006/main">
            <a:srgbClr val="E4EFF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383E428-1557-4312-8EA3-70B4ACBBF59D}"/>
              </a:ext>
            </a:extLst>
          </p:cNvPr>
          <p:cNvSpPr>
            <a:spLocks xmlns:a="http://schemas.openxmlformats.org/drawingml/2006/main" noGrp="1"/>
          </p:cNvSpPr>
          <p:nvPr/>
        </p:nvSpPr>
        <p:spPr>
          <a:xfrm xmlns:a="http://schemas.openxmlformats.org/drawingml/2006/main">
            <a:off x="733425" y="3019425"/>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1">
                <a:solidFill>
                  <a:srgbClr val="117E89"/>
                </a:solidFill>
                <a:latin typeface="Arial"/>
                <a:ea typeface="Arial"/>
                <a:cs typeface="Arial"/>
              </a:defRPr>
            </a:pPr>
            <a:r>
              <a:rPr sz="1500" b="1">
                <a:solidFill>
                  <a:srgbClr val="117E89"/>
                </a:solidFill>
                <a:latin typeface="Arial"/>
                <a:ea typeface="Arial"/>
                <a:cs typeface="Arial"/>
              </a:rPr>
              <a:t>REVIEW THE EXPERIMENTAL CONTRACTS</a:t>
            </a:r>
          </a:p>
        </p:txBody>
      </p:sp>
      <p:sp>
        <p:nvSpPr>
          <p:cNvPr id="9" name="">
            <a:extLst xmlns:a="http://schemas.openxmlformats.org/drawingml/2006/main">
              <a:ext uri="{FF2B5EF4-FFF2-40B4-BE49-F238E27FC236}">
                <a16:creationId xmlns:a16="http://schemas.microsoft.com/office/drawing/2014/main" id="{F42433FC-EC97-4E3B-A37E-42D210C683B3}"/>
              </a:ext>
            </a:extLst>
          </p:cNvPr>
          <p:cNvSpPr>
            <a:spLocks xmlns:a="http://schemas.openxmlformats.org/drawingml/2006/main" noGrp="1"/>
          </p:cNvSpPr>
          <p:nvPr/>
        </p:nvSpPr>
        <p:spPr>
          <a:xfrm xmlns:a="http://schemas.openxmlformats.org/drawingml/2006/main">
            <a:off x="733425" y="3629025"/>
            <a:ext cx="4857750"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Exact placement fields and axis conventions</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Project adjustment context</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WKT string normalization</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Measurement association</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Dependency and sampled-export records</a:t>
            </a:r>
          </a:p>
        </p:txBody>
      </p:sp>
      <p:sp>
        <p:nvSpPr>
          <p:cNvPr id="10" name="">
            <a:extLst xmlns:a="http://schemas.openxmlformats.org/drawingml/2006/main">
              <a:ext uri="{FF2B5EF4-FFF2-40B4-BE49-F238E27FC236}">
                <a16:creationId xmlns:a16="http://schemas.microsoft.com/office/drawing/2014/main" id="{C77859AD-3F75-49F8-8C62-B7FF1D6B389C}"/>
              </a:ext>
            </a:extLst>
          </p:cNvPr>
          <p:cNvSpPr>
            <a:spLocks xmlns:a="http://schemas.openxmlformats.org/drawingml/2006/main" noGrp="1"/>
          </p:cNvSpPr>
          <p:nvPr/>
        </p:nvSpPr>
        <p:spPr>
          <a:xfrm xmlns:a="http://schemas.openxmlformats.org/drawingml/2006/main">
            <a:off x="6334125" y="3019425"/>
            <a:ext cx="5133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00" b="1">
                <a:solidFill>
                  <a:srgbClr val="117E89"/>
                </a:solidFill>
                <a:latin typeface="Arial"/>
                <a:ea typeface="Arial"/>
                <a:cs typeface="Arial"/>
              </a:defRPr>
            </a:pPr>
            <a:r>
              <a:rPr sz="1500" b="1">
                <a:solidFill>
                  <a:srgbClr val="117E89"/>
                </a:solidFill>
                <a:latin typeface="Arial"/>
                <a:ea typeface="Arial"/>
                <a:cs typeface="Arial"/>
              </a:rPr>
              <a:t>PRESERVE THE ROADMAP</a:t>
            </a:r>
          </a:p>
        </p:txBody>
      </p:sp>
      <p:sp>
        <p:nvSpPr>
          <p:cNvPr id="11" name="">
            <a:extLst xmlns:a="http://schemas.openxmlformats.org/drawingml/2006/main">
              <a:ext uri="{FF2B5EF4-FFF2-40B4-BE49-F238E27FC236}">
                <a16:creationId xmlns:a16="http://schemas.microsoft.com/office/drawing/2014/main" id="{EE5ECA5A-2A0F-4A32-999C-E2B0EF556F4F}"/>
              </a:ext>
            </a:extLst>
          </p:cNvPr>
          <p:cNvSpPr>
            <a:spLocks xmlns:a="http://schemas.openxmlformats.org/drawingml/2006/main" noGrp="1"/>
          </p:cNvSpPr>
          <p:nvPr/>
        </p:nvSpPr>
        <p:spPr>
          <a:xfrm xmlns:a="http://schemas.openxmlformats.org/drawingml/2006/main">
            <a:off x="6334125" y="3629025"/>
            <a:ext cx="5133975"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Coordinate epochs fully deferred.</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CRS frame epochs retained in WKT.</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Supported datum / height operations exercised.</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City and global data remain in scope.</a:t>
            </a:r>
          </a:p>
          <a:p xmlns:a="http://schemas.openxmlformats.org/drawingml/2006/main">
            <a:pPr>
              <a:defRPr sz="1725" b="0">
                <a:solidFill>
                  <a:srgbClr val="163641"/>
                </a:solidFill>
                <a:latin typeface="Arial"/>
                <a:ea typeface="Arial"/>
                <a:cs typeface="Arial"/>
              </a:defRPr>
            </a:pPr>
            <a:r>
              <a:rPr sz="1725" b="0">
                <a:solidFill>
                  <a:srgbClr val="163641"/>
                </a:solidFill>
                <a:latin typeface="Arial"/>
                <a:ea typeface="Arial"/>
                <a:cs typeface="Arial"/>
              </a:rPr>
              <a:t>Continuous extent / error bound stays open.</a:t>
            </a:r>
          </a:p>
        </p:txBody>
      </p:sp>
      <p:sp>
        <p:nvSpPr>
          <p:cNvPr id="12" name="">
            <a:extLst xmlns:a="http://schemas.openxmlformats.org/drawingml/2006/main">
              <a:ext uri="{FF2B5EF4-FFF2-40B4-BE49-F238E27FC236}">
                <a16:creationId xmlns:a16="http://schemas.microsoft.com/office/drawing/2014/main" id="{298DC955-D8A7-46A5-9EB0-F13D16C557A6}"/>
              </a:ext>
            </a:extLst>
          </p:cNvPr>
          <p:cNvSpPr>
            <a:spLocks xmlns:a="http://schemas.openxmlformats.org/drawingml/2006/main" noGrp="1"/>
          </p:cNvSpPr>
          <p:nvPr/>
        </p:nvSpPr>
        <p:spPr>
          <a:xfrm xmlns:a="http://schemas.openxmlformats.org/drawingml/2006/main">
            <a:off x="495300" y="6096000"/>
            <a:ext cx="1114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a:solidFill>
                  <a:srgbClr val="526D76"/>
                </a:solidFill>
                <a:latin typeface="Arial"/>
                <a:ea typeface="Arial"/>
                <a:cs typeface="Arial"/>
              </a:defRPr>
            </a:pPr>
            <a:r>
              <a:rPr sz="1350" b="0">
                <a:solidFill>
                  <a:srgbClr val="526D76"/>
                </a:solidFill>
                <a:latin typeface="Arial"/>
                <a:ea typeface="Arial"/>
                <a:cs typeface="Arial"/>
              </a:rPr>
              <a:t>Requirements → frozen model + runtime → independent consumers → audit → evidence → delivery</a:t>
            </a:r>
          </a:p>
        </p:txBody>
      </p:sp>
    </p:spTree>
    <p:extLst>
      <p:ext uri="{BB962C8B-B14F-4D97-AF65-F5344CB8AC3E}">
        <p14:creationId xmlns:p14="http://schemas.microsoft.com/office/powerpoint/2010/main" val="2426619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2026-10-03T14:37:11.0150000Z</dcterms:created>
  <dcterms:modified xsi:type="dcterms:W3CDTF">2026-10-03T14:37:11.0150000Z</dcterms:modified>
</coreProperties>
</file>