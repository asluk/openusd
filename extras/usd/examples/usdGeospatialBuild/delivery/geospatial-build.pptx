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97910fa29c4315" /><Relationship Type="http://schemas.openxmlformats.org/officeDocument/2006/relationships/extended-properties" Target="/docProps/app.xml" Id="R28621e2415fc4f85" /><Relationship Type="http://schemas.openxmlformats.org/officeDocument/2006/relationships/officeDocument" Target="/ppt/presentation.xml" Id="R46517bfb523d4a2b" /></Relationships>
</file>

<file path=ppt/presentation.xml><?xml version="1.0" encoding="utf-8"?>
<p:presentation xmlns:p="http://schemas.openxmlformats.org/presentationml/2006/main">
  <p:sldMasterIdLst>
    <p:sldMasterId xmlns:r="http://schemas.openxmlformats.org/officeDocument/2006/relationships" id="2147483648" r:id="R374a686ab3f6484f"/>
  </p:sldMasterIdLst>
  <p:notesMasterIdLst>
    <p:notesMasterId xmlns:r="http://schemas.openxmlformats.org/officeDocument/2006/relationships" r:id="R3c6f9a83280b4010"/>
  </p:notesMasterIdLst>
  <p:sldIdLst>
    <p:sldId xmlns:r="http://schemas.openxmlformats.org/officeDocument/2006/relationships" id="256" r:id="Re1c6b91bfb8d42f8"/>
    <p:sldId xmlns:r="http://schemas.openxmlformats.org/officeDocument/2006/relationships" id="257" r:id="Ra90f0a9776e04aff"/>
    <p:sldId xmlns:r="http://schemas.openxmlformats.org/officeDocument/2006/relationships" id="258" r:id="R9fa60c1bfca74975"/>
    <p:sldId xmlns:r="http://schemas.openxmlformats.org/officeDocument/2006/relationships" id="259" r:id="R215546a52d794851"/>
    <p:sldId xmlns:r="http://schemas.openxmlformats.org/officeDocument/2006/relationships" id="260" r:id="R93948567140a4148"/>
    <p:sldId xmlns:r="http://schemas.openxmlformats.org/officeDocument/2006/relationships" id="261" r:id="R483b6ec18ff14184"/>
    <p:sldId xmlns:r="http://schemas.openxmlformats.org/officeDocument/2006/relationships" id="262" r:id="R0ff847ac94234e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4c7cae55b94253" /><Relationship Type="http://schemas.openxmlformats.org/officeDocument/2006/relationships/slideMaster" Target="/ppt/slideMasters/slideMaster1.xml" Id="R374a686ab3f6484f" /><Relationship Type="http://schemas.openxmlformats.org/officeDocument/2006/relationships/notesMaster" Target="/ppt/notesMasters/notesMaster1.xml" Id="R3c6f9a83280b4010" /><Relationship Type="http://schemas.openxmlformats.org/officeDocument/2006/relationships/presProps" Target="/ppt/presProps.xml" Id="Rac6d42e27d204e9e" /><Relationship Type="http://schemas.openxmlformats.org/officeDocument/2006/relationships/tableStyles" Target="/ppt/tableStyles.xml" Id="Re38fc3bf23f646be" /><Relationship Type="http://schemas.openxmlformats.org/officeDocument/2006/relationships/slide" Target="/ppt/slides/slide1.xml" Id="Re1c6b91bfb8d42f8" /><Relationship Type="http://schemas.openxmlformats.org/officeDocument/2006/relationships/slide" Target="/ppt/slides/slide2.xml" Id="Ra90f0a9776e04aff" /><Relationship Type="http://schemas.openxmlformats.org/officeDocument/2006/relationships/slide" Target="/ppt/slides/slide3.xml" Id="R9fa60c1bfca74975" /><Relationship Type="http://schemas.openxmlformats.org/officeDocument/2006/relationships/slide" Target="/ppt/slides/slide4.xml" Id="R215546a52d794851" /><Relationship Type="http://schemas.openxmlformats.org/officeDocument/2006/relationships/slide" Target="/ppt/slides/slide5.xml" Id="R93948567140a4148" /><Relationship Type="http://schemas.openxmlformats.org/officeDocument/2006/relationships/slide" Target="/ppt/slides/slide6.xml" Id="R483b6ec18ff14184" /><Relationship Type="http://schemas.openxmlformats.org/officeDocument/2006/relationships/slide" Target="/ppt/slides/slide7.xml" Id="R0ff847ac94234e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39661a19c80487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151a4e29a646ff" /><Relationship Type="http://schemas.openxmlformats.org/officeDocument/2006/relationships/notesMaster" Target="/ppt/notesMasters/notesMaster1.xml" Id="R6288f710ea8a4ed0"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e31d21aa22405a" /><Relationship Type="http://schemas.openxmlformats.org/officeDocument/2006/relationships/notesMaster" Target="/ppt/notesMasters/notesMaster1.xml" Id="R212ae8e34c0143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d78827cae134fcc" /><Relationship Type="http://schemas.openxmlformats.org/officeDocument/2006/relationships/notesMaster" Target="/ppt/notesMasters/notesMaster1.xml" Id="R24c511423a7d49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9f2c073e624ae3" /><Relationship Type="http://schemas.openxmlformats.org/officeDocument/2006/relationships/notesMaster" Target="/ppt/notesMasters/notesMaster1.xml" Id="R6a33e2ff46f449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e272dd76a14b16" /><Relationship Type="http://schemas.openxmlformats.org/officeDocument/2006/relationships/notesMaster" Target="/ppt/notesMasters/notesMaster1.xml" Id="R3f877e04ee454b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7ba808b4e24569" /><Relationship Type="http://schemas.openxmlformats.org/officeDocument/2006/relationships/notesMaster" Target="/ppt/notesMasters/notesMaster1.xml" Id="R9b5d94e48e404da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95ea80836c4617" /><Relationship Type="http://schemas.openxmlformats.org/officeDocument/2006/relationships/notesMaster" Target="/ppt/notesMasters/notesMaster1.xml" Id="R373dcc7458bc43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Opening</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The current shared proposal still needs exact authored definitions before a full placement build can follow it without guessing. This run stops dependent placement and executes the defined CRS discovery and composition behavior in three independent readers.</a:t>
            </a:r>
          </a:p>
          <a:p xmlns:a="http://schemas.openxmlformats.org/drawingml/2006/main">
            <a:r>
              <a:t/>
            </a:r>
          </a:p>
          <a:p xmlns:a="http://schemas.openxmlformats.org/drawingml/2006/main">
            <a:r>
              <a:t>The editorial revision closes obsolete interface and transform-authoring contradictions. The remaining audit identifies eight narrower missing contracts and one existing 3D-versus-2D example inconsistency. It does not reopen agreed functional outcomes or treat internal implementation methods as standardized data.</a:t>
            </a:r>
          </a:p>
          <a:p xmlns:a="http://schemas.openxmlformats.org/drawingml/2006/main">
            <a:r>
              <a:t/>
            </a:r>
          </a:p>
          <a:p xmlns:a="http://schemas.openxmlformats.org/drawingml/2006/main">
            <a:r>
              <a:t>Fresh evidence: 15 tests passed. Each reader passed 12 cases and 19 queries, giving 57 reader/query checks. Source layers and fixture bytes remained unchanged. This run executed zero projection or placement jobs and produced no resolved 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What is already settled</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Geographic source positions and geographic coordinate queries are supported. Site calibration lives in a derived CRS definition. Engines select applicable operations, manage resources and report operation accuracy or visible failure. Explicit export preserves values, associations and sampling meaning. Coordinate epochs remain roadmap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Missing authored representation</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Questions 2, 10, 11, 12 and 14 retain the specific representation work. The dimensionality inconsistency is existing proposal text, not a new restriction invented by this run. The fixtures use complete 3D definitions copied unchanged from the proposal.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Missing observable definitions</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Operation accuracy, numerical agreement and approximation over an extent are different claims. A full placement-chain accuracy estimate is not a requirement-28 obligation. Internal differentiation, caching or adapter design is implementation freedom. Missing consumer tests are verification work, not new design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A concrete composition result</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The independent descendant keeps its own source CRS when the scene is referenced into an assembly. An unmarked WKT property does not establish a new binding. A stronger layer can override the enclosing composed definition without changing the independent child. Equivalent composed data keeps this interpretation after ordinary flattening. This is CRS discovery, not computed geospatial placement or resolved export.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What this run executed</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Headless OpenUSD, independently written native C++ OpenUSD and a live OV stage each match authored expectations. The readers do not import one another's discovery function. Native discovery does not exercise Hydra placement. Live OV discovery does not ingest resolved geometry. The 15 tests also check the readiness gate, fixture field ownership and the previous resolver's incompatibility.</a:t>
            </a:r>
          </a:p>
          <a:p xmlns:a="http://schemas.openxmlformats.org/drawingml/2006/main">
            <a:r>
              <a:t/>
            </a:r>
          </a:p>
          <a:p xmlns:a="http://schemas.openxmlformats.org/drawingml/2006/main">
            <a:r>
              <a:t>Partial checks reject absent binding, a broken nearest binding, wrong WKT type or variability and an empty definition. A broken nearest binding cannot fall back to an enclosing CRS. Available enclosing scope remains readable with a payload unloaded; content absent from that payload fails. These checks do not certify WKT normalization, the dependency declaration or whole-asset conformance.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Derived from README.md section: Why earlier passing tests were insufficient</a:t>
            </a:r>
          </a:p>
          <a:p xmlns:a="http://schemas.openxmlformats.org/drawingml/2006/main">
            <a:r>
              <a:t>README SHA-256: 8f0794252dfaf20987e91d9105eea3c27c08d53a39966ee10e3e6661351c9104</a:t>
            </a:r>
          </a:p>
          <a:p xmlns:a="http://schemas.openxmlformats.org/drawingml/2006/main">
            <a:r>
              <a:t>Execution receipt SHA-256: 3c05a1c04f708c147e0167cb7cc1f5ddfbf7eced6d0ceaaa6fef82d670dacbc7</a:t>
            </a:r>
          </a:p>
          <a:p xmlns:a="http://schemas.openxmlformats.org/drawingml/2006/main">
            <a:r>
              <a:t>Executed source commit: d1746ce725999e2a472df6c6dee13a804ff732e2</a:t>
            </a:r>
          </a:p>
          <a:p xmlns:a="http://schemas.openxmlformats.org/drawingml/2006/main">
            <a:r>
              <a:t/>
            </a:r>
          </a:p>
          <a:p xmlns:a="http://schemas.openxmlformats.org/drawingml/2006/main">
            <a:r>
              <a:t>The earlier freeze pinned private experimental answers, then tested code against those answers. A requirements-only intake excluded contradictory design text. Execution results became the headline despite known specification dependencies.</a:t>
            </a:r>
          </a:p>
          <a:p xmlns:a="http://schemas.openxmlformats.org/drawingml/2006/main">
            <a:r>
              <a:t/>
            </a:r>
          </a:p>
          <a:p xmlns:a="http://schemas.openxmlformats.org/drawingml/2006/main">
            <a:r>
              <a:t>The prior relationship-based placement reader fails a reference-binding fixture from the shared proposal. This run exposes that mismatch and excludes the old placement candidate. Passing tests cannot substitute a private model for the shared data contract.</a:t>
            </a:r>
          </a:p>
          <a:p xmlns:a="http://schemas.openxmlformats.org/drawingml/2006/main">
            <a:r>
              <a:t/>
            </a:r>
          </a:p>
          <a:p xmlns:a="http://schemas.openxmlformats.org/drawingml/2006/main">
            <a:r>
              <a:t>The default gate now stops dependent execution. It still finishes independently specified checks and delivers their receipt. No previous render, projected coordinate, export or test count is presented as evidence from this run. The remaining blockers are the named proposal contracts, not deferred mechanical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90bfe9514947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1dbbaa49734270" /><Relationship Type="http://schemas.openxmlformats.org/officeDocument/2006/relationships/slideLayout" Target="/ppt/slideLayouts/slideLayout1.xml" Id="R4fdc1eb2369f49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fdc1eb2369f49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e342a21ec954455" /><Relationship Type="http://schemas.openxmlformats.org/officeDocument/2006/relationships/notesSlide" Target="/ppt/notesSlides/notesSlide1.xml" Id="R7be7ba4915c241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714532dc154321" /><Relationship Type="http://schemas.openxmlformats.org/officeDocument/2006/relationships/notesSlide" Target="/ppt/notesSlides/notesSlide2.xml" Id="R9f436de15fd7435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0e843bc77e04f4f" /><Relationship Type="http://schemas.openxmlformats.org/officeDocument/2006/relationships/notesSlide" Target="/ppt/notesSlides/notesSlide3.xml" Id="R44159bdf848045d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36f37d1171148b9" /><Relationship Type="http://schemas.openxmlformats.org/officeDocument/2006/relationships/notesSlide" Target="/ppt/notesSlides/notesSlide4.xml" Id="R13ec01112f6341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97c710bbdf46fc" /><Relationship Type="http://schemas.openxmlformats.org/officeDocument/2006/relationships/notesSlide" Target="/ppt/notesSlides/notesSlide5.xml" Id="Rb3db47401b0d4e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0fb0f40db6549cb" /><Relationship Type="http://schemas.openxmlformats.org/officeDocument/2006/relationships/notesSlide" Target="/ppt/notesSlides/notesSlide6.xml" Id="R6be345df6e644e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a41bbe40fb74430" /><Relationship Type="http://schemas.openxmlformats.org/officeDocument/2006/relationships/notesSlide" Target="/ppt/notesSlides/notesSlide7.xml" Id="Rbf5717c49abd4eb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AA75507-E850-4890-B1B6-72ADD8027CDC}"/>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Geospatial: defined CRS binding, blocked placement</a:t>
            </a:r>
          </a:p>
        </p:txBody>
      </p:sp>
      <p:sp>
        <p:nvSpPr>
          <p:cNvPr id="2" name="">
            <a:extLst xmlns:a="http://schemas.openxmlformats.org/drawingml/2006/main">
              <a:ext uri="{FF2B5EF4-FFF2-40B4-BE49-F238E27FC236}">
                <a16:creationId xmlns:a16="http://schemas.microsoft.com/office/drawing/2014/main" id="{5C4A0A41-69AC-4076-92E1-7ED99804212F}"/>
              </a:ext>
            </a:extLst>
          </p:cNvPr>
          <p:cNvSpPr>
            <a:spLocks xmlns:a="http://schemas.openxmlformats.org/drawingml/2006/main" noGrp="1"/>
          </p:cNvSpPr>
          <p:nvPr/>
        </p:nvSpPr>
        <p:spPr>
          <a:xfrm xmlns:a="http://schemas.openxmlformats.org/drawingml/2006/main">
            <a:off x="609600" y="1562100"/>
            <a:ext cx="10972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3542"/>
                </a:solidFill>
                <a:latin typeface="Arial"/>
                <a:ea typeface="Arial"/>
                <a:cs typeface="Arial"/>
              </a:defRPr>
            </a:pPr>
            <a:r>
              <a:rPr sz="2175" b="0">
                <a:solidFill>
                  <a:srgbClr val="233542"/>
                </a:solidFill>
                <a:latin typeface="Arial"/>
                <a:ea typeface="Arial"/>
                <a:cs typeface="Arial"/>
              </a:rPr>
              <a:t>The current shared proposal still needs exact authored definitions before a full placement build can follow it without guessing. This run stops dependent placement and executes the defined CRS discovery and composition behavior in three independent readers.</a:t>
            </a:r>
          </a:p>
        </p:txBody>
      </p:sp>
      <p:sp>
        <p:nvSpPr>
          <p:cNvPr id="3" name="">
            <a:extLst xmlns:a="http://schemas.openxmlformats.org/drawingml/2006/main">
              <a:ext uri="{FF2B5EF4-FFF2-40B4-BE49-F238E27FC236}">
                <a16:creationId xmlns:a16="http://schemas.microsoft.com/office/drawing/2014/main" id="{1F14BFC5-62EB-46A2-B3FB-FBCC51CB955C}"/>
              </a:ext>
            </a:extLst>
          </p:cNvPr>
          <p:cNvSpPr>
            <a:spLocks xmlns:a="http://schemas.openxmlformats.org/drawingml/2006/main" noGrp="1"/>
          </p:cNvSpPr>
          <p:nvPr/>
        </p:nvSpPr>
        <p:spPr>
          <a:xfrm xmlns:a="http://schemas.openxmlformats.org/drawingml/2006/main">
            <a:off x="609600" y="31813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3542"/>
                </a:solidFill>
                <a:latin typeface="Arial"/>
                <a:ea typeface="Arial"/>
                <a:cs typeface="Arial"/>
              </a:defRPr>
            </a:pPr>
            <a:r>
              <a:rPr sz="2175" b="0">
                <a:solidFill>
                  <a:srgbClr val="233542"/>
                </a:solidFill>
                <a:latin typeface="Arial"/>
                <a:ea typeface="Arial"/>
                <a:cs typeface="Arial"/>
              </a:rPr>
              <a:t>The editorial revision closes obsolete interface and transform-authoring contradictions. The remaining audit identifies eight narrower missing contracts and one existing 3D-versus-2D example inconsistency. It does not reopen agreed functional outcomes or treat internal implementation methods as standardized data.</a:t>
            </a:r>
          </a:p>
        </p:txBody>
      </p:sp>
      <p:sp>
        <p:nvSpPr>
          <p:cNvPr id="4" name="">
            <a:extLst xmlns:a="http://schemas.openxmlformats.org/drawingml/2006/main">
              <a:ext uri="{FF2B5EF4-FFF2-40B4-BE49-F238E27FC236}">
                <a16:creationId xmlns:a16="http://schemas.microsoft.com/office/drawing/2014/main" id="{D226E867-1AD9-4104-8900-FAAEA496E2D3}"/>
              </a:ext>
            </a:extLst>
          </p:cNvPr>
          <p:cNvSpPr>
            <a:spLocks xmlns:a="http://schemas.openxmlformats.org/drawingml/2006/main" noGrp="1"/>
          </p:cNvSpPr>
          <p:nvPr/>
        </p:nvSpPr>
        <p:spPr>
          <a:xfrm xmlns:a="http://schemas.openxmlformats.org/drawingml/2006/main">
            <a:off x="609600" y="4991100"/>
            <a:ext cx="109728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233542"/>
                </a:solidFill>
                <a:latin typeface="Arial"/>
                <a:ea typeface="Arial"/>
                <a:cs typeface="Arial"/>
              </a:defRPr>
            </a:pPr>
            <a:r>
              <a:rPr sz="2175" b="0">
                <a:solidFill>
                  <a:srgbClr val="233542"/>
                </a:solidFill>
                <a:latin typeface="Arial"/>
                <a:ea typeface="Arial"/>
                <a:cs typeface="Arial"/>
              </a:rPr>
              <a:t>Fresh evidence: 15 tests passed. Each reader passed 12 cases and 19 queries, giving 57 reader/query checks. Source layers and fixture bytes remained unchanged. This run executed zero projection or placement jobs and produced no resolved export.</a:t>
            </a:r>
          </a:p>
        </p:txBody>
      </p:sp>
    </p:spTree>
    <p:extLst>
      <p:ext uri="{BB962C8B-B14F-4D97-AF65-F5344CB8AC3E}">
        <p14:creationId xmlns:p14="http://schemas.microsoft.com/office/powerpoint/2010/main" val="133167839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7FA3A30-0772-42CF-A15D-26CC5BF7CCEC}"/>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What is already settled</a:t>
            </a:r>
          </a:p>
        </p:txBody>
      </p:sp>
      <p:graphicFrame>
        <p:nvGraphicFramePr>
          <p:cNvPr id="5" name=""/>
          <p:cNvGraphicFramePr/>
          <p:nvPr/>
        </p:nvGraphicFramePr>
        <p:xfrm>
          <a:off xmlns:a="http://schemas.openxmlformats.org/drawingml/2006/main" x="609600" y="1562100"/>
          <a:ext xmlns:a="http://schemas.openxmlformats.org/drawingml/2006/main" cx="10972800" cy="4114800"/>
        </p:xfrm>
        <a:graphic xmlns:a="http://schemas.openxmlformats.org/drawingml/2006/main">
          <a:graphicData uri="http://schemas.openxmlformats.org/drawingml/2006/table">
            <a:tbl>
              <a:tblPr firstRow="1" bandRow="0"/>
              <a:tblGrid>
                <a:gridCol w="3238500"/>
                <a:gridCol w="7734300"/>
              </a:tblGrid>
              <a:tr h="685800">
                <a:tc>
                  <a:txBody>
                    <a:bodyPr>
                      <a:noAutofit/>
                    </a:bodyPr>
                    <a:lstStyle/>
                    <a:p>
                      <a:r>
                        <a:rPr sz="1800" b="1">
                          <a:solidFill>
                            <a:srgbClr val="FFFFFF"/>
                          </a:solidFill>
                          <a:latin typeface="Arial"/>
                          <a:ea typeface="Arial"/>
                          <a:cs typeface="Arial"/>
                        </a:rPr>
                        <a:t>Authored fact or outcome</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Existing answer</a:t>
                      </a:r>
                    </a:p>
                  </a:txBody>
                  <a:tcPr marL="91440" marR="91440" marT="45720" marB="45720">
                    <a:solidFill>
                      <a:srgbClr val="233542"/>
                    </a:solidFill>
                  </a:tcPr>
                </a:tc>
              </a:tr>
              <a:tr h="685800">
                <a:tc>
                  <a:txBody>
                    <a:bodyPr>
                      <a:noAutofit/>
                    </a:bodyPr>
                    <a:lstStyle/>
                    <a:p>
                      <a:r>
                        <a:rPr sz="1800" b="0">
                          <a:solidFill>
                            <a:srgbClr val="233542"/>
                          </a:solidFill>
                          <a:latin typeface="Arial"/>
                          <a:ea typeface="Arial"/>
                          <a:cs typeface="Arial"/>
                        </a:rPr>
                        <a:t>CRS authority</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Complete WKT is authoritative. The typed definition stores uniform token crs:wkt.</a:t>
                      </a:r>
                    </a:p>
                  </a:txBody>
                  <a:tcPr marL="91440" marR="91440" marT="45720" marB="45720">
                    <a:solidFill>
                      <a:srgbClr val="FFFFFF"/>
                    </a:solidFill>
                  </a:tcPr>
                </a:tc>
              </a:tr>
              <a:tr h="685800">
                <a:tc>
                  <a:txBody>
                    <a:bodyPr>
                      <a:noAutofit/>
                    </a:bodyPr>
                    <a:lstStyle/>
                    <a:p>
                      <a:r>
                        <a:rPr sz="1800" b="0">
                          <a:solidFill>
                            <a:srgbClr val="233542"/>
                          </a:solidFill>
                          <a:latin typeface="Arial"/>
                          <a:ea typeface="Arial"/>
                          <a:cs typeface="Arial"/>
                        </a:rPr>
                        <a:t>Binding and composition</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Applied binding uses a CRS reference. Nearest direct binding defines composed subtree scope.</a:t>
                      </a:r>
                    </a:p>
                  </a:txBody>
                  <a:tcPr marL="91440" marR="91440" marT="45720" marB="45720">
                    <a:solidFill>
                      <a:srgbClr val="FFFFFF"/>
                    </a:solidFill>
                  </a:tcPr>
                </a:tc>
              </a:tr>
              <a:tr h="685800">
                <a:tc>
                  <a:txBody>
                    <a:bodyPr>
                      <a:noAutofit/>
                    </a:bodyPr>
                    <a:lstStyle/>
                    <a:p>
                      <a:r>
                        <a:rPr sz="1800" b="0">
                          <a:solidFill>
                            <a:srgbClr val="233542"/>
                          </a:solidFill>
                          <a:latin typeface="Arial"/>
                          <a:ea typeface="Arial"/>
                          <a:cs typeface="Arial"/>
                        </a:rPr>
                        <a:t>Placement order</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Separate CRS position, orientation and scale resolve before ordinary USD transforms.</a:t>
                      </a:r>
                    </a:p>
                  </a:txBody>
                  <a:tcPr marL="91440" marR="91440" marT="45720" marB="45720">
                    <a:solidFill>
                      <a:srgbClr val="FFFFFF"/>
                    </a:solidFill>
                  </a:tcPr>
                </a:tc>
              </a:tr>
              <a:tr h="685800">
                <a:tc>
                  <a:txBody>
                    <a:bodyPr>
                      <a:noAutofit/>
                    </a:bodyPr>
                    <a:lstStyle/>
                    <a:p>
                      <a:r>
                        <a:rPr sz="1800" b="0">
                          <a:solidFill>
                            <a:srgbClr val="233542"/>
                          </a:solidFill>
                          <a:latin typeface="Arial"/>
                          <a:ea typeface="Arial"/>
                          <a:cs typeface="Arial"/>
                        </a:rPr>
                        <a:t>Source and output</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Preserve source facts and adjusted physical placement. The consumer selects the output CRS.</a:t>
                      </a:r>
                    </a:p>
                  </a:txBody>
                  <a:tcPr marL="91440" marR="91440" marT="45720" marB="45720">
                    <a:solidFill>
                      <a:srgbClr val="FFFFFF"/>
                    </a:solidFill>
                  </a:tcPr>
                </a:tc>
              </a:tr>
              <a:tr h="685800">
                <a:tc>
                  <a:txBody>
                    <a:bodyPr>
                      <a:noAutofit/>
                    </a:bodyPr>
                    <a:lstStyle/>
                    <a:p>
                      <a:r>
                        <a:rPr sz="1800" b="0">
                          <a:solidFill>
                            <a:srgbClr val="233542"/>
                          </a:solidFill>
                          <a:latin typeface="Arial"/>
                          <a:ea typeface="Arial"/>
                          <a:cs typeface="Arial"/>
                        </a:rPr>
                        <a:t>Stage conventions</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Writers or assemblers author unit/up-axis correctives. Readers honor ordinary USD data.</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58CBA51-9A5E-4B7B-98FA-28A5D74050D7}"/>
              </a:ext>
            </a:extLst>
          </p:cNvPr>
          <p:cNvSpPr>
            <a:spLocks xmlns:a="http://schemas.openxmlformats.org/drawingml/2006/main" noGrp="1"/>
          </p:cNvSpPr>
          <p:nvPr/>
        </p:nvSpPr>
        <p:spPr>
          <a:xfrm xmlns:a="http://schemas.openxmlformats.org/drawingml/2006/main">
            <a:off x="609600" y="59055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Geographic source positions and geographic coordinate queries are supported. Site calibration lives in a derived CRS definition.</a:t>
            </a:r>
          </a:p>
        </p:txBody>
      </p:sp>
    </p:spTree>
    <p:extLst>
      <p:ext uri="{BB962C8B-B14F-4D97-AF65-F5344CB8AC3E}">
        <p14:creationId xmlns:p14="http://schemas.microsoft.com/office/powerpoint/2010/main" val="7375903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4BBA167-9E02-417F-A399-F98422C51514}"/>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Missing authored representation</a:t>
            </a:r>
          </a:p>
        </p:txBody>
      </p:sp>
      <p:graphicFrame>
        <p:nvGraphicFramePr>
          <p:cNvPr id="5" name=""/>
          <p:cNvGraphicFramePr/>
          <p:nvPr/>
        </p:nvGraphicFramePr>
        <p:xfrm>
          <a:off xmlns:a="http://schemas.openxmlformats.org/drawingml/2006/main" x="609600" y="1562100"/>
          <a:ext xmlns:a="http://schemas.openxmlformats.org/drawingml/2006/main" cx="10972800" cy="4095750"/>
        </p:xfrm>
        <a:graphic xmlns:a="http://schemas.openxmlformats.org/drawingml/2006/main">
          <a:graphicData uri="http://schemas.openxmlformats.org/drawingml/2006/table">
            <a:tbl>
              <a:tblPr firstRow="1" bandRow="0"/>
              <a:tblGrid>
                <a:gridCol w="3333750"/>
                <a:gridCol w="7639050"/>
              </a:tblGrid>
              <a:tr h="585107">
                <a:tc>
                  <a:txBody>
                    <a:bodyPr>
                      <a:noAutofit/>
                    </a:bodyPr>
                    <a:lstStyle/>
                    <a:p>
                      <a:r>
                        <a:rPr sz="1725" b="1">
                          <a:solidFill>
                            <a:srgbClr val="FFFFFF"/>
                          </a:solidFill>
                          <a:latin typeface="Arial"/>
                          <a:ea typeface="Arial"/>
                          <a:cs typeface="Arial"/>
                        </a:rPr>
                        <a:t>Audit category</a:t>
                      </a:r>
                    </a:p>
                  </a:txBody>
                  <a:tcPr marL="91440" marR="91440" marT="45720" marB="45720">
                    <a:solidFill>
                      <a:srgbClr val="233542"/>
                    </a:solidFill>
                  </a:tcPr>
                </a:tc>
                <a:tc>
                  <a:txBody>
                    <a:bodyPr>
                      <a:noAutofit/>
                    </a:bodyPr>
                    <a:lstStyle/>
                    <a:p>
                      <a:r>
                        <a:rPr sz="1725" b="1">
                          <a:solidFill>
                            <a:srgbClr val="FFFFFF"/>
                          </a:solidFill>
                          <a:latin typeface="Arial"/>
                          <a:ea typeface="Arial"/>
                          <a:cs typeface="Arial"/>
                        </a:rPr>
                        <a:t>Exact contract still required</a:t>
                      </a:r>
                    </a:p>
                  </a:txBody>
                  <a:tcPr marL="91440" marR="91440" marT="45720" marB="45720">
                    <a:solidFill>
                      <a:srgbClr val="233542"/>
                    </a:solidFill>
                  </a:tcPr>
                </a:tc>
              </a:tr>
              <a:tr h="585107">
                <a:tc>
                  <a:txBody>
                    <a:bodyPr>
                      <a:noAutofit/>
                    </a:bodyPr>
                    <a:lstStyle/>
                    <a:p>
                      <a:r>
                        <a:rPr sz="1725" b="0">
                          <a:solidFill>
                            <a:srgbClr val="233542"/>
                          </a:solidFill>
                          <a:latin typeface="Arial"/>
                          <a:ea typeface="Arial"/>
                          <a:cs typeface="Arial"/>
                        </a:rPr>
                        <a:t>G02: placement fields</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Names, types, defaults/requiredness, applicability, orientation/scale bases and mutual order.</a:t>
                      </a:r>
                    </a:p>
                  </a:txBody>
                  <a:tcPr marL="91440" marR="91440" marT="45720" marB="45720">
                    <a:solidFill>
                      <a:srgbClr val="FFFFFF"/>
                    </a:solidFill>
                  </a:tcPr>
                </a:tc>
              </a:tr>
              <a:tr h="585107">
                <a:tc>
                  <a:txBody>
                    <a:bodyPr>
                      <a:noAutofit/>
                    </a:bodyPr>
                    <a:lstStyle/>
                    <a:p>
                      <a:r>
                        <a:rPr sz="1725" b="0">
                          <a:solidFill>
                            <a:srgbClr val="233542"/>
                          </a:solidFill>
                          <a:latin typeface="Arial"/>
                          <a:ea typeface="Arial"/>
                          <a:cs typeface="Arial"/>
                        </a:rPr>
                        <a:t>G05: WKT string normalization</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A prescribed serialized normal form that preserves the represented information.</a:t>
                      </a:r>
                    </a:p>
                  </a:txBody>
                  <a:tcPr marL="91440" marR="91440" marT="45720" marB="45720">
                    <a:solidFill>
                      <a:srgbClr val="FFFFFF"/>
                    </a:solidFill>
                  </a:tcPr>
                </a:tc>
              </a:tr>
              <a:tr h="585107">
                <a:tc>
                  <a:txBody>
                    <a:bodyPr>
                      <a:noAutofit/>
                    </a:bodyPr>
                    <a:lstStyle/>
                    <a:p>
                      <a:r>
                        <a:rPr sz="1725" b="0">
                          <a:solidFill>
                            <a:srgbClr val="233542"/>
                          </a:solidFill>
                          <a:latin typeface="Arial"/>
                          <a:ea typeface="Arial"/>
                          <a:cs typeface="Arial"/>
                        </a:rPr>
                        <a:t>G06: measurement coordinates</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An authored association identifying source coordinates, including external assets.</a:t>
                      </a:r>
                    </a:p>
                  </a:txBody>
                  <a:tcPr marL="91440" marR="91440" marT="45720" marB="45720">
                    <a:solidFill>
                      <a:srgbClr val="FFFFFF"/>
                    </a:solidFill>
                  </a:tcPr>
                </a:tc>
              </a:tr>
              <a:tr h="585107">
                <a:tc>
                  <a:txBody>
                    <a:bodyPr>
                      <a:noAutofit/>
                    </a:bodyPr>
                    <a:lstStyle/>
                    <a:p>
                      <a:r>
                        <a:rPr sz="1725" b="0">
                          <a:solidFill>
                            <a:srgbClr val="233542"/>
                          </a:solidFill>
                          <a:latin typeface="Arial"/>
                          <a:ea typeface="Arial"/>
                          <a:cs typeface="Arial"/>
                        </a:rPr>
                        <a:t>G07: dependency declaration</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A carrier and composition rule readable without traversal, including unloaded content.</a:t>
                      </a:r>
                    </a:p>
                  </a:txBody>
                  <a:tcPr marL="91440" marR="91440" marT="45720" marB="45720">
                    <a:solidFill>
                      <a:srgbClr val="FFFFFF"/>
                    </a:solidFill>
                  </a:tcPr>
                </a:tc>
              </a:tr>
              <a:tr h="585107">
                <a:tc>
                  <a:txBody>
                    <a:bodyPr>
                      <a:noAutofit/>
                    </a:bodyPr>
                    <a:lstStyle/>
                    <a:p>
                      <a:r>
                        <a:rPr sz="1725" b="0">
                          <a:solidFill>
                            <a:srgbClr val="233542"/>
                          </a:solidFill>
                          <a:latin typeface="Arial"/>
                          <a:ea typeface="Arial"/>
                          <a:cs typeface="Arial"/>
                        </a:rPr>
                        <a:t>G09: export sampling</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A record distinguishing exported-sample interpolation from original-source resolution.</a:t>
                      </a:r>
                    </a:p>
                  </a:txBody>
                  <a:tcPr marL="91440" marR="91440" marT="45720" marB="45720">
                    <a:solidFill>
                      <a:srgbClr val="FFFFFF"/>
                    </a:solidFill>
                  </a:tcPr>
                </a:tc>
              </a:tr>
              <a:tr h="585107">
                <a:tc>
                  <a:txBody>
                    <a:bodyPr>
                      <a:noAutofit/>
                    </a:bodyPr>
                    <a:lstStyle/>
                    <a:p>
                      <a:r>
                        <a:rPr sz="1725" b="0">
                          <a:solidFill>
                            <a:srgbClr val="233542"/>
                          </a:solidFill>
                          <a:latin typeface="Arial"/>
                          <a:ea typeface="Arial"/>
                          <a:cs typeface="Arial"/>
                        </a:rPr>
                        <a:t>G10: existing inconsistency</a:t>
                      </a:r>
                    </a:p>
                  </a:txBody>
                  <a:tcPr marL="91440" marR="91440" marT="45720" marB="45720">
                    <a:solidFill>
                      <a:srgbClr val="FFFFFF"/>
                    </a:solidFill>
                  </a:tcPr>
                </a:tc>
                <a:tc>
                  <a:txBody>
                    <a:bodyPr>
                      <a:noAutofit/>
                    </a:bodyPr>
                    <a:lstStyle/>
                    <a:p>
                      <a:r>
                        <a:rPr sz="1725" b="0">
                          <a:solidFill>
                            <a:srgbClr val="233542"/>
                          </a:solidFill>
                          <a:latin typeface="Arial"/>
                          <a:ea typeface="Arial"/>
                          <a:cs typeface="Arial"/>
                        </a:rPr>
                        <a:t>Reconcile the 3D scope statement with two-axis WKT examples without silently broadening scope.</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8835F3B-3523-4D7A-A798-7A5115D4FDD2}"/>
              </a:ext>
            </a:extLst>
          </p:cNvPr>
          <p:cNvSpPr>
            <a:spLocks xmlns:a="http://schemas.openxmlformats.org/drawingml/2006/main" noGrp="1"/>
          </p:cNvSpPr>
          <p:nvPr/>
        </p:nvSpPr>
        <p:spPr>
          <a:xfrm xmlns:a="http://schemas.openxmlformats.org/drawingml/2006/main">
            <a:off x="609600" y="58864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Questions 2, 10, 11, 12 and 14 retain the specific representation work.</a:t>
            </a:r>
          </a:p>
        </p:txBody>
      </p:sp>
    </p:spTree>
    <p:extLst>
      <p:ext uri="{BB962C8B-B14F-4D97-AF65-F5344CB8AC3E}">
        <p14:creationId xmlns:p14="http://schemas.microsoft.com/office/powerpoint/2010/main" val="63557824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F0971EC-F004-4A08-B201-E5F7F1E2F91F}"/>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Missing observable definitions</a:t>
            </a:r>
          </a:p>
        </p:txBody>
      </p:sp>
      <p:graphicFrame>
        <p:nvGraphicFramePr>
          <p:cNvPr id="5" name=""/>
          <p:cNvGraphicFramePr/>
          <p:nvPr/>
        </p:nvGraphicFramePr>
        <p:xfrm>
          <a:off xmlns:a="http://schemas.openxmlformats.org/drawingml/2006/main" x="609600" y="1562100"/>
          <a:ext xmlns:a="http://schemas.openxmlformats.org/drawingml/2006/main" cx="10972800" cy="2952750"/>
        </p:xfrm>
        <a:graphic xmlns:a="http://schemas.openxmlformats.org/drawingml/2006/main">
          <a:graphicData uri="http://schemas.openxmlformats.org/drawingml/2006/table">
            <a:tbl>
              <a:tblPr firstRow="1" bandRow="0"/>
              <a:tblGrid>
                <a:gridCol w="3524250"/>
                <a:gridCol w="7448550"/>
              </a:tblGrid>
              <a:tr h="738188">
                <a:tc>
                  <a:txBody>
                    <a:bodyPr>
                      <a:noAutofit/>
                    </a:bodyPr>
                    <a:lstStyle/>
                    <a:p>
                      <a:r>
                        <a:rPr sz="1875" b="1">
                          <a:solidFill>
                            <a:srgbClr val="FFFFFF"/>
                          </a:solidFill>
                          <a:latin typeface="Arial"/>
                          <a:ea typeface="Arial"/>
                          <a:cs typeface="Arial"/>
                        </a:rPr>
                        <a:t>Audit category</a:t>
                      </a:r>
                    </a:p>
                  </a:txBody>
                  <a:tcPr marL="91440" marR="91440" marT="45720" marB="45720">
                    <a:solidFill>
                      <a:srgbClr val="233542"/>
                    </a:solidFill>
                  </a:tcPr>
                </a:tc>
                <a:tc>
                  <a:txBody>
                    <a:bodyPr>
                      <a:noAutofit/>
                    </a:bodyPr>
                    <a:lstStyle/>
                    <a:p>
                      <a:r>
                        <a:rPr sz="1875" b="1">
                          <a:solidFill>
                            <a:srgbClr val="FFFFFF"/>
                          </a:solidFill>
                          <a:latin typeface="Arial"/>
                          <a:ea typeface="Arial"/>
                          <a:cs typeface="Arial"/>
                        </a:rPr>
                        <a:t>Agreed outcome and narrower missing meaning</a:t>
                      </a:r>
                    </a:p>
                  </a:txBody>
                  <a:tcPr marL="91440" marR="91440" marT="45720" marB="45720">
                    <a:solidFill>
                      <a:srgbClr val="233542"/>
                    </a:solidFill>
                  </a:tcPr>
                </a:tc>
              </a:tr>
              <a:tr h="738188">
                <a:tc>
                  <a:txBody>
                    <a:bodyPr>
                      <a:noAutofit/>
                    </a:bodyPr>
                    <a:lstStyle/>
                    <a:p>
                      <a:r>
                        <a:rPr sz="1875" b="0">
                          <a:solidFill>
                            <a:srgbClr val="233542"/>
                          </a:solidFill>
                          <a:latin typeface="Arial"/>
                          <a:ea typeface="Arial"/>
                          <a:cs typeface="Arial"/>
                        </a:rPr>
                        <a:t>G03: project adjustments</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Post-placement adjustments preserve physical placement. Their authored coordinate frame remains undefined.</a:t>
                      </a:r>
                    </a:p>
                  </a:txBody>
                  <a:tcPr marL="91440" marR="91440" marT="45720" marB="45720">
                    <a:solidFill>
                      <a:srgbClr val="FFFFFF"/>
                    </a:solidFill>
                  </a:tcPr>
                </a:tc>
              </a:tr>
              <a:tr h="738188">
                <a:tc>
                  <a:txBody>
                    <a:bodyPr>
                      <a:noAutofit/>
                    </a:bodyPr>
                    <a:lstStyle/>
                    <a:p>
                      <a:r>
                        <a:rPr sz="1875" b="0">
                          <a:solidFill>
                            <a:srgbClr val="233542"/>
                          </a:solidFill>
                          <a:latin typeface="Arial"/>
                          <a:ea typeface="Arial"/>
                          <a:cs typeface="Arial"/>
                        </a:rPr>
                        <a:t>G04: components and scene domain</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E/N/up and geographic queries are settled. Other component mappings and geographic scene frames/bounds remain open.</a:t>
                      </a:r>
                    </a:p>
                  </a:txBody>
                  <a:tcPr marL="91440" marR="91440" marT="45720" marB="45720">
                    <a:solidFill>
                      <a:srgbClr val="FFFFFF"/>
                    </a:solidFill>
                  </a:tcPr>
                </a:tc>
              </a:tr>
              <a:tr h="738188">
                <a:tc>
                  <a:txBody>
                    <a:bodyPr>
                      <a:noAutofit/>
                    </a:bodyPr>
                    <a:lstStyle/>
                    <a:p>
                      <a:r>
                        <a:rPr sz="1875" b="0">
                          <a:solidFill>
                            <a:srgbClr val="233542"/>
                          </a:solidFill>
                          <a:latin typeface="Arial"/>
                          <a:ea typeface="Arial"/>
                          <a:cs typeface="Arial"/>
                        </a:rPr>
                        <a:t>G08: extent and agreement</a:t>
                      </a:r>
                    </a:p>
                  </a:txBody>
                  <a:tcPr marL="91440" marR="91440" marT="45720" marB="45720">
                    <a:solidFill>
                      <a:srgbClr val="FFFFFF"/>
                    </a:solidFill>
                  </a:tcPr>
                </a:tc>
                <a:tc>
                  <a:txBody>
                    <a:bodyPr>
                      <a:noAutofit/>
                    </a:bodyPr>
                    <a:lstStyle/>
                    <a:p>
                      <a:r>
                        <a:rPr sz="1875" b="0">
                          <a:solidFill>
                            <a:srgbClr val="233542"/>
                          </a:solidFill>
                          <a:latin typeface="Arial"/>
                          <a:ea typeface="Arial"/>
                          <a:cs typeface="Arial"/>
                        </a:rPr>
                        <a:t>State the approximation domain, how the claim is satisfied and how comparable operations are measured.</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7067724D-30B3-43B3-8420-0B95B7DB6ED5}"/>
              </a:ext>
            </a:extLst>
          </p:cNvPr>
          <p:cNvSpPr>
            <a:spLocks xmlns:a="http://schemas.openxmlformats.org/drawingml/2006/main" noGrp="1"/>
          </p:cNvSpPr>
          <p:nvPr/>
        </p:nvSpPr>
        <p:spPr>
          <a:xfrm xmlns:a="http://schemas.openxmlformats.org/drawingml/2006/main">
            <a:off x="609600" y="4743450"/>
            <a:ext cx="10972800" cy="1828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Operation accuracy, numerical agreement and approximation over an extent are different claims. A full placement-chain accuracy estimate is not a requirement-28 obligation. Internal differentiation, caching or adapter design is implementation freedom. Missing consumer tests are verification work, not new design questions.</a:t>
            </a:r>
          </a:p>
        </p:txBody>
      </p:sp>
    </p:spTree>
    <p:extLst>
      <p:ext uri="{BB962C8B-B14F-4D97-AF65-F5344CB8AC3E}">
        <p14:creationId xmlns:p14="http://schemas.microsoft.com/office/powerpoint/2010/main" val="20540697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856C54F-7B27-4301-AA12-7781FA456691}"/>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A concrete composition result</a:t>
            </a:r>
          </a:p>
        </p:txBody>
      </p:sp>
      <p:graphicFrame>
        <p:nvGraphicFramePr>
          <p:cNvPr id="5" name=""/>
          <p:cNvGraphicFramePr/>
          <p:nvPr/>
        </p:nvGraphicFramePr>
        <p:xfrm>
          <a:off xmlns:a="http://schemas.openxmlformats.org/drawingml/2006/main" x="609600" y="1562100"/>
          <a:ext xmlns:a="http://schemas.openxmlformats.org/drawingml/2006/main" cx="10972800" cy="3238500"/>
        </p:xfrm>
        <a:graphic xmlns:a="http://schemas.openxmlformats.org/drawingml/2006/main">
          <a:graphicData uri="http://schemas.openxmlformats.org/drawingml/2006/table">
            <a:tbl>
              <a:tblPr firstRow="1" bandRow="0"/>
              <a:tblGrid>
                <a:gridCol w="4572000"/>
                <a:gridCol w="3143250"/>
                <a:gridCol w="3257550"/>
              </a:tblGrid>
              <a:tr h="647700">
                <a:tc>
                  <a:txBody>
                    <a:bodyPr>
                      <a:noAutofit/>
                    </a:bodyPr>
                    <a:lstStyle/>
                    <a:p>
                      <a:r>
                        <a:rPr sz="1800" b="1">
                          <a:solidFill>
                            <a:srgbClr val="FFFFFF"/>
                          </a:solidFill>
                          <a:latin typeface="Arial"/>
                          <a:ea typeface="Arial"/>
                          <a:cs typeface="Arial"/>
                        </a:rPr>
                        <a:t>Queried prim</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Nearest direct binding</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Returned definition</a:t>
                      </a:r>
                    </a:p>
                  </a:txBody>
                  <a:tcPr marL="91440" marR="91440" marT="45720" marB="45720">
                    <a:solidFill>
                      <a:srgbClr val="233542"/>
                    </a:solidFill>
                  </a:tcPr>
                </a:tc>
              </a:tr>
              <a:tr h="647700">
                <a:tc>
                  <a:txBody>
                    <a:bodyPr>
                      <a:noAutofit/>
                    </a:bodyPr>
                    <a:lstStyle/>
                    <a:p>
                      <a:r>
                        <a:rPr sz="1800" b="0">
                          <a:solidFill>
                            <a:srgbClr val="233542"/>
                          </a:solidFill>
                          <a:latin typeface="Arial"/>
                          <a:ea typeface="Arial"/>
                          <a:cs typeface="Arial"/>
                        </a:rPr>
                        <a:t>/World/Data</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/World</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Geocentric ITRF2020</a:t>
                      </a:r>
                    </a:p>
                  </a:txBody>
                  <a:tcPr marL="91440" marR="91440" marT="45720" marB="45720">
                    <a:solidFill>
                      <a:srgbClr val="FFFFFF"/>
                    </a:solidFill>
                  </a:tcPr>
                </a:tc>
              </a:tr>
              <a:tr h="647700">
                <a:tc>
                  <a:txBody>
                    <a:bodyPr>
                      <a:noAutofit/>
                    </a:bodyPr>
                    <a:lstStyle/>
                    <a:p>
                      <a:r>
                        <a:rPr sz="1800" b="0">
                          <a:solidFill>
                            <a:srgbClr val="233542"/>
                          </a:solidFill>
                          <a:latin typeface="Arial"/>
                          <a:ea typeface="Arial"/>
                          <a:cs typeface="Arial"/>
                        </a:rPr>
                        <a:t>/World/Independent/Data</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/World/Independent</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NAD83 grid with NAVD88 height</a:t>
                      </a:r>
                    </a:p>
                  </a:txBody>
                  <a:tcPr marL="91440" marR="91440" marT="45720" marB="45720">
                    <a:solidFill>
                      <a:srgbClr val="FFFFFF"/>
                    </a:solidFill>
                  </a:tcPr>
                </a:tc>
              </a:tr>
              <a:tr h="647700">
                <a:tc>
                  <a:txBody>
                    <a:bodyPr>
                      <a:noAutofit/>
                    </a:bodyPr>
                    <a:lstStyle/>
                    <a:p>
                      <a:r>
                        <a:rPr sz="1800" b="0">
                          <a:solidFill>
                            <a:srgbClr val="233542"/>
                          </a:solidFill>
                          <a:latin typeface="Arial"/>
                          <a:ea typeface="Arial"/>
                          <a:cs typeface="Arial"/>
                        </a:rPr>
                        <a:t>/World/Unmarked</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/World</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Geocentric ITRF2020</a:t>
                      </a:r>
                    </a:p>
                  </a:txBody>
                  <a:tcPr marL="91440" marR="91440" marT="45720" marB="45720">
                    <a:solidFill>
                      <a:srgbClr val="FFFFFF"/>
                    </a:solidFill>
                  </a:tcPr>
                </a:tc>
              </a:tr>
              <a:tr h="647700">
                <a:tc>
                  <a:txBody>
                    <a:bodyPr>
                      <a:noAutofit/>
                    </a:bodyPr>
                    <a:lstStyle/>
                    <a:p>
                      <a:r>
                        <a:rPr sz="1800" b="0">
                          <a:solidFill>
                            <a:srgbClr val="233542"/>
                          </a:solidFill>
                          <a:latin typeface="Arial"/>
                          <a:ea typeface="Arial"/>
                          <a:cs typeface="Arial"/>
                        </a:rPr>
                        <a:t>/Assembly/Independent/Data</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/Assembly/Independent</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NAD83 grid with NAVD88 height</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FBBE5CC8-5060-438A-A8E0-054B4F096E81}"/>
              </a:ext>
            </a:extLst>
          </p:cNvPr>
          <p:cNvSpPr>
            <a:spLocks xmlns:a="http://schemas.openxmlformats.org/drawingml/2006/main" noGrp="1"/>
          </p:cNvSpPr>
          <p:nvPr/>
        </p:nvSpPr>
        <p:spPr>
          <a:xfrm xmlns:a="http://schemas.openxmlformats.org/drawingml/2006/main">
            <a:off x="609600" y="5029200"/>
            <a:ext cx="10972800" cy="1543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The independent descendant keeps its own source CRS when the scene is referenced into an assembly. An unmarked WKT property does not establish a new binding.</a:t>
            </a:r>
          </a:p>
        </p:txBody>
      </p:sp>
    </p:spTree>
    <p:extLst>
      <p:ext uri="{BB962C8B-B14F-4D97-AF65-F5344CB8AC3E}">
        <p14:creationId xmlns:p14="http://schemas.microsoft.com/office/powerpoint/2010/main" val="25380828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F6F14438-97B9-4C98-928D-88DFB2A9FDD0}"/>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What this run executed</a:t>
            </a:r>
          </a:p>
        </p:txBody>
      </p:sp>
      <p:graphicFrame>
        <p:nvGraphicFramePr>
          <p:cNvPr id="5" name=""/>
          <p:cNvGraphicFramePr/>
          <p:nvPr/>
        </p:nvGraphicFramePr>
        <p:xfrm>
          <a:off xmlns:a="http://schemas.openxmlformats.org/drawingml/2006/main" x="609600" y="1562100"/>
          <a:ext xmlns:a="http://schemas.openxmlformats.org/drawingml/2006/main" cx="10972800" cy="3286125"/>
        </p:xfrm>
        <a:graphic xmlns:a="http://schemas.openxmlformats.org/drawingml/2006/main">
          <a:graphicData uri="http://schemas.openxmlformats.org/drawingml/2006/table">
            <a:tbl>
              <a:tblPr firstRow="1" bandRow="0"/>
              <a:tblGrid>
                <a:gridCol w="7810500"/>
                <a:gridCol w="1333500"/>
                <a:gridCol w="1828800"/>
              </a:tblGrid>
              <a:tr h="469446">
                <a:tc>
                  <a:txBody>
                    <a:bodyPr>
                      <a:noAutofit/>
                    </a:bodyPr>
                    <a:lstStyle/>
                    <a:p>
                      <a:r>
                        <a:rPr sz="1800" b="1">
                          <a:solidFill>
                            <a:srgbClr val="FFFFFF"/>
                          </a:solidFill>
                          <a:latin typeface="Arial"/>
                          <a:ea typeface="Arial"/>
                          <a:cs typeface="Arial"/>
                        </a:rPr>
                        <a:t>Control group</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Cases</a:t>
                      </a:r>
                    </a:p>
                  </a:txBody>
                  <a:tcPr marL="91440" marR="91440" marT="45720" marB="45720">
                    <a:solidFill>
                      <a:srgbClr val="233542"/>
                    </a:solidFill>
                  </a:tcPr>
                </a:tc>
                <a:tc>
                  <a:txBody>
                    <a:bodyPr>
                      <a:noAutofit/>
                    </a:bodyPr>
                    <a:lstStyle/>
                    <a:p>
                      <a:r>
                        <a:rPr sz="1800" b="1">
                          <a:solidFill>
                            <a:srgbClr val="FFFFFF"/>
                          </a:solidFill>
                          <a:latin typeface="Arial"/>
                          <a:ea typeface="Arial"/>
                          <a:cs typeface="Arial"/>
                        </a:rPr>
                        <a:t>Queries per reader</a:t>
                      </a:r>
                    </a:p>
                  </a:txBody>
                  <a:tcPr marL="91440" marR="91440" marT="45720" marB="45720">
                    <a:solidFill>
                      <a:srgbClr val="233542"/>
                    </a:solidFill>
                  </a:tcPr>
                </a:tc>
              </a:tr>
              <a:tr h="469446">
                <a:tc>
                  <a:txBody>
                    <a:bodyPr>
                      <a:noAutofit/>
                    </a:bodyPr>
                    <a:lstStyle/>
                    <a:p>
                      <a:r>
                        <a:rPr sz="1800" b="0">
                          <a:solidFill>
                            <a:srgbClr val="233542"/>
                          </a:solidFill>
                          <a:latin typeface="Arial"/>
                          <a:ea typeface="Arial"/>
                          <a:cs typeface="Arial"/>
                        </a:rPr>
                        <a:t>References and referenced assembly</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2</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6</a:t>
                      </a:r>
                    </a:p>
                  </a:txBody>
                  <a:tcPr marL="91440" marR="91440" marT="45720" marB="45720">
                    <a:solidFill>
                      <a:srgbClr val="FFFFFF"/>
                    </a:solidFill>
                  </a:tcPr>
                </a:tc>
              </a:tr>
              <a:tr h="469446">
                <a:tc>
                  <a:txBody>
                    <a:bodyPr>
                      <a:noAutofit/>
                    </a:bodyPr>
                    <a:lstStyle/>
                    <a:p>
                      <a:r>
                        <a:rPr sz="1800" b="0">
                          <a:solidFill>
                            <a:srgbClr val="233542"/>
                          </a:solidFill>
                          <a:latin typeface="Arial"/>
                          <a:ea typeface="Arial"/>
                          <a:cs typeface="Arial"/>
                        </a:rPr>
                        <a:t>Stronger layer, variant and inherits</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3</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4</a:t>
                      </a:r>
                    </a:p>
                  </a:txBody>
                  <a:tcPr marL="91440" marR="91440" marT="45720" marB="45720">
                    <a:solidFill>
                      <a:srgbClr val="FFFFFF"/>
                    </a:solidFill>
                  </a:tcPr>
                </a:tc>
              </a:tr>
              <a:tr h="469446">
                <a:tc>
                  <a:txBody>
                    <a:bodyPr>
                      <a:noAutofit/>
                    </a:bodyPr>
                    <a:lstStyle/>
                    <a:p>
                      <a:r>
                        <a:rPr sz="1800" b="0">
                          <a:solidFill>
                            <a:srgbClr val="233542"/>
                          </a:solidFill>
                          <a:latin typeface="Arial"/>
                          <a:ea typeface="Arial"/>
                          <a:cs typeface="Arial"/>
                        </a:rPr>
                        <a:t>Equivalent composed data</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1</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2</a:t>
                      </a:r>
                    </a:p>
                  </a:txBody>
                  <a:tcPr marL="91440" marR="91440" marT="45720" marB="45720">
                    <a:solidFill>
                      <a:srgbClr val="FFFFFF"/>
                    </a:solidFill>
                  </a:tcPr>
                </a:tc>
              </a:tr>
              <a:tr h="469446">
                <a:tc>
                  <a:txBody>
                    <a:bodyPr>
                      <a:noAutofit/>
                    </a:bodyPr>
                    <a:lstStyle/>
                    <a:p>
                      <a:r>
                        <a:rPr sz="1800" b="0">
                          <a:solidFill>
                            <a:srgbClr val="233542"/>
                          </a:solidFill>
                          <a:latin typeface="Arial"/>
                          <a:ea typeface="Arial"/>
                          <a:cs typeface="Arial"/>
                        </a:rPr>
                        <a:t>Unloaded payload</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1</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2</a:t>
                      </a:r>
                    </a:p>
                  </a:txBody>
                  <a:tcPr marL="91440" marR="91440" marT="45720" marB="45720">
                    <a:solidFill>
                      <a:srgbClr val="FFFFFF"/>
                    </a:solidFill>
                  </a:tcPr>
                </a:tc>
              </a:tr>
              <a:tr h="469446">
                <a:tc>
                  <a:txBody>
                    <a:bodyPr>
                      <a:noAutofit/>
                    </a:bodyPr>
                    <a:lstStyle/>
                    <a:p>
                      <a:r>
                        <a:rPr sz="1800" b="0">
                          <a:solidFill>
                            <a:srgbClr val="233542"/>
                          </a:solidFill>
                          <a:latin typeface="Arial"/>
                          <a:ea typeface="Arial"/>
                          <a:cs typeface="Arial"/>
                        </a:rPr>
                        <a:t>Missing, broken or invalid definitions</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5</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5</a:t>
                      </a:r>
                    </a:p>
                  </a:txBody>
                  <a:tcPr marL="91440" marR="91440" marT="45720" marB="45720">
                    <a:solidFill>
                      <a:srgbClr val="FFFFFF"/>
                    </a:solidFill>
                  </a:tcPr>
                </a:tc>
              </a:tr>
              <a:tr h="469446">
                <a:tc>
                  <a:txBody>
                    <a:bodyPr>
                      <a:noAutofit/>
                    </a:bodyPr>
                    <a:lstStyle/>
                    <a:p>
                      <a:r>
                        <a:rPr sz="1800" b="0">
                          <a:solidFill>
                            <a:srgbClr val="233542"/>
                          </a:solidFill>
                          <a:latin typeface="Arial"/>
                          <a:ea typeface="Arial"/>
                          <a:cs typeface="Arial"/>
                        </a:rPr>
                        <a:t>Total</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12</a:t>
                      </a:r>
                    </a:p>
                  </a:txBody>
                  <a:tcPr marL="91440" marR="91440" marT="45720" marB="45720">
                    <a:solidFill>
                      <a:srgbClr val="FFFFFF"/>
                    </a:solidFill>
                  </a:tcPr>
                </a:tc>
                <a:tc>
                  <a:txBody>
                    <a:bodyPr>
                      <a:noAutofit/>
                    </a:bodyPr>
                    <a:lstStyle/>
                    <a:p>
                      <a:r>
                        <a:rPr sz="1800" b="0">
                          <a:solidFill>
                            <a:srgbClr val="233542"/>
                          </a:solidFill>
                          <a:latin typeface="Arial"/>
                          <a:ea typeface="Arial"/>
                          <a:cs typeface="Arial"/>
                        </a:rPr>
                        <a:t>19</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461DEF8E-8705-4093-BFCB-1BBE997DFB71}"/>
              </a:ext>
            </a:extLst>
          </p:cNvPr>
          <p:cNvSpPr>
            <a:spLocks xmlns:a="http://schemas.openxmlformats.org/drawingml/2006/main" noGrp="1"/>
          </p:cNvSpPr>
          <p:nvPr/>
        </p:nvSpPr>
        <p:spPr>
          <a:xfrm xmlns:a="http://schemas.openxmlformats.org/drawingml/2006/main">
            <a:off x="609600" y="5076825"/>
            <a:ext cx="109728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Headless OpenUSD, independently written native C++ OpenUSD and a live OV stage each match authored expectations.</a:t>
            </a:r>
          </a:p>
          <a:p xmlns:a="http://schemas.openxmlformats.org/drawingml/2006/main">
            <a:r>
              <a:t/>
            </a:r>
          </a:p>
          <a:p xmlns:a="http://schemas.openxmlformats.org/drawingml/2006/main">
            <a:pPr>
              <a:defRPr sz="1800" b="0">
                <a:solidFill>
                  <a:srgbClr val="233542"/>
                </a:solidFill>
                <a:latin typeface="Arial"/>
                <a:ea typeface="Arial"/>
                <a:cs typeface="Arial"/>
              </a:defRPr>
            </a:pPr>
            <a:r>
              <a:rPr sz="1800" b="0">
                <a:solidFill>
                  <a:srgbClr val="233542"/>
                </a:solidFill>
                <a:latin typeface="Arial"/>
                <a:ea typeface="Arial"/>
                <a:cs typeface="Arial"/>
              </a:rPr>
              <a:t>Native discovery does not exercise Hydra placement. Live OV discovery does not ingest resolved geometry.</a:t>
            </a:r>
          </a:p>
        </p:txBody>
      </p:sp>
    </p:spTree>
    <p:extLst>
      <p:ext uri="{BB962C8B-B14F-4D97-AF65-F5344CB8AC3E}">
        <p14:creationId xmlns:p14="http://schemas.microsoft.com/office/powerpoint/2010/main" val="156171911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527E902-4C11-432E-B748-13242A91FDE1}"/>
              </a:ext>
            </a:extLst>
          </p:cNvPr>
          <p:cNvSpPr>
            <a:spLocks xmlns:a="http://schemas.openxmlformats.org/drawingml/2006/main" noGrp="1"/>
          </p:cNvSpPr>
          <p:nvPr/>
        </p:nvSpPr>
        <p:spPr>
          <a:xfrm xmlns:a="http://schemas.openxmlformats.org/drawingml/2006/main">
            <a:off x="609600" y="3810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33542"/>
                </a:solidFill>
                <a:latin typeface="Arial"/>
                <a:ea typeface="Arial"/>
                <a:cs typeface="Arial"/>
              </a:defRPr>
            </a:pPr>
            <a:r>
              <a:rPr sz="3150" b="1">
                <a:solidFill>
                  <a:srgbClr val="233542"/>
                </a:solidFill>
                <a:latin typeface="Arial"/>
                <a:ea typeface="Arial"/>
                <a:cs typeface="Arial"/>
              </a:rPr>
              <a:t>Why earlier passing tests were insufficient</a:t>
            </a:r>
          </a:p>
        </p:txBody>
      </p:sp>
      <p:sp>
        <p:nvSpPr>
          <p:cNvPr id="2" name="">
            <a:extLst xmlns:a="http://schemas.openxmlformats.org/drawingml/2006/main">
              <a:ext uri="{FF2B5EF4-FFF2-40B4-BE49-F238E27FC236}">
                <a16:creationId xmlns:a16="http://schemas.microsoft.com/office/drawing/2014/main" id="{224CDF28-3F43-4AEC-91D1-BFCBA65DDEFD}"/>
              </a:ext>
            </a:extLst>
          </p:cNvPr>
          <p:cNvSpPr>
            <a:spLocks xmlns:a="http://schemas.openxmlformats.org/drawingml/2006/main" noGrp="1"/>
          </p:cNvSpPr>
          <p:nvPr/>
        </p:nvSpPr>
        <p:spPr>
          <a:xfrm xmlns:a="http://schemas.openxmlformats.org/drawingml/2006/main">
            <a:off x="609600" y="1562100"/>
            <a:ext cx="109728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3542"/>
                </a:solidFill>
                <a:latin typeface="Arial"/>
                <a:ea typeface="Arial"/>
                <a:cs typeface="Arial"/>
              </a:defRPr>
            </a:pPr>
            <a:r>
              <a:rPr sz="2100" b="0">
                <a:solidFill>
                  <a:srgbClr val="233542"/>
                </a:solidFill>
                <a:latin typeface="Arial"/>
                <a:ea typeface="Arial"/>
                <a:cs typeface="Arial"/>
              </a:rPr>
              <a:t>The earlier freeze pinned private experimental answers, then tested code against those answers. A requirements-only intake excluded contradictory design text. Execution results became the headline despite known specification dependencies.</a:t>
            </a:r>
          </a:p>
        </p:txBody>
      </p:sp>
      <p:sp>
        <p:nvSpPr>
          <p:cNvPr id="3" name="">
            <a:extLst xmlns:a="http://schemas.openxmlformats.org/drawingml/2006/main">
              <a:ext uri="{FF2B5EF4-FFF2-40B4-BE49-F238E27FC236}">
                <a16:creationId xmlns:a16="http://schemas.microsoft.com/office/drawing/2014/main" id="{D0875367-DBE4-4117-9FB7-3BD43235DD43}"/>
              </a:ext>
            </a:extLst>
          </p:cNvPr>
          <p:cNvSpPr>
            <a:spLocks xmlns:a="http://schemas.openxmlformats.org/drawingml/2006/main" noGrp="1"/>
          </p:cNvSpPr>
          <p:nvPr/>
        </p:nvSpPr>
        <p:spPr>
          <a:xfrm xmlns:a="http://schemas.openxmlformats.org/drawingml/2006/main">
            <a:off x="609600" y="3038475"/>
            <a:ext cx="109728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3542"/>
                </a:solidFill>
                <a:latin typeface="Arial"/>
                <a:ea typeface="Arial"/>
                <a:cs typeface="Arial"/>
              </a:defRPr>
            </a:pPr>
            <a:r>
              <a:rPr sz="2100" b="0">
                <a:solidFill>
                  <a:srgbClr val="233542"/>
                </a:solidFill>
                <a:latin typeface="Arial"/>
                <a:ea typeface="Arial"/>
                <a:cs typeface="Arial"/>
              </a:rPr>
              <a:t>The prior relationship-based placement reader fails a reference-binding fixture from the shared proposal. This run exposes that mismatch and excludes the old placement candidate. Passing tests cannot substitute a private model for the shared data contract.</a:t>
            </a:r>
          </a:p>
        </p:txBody>
      </p:sp>
      <p:sp>
        <p:nvSpPr>
          <p:cNvPr id="4" name="">
            <a:extLst xmlns:a="http://schemas.openxmlformats.org/drawingml/2006/main">
              <a:ext uri="{FF2B5EF4-FFF2-40B4-BE49-F238E27FC236}">
                <a16:creationId xmlns:a16="http://schemas.microsoft.com/office/drawing/2014/main" id="{F7A7286D-5D8E-487F-B739-B4779651ECE5}"/>
              </a:ext>
            </a:extLst>
          </p:cNvPr>
          <p:cNvSpPr>
            <a:spLocks xmlns:a="http://schemas.openxmlformats.org/drawingml/2006/main" noGrp="1"/>
          </p:cNvSpPr>
          <p:nvPr/>
        </p:nvSpPr>
        <p:spPr>
          <a:xfrm xmlns:a="http://schemas.openxmlformats.org/drawingml/2006/main">
            <a:off x="609600" y="4562475"/>
            <a:ext cx="109728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233542"/>
                </a:solidFill>
                <a:latin typeface="Arial"/>
                <a:ea typeface="Arial"/>
                <a:cs typeface="Arial"/>
              </a:defRPr>
            </a:pPr>
            <a:r>
              <a:rPr sz="2100" b="0">
                <a:solidFill>
                  <a:srgbClr val="233542"/>
                </a:solidFill>
                <a:latin typeface="Arial"/>
                <a:ea typeface="Arial"/>
                <a:cs typeface="Arial"/>
              </a:rPr>
              <a:t>The default gate now stops dependent execution. It still finishes independently specified checks and delivers their receipt. No previous render, projected coordinate, export or test count is presented as evidence from this run. The remaining blockers are the named proposal contracts, not deferred mechanical work.</a:t>
            </a:r>
          </a:p>
        </p:txBody>
      </p:sp>
    </p:spTree>
    <p:extLst>
      <p:ext uri="{BB962C8B-B14F-4D97-AF65-F5344CB8AC3E}">
        <p14:creationId xmlns:p14="http://schemas.microsoft.com/office/powerpoint/2010/main" val="17799711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2026-10-04T16:03:36.7170000Z</dcterms:created>
  <dcterms:modified xsi:type="dcterms:W3CDTF">2026-10-04T16:03:36.7170000Z</dcterms:modified>
</coreProperties>
</file>