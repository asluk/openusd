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4dc814cfdb48a2" /><Relationship Type="http://schemas.openxmlformats.org/officeDocument/2006/relationships/extended-properties" Target="/docProps/app.xml" Id="R386a16cbbaf045ec" /><Relationship Type="http://schemas.openxmlformats.org/officeDocument/2006/relationships/officeDocument" Target="/ppt/presentation.xml" Id="R0a43953aa83c47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075e616dbe42d2"/>
  </p:sldMasterIdLst>
  <p:notesMasterIdLst>
    <p:notesMasterId xmlns:r="http://schemas.openxmlformats.org/officeDocument/2006/relationships" r:id="R5e19e8b8ab894807"/>
  </p:notesMasterIdLst>
  <p:sldIdLst>
    <p:sldId xmlns:r="http://schemas.openxmlformats.org/officeDocument/2006/relationships" id="256" r:id="R48e8e2fcb09e4e82"/>
    <p:sldId xmlns:r="http://schemas.openxmlformats.org/officeDocument/2006/relationships" id="257" r:id="R7fa3215117f7433a"/>
    <p:sldId xmlns:r="http://schemas.openxmlformats.org/officeDocument/2006/relationships" id="258" r:id="R0cac93e275a0400d"/>
    <p:sldId xmlns:r="http://schemas.openxmlformats.org/officeDocument/2006/relationships" id="259" r:id="R07b7f3d560b44770"/>
    <p:sldId xmlns:r="http://schemas.openxmlformats.org/officeDocument/2006/relationships" id="260" r:id="R648a85f8c35a4851"/>
    <p:sldId xmlns:r="http://schemas.openxmlformats.org/officeDocument/2006/relationships" id="261" r:id="Rb1dce265fec74c4a"/>
    <p:sldId xmlns:r="http://schemas.openxmlformats.org/officeDocument/2006/relationships" id="262" r:id="R6a318eb0eb78496c"/>
    <p:sldId xmlns:r="http://schemas.openxmlformats.org/officeDocument/2006/relationships" id="263" r:id="R6d3ff6cd63e948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7514a58d5b4c98" /><Relationship Type="http://schemas.openxmlformats.org/officeDocument/2006/relationships/slideMaster" Target="/ppt/slideMasters/slideMaster1.xml" Id="R00075e616dbe42d2" /><Relationship Type="http://schemas.openxmlformats.org/officeDocument/2006/relationships/notesMaster" Target="/ppt/notesMasters/notesMaster1.xml" Id="R5e19e8b8ab894807" /><Relationship Type="http://schemas.openxmlformats.org/officeDocument/2006/relationships/presProps" Target="/ppt/presProps.xml" Id="R09015f56fb3e4049" /><Relationship Type="http://schemas.openxmlformats.org/officeDocument/2006/relationships/tableStyles" Target="/ppt/tableStyles.xml" Id="R9b9311ff5827418d" /><Relationship Type="http://schemas.openxmlformats.org/officeDocument/2006/relationships/slide" Target="/ppt/slides/slide1.xml" Id="R48e8e2fcb09e4e82" /><Relationship Type="http://schemas.openxmlformats.org/officeDocument/2006/relationships/slide" Target="/ppt/slides/slide2.xml" Id="R7fa3215117f7433a" /><Relationship Type="http://schemas.openxmlformats.org/officeDocument/2006/relationships/slide" Target="/ppt/slides/slide3.xml" Id="R0cac93e275a0400d" /><Relationship Type="http://schemas.openxmlformats.org/officeDocument/2006/relationships/slide" Target="/ppt/slides/slide4.xml" Id="R07b7f3d560b44770" /><Relationship Type="http://schemas.openxmlformats.org/officeDocument/2006/relationships/slide" Target="/ppt/slides/slide5.xml" Id="R648a85f8c35a4851" /><Relationship Type="http://schemas.openxmlformats.org/officeDocument/2006/relationships/slide" Target="/ppt/slides/slide6.xml" Id="Rb1dce265fec74c4a" /><Relationship Type="http://schemas.openxmlformats.org/officeDocument/2006/relationships/slide" Target="/ppt/slides/slide7.xml" Id="R6a318eb0eb78496c" /><Relationship Type="http://schemas.openxmlformats.org/officeDocument/2006/relationships/slide" Target="/ppt/slides/slide8.xml" Id="R6d3ff6cd63e948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3863b7bd7849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7407e9bde44265" /><Relationship Type="http://schemas.openxmlformats.org/officeDocument/2006/relationships/notesMaster" Target="/ppt/notesMasters/notesMaster1.xml" Id="R8798e92e212941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11da67c74843a4" /><Relationship Type="http://schemas.openxmlformats.org/officeDocument/2006/relationships/notesMaster" Target="/ppt/notesMasters/notesMaster1.xml" Id="Rd7e5939e38bc4b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5934061c014bbf" /><Relationship Type="http://schemas.openxmlformats.org/officeDocument/2006/relationships/notesMaster" Target="/ppt/notesMasters/notesMaster1.xml" Id="R91eb44e2b65b40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200ea5b0ed420f" /><Relationship Type="http://schemas.openxmlformats.org/officeDocument/2006/relationships/notesMaster" Target="/ppt/notesMasters/notesMaster1.xml" Id="Rb9f20712d9044a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c2e4bbd486408d" /><Relationship Type="http://schemas.openxmlformats.org/officeDocument/2006/relationships/notesMaster" Target="/ppt/notesMasters/notesMaster1.xml" Id="R740e3082d8bd43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bafdb7231e4cdd" /><Relationship Type="http://schemas.openxmlformats.org/officeDocument/2006/relationships/notesMaster" Target="/ppt/notesMasters/notesMaster1.xml" Id="R11735d0aed1647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da201fd8554ef6" /><Relationship Type="http://schemas.openxmlformats.org/officeDocument/2006/relationships/notesMaster" Target="/ppt/notesMasters/notesMaster1.xml" Id="R4c144729788140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05ffc4dcfe4df3" /><Relationship Type="http://schemas.openxmlformats.org/officeDocument/2006/relationships/notesMaster" Target="/ppt/notesMasters/notesMaster1.xml" Id="R3d4ea036142c4f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'Geospatial scenes with shared placement'. README SHA-256: e512bd3c3fbf3e7eb75113d38137faab41e2e0f278309127fefa59ee82e02110.</a:t>
            </a:r>
          </a:p>
          <a:p xmlns:a="http://schemas.openxmlformats.org/drawingml/2006/main">
            <a:r>
              <a:t>A railway, a site asset and a scalar field should retain their source coordinates while participating in one scene.</a:t>
            </a:r>
          </a:p>
          <a:p xmlns:a="http://schemas.openxmlformats.org/drawingml/2006/main">
            <a:r>
              <a:t>Rendering, world-position queries, bounds and physics need the same resolved placement.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'Railway source and scene identity'. README SHA-256: e512bd3c3fbf3e7eb75113d38137faab41e2e0f278309127fefa59ee82e02110.</a:t>
            </a:r>
          </a:p>
          <a:p xmlns:a="http://schemas.openxmlformats.org/drawingml/2006/main">
            <a:r>
              <a:t>1,473 source features match USD object identities and first-coordinate anchors.</a:t>
            </a:r>
          </a:p>
          <a:p xmlns:a="http://schemas.openxmlformats.org/drawingml/2006/main">
            <a:r>
              <a:t>186 railway curves retain 3,526 vertices by count; interior placement is still unchecked.</a:t>
            </a:r>
          </a:p>
          <a:p xmlns:a="http://schemas.openxmlformats.org/drawingml/2006/main">
            <a:r>
              <a:t>These checks establish what survived conversion; they do not establish resolved rails-on-map placement.</a:t>
            </a:r>
          </a:p>
          <a:p xmlns:a="http://schemas.openxmlformats.org/drawingml/2006/main">
            <a:r>
              <a:t>Original source curves and matching USD anchors; this is a data plot, not a runtime render.</a:t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'Native interpolation preserves the authored path'. README SHA-256: e512bd3c3fbf3e7eb75113d38137faab41e2e0f278309127fefa59ee82e02110.</a:t>
            </a:r>
          </a:p>
          <a:p xmlns:a="http://schemas.openxmlformats.org/drawingml/2006/main">
            <a:r>
              <a:t>R20, Positions between recorded moments: interpolate recorded coordinates in their CRS, then convert.</a:t>
            </a:r>
          </a:p>
          <a:p xmlns:a="http://schemas.openxmlformats.org/drawingml/2006/main">
            <a:r>
              <a:t>Interpolating converted endpoints puts the equatorial midpoint 971.421 m inside the ellipsoid.</a:t>
            </a:r>
          </a:p>
          <a:p xmlns:a="http://schemas.openxmlformats.org/drawingml/2006/main">
            <a:r>
              <a:t>This is an analytic component example; the scene position carrier and its sampling rules remain open.</a:t>
            </a:r>
          </a:p>
          <a:p xmlns:a="http://schemas.openxmlformats.org/drawingml/2006/main">
            <a:r>
              <a:t>Equatorial samples at minus and plus one degree; vertical scale is exaggerated and axes use different units.</a:t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'Scalar data and a removable visualization'. README SHA-256: e512bd3c3fbf3e7eb75113d38137faab41e2e0f278309127fefa59ee82e02110.</a:t>
            </a:r>
          </a:p>
          <a:p xmlns:a="http://schemas.openxmlformats.org/drawingml/2006/main">
            <a:r>
              <a:t>2,664 scalar samples on a 37 by 72 grid exercise coordinate reporting; a three-sample overlay is removable.</a:t>
            </a:r>
          </a:p>
          <a:p xmlns:a="http://schemas.openxmlformats.org/drawingml/2006/main">
            <a:r>
              <a:t>The stock-USD overlay leaves source values intact. Geospatial placement of that overlay is still pending.</a:t>
            </a:r>
          </a:p>
          <a:p xmlns:a="http://schemas.openxmlformats.org/drawingml/2006/main">
            <a:r>
              <a:t>Forecast origin, timestamp, CRS metadata and value units are unverified; the filename is not provenance.</a:t>
            </a:r>
          </a:p>
          <a:p xmlns:a="http://schemas.openxmlformats.org/drawingml/2006/main">
            <a:r>
              <a:t>Raw values from the retained scalar-field fixture, without an inferred physical unit.</a:t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'Proposed runtime contract'. README SHA-256: e512bd3c3fbf3e7eb75113d38137faab41e2e0f278309127fefa59ee82e02110.</a:t>
            </a:r>
          </a:p>
          <a:p xmlns:a="http://schemas.openxmlformats.org/drawingml/2006/main">
            <a:r>
              <a:t>Composed declarations establish CRS scope; source coordinates and asset conventions remain authored data.</a:t>
            </a:r>
          </a:p>
          <a:p xmlns:a="http://schemas.openxmlformats.org/drawingml/2006/main">
            <a:r>
              <a:t>Resolution evaluates native positions and offsets into one selected output CRS without modifying the stage.</a:t>
            </a:r>
          </a:p>
          <a:p xmlns:a="http://schemas.openxmlformats.org/drawingml/2006/main">
            <a:r>
              <a:t>Queries and consumers share the result; failures and operation provenance remain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'Two runtime targets'. README SHA-256: e512bd3c3fbf3e7eb75113d38137faab41e2e0f278309127fefa59ee82e02110.</a:t>
            </a:r>
          </a:p>
          <a:p xmlns:a="http://schemas.openxmlformats.org/drawingml/2006/main">
            <a:r>
              <a:t>Non-Hydra: a renderer-independent scene resolver for placements, coordinate queries and bounds. Not built.</a:t>
            </a:r>
          </a:p>
          <a:p xmlns:a="http://schemas.openxmlformats.org/drawingml/2006/main">
            <a:r>
              <a:t>Hydra: a scene-index adapter consuming the same resolved placement and propagating changes. Not built.</a:t>
            </a:r>
          </a:p>
          <a:p xmlns:a="http://schemas.openxmlformats.org/drawingml/2006/main">
            <a:r>
              <a:t>Consumer consistency is distinct from R29, Implementable from the text alone, which requires different transformation engines.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'Next complete demonstration'. README SHA-256: e512bd3c3fbf3e7eb75113d38137faab41e2e0f278309127fefa59ee82e02110.</a:t>
            </a:r>
          </a:p>
          <a:p xmlns:a="http://schemas.openxmlformats.org/drawingml/2006/main">
            <a:r>
              <a:t>Import the railway and a site asset, resolve them into one project CRS, and verify placement against independent controls.</a:t>
            </a:r>
          </a:p>
          <a:p xmlns:a="http://schemas.openxmlformats.org/drawingml/2006/main">
            <a:r>
              <a:t>Relocate an asset, scrub time and compose another layer; compare non-Hydra queries with Hydra results after each change.</a:t>
            </a:r>
          </a:p>
          <a:p xmlns:a="http://schemas.openxmlformats.org/drawingml/2006/main">
            <a:r>
              <a:t>State placement error and valid extent, preserve source data, and fail visibly when a required operation cannot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section 'Review requests'. README SHA-256: e512bd3c3fbf3e7eb75113d38137faab41e2e0f278309127fefa59ee82e02110.</a:t>
            </a:r>
          </a:p>
          <a:p xmlns:a="http://schemas.openxmlformats.org/drawingml/2006/main">
            <a:r>
              <a:t>Review the proposed runtime prose against the functional requirements and close the carrier, placement and scope decisions.</a:t>
            </a:r>
          </a:p>
          <a:p xmlns:a="http://schemas.openxmlformats.org/drawingml/2006/main">
            <a:r>
              <a:t>Supply source CRS/epoch/vertical metadata, expected control points and a distance-and-extent acceptance criterion.</a:t>
            </a:r>
          </a:p>
          <a:p xmlns:a="http://schemas.openxmlformats.org/drawingml/2006/main">
            <a:r>
              <a:t>Use the next railway/site demonstration to review both consumer paths and separate engine agreement from correctness.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Figure provenance, if used: docs/figures/manifest.json and DATASETS.md; figures.py reproduces these data plots.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483b4c15646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2a9489c5104c19" /><Relationship Type="http://schemas.openxmlformats.org/officeDocument/2006/relationships/slideLayout" Target="/ppt/slideLayouts/slideLayout1.xml" Id="Rdb76c347196c4a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76c347196c4a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efa157f5143ae" /><Relationship Type="http://schemas.openxmlformats.org/officeDocument/2006/relationships/notesSlide" Target="/ppt/notesSlides/notesSlide1.xml" Id="R22a4f3e1ff504d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b66851ff1493f" /><Relationship Type="http://schemas.openxmlformats.org/officeDocument/2006/relationships/image" Target="/ppt/media/image.png" Id="R2fff5ff750cb4e51" /><Relationship Type="http://schemas.openxmlformats.org/officeDocument/2006/relationships/notesSlide" Target="/ppt/notesSlides/notesSlide2.xml" Id="R9da8ffc76f8948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149fbf83f4e0b" /><Relationship Type="http://schemas.openxmlformats.org/officeDocument/2006/relationships/image" Target="/ppt/media/image2.png" Id="Rad1dec261ccb4a82" /><Relationship Type="http://schemas.openxmlformats.org/officeDocument/2006/relationships/notesSlide" Target="/ppt/notesSlides/notesSlide3.xml" Id="R72410fe7ee0b45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508718a0c41fb" /><Relationship Type="http://schemas.openxmlformats.org/officeDocument/2006/relationships/image" Target="/ppt/media/image3.png" Id="Rde9b2fe1357c4c61" /><Relationship Type="http://schemas.openxmlformats.org/officeDocument/2006/relationships/notesSlide" Target="/ppt/notesSlides/notesSlide4.xml" Id="Rc681b89be4ab4f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89c470c4246aa" /><Relationship Type="http://schemas.openxmlformats.org/officeDocument/2006/relationships/notesSlide" Target="/ppt/notesSlides/notesSlide5.xml" Id="R317d054ad9ba44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d331a03ba488a" /><Relationship Type="http://schemas.openxmlformats.org/officeDocument/2006/relationships/notesSlide" Target="/ppt/notesSlides/notesSlide6.xml" Id="R3f12a5572f5841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92c3fefab4611" /><Relationship Type="http://schemas.openxmlformats.org/officeDocument/2006/relationships/notesSlide" Target="/ppt/notesSlides/notesSlide7.xml" Id="R73857b28806d43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da185c3594033" /><Relationship Type="http://schemas.openxmlformats.org/officeDocument/2006/relationships/notesSlide" Target="/ppt/notesSlides/notesSlide8.xml" Id="Ra80f213d74c947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83189-C1BF-4CF5-8BE7-70FC77C1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Geospatial scenes with shared placement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4DDEA-37D8-43E7-AA40-BAF846B1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382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BE8E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BE8EC"/>
                </a:solidFill>
                <a:latin typeface="Arial"/>
                <a:ea typeface="Arial"/>
                <a:cs typeface="Arial"/>
              </a:rPr>
              <a:t>A railway, a site asset and a scalar field should retain their source coordinates while participating in one scene.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23D52-4E22-4BD8-9ABB-59072B1B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1038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3D7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3D744"/>
                </a:solidFill>
                <a:latin typeface="Arial"/>
                <a:ea typeface="Arial"/>
                <a:cs typeface="Arial"/>
              </a:rPr>
              <a:t>Rendering, world-position queries, bounds and physics need the same resolved placement.</a:t>
            </a:r>
          </a:p>
        </p:txBody>
      </p:sp>
    </p:spTree>
    <p:extLst>
      <p:ext uri="{BB962C8B-B14F-4D97-AF65-F5344CB8AC3E}">
        <p14:creationId xmlns:p14="http://schemas.microsoft.com/office/powerpoint/2010/main" val="439425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F8C07-68A2-4FA2-82C1-46B49710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Railway source and scene identity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f5ff750cb4e51"/>
          <a:stretch xmlns:a="http://schemas.openxmlformats.org/drawingml/2006/main"/>
        </p:blipFill>
        <p:spPr>
          <a:xfrm xmlns:a="http://schemas.openxmlformats.org/drawingml/2006/main">
            <a:off x="461433" y="1562100"/>
            <a:ext cx="7078133" cy="4343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74EDD-AEF8-44C0-8AA5-D6730250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57350"/>
            <a:ext cx="3638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1,473 source features match USD object identities and first-coordinate anchors.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373C5-C181-4751-8170-6C0FF90D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638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186 railway curves retain 3,526 vertices by count; interior placement is still unchecked.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58CA2-4977-4BD3-8A39-EDBA134E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3638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These checks establish what survived conversion; they do not establish resolved rails-on-map placement.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385DD-E371-4DBB-911F-B3E5B4D6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A"/>
                </a:solidFill>
                <a:latin typeface="Arial"/>
                <a:ea typeface="Arial"/>
                <a:cs typeface="Arial"/>
              </a:rPr>
              <a:t>Original source curves and matching USD anchors; this is a data plot, not a runtime render.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7C0E2-5460-4773-9AE5-4334F0CE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251379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3B280-F697-4A73-89D9-8AF670F6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Native interpolation preserves the authored path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dec261ccb4a82"/>
          <a:stretch xmlns:a="http://schemas.openxmlformats.org/drawingml/2006/main"/>
        </p:blipFill>
        <p:spPr>
          <a:xfrm xmlns:a="http://schemas.openxmlformats.org/drawingml/2006/main">
            <a:off x="461433" y="1562100"/>
            <a:ext cx="7078133" cy="4343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53A84-874D-4855-B5C5-30F40C01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57350"/>
            <a:ext cx="3638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R20, Positions between recorded moments: interpolate recorded coordinates in their CRS, then convert.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BE002-E46B-420F-BD28-F603BD76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638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Interpolating converted endpoints puts the equatorial midpoint 971.421 m inside the ellipsoid.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DA0EE-E1E9-4A50-9714-A541C67B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3638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This is an analytic component example; the scene position carrier and its sampling rules remain open.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0AF5A-F135-4D24-A404-DE3D331F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A"/>
                </a:solidFill>
                <a:latin typeface="Arial"/>
                <a:ea typeface="Arial"/>
                <a:cs typeface="Arial"/>
              </a:rPr>
              <a:t>Equatorial samples at minus and plus one degree; vertical scale is exaggerated and axes use different units.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D9D45-1903-471B-8DC5-0319E86A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428978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581B7-7269-4D0D-A502-97B3CFD6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Scalar data and a removable visualization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b2fe1357c4c61"/>
          <a:stretch xmlns:a="http://schemas.openxmlformats.org/drawingml/2006/main"/>
        </p:blipFill>
        <p:spPr>
          <a:xfrm xmlns:a="http://schemas.openxmlformats.org/drawingml/2006/main">
            <a:off x="461433" y="1562100"/>
            <a:ext cx="7078133" cy="4343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D1E43-31E2-47A4-8A98-9E3C11D6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57350"/>
            <a:ext cx="3638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2,664 scalar samples on a 37 by 72 grid exercise coordinate reporting; a three-sample overlay is removable.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79479-9ADA-4C27-8B70-FB260581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638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The stock-USD overlay leaves source values intact. Geospatial placement of that overlay is still pending.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1A2BC-0D16-4BA4-A78B-27E5F909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3638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Forecast origin, timestamp, CRS metadata and value units are unverified; the filename is not provenance.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B4EB9-2768-43D2-BBAC-15A026D8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7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77A"/>
                </a:solidFill>
                <a:latin typeface="Arial"/>
                <a:ea typeface="Arial"/>
                <a:cs typeface="Arial"/>
              </a:rPr>
              <a:t>Raw values from the retained scalar-field fixture, without an inferred physical unit.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66AA4-627F-4978-9C50-87FE2CAF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17713338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C111A-CD5D-4A2D-8D6C-6374A548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Proposed runtime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0DB18-E316-4E6D-BEC3-EA52231A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Composed declarations establish CRS scope; source coordinates and asset conventions remain authored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B94AD-4F12-446A-BED3-F5362C0C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Resolution evaluates native positions and offsets into one selected output CRS without modifying the stage.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E277C-B581-413B-A5DB-89865B73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Queries and consumers share the result; failures and operation provenance remain explicit.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0D3EC-1DB5-4F21-AD87-5F9BE76B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11248193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49A94-FFD5-45D8-A649-0B3095F3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Two runtime targets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68D4E-37FF-4F1A-8F5A-951CA2F5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Non-Hydra: a renderer-independent scene resolver for placements, coordinate queries and bounds. Not built.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D713A-A405-4369-B3BB-789AC7A7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Hydra: a scene-index adapter consuming the same resolved placement and propagating changes. Not built.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C61E8-0313-4B98-9C14-EF4BC3D6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Consumer consistency is distinct from R29, Implementable from the text alone, which requires different transformation engines.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F88EB-C34E-4CA7-84A7-F6183B4A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6060882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3BE17-629F-45B3-9B60-BF24E909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Next complete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E21AB-FC24-4473-8D27-F44F4597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Import the railway and a site asset, resolve them into one project CRS, and verify placement against independent controls.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2AC38-C3A0-4C1F-838C-E851C38C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Relocate an asset, scrub time and compose another layer; compare non-Hydra queries with Hydra results after each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B960E-D406-4FA7-95FA-0DD999DB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State placement error and valid extent, preserve source data, and fail visibly when a required operation cannot 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AA62B-7C7D-45C7-A5A0-09386D00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2619524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46C4D-B1E4-4F42-818F-0826C1AE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2A36"/>
                </a:solidFill>
                <a:latin typeface="Arial"/>
                <a:ea typeface="Arial"/>
                <a:cs typeface="Arial"/>
              </a:rPr>
              <a:t>Review requests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27005-648E-4B59-8435-95DF9B2A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Review the proposed runtime prose against the functional requirements and close the carrier, placement and scope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D8F87-9192-49D8-B1D2-5ECCF99D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Supply source CRS/epoch/vertical metadata, expected control points and a distance-and-extent acceptance criterion.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B728F-6E8D-4236-90C7-C3C154EE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10572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2A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A36"/>
                </a:solidFill>
                <a:latin typeface="Arial"/>
                <a:ea typeface="Arial"/>
                <a:cs typeface="Arial"/>
              </a:rPr>
              <a:t>Use the next railway/site demonstration to review both consumer paths and separate engine agreement from correctness.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F0155-47A5-4D62-87A1-E52B0296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C84"/>
                </a:solidFill>
                <a:latin typeface="Arial"/>
                <a:ea typeface="Arial"/>
                <a:cs typeface="Arial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1169199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2026-09-22T00:18:44.5540000Z</dcterms:created>
  <dcterms:modified xsi:type="dcterms:W3CDTF">2026-09-22T00:18:44.5540000Z</dcterms:modified>
</coreProperties>
</file>