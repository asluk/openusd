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43f17955554148" /><Relationship Type="http://schemas.openxmlformats.org/officeDocument/2006/relationships/extended-properties" Target="/docProps/app.xml" Id="R48adf21f0a0249b7" /><Relationship Type="http://schemas.openxmlformats.org/officeDocument/2006/relationships/officeDocument" Target="/ppt/presentation.xml" Id="R490371c3bafc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6537c9b4c9450a"/>
  </p:sldMasterIdLst>
  <p:notesMasterIdLst>
    <p:notesMasterId xmlns:r="http://schemas.openxmlformats.org/officeDocument/2006/relationships" r:id="R7c41ecfedb924f1a"/>
  </p:notesMasterIdLst>
  <p:sldIdLst>
    <p:sldId xmlns:r="http://schemas.openxmlformats.org/officeDocument/2006/relationships" id="256" r:id="R1d7e3d8c9a71413a"/>
    <p:sldId xmlns:r="http://schemas.openxmlformats.org/officeDocument/2006/relationships" id="257" r:id="R9ff69f9f928f4a98"/>
    <p:sldId xmlns:r="http://schemas.openxmlformats.org/officeDocument/2006/relationships" id="258" r:id="R7dcabfbc681040df"/>
    <p:sldId xmlns:r="http://schemas.openxmlformats.org/officeDocument/2006/relationships" id="259" r:id="R2d3f3df4d6314fca"/>
    <p:sldId xmlns:r="http://schemas.openxmlformats.org/officeDocument/2006/relationships" id="260" r:id="Rad8e4dc1f2bb4939"/>
    <p:sldId xmlns:r="http://schemas.openxmlformats.org/officeDocument/2006/relationships" id="261" r:id="Rcadaf25d6da840b3"/>
    <p:sldId xmlns:r="http://schemas.openxmlformats.org/officeDocument/2006/relationships" id="262" r:id="Raa2c062ce328442e"/>
    <p:sldId xmlns:r="http://schemas.openxmlformats.org/officeDocument/2006/relationships" id="263" r:id="R1df76e49bb4a45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6be1bb88f45af" /><Relationship Type="http://schemas.openxmlformats.org/officeDocument/2006/relationships/slideMaster" Target="/ppt/slideMasters/slideMaster1.xml" Id="R3e6537c9b4c9450a" /><Relationship Type="http://schemas.openxmlformats.org/officeDocument/2006/relationships/notesMaster" Target="/ppt/notesMasters/notesMaster1.xml" Id="R7c41ecfedb924f1a" /><Relationship Type="http://schemas.openxmlformats.org/officeDocument/2006/relationships/presProps" Target="/ppt/presProps.xml" Id="Rd913d9118f034264" /><Relationship Type="http://schemas.openxmlformats.org/officeDocument/2006/relationships/tableStyles" Target="/ppt/tableStyles.xml" Id="R536ccf8efbcb42a2" /><Relationship Type="http://schemas.openxmlformats.org/officeDocument/2006/relationships/slide" Target="/ppt/slides/slide1.xml" Id="R1d7e3d8c9a71413a" /><Relationship Type="http://schemas.openxmlformats.org/officeDocument/2006/relationships/slide" Target="/ppt/slides/slide2.xml" Id="R9ff69f9f928f4a98" /><Relationship Type="http://schemas.openxmlformats.org/officeDocument/2006/relationships/slide" Target="/ppt/slides/slide3.xml" Id="R7dcabfbc681040df" /><Relationship Type="http://schemas.openxmlformats.org/officeDocument/2006/relationships/slide" Target="/ppt/slides/slide4.xml" Id="R2d3f3df4d6314fca" /><Relationship Type="http://schemas.openxmlformats.org/officeDocument/2006/relationships/slide" Target="/ppt/slides/slide5.xml" Id="Rad8e4dc1f2bb4939" /><Relationship Type="http://schemas.openxmlformats.org/officeDocument/2006/relationships/slide" Target="/ppt/slides/slide6.xml" Id="Rcadaf25d6da840b3" /><Relationship Type="http://schemas.openxmlformats.org/officeDocument/2006/relationships/slide" Target="/ppt/slides/slide7.xml" Id="Raa2c062ce328442e" /><Relationship Type="http://schemas.openxmlformats.org/officeDocument/2006/relationships/slide" Target="/ppt/slides/slide8.xml" Id="R1df76e49bb4a45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c3dba477074f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0e0661e836425c" /><Relationship Type="http://schemas.openxmlformats.org/officeDocument/2006/relationships/notesMaster" Target="/ppt/notesMasters/notesMaster1.xml" Id="Rbd58c6f67b1344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d4b50440244d34" /><Relationship Type="http://schemas.openxmlformats.org/officeDocument/2006/relationships/notesMaster" Target="/ppt/notesMasters/notesMaster1.xml" Id="Ra94b7fd7d6b943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b611dd96e841f8" /><Relationship Type="http://schemas.openxmlformats.org/officeDocument/2006/relationships/notesMaster" Target="/ppt/notesMasters/notesMaster1.xml" Id="Rbd4c27710571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05f69a00441bb" /><Relationship Type="http://schemas.openxmlformats.org/officeDocument/2006/relationships/notesMaster" Target="/ppt/notesMasters/notesMaster1.xml" Id="R94b0345477ab4c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717e2301274d14" /><Relationship Type="http://schemas.openxmlformats.org/officeDocument/2006/relationships/notesMaster" Target="/ppt/notesMasters/notesMaster1.xml" Id="R540ad8f8c52847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4af2bc57d845cc" /><Relationship Type="http://schemas.openxmlformats.org/officeDocument/2006/relationships/notesMaster" Target="/ppt/notesMasters/notesMaster1.xml" Id="R0bff9af1630d48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443de2b77e4d08" /><Relationship Type="http://schemas.openxmlformats.org/officeDocument/2006/relationships/notesMaster" Target="/ppt/notesMasters/notesMaster1.xml" Id="Rcd97ca4b960f45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b008a17ca4991" /><Relationship Type="http://schemas.openxmlformats.org/officeDocument/2006/relationships/notesMaster" Target="/ppt/notesMasters/notesMaster1.xml" Id="Rdcb13603db3e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'Geospatial scenes with shared placement'. README SHA-256: 73a91feacc9ac275792c39b23a8dc58cb3dec9e29a99b81a725f30c4fbdb513e.</a:t>
            </a:r>
          </a:p>
          <a:p xmlns:a="http://schemas.openxmlformats.org/drawingml/2006/main">
            <a:r>
              <a:t>A railway, a site asset and a scalar field should retain their source coordinates while participating in one scene.</a:t>
            </a:r>
          </a:p>
          <a:p xmlns:a="http://schemas.openxmlformats.org/drawingml/2006/main">
            <a:r>
              <a:t>Rendering, world-position queries, bounds and physics need the same resolved 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'Railway source and scene identity'. README SHA-256: 73a91feacc9ac275792c39b23a8dc58cb3dec9e29a99b81a725f30c4fbdb513e.</a:t>
            </a:r>
          </a:p>
          <a:p xmlns:a="http://schemas.openxmlformats.org/drawingml/2006/main">
            <a:r>
              <a:t>1,473 source features match USD object identities and first-coordinate anchors.</a:t>
            </a:r>
          </a:p>
          <a:p xmlns:a="http://schemas.openxmlformats.org/drawingml/2006/main">
            <a:r>
              <a:t>186 railway curves retain 3,526 vertices by count; interior placement is still unchecked.</a:t>
            </a:r>
          </a:p>
          <a:p xmlns:a="http://schemas.openxmlformats.org/drawingml/2006/main">
            <a:r>
              <a:t>These checks establish what survived conversion; they do not establish resolved rails-on-map placement.</a:t>
            </a:r>
          </a:p>
          <a:p xmlns:a="http://schemas.openxmlformats.org/drawingml/2006/main">
            <a:r>
              <a:t>Original source curves and matching USD anchors; this is a data plot, not a runtime render.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'Native interpolation preserves the authored path'. README SHA-256: 73a91feacc9ac275792c39b23a8dc58cb3dec9e29a99b81a725f30c4fbdb513e.</a:t>
            </a:r>
          </a:p>
          <a:p xmlns:a="http://schemas.openxmlformats.org/drawingml/2006/main">
            <a:r>
              <a:t>R20, Positions between recorded moments: interpolate recorded coordinates in their CRS, then convert.</a:t>
            </a:r>
          </a:p>
          <a:p xmlns:a="http://schemas.openxmlformats.org/drawingml/2006/main">
            <a:r>
              <a:t>Interpolating converted endpoints puts the equatorial midpoint 971.421 m inside the ellipsoid.</a:t>
            </a:r>
          </a:p>
          <a:p xmlns:a="http://schemas.openxmlformats.org/drawingml/2006/main">
            <a:r>
              <a:t>This is an analytic component example; the scene position carrier and its sampling rules remain open.</a:t>
            </a:r>
          </a:p>
          <a:p xmlns:a="http://schemas.openxmlformats.org/drawingml/2006/main">
            <a:r>
              <a:t>Equatorial samples at minus and plus one degree; vertical scale is exaggerated and axes use different units.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'Scalar data and a removable visualization'. README SHA-256: 73a91feacc9ac275792c39b23a8dc58cb3dec9e29a99b81a725f30c4fbdb513e.</a:t>
            </a:r>
          </a:p>
          <a:p xmlns:a="http://schemas.openxmlformats.org/drawingml/2006/main">
            <a:r>
              <a:t>2,664 scalar samples on a 37 by 72 grid exercise coordinate reporting; a three-sample overlay is removable.</a:t>
            </a:r>
          </a:p>
          <a:p xmlns:a="http://schemas.openxmlformats.org/drawingml/2006/main">
            <a:r>
              <a:t>The stock-USD overlay leaves source values intact. Geospatial placement of that overlay is still pending.</a:t>
            </a:r>
          </a:p>
          <a:p xmlns:a="http://schemas.openxmlformats.org/drawingml/2006/main">
            <a:r>
              <a:t>Forecast origin, timestamp, CRS metadata and value units are unverified; the filename is not provenance.</a:t>
            </a:r>
          </a:p>
          <a:p xmlns:a="http://schemas.openxmlformats.org/drawingml/2006/main">
            <a:r>
              <a:t>Raw values from the retained scalar-field fixture, without an inferred physical unit.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'Proposed runtime contract'. README SHA-256: 73a91feacc9ac275792c39b23a8dc58cb3dec9e29a99b81a725f30c4fbdb513e.</a:t>
            </a:r>
          </a:p>
          <a:p xmlns:a="http://schemas.openxmlformats.org/drawingml/2006/main">
            <a:r>
              <a:t>Composed declarations establish CRS scope; source coordinates and asset conventions remain authored data.</a:t>
            </a:r>
          </a:p>
          <a:p xmlns:a="http://schemas.openxmlformats.org/drawingml/2006/main">
            <a:r>
              <a:t>Resolution evaluates native positions and offsets into one selected output CRS without modifying the stage.</a:t>
            </a:r>
          </a:p>
          <a:p xmlns:a="http://schemas.openxmlformats.org/drawingml/2006/main">
            <a:r>
              <a:t>Queries and consumers share the result; failures and operation provenance remain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'Two runtime targets'. README SHA-256: 73a91feacc9ac275792c39b23a8dc58cb3dec9e29a99b81a725f30c4fbdb513e.</a:t>
            </a:r>
          </a:p>
          <a:p xmlns:a="http://schemas.openxmlformats.org/drawingml/2006/main">
            <a:r>
              <a:t>Non-Hydra: a renderer-independent scene resolver for placements, coordinate queries and bounds. Not built.</a:t>
            </a:r>
          </a:p>
          <a:p xmlns:a="http://schemas.openxmlformats.org/drawingml/2006/main">
            <a:r>
              <a:t>Hydra: a scene-index adapter consuming the same resolved placement and propagating changes. Not built.</a:t>
            </a:r>
          </a:p>
          <a:p xmlns:a="http://schemas.openxmlformats.org/drawingml/2006/main">
            <a:r>
              <a:t>Consumer consistency is distinct from R29, Implementable from the text alone, which requires different transformation engines.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'Next complete demonstration'. README SHA-256: 73a91feacc9ac275792c39b23a8dc58cb3dec9e29a99b81a725f30c4fbdb513e.</a:t>
            </a:r>
          </a:p>
          <a:p xmlns:a="http://schemas.openxmlformats.org/drawingml/2006/main">
            <a:r>
              <a:t>Import the railway and a site asset, resolve them into one project CRS, and verify placement against independent controls.</a:t>
            </a:r>
          </a:p>
          <a:p xmlns:a="http://schemas.openxmlformats.org/drawingml/2006/main">
            <a:r>
              <a:t>Relocate an asset, scrub time and compose another layer; compare non-Hydra queries with Hydra results after each change.</a:t>
            </a:r>
          </a:p>
          <a:p xmlns:a="http://schemas.openxmlformats.org/drawingml/2006/main">
            <a:r>
              <a:t>State placement error and valid extent, preserve source data, and fail visibly when a required operation cannot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'Review requests'. README SHA-256: 73a91feacc9ac275792c39b23a8dc58cb3dec9e29a99b81a725f30c4fbdb513e.</a:t>
            </a:r>
          </a:p>
          <a:p xmlns:a="http://schemas.openxmlformats.org/drawingml/2006/main">
            <a:r>
              <a:t>Review the proposed runtime prose against the functional requirements and close the carrier, placement and scope decisions.</a:t>
            </a:r>
          </a:p>
          <a:p xmlns:a="http://schemas.openxmlformats.org/drawingml/2006/main">
            <a:r>
              <a:t>Supply source CRS/epoch/vertical metadata, expected control points and a distance-and-extent acceptance criterion.</a:t>
            </a:r>
          </a:p>
          <a:p xmlns:a="http://schemas.openxmlformats.org/drawingml/2006/main">
            <a:r>
              <a:t>Use the next railway/site demonstration to review both consumer paths and separate engine agreement from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33b292576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81fe3302154cff" /><Relationship Type="http://schemas.openxmlformats.org/officeDocument/2006/relationships/slideLayout" Target="/ppt/slideLayouts/slideLayout1.xml" Id="R65e00c9861d04b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e00c9861d04b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457ea06c44cec" /><Relationship Type="http://schemas.openxmlformats.org/officeDocument/2006/relationships/notesSlide" Target="/ppt/notesSlides/notesSlide1.xml" Id="R4db5c25a227f4c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52e0786914d3d" /><Relationship Type="http://schemas.openxmlformats.org/officeDocument/2006/relationships/image" Target="/ppt/media/image.png" Id="Rdde4d780749149bf" /><Relationship Type="http://schemas.openxmlformats.org/officeDocument/2006/relationships/notesSlide" Target="/ppt/notesSlides/notesSlide2.xml" Id="R1c4c1d7032e74c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b5451382b4e01" /><Relationship Type="http://schemas.openxmlformats.org/officeDocument/2006/relationships/image" Target="/ppt/media/image2.png" Id="Rc868ac1adcd447c7" /><Relationship Type="http://schemas.openxmlformats.org/officeDocument/2006/relationships/notesSlide" Target="/ppt/notesSlides/notesSlide3.xml" Id="R80f5c72ffc2643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41398d1c14fcf" /><Relationship Type="http://schemas.openxmlformats.org/officeDocument/2006/relationships/image" Target="/ppt/media/image3.png" Id="R68267dd6034a4db3" /><Relationship Type="http://schemas.openxmlformats.org/officeDocument/2006/relationships/notesSlide" Target="/ppt/notesSlides/notesSlide4.xml" Id="Rfeb8c8884dfe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3bc5d4bb04f1e" /><Relationship Type="http://schemas.openxmlformats.org/officeDocument/2006/relationships/notesSlide" Target="/ppt/notesSlides/notesSlide5.xml" Id="Ra168799673c64e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9473a9ffc42ef" /><Relationship Type="http://schemas.openxmlformats.org/officeDocument/2006/relationships/notesSlide" Target="/ppt/notesSlides/notesSlide6.xml" Id="R52b7eb3ddc12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a6b872af840af" /><Relationship Type="http://schemas.openxmlformats.org/officeDocument/2006/relationships/notesSlide" Target="/ppt/notesSlides/notesSlide7.xml" Id="Ra2a23b82660d48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a559364004722" /><Relationship Type="http://schemas.openxmlformats.org/officeDocument/2006/relationships/notesSlide" Target="/ppt/notesSlides/notesSlide8.xml" Id="R0c089c84b95349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C3FB4-3C78-4B53-B3E2-ACDC1EE0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Geospatial scenes with shared 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0D3DE-D01D-4080-A374-F109E1CD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38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BE8E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BE8EC"/>
                </a:solidFill>
                <a:latin typeface="Arial"/>
                <a:ea typeface="Arial"/>
                <a:cs typeface="Arial"/>
              </a:rPr>
              <a:t>A railway, a site asset and a scalar field should retain their source coordinates while participating in one scene.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843E-58CD-4425-B537-8D1192C0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38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3D7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3D744"/>
                </a:solidFill>
                <a:latin typeface="Arial"/>
                <a:ea typeface="Arial"/>
                <a:cs typeface="Arial"/>
              </a:rPr>
              <a:t>Rendering, world-position queries, bounds and physics need the same resolved placement.</a:t>
            </a:r>
          </a:p>
        </p:txBody>
      </p:sp>
    </p:spTree>
    <p:extLst>
      <p:ext uri="{BB962C8B-B14F-4D97-AF65-F5344CB8AC3E}">
        <p14:creationId xmlns:p14="http://schemas.microsoft.com/office/powerpoint/2010/main" val="572248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46B00-7C8F-4F49-8B74-3C15380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Railway source and scene identity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4d780749149bf"/>
          <a:stretch xmlns:a="http://schemas.openxmlformats.org/drawingml/2006/main"/>
        </p:blipFill>
        <p:spPr>
          <a:xfrm xmlns:a="http://schemas.openxmlformats.org/drawingml/2006/main">
            <a:off x="461433" y="1562100"/>
            <a:ext cx="7078133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EAF81-2A7B-439F-B01B-2EAF2BB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1,473 source features match USD object identities and first-coordinate anchors.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626A8-B454-4333-AE0D-0802C5C5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186 railway curves retain 3,526 vertices by count; interior placement is still unchecked.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898B1-187D-4645-AC1F-4CE8B188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These checks establish what survived conversion; they do not establish resolved rails-on-map placement.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B6424-BC0F-4A20-ADDE-787C04B3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Original source curves and matching USD anchors; this is a data plot, not a runtime render.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42E44-CED7-4BEF-A60C-C9F50BBF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750443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A73FC-8E01-482E-99B6-88B5AD9B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Native interpolation preserves the authored path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ac1adcd447c7"/>
          <a:stretch xmlns:a="http://schemas.openxmlformats.org/drawingml/2006/main"/>
        </p:blipFill>
        <p:spPr>
          <a:xfrm xmlns:a="http://schemas.openxmlformats.org/drawingml/2006/main">
            <a:off x="461433" y="1562100"/>
            <a:ext cx="7078133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13133-A305-4BFB-87A7-1FCB3A0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R20, Positions between recorded moments: interpolate recorded coordinates in their CRS, then convert.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79716-FFB9-474E-92F7-205D4D11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Interpolating converted endpoints puts the equatorial midpoint 971.421 m inside the ellipsoid.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3F9B8-4FF8-45A1-9A26-4C8FB8AC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This is an analytic component example; the scene position carrier and its sampling rules remain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798B9-A544-4381-894B-F1B0D81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Equatorial samples at minus and plus one degree; vertical scale is exaggerated and axes use different units.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A80A2-AF62-4001-B636-40019C6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545597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339CF-E0B9-4201-8538-F778D5D9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Scalar data and a removable visualization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67dd6034a4db3"/>
          <a:stretch xmlns:a="http://schemas.openxmlformats.org/drawingml/2006/main"/>
        </p:blipFill>
        <p:spPr>
          <a:xfrm xmlns:a="http://schemas.openxmlformats.org/drawingml/2006/main">
            <a:off x="461433" y="1562100"/>
            <a:ext cx="7078133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8AA68-5AC2-4201-AF4D-C49A90A5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2,664 scalar samples on a 37 by 72 grid exercise coordinate reporting; a three-sample overlay is removable.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F1B97-EC5C-45F7-8097-589D057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 stock-USD overlay leaves source values intact. Geospatial placement of that overlay is still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06DF0-1F9C-464B-AB97-AA0C69C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Forecast origin, timestamp, CRS metadata and value units are unverified; the filename is not provenance.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EBC4F-0D04-4915-8FEC-9EE27855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Raw values from the retained scalar-field fixture, without an inferred physical unit.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B98AE-9E29-4213-8BEA-5FD46B47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20441240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D0CDB-2287-45FE-8988-DE503308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Proposed runtime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25364-197D-4ADB-80AB-0AC59433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Composed declarations establish CRS scope; source coordinates and asset conventions remain authored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DA41B-BBE4-41CB-A88F-C711F65B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Resolution evaluates native positions and offsets into one selected output CRS without modifying the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B397F-D1FE-406B-865A-4A2566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Queries and consumers share the result; failures and operation provenance remain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DD9C9-9D74-45CD-9A8D-E34B90C5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480691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117FE-A5AA-4318-B9E1-D74C3B9C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Two runtime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3D932-2753-4A3E-A1BB-7158D7A9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Non-Hydra: a renderer-independent scene resolver for placements, coordinate queries and bounds. Not built.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1E5FB-C11B-4949-A717-B80A0A77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Hydra: a scene-index adapter consuming the same resolved placement and propagating changes. Not built.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1E885-B4F4-447C-8257-828D6BBD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Consumer consistency is distinct from R29, Implementable from the text alone, which requires different transformation engines.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7FBAC-6A9B-4A30-8FCA-10BFF407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64071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D54B0-3A41-481A-9388-6C600307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Next complete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D462-6864-4062-B1AB-38927433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Import the railway and a site asset, resolve them into one project CRS, and verify placement against independent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EA8BC-8E9D-4446-B5C0-0DABB2C1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Relocate an asset, scrub time and compose another layer; compare non-Hydra queries with Hydra results after each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7A6C4-8B16-4B1D-AE56-CF19314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State placement error and valid extent, preserve source data, and fail visibly when a required operation cannot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9A7A4-C9FB-40E9-B4BB-9B8D9686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491586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C088D-672E-44B9-8232-FDC90D69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Review requests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F7199-2136-4755-A8F3-66DEA5A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Review the proposed runtime prose against the functional requirements and close the carrier, placement and scope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916BA-57B7-482B-AC3C-F651B74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Supply source CRS/epoch/vertical metadata, expected control points and a distance-and-extent acceptance criterion.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555A0-92FF-49AA-8B47-8FD386C0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Use the next railway/site demonstration to review both consumer paths and separate engine agreement from correctness.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538B0-EE9D-4D3E-91B1-C231CA6B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596814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2026-09-22T01:16:33.9360000Z</dcterms:created>
  <dcterms:modified xsi:type="dcterms:W3CDTF">2026-09-22T01:16:33.9360000Z</dcterms:modified>
</coreProperties>
</file>