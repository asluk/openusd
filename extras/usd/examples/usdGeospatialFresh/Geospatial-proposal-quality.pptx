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c1e11a2316b4aba" /><Relationship Type="http://schemas.openxmlformats.org/officeDocument/2006/relationships/extended-properties" Target="/docProps/app.xml" Id="R984227125f55498b" /><Relationship Type="http://schemas.openxmlformats.org/officeDocument/2006/relationships/officeDocument" Target="/ppt/presentation.xml" Id="Re74206b5786d47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badbf01ede546e0"/>
  </p:sldMasterIdLst>
  <p:notesMasterIdLst>
    <p:notesMasterId xmlns:r="http://schemas.openxmlformats.org/officeDocument/2006/relationships" r:id="R10251bb0e1a14b40"/>
  </p:notesMasterIdLst>
  <p:sldIdLst>
    <p:sldId xmlns:r="http://schemas.openxmlformats.org/officeDocument/2006/relationships" id="256" r:id="R624ce60d960f4347"/>
    <p:sldId xmlns:r="http://schemas.openxmlformats.org/officeDocument/2006/relationships" id="257" r:id="R7312efbd25984c05"/>
    <p:sldId xmlns:r="http://schemas.openxmlformats.org/officeDocument/2006/relationships" id="258" r:id="Re48b36211eb34490"/>
    <p:sldId xmlns:r="http://schemas.openxmlformats.org/officeDocument/2006/relationships" id="259" r:id="Rcc43c5f1ba4c4118"/>
    <p:sldId xmlns:r="http://schemas.openxmlformats.org/officeDocument/2006/relationships" id="260" r:id="R7fd8d6ecacda40f8"/>
    <p:sldId xmlns:r="http://schemas.openxmlformats.org/officeDocument/2006/relationships" id="261" r:id="R1b169f0acdff4a8d"/>
    <p:sldId xmlns:r="http://schemas.openxmlformats.org/officeDocument/2006/relationships" id="262" r:id="R5a12ca595b2547af"/>
    <p:sldId xmlns:r="http://schemas.openxmlformats.org/officeDocument/2006/relationships" id="263" r:id="R52cc8fc65a734098"/>
    <p:sldId xmlns:r="http://schemas.openxmlformats.org/officeDocument/2006/relationships" id="264" r:id="R71ec052635ad4354"/>
    <p:sldId xmlns:r="http://schemas.openxmlformats.org/officeDocument/2006/relationships" id="265" r:id="Re0b5033998664cba"/>
    <p:sldId xmlns:r="http://schemas.openxmlformats.org/officeDocument/2006/relationships" id="266" r:id="Rfe116766eb3c4ce6"/>
    <p:sldId xmlns:r="http://schemas.openxmlformats.org/officeDocument/2006/relationships" id="267" r:id="R9f45c285811d4f9b"/>
    <p:sldId xmlns:r="http://schemas.openxmlformats.org/officeDocument/2006/relationships" id="268" r:id="R6e379174ee744c90"/>
    <p:sldId xmlns:r="http://schemas.openxmlformats.org/officeDocument/2006/relationships" id="269" r:id="R92d876b9695c4494"/>
    <p:sldId xmlns:r="http://schemas.openxmlformats.org/officeDocument/2006/relationships" id="270" r:id="Rff7a4fe9a3374374"/>
    <p:sldId xmlns:r="http://schemas.openxmlformats.org/officeDocument/2006/relationships" id="271" r:id="R1489164424dd457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64010695684ab8" /><Relationship Type="http://schemas.openxmlformats.org/officeDocument/2006/relationships/slideMaster" Target="/ppt/slideMasters/slideMaster1.xml" Id="R5badbf01ede546e0" /><Relationship Type="http://schemas.openxmlformats.org/officeDocument/2006/relationships/notesMaster" Target="/ppt/notesMasters/notesMaster1.xml" Id="R10251bb0e1a14b40" /><Relationship Type="http://schemas.openxmlformats.org/officeDocument/2006/relationships/presProps" Target="/ppt/presProps.xml" Id="Re94c31fed79747ee" /><Relationship Type="http://schemas.openxmlformats.org/officeDocument/2006/relationships/tableStyles" Target="/ppt/tableStyles.xml" Id="R2d416bde5d124e61" /><Relationship Type="http://schemas.openxmlformats.org/officeDocument/2006/relationships/slide" Target="/ppt/slides/slide1.xml" Id="R624ce60d960f4347" /><Relationship Type="http://schemas.openxmlformats.org/officeDocument/2006/relationships/slide" Target="/ppt/slides/slide2.xml" Id="R7312efbd25984c05" /><Relationship Type="http://schemas.openxmlformats.org/officeDocument/2006/relationships/slide" Target="/ppt/slides/slide3.xml" Id="Re48b36211eb34490" /><Relationship Type="http://schemas.openxmlformats.org/officeDocument/2006/relationships/slide" Target="/ppt/slides/slide4.xml" Id="Rcc43c5f1ba4c4118" /><Relationship Type="http://schemas.openxmlformats.org/officeDocument/2006/relationships/slide" Target="/ppt/slides/slide5.xml" Id="R7fd8d6ecacda40f8" /><Relationship Type="http://schemas.openxmlformats.org/officeDocument/2006/relationships/slide" Target="/ppt/slides/slide6.xml" Id="R1b169f0acdff4a8d" /><Relationship Type="http://schemas.openxmlformats.org/officeDocument/2006/relationships/slide" Target="/ppt/slides/slide7.xml" Id="R5a12ca595b2547af" /><Relationship Type="http://schemas.openxmlformats.org/officeDocument/2006/relationships/slide" Target="/ppt/slides/slide8.xml" Id="R52cc8fc65a734098" /><Relationship Type="http://schemas.openxmlformats.org/officeDocument/2006/relationships/slide" Target="/ppt/slides/slide9.xml" Id="R71ec052635ad4354" /><Relationship Type="http://schemas.openxmlformats.org/officeDocument/2006/relationships/slide" Target="/ppt/slides/slide10.xml" Id="Re0b5033998664cba" /><Relationship Type="http://schemas.openxmlformats.org/officeDocument/2006/relationships/slide" Target="/ppt/slides/slide11.xml" Id="Rfe116766eb3c4ce6" /><Relationship Type="http://schemas.openxmlformats.org/officeDocument/2006/relationships/slide" Target="/ppt/slides/slide12.xml" Id="R9f45c285811d4f9b" /><Relationship Type="http://schemas.openxmlformats.org/officeDocument/2006/relationships/slide" Target="/ppt/slides/slide13.xml" Id="R6e379174ee744c90" /><Relationship Type="http://schemas.openxmlformats.org/officeDocument/2006/relationships/slide" Target="/ppt/slides/slide14.xml" Id="R92d876b9695c4494" /><Relationship Type="http://schemas.openxmlformats.org/officeDocument/2006/relationships/slide" Target="/ppt/slides/slide15.xml" Id="Rff7a4fe9a3374374" /><Relationship Type="http://schemas.openxmlformats.org/officeDocument/2006/relationships/slide" Target="/ppt/slides/slide16.xml" Id="R1489164424dd45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07fd6d64ad42c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7f643bb2e54671" /><Relationship Type="http://schemas.openxmlformats.org/officeDocument/2006/relationships/notesMaster" Target="/ppt/notesMasters/notesMaster1.xml" Id="Re434820095f74fc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be98ff34d784ce0" /><Relationship Type="http://schemas.openxmlformats.org/officeDocument/2006/relationships/notesMaster" Target="/ppt/notesMasters/notesMaster1.xml" Id="R583ba01b320a485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b345c6499b457f" /><Relationship Type="http://schemas.openxmlformats.org/officeDocument/2006/relationships/notesMaster" Target="/ppt/notesMasters/notesMaster1.xml" Id="R8325d1a88e1e4f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68dba55b8241fc" /><Relationship Type="http://schemas.openxmlformats.org/officeDocument/2006/relationships/notesMaster" Target="/ppt/notesMasters/notesMaster1.xml" Id="R15d7b41a21514f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61daef0990e45e3" /><Relationship Type="http://schemas.openxmlformats.org/officeDocument/2006/relationships/notesMaster" Target="/ppt/notesMasters/notesMaster1.xml" Id="Rec6ee0c2ec214a7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8d113614c643b0" /><Relationship Type="http://schemas.openxmlformats.org/officeDocument/2006/relationships/notesMaster" Target="/ppt/notesMasters/notesMaster1.xml" Id="R89da772c31a3426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2d9e4108d4c4b01" /><Relationship Type="http://schemas.openxmlformats.org/officeDocument/2006/relationships/notesMaster" Target="/ppt/notesMasters/notesMaster1.xml" Id="R096e8a2105d449d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098a9ce841d4cf6" /><Relationship Type="http://schemas.openxmlformats.org/officeDocument/2006/relationships/notesMaster" Target="/ppt/notesMasters/notesMaster1.xml" Id="Ra86be801e8144bb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379ac6f15254b2f" /><Relationship Type="http://schemas.openxmlformats.org/officeDocument/2006/relationships/notesMaster" Target="/ppt/notesMasters/notesMaster1.xml" Id="Rab0b24e813e149c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fdf01a6ed2c432e" /><Relationship Type="http://schemas.openxmlformats.org/officeDocument/2006/relationships/notesMaster" Target="/ppt/notesMasters/notesMaster1.xml" Id="R6dc787e90770462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6191b40eeba462e" /><Relationship Type="http://schemas.openxmlformats.org/officeDocument/2006/relationships/notesMaster" Target="/ppt/notesMasters/notesMaster1.xml" Id="Ra12c84ca33f445e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ad4d681b698438b" /><Relationship Type="http://schemas.openxmlformats.org/officeDocument/2006/relationships/notesMaster" Target="/ppt/notesMasters/notesMaster1.xml" Id="Rea20bc3945244cd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afb192eb0334220" /><Relationship Type="http://schemas.openxmlformats.org/officeDocument/2006/relationships/notesMaster" Target="/ppt/notesMasters/notesMaster1.xml" Id="R2b6d142567a744c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fc661acceda4a4a" /><Relationship Type="http://schemas.openxmlformats.org/officeDocument/2006/relationships/notesMaster" Target="/ppt/notesMasters/notesMaster1.xml" Id="Raf8681cb4b26438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641f28f535747e9" /><Relationship Type="http://schemas.openxmlformats.org/officeDocument/2006/relationships/notesMaster" Target="/ppt/notesMasters/notesMaster1.xml" Id="Rde4a3100e26b4cf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08beeccf1f34d7c" /><Relationship Type="http://schemas.openxmlformats.org/officeDocument/2006/relationships/notesMaster" Target="/ppt/notesMasters/notesMaster1.xml" Id="Rd9434d3adb504c4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README: outputs/geospatial-fresh-build-20261014/README.md. Authority: proposal e519199; no source model changes made in this run.  Fresh implementation source was authored without previous geospatial code or outputs before first freeze. One agent; common libraries; not a blinded independent-author study. Native rendered geometry is real output; ground/sky/material are illustrative. Eiffel original asset credit and embedded CC BY 4.0 attribution retained.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README: outputs/geospatial-fresh-build-20261014/README.md. Authority: proposal e519199; no source model changes made in this run.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README: outputs/geospatial-fresh-build-20261014/README.md. Authority: proposal e519199; no source model changes made in this run.  Normative evaluation and query sections. Tested: nested direct bindings, descendant reset, Y/Z up, source units, reference time offsets, value clips and transported independent instances. Orientation endpoint poses use shortest-arc interpolation; ambiguous half-turn interiors fail.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README: outputs/geospatial-fresh-build-20261014/README.md. Authority: proposal e519199; no source model changes made in this run.  README: WKT string identity and shared placement. Evidence: test_contract WKT controls and focused-native-checks.json analytic BOUNDCRS shift. Preferred productions from https://docs.ogc.org/is/18-010r11/18-010r11.pdf . Full ISO grammar validation is not certified.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README: outputs/geospatial-fresh-build-20261014/README.md. Authority: proposal e519199; no source model changes made in this run.  README: WKT string identity and shared placement. Evidence: sharing.json, native-controls.json, focused-native-checks.json and test_assembly.py. Equatorial analytic expectations, not previous prototype output. Source ID 1234 is ordinary USD instance identity, not a new geospatial property.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README: outputs/geospatial-fresh-build-20261014/README.md. Authority: proposal e519199; no source model changes made in this run.  https://openusd.org/release/user_guides/schemas/UsdProfiles/overview.html . ClaimsAPI customData.profilesInfo.capabilityUsages and an unqualified profileCompatibility publication claim. Names and graph registration remain proposed; schema-implied capability is not a traversal-generated summary.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README: outputs/geospatial-fresh-build-20261014/README.md. Authority: proposal e519199; no source model changes made in this run.  Evidence: profiles.json, profiles-generic-query.json and native guards. A coverage-only local profile graph and a coverage-plus-resolution graph change generic IsCompatibleWith results. Empty usage gives NoPath in this SDK despite the composed completeness claim. This is a registration/integration clarification, not a new placement rule. No fake hard usage was added to force an API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README: outputs/geospatial-fresh-build-20261014/README.md. Authority: proposal e519199; no source model changes made in this run.  Evidence: provider-controls.json and provider-reader-comparison.json. Local RAF20/GEOID18 resources, network off. Attributed operation accuracy: France tested height paths 0.01 m; Colorado 0.015 m; geographic/geocentric path unknown. Common PROJ is not independent geodetic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README: outputs/geospatial-fresh-build-20261014/README.md. Authority: proposal e519199; no source model changes made in this run.  Evidence: survey.json and survey-resolved.npz. Original Trimble LandXML and site-calibration WKT retained. No synthetic elevation or hidden local-anchor reinterpretation. Plot centre/basis is presentation-only.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README: outputs/geospatial-fresh-build-20261014/README.md. Authority: proposal e519199; no source model changes made in this run.  Evidence: measurements.json, railway-resolved.npz, writer-facts.json. GeoJSON native association is geometry-only. RFC7946 https://www.rfc-editor.org/rfc/rfc7946 . Legacy CRS identifiers are checked as complete recognized spellings, not substring guesses.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README: outputs/geospatial-fresh-build-20261014/README.md. Authority: proposal e519199; no source model changes made in this run.  Evidence: measurements.json and climate-resolved.npz. 153 valid locations match between readers; values, masks and two observation times preserved. Observation times are not coordinate epochs. Analytics plot, not Hydra/Omniverse render. CF1.12 https://cfconventions.org/Data/cf-conventions/cf-conventions-1.12/cf-conventions.html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README: outputs/geospatial-fresh-build-20261014/README.md. Authority: proposal e519199; no source model changes made in this run.  Evidence: measurements.json, city-resolved.npz and GeoTIFF Area/Point controls. Native format decoder is shared; placement evaluation is independently written. https://docs.ogc.org/is/19-008r4/19-008r4.html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README: outputs/geospatial-fresh-build-20261014/README.md. Authority: proposal e519199; no source model changes made in this run.  Evidence: tower.json, ov-writeback.json, storm-render-final.log and fresh-export-checks.json. Shared PROJ and format decoder disclosed. No Fabric/ovstage resolver or geospatial Hydra filter. Omniverse output uses an external Python bridge, not an in-process third resolver. Fresh ordinary readers recover the selected bake with one double origin.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README: outputs/geospatial-fresh-build-20261014/README.md. Authority: proposal e519199; no source model changes made in this run.  Evidence: control-tests-final.xml, native controls/guards, sharing.json and generation receipts. Implementation defects were corrected using existing clauses, including resource-loader collision, stale engine errors and compound geographic chart classification. No new model properties were inserted as fixes. https://docs.ogc.org/is/18-010r11/18-010r11.pdf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README: outputs/geospatial-fresh-build-20261014/README.md. Authority: proposal e519199; no source model changes made in this run.  Full ISO grammar validation, arbitrary material-graph closure and nested conditional-variant publisher enumeration are not certified. The occurrence exporter rejects authored instance normals. Finite vertices do not prove the nonlinear image of continuous faces/time. This is coverage/implementation limitation, not evidence of missing normative scene meaning.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README: outputs/geospatial-fresh-build-20261014/README.md. Authority: proposal e519199; no source model changes made in this run.  generation-record.json, authority/derivation.md, immutability.json and source hashes. Earlier incremental runs are not retroactively labeled fresh. Artifact style follows the clear Arial, white, dark-blue and teal reference deck; its implementation was not generation input.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65f34b3ffa449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ef15a37c4044e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ad2020809a49c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a17770a4244f0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ee1680673540d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51c348f1644b6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D1C2567-6F87-46B8-91DF-7E67A91DB1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C56D11A-8D62-44FF-9005-670ED50EA23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FC1FABB-9238-4EA3-B873-4AB4661DC2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099543-B616-4322-B2A7-5C2377C11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B45EA1B-AB42-4D77-A989-078AB58722C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A771A9F-F7BB-4553-A975-960ED50350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B2352B5-BBBA-4161-8FC5-8D96E3FBC7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702452B-ACF5-4F1A-A215-9F50944CF63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92C1346-3809-4505-8586-FA1C681C81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E893D39-10BB-43DD-88EA-EBAF360C88E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ee86a516dc41b9" /><Relationship Type="http://schemas.openxmlformats.org/officeDocument/2006/relationships/slideLayout" Target="/ppt/slideLayouts/slideLayout1.xml" Id="R5a11c1f4f1d54e84" /><Relationship Type="http://schemas.openxmlformats.org/officeDocument/2006/relationships/slideLayout" Target="/ppt/slideLayouts/slideLayout2.xml" Id="Rd04b1e1be71e48a2" /><Relationship Type="http://schemas.openxmlformats.org/officeDocument/2006/relationships/slideLayout" Target="/ppt/slideLayouts/slideLayout3.xml" Id="R04bded0e40e54d9c" /><Relationship Type="http://schemas.openxmlformats.org/officeDocument/2006/relationships/slideLayout" Target="/ppt/slideLayouts/slideLayout4.xml" Id="R1a107c3ae04d4b7f" /><Relationship Type="http://schemas.openxmlformats.org/officeDocument/2006/relationships/slideLayout" Target="/ppt/slideLayouts/slideLayout5.xml" Id="R4cdc796de8614853" /><Relationship Type="http://schemas.openxmlformats.org/officeDocument/2006/relationships/slideLayout" Target="/ppt/slideLayouts/slideLayout6.xml" Id="Rfa821b90dd6246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11c1f4f1d54e84"/>
    <p:sldLayoutId xmlns:r="http://schemas.openxmlformats.org/officeDocument/2006/relationships" id="2147483650" r:id="Rd04b1e1be71e48a2"/>
    <p:sldLayoutId xmlns:r="http://schemas.openxmlformats.org/officeDocument/2006/relationships" id="2147483651" r:id="R04bded0e40e54d9c"/>
    <p:sldLayoutId xmlns:r="http://schemas.openxmlformats.org/officeDocument/2006/relationships" id="2147483652" r:id="R1a107c3ae04d4b7f"/>
    <p:sldLayoutId xmlns:r="http://schemas.openxmlformats.org/officeDocument/2006/relationships" id="2147483653" r:id="R4cdc796de8614853"/>
    <p:sldLayoutId xmlns:r="http://schemas.openxmlformats.org/officeDocument/2006/relationships" id="2147483654" r:id="Rfa821b90dd6246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c33b68c1b047e7" /><Relationship Type="http://schemas.openxmlformats.org/officeDocument/2006/relationships/image" Target="/ppt/media/image.png" Id="R4356b44bc54041e9" /><Relationship Type="http://schemas.openxmlformats.org/officeDocument/2006/relationships/notesSlide" Target="/ppt/notesSlides/notesSlide1.xml" Id="Re0a17ba50da042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4ed24765b041ff" /><Relationship Type="http://schemas.openxmlformats.org/officeDocument/2006/relationships/notesSlide" Target="/ppt/notesSlides/notesSlide2.xml" Id="Rd167fd615a6e41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a81e54233b402a" /><Relationship Type="http://schemas.openxmlformats.org/officeDocument/2006/relationships/notesSlide" Target="/ppt/notesSlides/notesSlide3.xml" Id="R0df16f2b7d9d41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d4abb4ac5341e8" /><Relationship Type="http://schemas.openxmlformats.org/officeDocument/2006/relationships/notesSlide" Target="/ppt/notesSlides/notesSlide4.xml" Id="R2652b313396e428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1767060f8b43e7" /><Relationship Type="http://schemas.openxmlformats.org/officeDocument/2006/relationships/notesSlide" Target="/ppt/notesSlides/notesSlide5.xml" Id="R0362c9b5aa6445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b049c3c2c44e5b" /><Relationship Type="http://schemas.openxmlformats.org/officeDocument/2006/relationships/notesSlide" Target="/ppt/notesSlides/notesSlide6.xml" Id="R00a1162bd57140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221d2a85634303" /><Relationship Type="http://schemas.openxmlformats.org/officeDocument/2006/relationships/notesSlide" Target="/ppt/notesSlides/notesSlide7.xml" Id="R89427578df72416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228adeb7fa47fd" /><Relationship Type="http://schemas.openxmlformats.org/officeDocument/2006/relationships/notesSlide" Target="/ppt/notesSlides/notesSlide8.xml" Id="Raa2f882514614f0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67c2aa2f284c01" /><Relationship Type="http://schemas.openxmlformats.org/officeDocument/2006/relationships/image" Target="/ppt/media/image2.png" Id="R9ea03ccb372349bd" /><Relationship Type="http://schemas.openxmlformats.org/officeDocument/2006/relationships/notesSlide" Target="/ppt/notesSlides/notesSlide9.xml" Id="Rf8e8e865a64e456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c1b1557b154abe" /><Relationship Type="http://schemas.openxmlformats.org/officeDocument/2006/relationships/image" Target="/ppt/media/image3.png" Id="R9a496da0ce6b4e80" /><Relationship Type="http://schemas.openxmlformats.org/officeDocument/2006/relationships/notesSlide" Target="/ppt/notesSlides/notesSlide10.xml" Id="R4c4ccbed9e19438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17dcd94137496f" /><Relationship Type="http://schemas.openxmlformats.org/officeDocument/2006/relationships/image" Target="/ppt/media/image4.png" Id="Rd4a1c8e87bf0483a" /><Relationship Type="http://schemas.openxmlformats.org/officeDocument/2006/relationships/notesSlide" Target="/ppt/notesSlides/notesSlide11.xml" Id="Rc20b3850fe1b49c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cc2a85f60f4110" /><Relationship Type="http://schemas.openxmlformats.org/officeDocument/2006/relationships/image" Target="/ppt/media/image5.png" Id="R71af534227ff432a" /><Relationship Type="http://schemas.openxmlformats.org/officeDocument/2006/relationships/notesSlide" Target="/ppt/notesSlides/notesSlide12.xml" Id="Rc23f93c30e6d4a6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45ffb78cc048a8" /><Relationship Type="http://schemas.openxmlformats.org/officeDocument/2006/relationships/notesSlide" Target="/ppt/notesSlides/notesSlide13.xml" Id="R9d384b6da21d43a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63179d4eba4e32" /><Relationship Type="http://schemas.openxmlformats.org/officeDocument/2006/relationships/notesSlide" Target="/ppt/notesSlides/notesSlide14.xml" Id="R7e52e1e5d4914db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5e4e1965ab4c7c" /><Relationship Type="http://schemas.openxmlformats.org/officeDocument/2006/relationships/notesSlide" Target="/ppt/notesSlides/notesSlide15.xml" Id="Rd32476ea26bf48e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7fc1c17c244cf8" /><Relationship Type="http://schemas.openxmlformats.org/officeDocument/2006/relationships/notesSlide" Target="/ppt/notesSlides/notesSlide16.xml" Id="R0a382534d1d54a7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492300-581E-4167-BD46-B2B28C14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Geospatial USD: proposal quality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B39CFE-5887-429A-9F27-8CAA8253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52387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85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A proposal that can drive a fresh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D46BA6-FCF7-45C8-8CD4-0F93E86E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514350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The tested scene semantics were derivable without adding source fields.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Implementation errors were exposed and corrected against the proposal.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82D28-BD05-4063-BA53-494821A3CB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56b44bc54041e9"/>
          <a:stretch xmlns:a="http://schemas.openxmlformats.org/drawingml/2006/main"/>
        </p:blipFill>
        <p:spPr>
          <a:xfrm xmlns:a="http://schemas.openxmlformats.org/drawingml/2006/main">
            <a:off x="6191250" y="1809036"/>
            <a:ext cx="5476875" cy="307800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F88A2D-8588-4255-803F-343E43705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00675"/>
            <a:ext cx="5191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2677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77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772"/>
                </a:solidFill>
                <a:latin typeface="Arial"/>
                <a:ea typeface="Arial"/>
                <a:cs typeface="Arial"/>
              </a:rPr>
              <a:t>C++ placement, ordinary USD bake, native Storm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57E6CF-DC14-4AAB-892C-3B6F22A0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7F8B"/>
                </a:solidFill>
                <a:latin typeface="Arial"/>
                <a:ea typeface="Arial"/>
                <a:cs typeface="Arial"/>
              </a:rPr>
              <a:t>Bounded evidence of proposal quality. Profiles integration and broader conformance coverage remain explicit.</a:t>
            </a:r>
          </a:p>
        </p:txBody>
      </p:sp>
    </p:spTree>
    <p:extLst>
      <p:ext uri="{BB962C8B-B14F-4D97-AF65-F5344CB8AC3E}">
        <p14:creationId xmlns:p14="http://schemas.microsoft.com/office/powerpoint/2010/main" val="21196662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CD46D6-4D15-4338-9BBA-296D29DC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Inputs describe meaning; readers compute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F72930-3BA1-4D9F-B304-53F1AD92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Local points retain their ordinary USD length interpretation. Geospatial inputs tell a reader where and how that model is placed.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031FE0-670E-4E96-B9F6-DF42C671FC52}"/>
              </a:ext>
            </a:extLst>
          </p:cNvPr>
          <p:cNvGraphicFramePr/>
          <p:nvPr/>
        </p:nvGraphicFramePr>
        <p:xfrm>
          <a:off xmlns:a="http://schemas.openxmlformats.org/drawingml/2006/main" x="609600" y="2305050"/>
          <a:ext xmlns:a="http://schemas.openxmlformats.org/drawingml/2006/main" cx="10972800" cy="3419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569913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USD input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</a:tr>
              <a:tr h="569913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crs:wkt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Complete CRS description: datum, axes, units, projection and height reference.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9913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crs:position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Absolute origin in its CRS. Geographic 3D uses longitude, latitude and height.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9913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crs:orientation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Physical heading, pitch and roll against local geodetic east, north and up.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9913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Ordinary xformOps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Intentional scale, pivots and adjustments under the specified ordering.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9913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Native dataset association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Asset, format, field and coordinate domain; native values stay paired with locations.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2D5F78-5280-4C8B-A5D1-C6624D8B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7F8B"/>
                </a:solidFill>
                <a:latin typeface="Arial"/>
                <a:ea typeface="Arial"/>
                <a:cs typeface="Arial"/>
              </a:rPr>
              <a:t>No computed geospatial results become source USD properties. There is no crs:scale or coordinate-epoch field.</a:t>
            </a:r>
          </a:p>
        </p:txBody>
      </p:sp>
    </p:spTree>
    <p:extLst>
      <p:ext uri="{BB962C8B-B14F-4D97-AF65-F5344CB8AC3E}">
        <p14:creationId xmlns:p14="http://schemas.microsoft.com/office/powerpoint/2010/main" val="1981505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B8E1EA-759D-4ED4-9247-45B46C6D8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Placement and ordinary USD adjustment 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643108-7B1B-430E-8295-9E745EFA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The distinction is between local detail transforms and the anchor’s adjustment after intrinsic geospatial placement.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FA5A0A-58AF-4694-88AD-21181809595F}"/>
              </a:ext>
            </a:extLst>
          </p:cNvPr>
          <p:cNvGraphicFramePr/>
          <p:nvPr/>
        </p:nvGraphicFramePr>
        <p:xfrm>
          <a:off xmlns:a="http://schemas.openxmlformats.org/drawingml/2006/main" x="609600" y="2333625"/>
          <a:ext xmlns:a="http://schemas.openxmlformats.org/drawingml/2006/main" cx="1097280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33625"/>
                <a:gridCol w="5876925"/>
                <a:gridCol w="2762250"/>
              </a:tblGrid>
              <a:tr h="563563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Phase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happens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Driven by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</a:tr>
              <a:tr h="563563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1. Source evaluation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Evaluate composed origin and physical attitude at the requested time.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position, orientation, Core time rules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563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2. Local detail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Apply descendant detail transforms, stage units and up-axis mapping.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ordinary local transforms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563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3. Geospatial placement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Place and orient the detail; honor the full CRS and height operation.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WKT + source position + attitude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563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4. Working adjustment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Apply the anchor’s ordinary transforms in its fixed working chart.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anchor xformOps, including pivots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563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5. Requested result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Express coordinates in the requested CRS or ordinary scene chart.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output request + numeric origin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6E46E0-1B12-4714-89E4-9D00DEEC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7F8B"/>
                </a:solidFill>
                <a:latin typeface="Arial"/>
                <a:ea typeface="Arial"/>
                <a:cs typeface="Arial"/>
              </a:rPr>
              <a:t>A direct child binding is another absolute anchor. Ancestor ordinary transforms do not add its placement again.</a:t>
            </a:r>
          </a:p>
        </p:txBody>
      </p:sp>
    </p:spTree>
    <p:extLst>
      <p:ext uri="{BB962C8B-B14F-4D97-AF65-F5344CB8AC3E}">
        <p14:creationId xmlns:p14="http://schemas.microsoft.com/office/powerpoint/2010/main" val="18891811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7F8DC1-5BF8-49F9-9F93-56A0BB2A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WKT string normalization and CRS equivalence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8120C8-8F89-4DA7-B657-1CBACC5B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A consistent stored spelling enables exact token comparison. It does not turn every equivalent CRS description into identical text.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C7304C-A2AD-4FA6-BE5C-9DDD59B2071D}"/>
              </a:ext>
            </a:extLst>
          </p:cNvPr>
          <p:cNvGraphicFramePr/>
          <p:nvPr/>
        </p:nvGraphicFramePr>
        <p:xfrm>
          <a:off xmlns:a="http://schemas.openxmlformats.org/drawingml/2006/main" x="609600" y="2390775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7591425"/>
              </a:tblGrid>
              <a:tr h="773906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Proposed behavior and executed control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</a:tr>
              <a:tr h="773906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Does spelling match?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Normalize spaces, preferred keywords and exact decimal spelling. Preserve quoted content.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3906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Does meaning survive?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Retain axes, units and authored operations. An analytic static-shift control preserves the WKT transformation.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3906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Are different CRSs equivalent?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Resolve semantic equivalence separately. A different normalized token alone does not establish a different Earth reference.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19DB41-0D1A-473D-B17E-3294FDC8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7F8B"/>
                </a:solidFill>
                <a:latin typeface="Arial"/>
                <a:ea typeface="Arial"/>
                <a:cs typeface="Arial"/>
              </a:rPr>
              <a:t>Writers store normalized tokens. Supported non-normal reader input warns and leaves the source layer unchanged.</a:t>
            </a:r>
          </a:p>
        </p:txBody>
      </p:sp>
    </p:spTree>
    <p:extLst>
      <p:ext uri="{BB962C8B-B14F-4D97-AF65-F5344CB8AC3E}">
        <p14:creationId xmlns:p14="http://schemas.microsoft.com/office/powerpoint/2010/main" val="21358932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76560-7286-4207-B88D-02839868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Composition and repeated georeferenced assets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8636A9-F06E-443B-8FD6-3E746FDE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Sharing a CRS definition and positioning an occurrence have distinct meanings. The controls distinguish those meanings explicitly.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94D2CC-9CA4-4AEB-B1C0-6C85B1C6CD16}"/>
              </a:ext>
            </a:extLst>
          </p:cNvPr>
          <p:cNvGraphicFramePr/>
          <p:nvPr/>
        </p:nvGraphicFramePr>
        <p:xfrm>
          <a:off xmlns:a="http://schemas.openxmlformats.org/drawingml/2006/main" x="609600" y="2381250"/>
          <a:ext xmlns:a="http://schemas.openxmlformats.org/drawingml/2006/main" cx="10972800" cy="3181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24250"/>
                <a:gridCol w="7448550"/>
              </a:tblGrid>
              <a:tr h="63627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Case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Observed behavior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</a:tr>
              <a:tr h="63627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Shared CRS library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Reference and inherit composition give the same placement in both readers.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627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Directly bound child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Its absolute placement ignores a parent’s 1,000 m ordinary adjustment.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627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Repeated georeferenced prototype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A 10 m east instance offset applies once. Storage ancestors do not move the occurrence.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627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Missing occurrence frame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An identity occurrence keeps placement. A nonidentity adjustment without its required frame fails.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592722-FC7B-4DD8-8405-7A1D84BE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7F8B"/>
                </a:solidFill>
                <a:latin typeface="Arial"/>
                <a:ea typeface="Arial"/>
                <a:cs typeface="Arial"/>
              </a:rPr>
              <a:t>Instance results retain ID/index and prototype context. General inverse and instance-normal coverage remain explicit limits.</a:t>
            </a:r>
          </a:p>
        </p:txBody>
      </p:sp>
    </p:spTree>
    <p:extLst>
      <p:ext uri="{BB962C8B-B14F-4D97-AF65-F5344CB8AC3E}">
        <p14:creationId xmlns:p14="http://schemas.microsoft.com/office/powerpoint/2010/main" val="17722935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86720D-DCDF-4BBF-97E3-C27673440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USD Profiles: dependency before payload loading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DF1A85-FF42-406E-979E-77A6C7FA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Profiles uses ClaimsAPI metadata on the entrypoint to declare required processing before a consumer loads content.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599832-67C0-464D-9708-49001E432803}"/>
              </a:ext>
            </a:extLst>
          </p:cNvPr>
          <p:cNvGraphicFramePr/>
          <p:nvPr/>
        </p:nvGraphicFramePr>
        <p:xfrm>
          <a:off xmlns:a="http://schemas.openxmlformats.org/drawingml/2006/main" x="609600" y="2457450"/>
          <a:ext xmlns:a="http://schemas.openxmlformats.org/drawingml/2006/main" cx="10972800" cy="26003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866775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Author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Publisher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Consumer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</a:tr>
              <a:tr h="866775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Bind a model or native measurement.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Maintain a conservative summary for all retained content and variants.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Read the qualified usage declaration; load no payload to discover it.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6775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Schemas imply the proposed capability.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Publish the summary on the entrypoint, outside payloads.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Treat missing completeness as unknown and retain the dependency.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1E814A-1B85-4F13-9BAC-AAFE23762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Proposed identities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2C59A3-E21C-4BCA-9A31-A386B3FD6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7F8B"/>
                </a:solidFill>
                <a:latin typeface="Arial"/>
                <a:ea typeface="Arial"/>
                <a:cs typeface="Arial"/>
              </a:rPr>
              <a:t>usd.geospatial.crsResolution.v1   /   usd.geospatial.publication.v1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BC1722-7945-40D0-ACD4-980AFC4B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7F8B"/>
                </a:solidFill>
                <a:latin typeface="Arial"/>
                <a:ea typeface="Arial"/>
                <a:cs typeface="Arial"/>
              </a:rPr>
              <a:t>Publisher coverage is a checkable claim. Discovery does not prove the claim true.</a:t>
            </a:r>
          </a:p>
        </p:txBody>
      </p:sp>
    </p:spTree>
    <p:extLst>
      <p:ext uri="{BB962C8B-B14F-4D97-AF65-F5344CB8AC3E}">
        <p14:creationId xmlns:p14="http://schemas.microsoft.com/office/powerpoint/2010/main" val="20179166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01AAB9-3238-431E-A80A-105113CE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Profiles declarations: executed controls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BDA7F9-5C40-402C-9E59-25EFA24C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Both freshly written readers discover the same declaration states with zero loaded payloads.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0D3B53-29AC-46A1-A047-5C6B898D02DA}"/>
              </a:ext>
            </a:extLst>
          </p:cNvPr>
          <p:cNvGraphicFramePr/>
          <p:nvPr/>
        </p:nvGraphicFramePr>
        <p:xfrm>
          <a:off xmlns:a="http://schemas.openxmlformats.org/drawingml/2006/main" x="609600" y="2371725"/>
          <a:ext xmlns:a="http://schemas.openxmlformats.org/drawingml/2006/main" cx="10972800" cy="3162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3409950"/>
                <a:gridCol w="4181475"/>
              </a:tblGrid>
              <a:tr h="63246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Published state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Python / C++ discovery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Publisher audit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</a:tr>
              <a:tr h="63246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Retained bound content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required / required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Valid hard dependency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6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Qualified empty usage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known-none / known-none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Valid when no retained use needs resolution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6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Unqualified absence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unknown / unknown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Conservative dependency retained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6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Stale empty summary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known-none claim / same claim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Rejected: a retained variant is CRS-bound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B59555-B2E0-4517-9066-D78218CC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7F8B"/>
                </a:solidFill>
                <a:latin typeface="Arial"/>
                <a:ea typeface="Arial"/>
                <a:cs typeface="Arial"/>
              </a:rPr>
              <a:t>Clarify integration: generic compatibility-query status is not dependency discovery. Supply the final registration graph.</a:t>
            </a:r>
          </a:p>
        </p:txBody>
      </p:sp>
    </p:spTree>
    <p:extLst>
      <p:ext uri="{BB962C8B-B14F-4D97-AF65-F5344CB8AC3E}">
        <p14:creationId xmlns:p14="http://schemas.microsoft.com/office/powerpoint/2010/main" val="2618629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773C95-14F4-48BE-AAB2-F41AE16A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Provider coordinates supply independent expectations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5212DE-8870-4FFD-9766-1F2A08CB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The expected answers come from matched provider point IDs. Reader agreement is reported separately from provider error and operation accuracy.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917728-2D0F-4843-8BEB-DD25D553CEDC}"/>
              </a:ext>
            </a:extLst>
          </p:cNvPr>
          <p:cNvGraphicFramePr/>
          <p:nvPr/>
        </p:nvGraphicFramePr>
        <p:xfrm>
          <a:off xmlns:a="http://schemas.openxmlformats.org/drawingml/2006/main" x="609600" y="2352675"/>
          <a:ext xmlns:a="http://schemas.openxmlformats.org/drawingml/2006/main" cx="10972800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1190625"/>
                <a:gridCol w="3333750"/>
                <a:gridCol w="3400425"/>
              </a:tblGrid>
              <a:tr h="53340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Provider source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Points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Largest provider error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Python–C++ difference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</a:tr>
              <a:tr h="53340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France 01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59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0.082 mm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0 m in recorded output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France 02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59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0.109 mm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0 m in recorded output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France 04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59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0.100 mm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0 m in recorded output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Colorado 02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0.021 mm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0 m in recorded output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Colorado 03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0.022 mm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0 m in recorded output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F52831-0EAE-4578-8D94-8FCFB676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7F8B"/>
                </a:solidFill>
                <a:latin typeface="Arial"/>
                <a:ea typeface="Arial"/>
                <a:cs typeface="Arial"/>
              </a:rPr>
              <a:t>187 comparisons; all within a stated 2 mm tolerance. Rounded controls do not certify survey accuracy.</a:t>
            </a:r>
          </a:p>
        </p:txBody>
      </p:sp>
    </p:spTree>
    <p:extLst>
      <p:ext uri="{BB962C8B-B14F-4D97-AF65-F5344CB8AC3E}">
        <p14:creationId xmlns:p14="http://schemas.microsoft.com/office/powerpoint/2010/main" val="14437740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603CC-2C1C-435C-BD37-9072AFED8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A site survey keeps absolute-coordinate meaning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788235-A1D2-47FD-B188-3E87BCC5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Projection and site calibration stay in the complete WKT. Survey vertices are not reinterpreted as local model offsets.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385C0B-8CC6-4232-B983-077F56C012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a03ccb372349bd"/>
          <a:stretch xmlns:a="http://schemas.openxmlformats.org/drawingml/2006/main"/>
        </p:blipFill>
        <p:spPr>
          <a:xfrm xmlns:a="http://schemas.openxmlformats.org/drawingml/2006/main">
            <a:off x="2337916" y="2333625"/>
            <a:ext cx="3706168" cy="34861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584280-18F4-4AF5-8A87-F75D975C9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19375"/>
            <a:ext cx="3190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14,359 vertices</a:t>
            </a:r>
          </a:p>
          <a:p xmlns:a="http://schemas.openxmlformats.org/drawingml/2006/main">
            <a:pPr>
              <a:defRPr sz="2325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710 line parts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9841C6-E808-419D-93FB-6B505B40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0000"/>
            <a:ext cx="31908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Explicit north/east/height and US survey feet.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The two readers agree on every recorded point.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EEFD61-EEEB-427F-ADF9-B0246C9F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7F8B"/>
                </a:solidFill>
                <a:latin typeface="Arial"/>
                <a:ea typeface="Arial"/>
                <a:cs typeface="Arial"/>
              </a:rPr>
              <a:t>LandXML is a producer import demonstration, not a fourth schema data format. The view is a plotting convention.</a:t>
            </a:r>
          </a:p>
        </p:txBody>
      </p:sp>
    </p:spTree>
    <p:extLst>
      <p:ext uri="{BB962C8B-B14F-4D97-AF65-F5344CB8AC3E}">
        <p14:creationId xmlns:p14="http://schemas.microsoft.com/office/powerpoint/2010/main" val="7327938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0365C4-47E2-4B1B-BE34-DFCE751A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The railway has a useful horizontal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A11D16-567F-470C-8F15-1D123E7E3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An unconfirmed height reference does not justify inventing an altitude. The horizontal workflow can still resolve its location.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864CEA-4BCB-4390-B62C-82DD506061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496da0ce6b4e80"/>
          <a:stretch xmlns:a="http://schemas.openxmlformats.org/drawingml/2006/main"/>
        </p:blipFill>
        <p:spPr>
          <a:xfrm xmlns:a="http://schemas.openxmlformats.org/drawingml/2006/main">
            <a:off x="1887069" y="2276475"/>
            <a:ext cx="4626911" cy="36004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835DA2-57AE-4074-9555-C3B07343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66700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15,822 coordinates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95CA0D-FF13-4D41-BA55-DC93CF7E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600450"/>
            <a:ext cx="31432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Explicit 2D derivative.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Original third components and file bytes are preserved.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3D meaning remains unclaimed.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40C5CE-51B3-41EF-81C4-8F938C59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7F8B"/>
                </a:solidFill>
                <a:latin typeface="Arial"/>
                <a:ea typeface="Arial"/>
                <a:cs typeface="Arial"/>
              </a:rPr>
              <a:t>The readers agree on the returned horizontal coordinates. No zero-height substitute is used.</a:t>
            </a:r>
          </a:p>
        </p:txBody>
      </p:sp>
    </p:spTree>
    <p:extLst>
      <p:ext uri="{BB962C8B-B14F-4D97-AF65-F5344CB8AC3E}">
        <p14:creationId xmlns:p14="http://schemas.microsoft.com/office/powerpoint/2010/main" val="17289828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3E45F7-A3E7-4459-8CBE-26083C82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CF measurements preserve pairing across space and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794053-3313-4EF0-BEBE-757C52EFD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Named dimensions, explicit coordinate roles and observation times determine which value belongs at each location.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64E7B1-68DD-4AAD-A4C4-9F694A9F83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a1c8e87bf0483a"/>
          <a:stretch xmlns:a="http://schemas.openxmlformats.org/drawingml/2006/main"/>
        </p:blipFill>
        <p:spPr>
          <a:xfrm xmlns:a="http://schemas.openxmlformats.org/drawingml/2006/main">
            <a:off x="1860937" y="2352675"/>
            <a:ext cx="8470125" cy="33242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602544-CD61-4D46-BF08-440CECBB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7F8B"/>
                </a:solidFill>
                <a:latin typeface="Arial"/>
                <a:ea typeface="Arial"/>
                <a:cs typeface="Arial"/>
              </a:rPr>
              <a:t>154 samples; one masked. The original climate file lacks required metadata and is rejected. This CF example is synthetic.</a:t>
            </a:r>
          </a:p>
        </p:txBody>
      </p:sp>
    </p:spTree>
    <p:extLst>
      <p:ext uri="{BB962C8B-B14F-4D97-AF65-F5344CB8AC3E}">
        <p14:creationId xmlns:p14="http://schemas.microsoft.com/office/powerpoint/2010/main" val="13540091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C5CE33-5062-4056-B792-7AEBFECD0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GeoTIFF analytics retain the native sample domain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AD0D84-A466-4DB4-A584-283DB57B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USD names the asset, band and IFD. Location resolution preserves the cell’s value and mask.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6803A6-129A-47F6-8329-56076985F0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af534227ff432a"/>
          <a:stretch xmlns:a="http://schemas.openxmlformats.org/drawingml/2006/main"/>
        </p:blipFill>
        <p:spPr>
          <a:xfrm xmlns:a="http://schemas.openxmlformats.org/drawingml/2006/main">
            <a:off x="1497560" y="2314575"/>
            <a:ext cx="5434504" cy="35623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92752B-CAAE-4927-9472-53019CB7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19375"/>
            <a:ext cx="3190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3,072 cells</a:t>
            </a:r>
          </a:p>
          <a:p xmlns:a="http://schemas.openxmlformats.org/drawingml/2006/main">
            <a:pPr>
              <a:defRPr sz="2325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24 masked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CDAB22-38E3-4D4B-A4E0-3FE1CACA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57625"/>
            <a:ext cx="3190875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3,048 valid sample locations agree.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Pixel-centre mapping and missing-height failure have separate controls.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9F23DE-E260-43F4-9D8F-D1E14597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7F8B"/>
                </a:solidFill>
                <a:latin typeface="Arial"/>
                <a:ea typeface="Arial"/>
                <a:cs typeface="Arial"/>
              </a:rPr>
              <a:t>Synthetic 2D heat field; no terrain height assumed. Analytics presentation, not a scene-render claim.</a:t>
            </a:r>
          </a:p>
        </p:txBody>
      </p:sp>
    </p:spTree>
    <p:extLst>
      <p:ext uri="{BB962C8B-B14F-4D97-AF65-F5344CB8AC3E}">
        <p14:creationId xmlns:p14="http://schemas.microsoft.com/office/powerpoint/2010/main" val="4264407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A8383E-C4C4-47B7-BF3D-A673868D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Two placement readers; explicit integration paths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A41B34-39D5-48E3-B8EF-781E2728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The integrations demonstrate how resolved data can be consumed. They do not add a third placement implementation.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43827C-9B98-4BD4-97C0-DB6BD1C70540}"/>
              </a:ext>
            </a:extLst>
          </p:cNvPr>
          <p:cNvGraphicFramePr/>
          <p:nvPr/>
        </p:nvGraphicFramePr>
        <p:xfrm>
          <a:off xmlns:a="http://schemas.openxmlformats.org/drawingml/2006/main" x="609600" y="2352675"/>
          <a:ext xmlns:a="http://schemas.openxmlformats.org/drawingml/2006/main" cx="10972800" cy="3209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641985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Path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actually ran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</a:tr>
              <a:tr h="641985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Python placement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Fresh composed-USD reader with PROJ.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1985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Native C++ placement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Fresh native USD reader; independently written placement math and PROJ calls.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1985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Omniverse writeback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Fresh Python results bridged into a stage and read back: 163,416 Eiffel vertices.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1985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Native Hydra / Storm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Actual rendering of ordinary USD geometry baked from the C++ placement results.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5377F8-9841-4394-8B4E-F1EF0C8A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7F8B"/>
                </a:solidFill>
                <a:latin typeface="Arial"/>
                <a:ea typeface="Arial"/>
                <a:cs typeface="Arial"/>
              </a:rPr>
              <a:t>Dense reader difference ≤ 8 nm; float32 write error ≤ 0.011 mm. These are different from geodetic accuracy.</a:t>
            </a:r>
          </a:p>
        </p:txBody>
      </p:sp>
    </p:spTree>
    <p:extLst>
      <p:ext uri="{BB962C8B-B14F-4D97-AF65-F5344CB8AC3E}">
        <p14:creationId xmlns:p14="http://schemas.microsoft.com/office/powerpoint/2010/main" val="176751832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27D74C-6D6D-44A8-8089-20CBF84D2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The audit tests the implementation against the proposal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F409E7-CB20-4055-B2DF-81FB7732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Passing images were not enough. The reverse audit checked authored fields, omitted inputs, sampling, native metadata and deferred scope.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3580BE-181C-4497-97EB-3AFBBFE0D927}"/>
              </a:ext>
            </a:extLst>
          </p:cNvPr>
          <p:cNvGraphicFramePr/>
          <p:nvPr/>
        </p:nvGraphicFramePr>
        <p:xfrm>
          <a:off xmlns:a="http://schemas.openxmlformats.org/drawingml/2006/main" x="609600" y="2371725"/>
          <a:ext xmlns:a="http://schemas.openxmlformats.org/drawingml/2006/main" cx="10972800" cy="3209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6625"/>
                <a:gridCol w="7496175"/>
              </a:tblGrid>
              <a:tr h="641985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Obligation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Distinguishing control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</a:tr>
              <a:tr h="641985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WKT preserves source meaning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OGC-preferred keywords, exact decimals, quoted content and non-normal warnings.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1985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No invented height or date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Short 3D tuples fail; time-dependent operations without coordinate epoch are deferred.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1985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Correct placement roles and order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Invalid binding roles fail; nested anchors, resets, clips and independent instances execute.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1985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A bake represents only what it claims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Unrequested source samples are removed; selected samples and double origin reread correctly.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81EF2C-682A-4743-ACFC-564D90FB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7F8B"/>
                </a:solidFill>
                <a:latin typeface="Arial"/>
                <a:ea typeface="Arial"/>
                <a:cs typeface="Arial"/>
              </a:rPr>
              <a:t>77 Python controls and 20 native controls, plus provider, sharing and fresh-export evidence.</a:t>
            </a:r>
          </a:p>
        </p:txBody>
      </p:sp>
    </p:spTree>
    <p:extLst>
      <p:ext uri="{BB962C8B-B14F-4D97-AF65-F5344CB8AC3E}">
        <p14:creationId xmlns:p14="http://schemas.microsoft.com/office/powerpoint/2010/main" val="9955119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B4C3FC-E78F-4637-98F2-A916A5F4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Proposal readiness and proof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C161FE-4B72-4B62-8CE0-7DEEE128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The tested semantics can be reviewed on their own merits. A successful bounded demonstration is not complete implementation conformance.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AC75A6-A88C-4629-AB6B-4B24B2A59578}"/>
              </a:ext>
            </a:extLst>
          </p:cNvPr>
          <p:cNvGraphicFramePr/>
          <p:nvPr/>
        </p:nvGraphicFramePr>
        <p:xfrm>
          <a:off xmlns:a="http://schemas.openxmlformats.org/drawingml/2006/main" x="609600" y="2333625"/>
          <a:ext xmlns:a="http://schemas.openxmlformats.org/drawingml/2006/main" cx="10972800" cy="3209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641985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Disposition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Assessment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T w="7144">
                      <a:solidFill>
                        <a:srgbClr val="B2BEC4"/>
                      </a:solidFill>
                      <a:prstDash val="solid"/>
                    </a:lnT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203744"/>
                    </a:solidFill>
                  </a:tcPr>
                </a:tc>
              </a:tr>
              <a:tr h="641985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Scene meaning exercised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No new data-model or placement-rule gap found in the tested paths.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1985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Profiles integration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Make discovery versus generic compatibility explicit; supply and review the registration graph.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1985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Prototype coverage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Nonlinear derivatives, continuous bounds, general instance normals and full format/variant coverage remain unproven.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1985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Deferred scope</a:t>
                      </a:r>
                    </a:p>
                  </a:txBody>
                  <a:tcPr marL="91440" marR="91440" marT="45720" marB="45720" anchor="ctr">
                    <a:lnL w="7144">
                      <a:solidFill>
                        <a:srgbClr val="B2BEC4"/>
                      </a:solidFill>
                      <a:prstDash val="solid"/>
                    </a:lnL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3744"/>
                          </a:solidFill>
                          <a:latin typeface="Arial"/>
                          <a:ea typeface="Arial"/>
                          <a:cs typeface="Arial"/>
                        </a:rPr>
                        <a:t>Coordinate epochs remain deferred; no implicit epoch is supplied and the model keeps a future path.</a:t>
                      </a:r>
                    </a:p>
                  </a:txBody>
                  <a:tcPr marL="91440" marR="91440" marT="45720" marB="45720" anchor="ctr">
                    <a:lnR w="7144">
                      <a:solidFill>
                        <a:srgbClr val="B2BEC4"/>
                      </a:solidFill>
                      <a:prstDash val="solid"/>
                    </a:lnR>
                    <a:lnB w="7144">
                      <a:solidFill>
                        <a:srgbClr val="B2BEC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9AC21D-E6F2-406F-A775-06D2F633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7F8B"/>
                </a:solidFill>
                <a:latin typeface="Arial"/>
                <a:ea typeface="Arial"/>
                <a:cs typeface="Arial"/>
              </a:rPr>
              <a:t>Unsupported requests remain visible failures. Evidence does not authorize silently approximating an untested domain.</a:t>
            </a:r>
          </a:p>
        </p:txBody>
      </p:sp>
    </p:spTree>
    <p:extLst>
      <p:ext uri="{BB962C8B-B14F-4D97-AF65-F5344CB8AC3E}">
        <p14:creationId xmlns:p14="http://schemas.microsoft.com/office/powerpoint/2010/main" val="115215879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490F7C-06B6-476E-BCA0-00958BF8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Fresh derivation and reproducibility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F702E5-1A2D-416F-A279-2BEB0368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The proposal was the authority. Original data and neutral libraries were reused; previous geospatial source and results were excluded until the first freeze.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8EA7E8-8160-4166-822A-1884C324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New source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2C13E9-4285-4315-9673-E754A105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5238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Schemas, placement evaluation, adapters and fixture writers were authored anew.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58E94A-6FA1-4B75-96A6-DD543064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38400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Preserved inputs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A98890-E132-49B1-86E9-4AB22A48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38475"/>
            <a:ext cx="4857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Proposal and original dataset hashes are unchanged. Corrective candidate generations retain provenance.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37AB7A-E895-43FE-856D-281E465A4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3744"/>
                </a:solidFill>
                <a:latin typeface="Arial"/>
                <a:ea typeface="Arial"/>
                <a:cs typeface="Arial"/>
              </a:rPr>
              <a:t>Shared dependencies and 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C775E7-D118-4B7D-BE6D-63B18CB7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53025"/>
            <a:ext cx="10744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74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3744"/>
                </a:solidFill>
                <a:latin typeface="Arial"/>
                <a:ea typeface="Arial"/>
                <a:cs typeface="Arial"/>
              </a:rPr>
              <a:t>USD supplies composition; PROJ supplies geodetic operations. One agent’s fresh derivation is not a blinded independent-author study.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D3F50A-14DD-434E-819B-30263AA4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7F8B"/>
                </a:solidFill>
                <a:latin typeface="Arial"/>
                <a:ea typeface="Arial"/>
                <a:cs typeface="Arial"/>
              </a:rPr>
              <a:t>Pinned proposal: e519199. README, deck, source-to-clause trace and executable receipts describe the same bounded evidence.</a:t>
            </a:r>
          </a:p>
        </p:txBody>
      </p:sp>
    </p:spTree>
    <p:extLst>
      <p:ext uri="{BB962C8B-B14F-4D97-AF65-F5344CB8AC3E}">
        <p14:creationId xmlns:p14="http://schemas.microsoft.com/office/powerpoint/2010/main" val="20306874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2026-10-14T15:22:41.5950000Z</dcterms:created>
  <dcterms:modified xsi:type="dcterms:W3CDTF">2026-10-14T15:22:41.5950000Z</dcterms:modified>
</coreProperties>
</file>